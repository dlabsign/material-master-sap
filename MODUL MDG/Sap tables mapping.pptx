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0693400" cy="7569200"/>
  <p:notesSz cx="10693400" cy="7569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6452"/>
            <a:ext cx="9089390" cy="1589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8752"/>
            <a:ext cx="7485380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40916"/>
            <a:ext cx="4651629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40916"/>
            <a:ext cx="4651629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768"/>
            <a:ext cx="9624060" cy="1211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40916"/>
            <a:ext cx="9624060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9356"/>
            <a:ext cx="3421888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9356"/>
            <a:ext cx="245948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9356"/>
            <a:ext cx="245948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16.png"/><Relationship Id="rId11" Type="http://schemas.openxmlformats.org/officeDocument/2006/relationships/image" Target="../media/image25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8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Relationship Id="rId20" Type="http://schemas.openxmlformats.org/officeDocument/2006/relationships/image" Target="../media/image31.png"/><Relationship Id="rId21" Type="http://schemas.openxmlformats.org/officeDocument/2006/relationships/image" Target="../media/image32.png"/><Relationship Id="rId22" Type="http://schemas.openxmlformats.org/officeDocument/2006/relationships/image" Target="../media/image33.png"/><Relationship Id="rId23" Type="http://schemas.openxmlformats.org/officeDocument/2006/relationships/image" Target="../media/image34.png"/><Relationship Id="rId24" Type="http://schemas.openxmlformats.org/officeDocument/2006/relationships/image" Target="../media/image35.png"/><Relationship Id="rId25" Type="http://schemas.openxmlformats.org/officeDocument/2006/relationships/image" Target="../media/image36.png"/><Relationship Id="rId26" Type="http://schemas.openxmlformats.org/officeDocument/2006/relationships/image" Target="../media/image37.png"/><Relationship Id="rId27" Type="http://schemas.openxmlformats.org/officeDocument/2006/relationships/image" Target="../media/image38.png"/><Relationship Id="rId28" Type="http://schemas.openxmlformats.org/officeDocument/2006/relationships/image" Target="../media/image39.png"/><Relationship Id="rId29" Type="http://schemas.openxmlformats.org/officeDocument/2006/relationships/image" Target="../media/image40.png"/><Relationship Id="rId30" Type="http://schemas.openxmlformats.org/officeDocument/2006/relationships/image" Target="../media/image41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1101725"/>
            <a:ext cx="5381625" cy="3324225"/>
            <a:chOff x="914400" y="1101725"/>
            <a:chExt cx="5381625" cy="3324225"/>
          </a:xfrm>
        </p:grpSpPr>
        <p:sp>
          <p:nvSpPr>
            <p:cNvPr id="3" name="object 3" descr=""/>
            <p:cNvSpPr/>
            <p:nvPr/>
          </p:nvSpPr>
          <p:spPr>
            <a:xfrm>
              <a:off x="1028700" y="1216025"/>
              <a:ext cx="5267325" cy="3209925"/>
            </a:xfrm>
            <a:custGeom>
              <a:avLst/>
              <a:gdLst/>
              <a:ahLst/>
              <a:cxnLst/>
              <a:rect l="l" t="t" r="r" b="b"/>
              <a:pathLst>
                <a:path w="5267325" h="3209925">
                  <a:moveTo>
                    <a:pt x="5267325" y="0"/>
                  </a:moveTo>
                  <a:lnTo>
                    <a:pt x="0" y="0"/>
                  </a:lnTo>
                  <a:lnTo>
                    <a:pt x="0" y="3209925"/>
                  </a:lnTo>
                  <a:lnTo>
                    <a:pt x="5267325" y="3209925"/>
                  </a:lnTo>
                  <a:lnTo>
                    <a:pt x="5267325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14400" y="1101725"/>
              <a:ext cx="5267325" cy="3209925"/>
            </a:xfrm>
            <a:custGeom>
              <a:avLst/>
              <a:gdLst/>
              <a:ahLst/>
              <a:cxnLst/>
              <a:rect l="l" t="t" r="r" b="b"/>
              <a:pathLst>
                <a:path w="5267325" h="3209925">
                  <a:moveTo>
                    <a:pt x="5267325" y="0"/>
                  </a:moveTo>
                  <a:lnTo>
                    <a:pt x="0" y="0"/>
                  </a:lnTo>
                  <a:lnTo>
                    <a:pt x="0" y="3209925"/>
                  </a:lnTo>
                  <a:lnTo>
                    <a:pt x="5267325" y="3209925"/>
                  </a:lnTo>
                  <a:lnTo>
                    <a:pt x="5267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14400" y="1101725"/>
            <a:ext cx="5267325" cy="3209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3048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400"/>
              </a:spcBef>
            </a:pPr>
            <a:endParaRPr sz="3000">
              <a:latin typeface="Times New Roman"/>
              <a:cs typeface="Times New Roman"/>
            </a:endParaRPr>
          </a:p>
          <a:p>
            <a:pPr algn="ctr" marR="40005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SAP</a:t>
            </a:r>
            <a:r>
              <a:rPr dirty="0" sz="3000" spc="-14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Table</a:t>
            </a:r>
            <a:r>
              <a:rPr dirty="0" sz="3000" spc="-14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Relations</a:t>
            </a:r>
            <a:endParaRPr sz="3000">
              <a:latin typeface="Arial"/>
              <a:cs typeface="Arial"/>
            </a:endParaRPr>
          </a:p>
          <a:p>
            <a:pPr algn="ctr" marL="5715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version</a:t>
            </a:r>
            <a:r>
              <a:rPr dirty="0" sz="1400" spc="1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1.0.0</a:t>
            </a:r>
            <a:endParaRPr sz="1400">
              <a:latin typeface="Arial"/>
              <a:cs typeface="Arial"/>
            </a:endParaRPr>
          </a:p>
          <a:p>
            <a:pPr algn="ctr" marR="11430">
              <a:lnSpc>
                <a:spcPts val="1130"/>
              </a:lnSpc>
              <a:spcBef>
                <a:spcPts val="1320"/>
              </a:spcBef>
            </a:pPr>
            <a:r>
              <a:rPr dirty="0" sz="950">
                <a:latin typeface="Arial"/>
                <a:cs typeface="Arial"/>
              </a:rPr>
              <a:t>compiled</a:t>
            </a:r>
            <a:r>
              <a:rPr dirty="0" sz="950" spc="70">
                <a:latin typeface="Arial"/>
                <a:cs typeface="Arial"/>
              </a:rPr>
              <a:t> </a:t>
            </a:r>
            <a:r>
              <a:rPr dirty="0" sz="950" spc="-25">
                <a:latin typeface="Arial"/>
                <a:cs typeface="Arial"/>
              </a:rPr>
              <a:t>by</a:t>
            </a:r>
            <a:endParaRPr sz="950">
              <a:latin typeface="Arial"/>
              <a:cs typeface="Arial"/>
            </a:endParaRPr>
          </a:p>
          <a:p>
            <a:pPr algn="ctr" marL="66675">
              <a:lnSpc>
                <a:spcPts val="1675"/>
              </a:lnSpc>
            </a:pPr>
            <a:r>
              <a:rPr dirty="0" sz="1400">
                <a:latin typeface="Arial"/>
                <a:cs typeface="Arial"/>
              </a:rPr>
              <a:t>Christopher</a:t>
            </a:r>
            <a:r>
              <a:rPr dirty="0" sz="1400" spc="18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Solomon</a:t>
            </a:r>
            <a:endParaRPr sz="1400">
              <a:latin typeface="Arial"/>
              <a:cs typeface="Arial"/>
            </a:endParaRPr>
          </a:p>
          <a:p>
            <a:pPr algn="ctr" marL="2190750" marR="2201545" indent="27940">
              <a:lnSpc>
                <a:spcPct val="105300"/>
              </a:lnSpc>
              <a:spcBef>
                <a:spcPts val="60"/>
              </a:spcBef>
            </a:pPr>
            <a:r>
              <a:rPr dirty="0" sz="950" spc="-20">
                <a:latin typeface="Arial"/>
                <a:cs typeface="Arial"/>
              </a:rPr>
              <a:t>with </a:t>
            </a:r>
            <a:r>
              <a:rPr dirty="0" sz="950">
                <a:latin typeface="Arial"/>
                <a:cs typeface="Arial"/>
              </a:rPr>
              <a:t>contributions</a:t>
            </a:r>
            <a:r>
              <a:rPr dirty="0" sz="950" spc="130">
                <a:latin typeface="Arial"/>
                <a:cs typeface="Arial"/>
              </a:rPr>
              <a:t> </a:t>
            </a:r>
            <a:r>
              <a:rPr dirty="0" sz="950" spc="-25">
                <a:latin typeface="Arial"/>
                <a:cs typeface="Arial"/>
              </a:rPr>
              <a:t>by</a:t>
            </a:r>
            <a:endParaRPr sz="950">
              <a:latin typeface="Arial"/>
              <a:cs typeface="Arial"/>
            </a:endParaRPr>
          </a:p>
          <a:p>
            <a:pPr algn="ctr" marR="48895">
              <a:lnSpc>
                <a:spcPct val="100000"/>
              </a:lnSpc>
              <a:spcBef>
                <a:spcPts val="60"/>
              </a:spcBef>
            </a:pPr>
            <a:r>
              <a:rPr dirty="0" sz="950">
                <a:latin typeface="Arial"/>
                <a:cs typeface="Arial"/>
              </a:rPr>
              <a:t>various</a:t>
            </a:r>
            <a:r>
              <a:rPr dirty="0" sz="950" spc="7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SAP</a:t>
            </a:r>
            <a:r>
              <a:rPr dirty="0" sz="950" spc="7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Professionals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052637" y="2811462"/>
            <a:ext cx="7672705" cy="1957705"/>
            <a:chOff x="2052637" y="2811462"/>
            <a:chExt cx="7672705" cy="1957705"/>
          </a:xfrm>
        </p:grpSpPr>
        <p:sp>
          <p:nvSpPr>
            <p:cNvPr id="3" name="object 3" descr=""/>
            <p:cNvSpPr/>
            <p:nvPr/>
          </p:nvSpPr>
          <p:spPr>
            <a:xfrm>
              <a:off x="2181225" y="2940050"/>
              <a:ext cx="7543800" cy="1828800"/>
            </a:xfrm>
            <a:custGeom>
              <a:avLst/>
              <a:gdLst/>
              <a:ahLst/>
              <a:cxnLst/>
              <a:rect l="l" t="t" r="r" b="b"/>
              <a:pathLst>
                <a:path w="7543800" h="1828800">
                  <a:moveTo>
                    <a:pt x="75438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7543800" y="1828800"/>
                  </a:lnTo>
                  <a:lnTo>
                    <a:pt x="754380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057400" y="2816225"/>
              <a:ext cx="7553325" cy="1838325"/>
            </a:xfrm>
            <a:custGeom>
              <a:avLst/>
              <a:gdLst/>
              <a:ahLst/>
              <a:cxnLst/>
              <a:rect l="l" t="t" r="r" b="b"/>
              <a:pathLst>
                <a:path w="7553325" h="1838325">
                  <a:moveTo>
                    <a:pt x="7553325" y="0"/>
                  </a:moveTo>
                  <a:lnTo>
                    <a:pt x="0" y="0"/>
                  </a:lnTo>
                  <a:lnTo>
                    <a:pt x="0" y="1838325"/>
                  </a:lnTo>
                  <a:lnTo>
                    <a:pt x="7553325" y="1838325"/>
                  </a:lnTo>
                  <a:lnTo>
                    <a:pt x="7553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057400" y="2816225"/>
              <a:ext cx="7553325" cy="1838325"/>
            </a:xfrm>
            <a:custGeom>
              <a:avLst/>
              <a:gdLst/>
              <a:ahLst/>
              <a:cxnLst/>
              <a:rect l="l" t="t" r="r" b="b"/>
              <a:pathLst>
                <a:path w="7553325" h="1838325">
                  <a:moveTo>
                    <a:pt x="0" y="1838325"/>
                  </a:moveTo>
                  <a:lnTo>
                    <a:pt x="7553325" y="1838325"/>
                  </a:lnTo>
                  <a:lnTo>
                    <a:pt x="7553325" y="0"/>
                  </a:lnTo>
                  <a:lnTo>
                    <a:pt x="0" y="0"/>
                  </a:lnTo>
                  <a:lnTo>
                    <a:pt x="0" y="18383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467350" y="2822575"/>
            <a:ext cx="737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Table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057400" y="5311775"/>
            <a:ext cx="2686050" cy="1514475"/>
            <a:chOff x="2057400" y="5311775"/>
            <a:chExt cx="2686050" cy="1514475"/>
          </a:xfrm>
        </p:grpSpPr>
        <p:sp>
          <p:nvSpPr>
            <p:cNvPr id="8" name="object 8" descr=""/>
            <p:cNvSpPr/>
            <p:nvPr/>
          </p:nvSpPr>
          <p:spPr>
            <a:xfrm>
              <a:off x="2181225" y="5426075"/>
              <a:ext cx="2562225" cy="1400175"/>
            </a:xfrm>
            <a:custGeom>
              <a:avLst/>
              <a:gdLst/>
              <a:ahLst/>
              <a:cxnLst/>
              <a:rect l="l" t="t" r="r" b="b"/>
              <a:pathLst>
                <a:path w="2562225" h="1400175">
                  <a:moveTo>
                    <a:pt x="2562225" y="0"/>
                  </a:moveTo>
                  <a:lnTo>
                    <a:pt x="0" y="0"/>
                  </a:lnTo>
                  <a:lnTo>
                    <a:pt x="0" y="1400175"/>
                  </a:lnTo>
                  <a:lnTo>
                    <a:pt x="2562225" y="1400175"/>
                  </a:lnTo>
                  <a:lnTo>
                    <a:pt x="256222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057400" y="5311775"/>
              <a:ext cx="2571750" cy="1400175"/>
            </a:xfrm>
            <a:custGeom>
              <a:avLst/>
              <a:gdLst/>
              <a:ahLst/>
              <a:cxnLst/>
              <a:rect l="l" t="t" r="r" b="b"/>
              <a:pathLst>
                <a:path w="2571750" h="1400175">
                  <a:moveTo>
                    <a:pt x="2571750" y="0"/>
                  </a:moveTo>
                  <a:lnTo>
                    <a:pt x="0" y="0"/>
                  </a:lnTo>
                  <a:lnTo>
                    <a:pt x="0" y="1400175"/>
                  </a:lnTo>
                  <a:lnTo>
                    <a:pt x="2571750" y="1400175"/>
                  </a:lnTo>
                  <a:lnTo>
                    <a:pt x="2571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971800" y="6340475"/>
              <a:ext cx="923925" cy="228600"/>
            </a:xfrm>
            <a:custGeom>
              <a:avLst/>
              <a:gdLst/>
              <a:ahLst/>
              <a:cxnLst/>
              <a:rect l="l" t="t" r="r" b="b"/>
              <a:pathLst>
                <a:path w="923925" h="228600">
                  <a:moveTo>
                    <a:pt x="923925" y="0"/>
                  </a:moveTo>
                  <a:lnTo>
                    <a:pt x="685800" y="114300"/>
                  </a:lnTo>
                  <a:lnTo>
                    <a:pt x="923925" y="228600"/>
                  </a:lnTo>
                </a:path>
                <a:path w="923925" h="228600">
                  <a:moveTo>
                    <a:pt x="0" y="114300"/>
                  </a:moveTo>
                  <a:lnTo>
                    <a:pt x="923925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057400" y="5311775"/>
            <a:ext cx="2571750" cy="1400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75"/>
              </a:spcBef>
            </a:pPr>
            <a:r>
              <a:rPr dirty="0" sz="1200" b="1">
                <a:latin typeface="Arial"/>
                <a:cs typeface="Arial"/>
              </a:rPr>
              <a:t>Link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  <a:p>
            <a:pPr algn="ctr" marR="20955">
              <a:lnSpc>
                <a:spcPct val="100000"/>
              </a:lnSpc>
              <a:spcBef>
                <a:spcPts val="1285"/>
              </a:spcBef>
            </a:pPr>
            <a:r>
              <a:rPr dirty="0" sz="950" b="1">
                <a:latin typeface="Arial"/>
                <a:cs typeface="Arial"/>
              </a:rPr>
              <a:t>One-to-</a:t>
            </a:r>
            <a:r>
              <a:rPr dirty="0" sz="950" spc="-25" b="1">
                <a:latin typeface="Arial"/>
                <a:cs typeface="Arial"/>
              </a:rPr>
              <a:t>One</a:t>
            </a:r>
            <a:endParaRPr sz="950">
              <a:latin typeface="Arial"/>
              <a:cs typeface="Arial"/>
            </a:endParaRPr>
          </a:p>
          <a:p>
            <a:pPr algn="ctr" marL="170815">
              <a:lnSpc>
                <a:spcPct val="100000"/>
              </a:lnSpc>
              <a:spcBef>
                <a:spcPts val="209"/>
              </a:spcBef>
              <a:tabLst>
                <a:tab pos="542290" algn="l"/>
                <a:tab pos="1497330" algn="l"/>
              </a:tabLst>
            </a:pPr>
            <a:r>
              <a:rPr dirty="0" sz="950" spc="-25">
                <a:latin typeface="Arial"/>
                <a:cs typeface="Arial"/>
              </a:rPr>
              <a:t>One</a:t>
            </a:r>
            <a:r>
              <a:rPr dirty="0" sz="950">
                <a:latin typeface="Arial"/>
                <a:cs typeface="Arial"/>
              </a:rPr>
              <a:t>	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950" spc="500">
                <a:latin typeface="Arial"/>
                <a:cs typeface="Arial"/>
              </a:rPr>
              <a:t> </a:t>
            </a:r>
            <a:r>
              <a:rPr dirty="0" u="none" sz="950">
                <a:latin typeface="Arial"/>
                <a:cs typeface="Arial"/>
              </a:rPr>
              <a:t>One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50">
              <a:latin typeface="Arial"/>
              <a:cs typeface="Arial"/>
            </a:endParaRPr>
          </a:p>
          <a:p>
            <a:pPr algn="ctr" marR="11430">
              <a:lnSpc>
                <a:spcPct val="100000"/>
              </a:lnSpc>
            </a:pPr>
            <a:r>
              <a:rPr dirty="0" sz="950" b="1">
                <a:latin typeface="Arial"/>
                <a:cs typeface="Arial"/>
              </a:rPr>
              <a:t>One-to-</a:t>
            </a:r>
            <a:r>
              <a:rPr dirty="0" sz="950" spc="-20" b="1">
                <a:latin typeface="Arial"/>
                <a:cs typeface="Arial"/>
              </a:rPr>
              <a:t>Many</a:t>
            </a:r>
            <a:endParaRPr sz="950">
              <a:latin typeface="Arial"/>
              <a:cs typeface="Arial"/>
            </a:endParaRPr>
          </a:p>
          <a:p>
            <a:pPr algn="ctr" marL="180975">
              <a:lnSpc>
                <a:spcPct val="100000"/>
              </a:lnSpc>
              <a:spcBef>
                <a:spcPts val="660"/>
              </a:spcBef>
              <a:tabLst>
                <a:tab pos="1551940" algn="l"/>
              </a:tabLst>
            </a:pPr>
            <a:r>
              <a:rPr dirty="0" sz="950" spc="-25">
                <a:latin typeface="Arial"/>
                <a:cs typeface="Arial"/>
              </a:rPr>
              <a:t>One</a:t>
            </a:r>
            <a:r>
              <a:rPr dirty="0" sz="950">
                <a:latin typeface="Arial"/>
                <a:cs typeface="Arial"/>
              </a:rPr>
              <a:t>	</a:t>
            </a:r>
            <a:r>
              <a:rPr dirty="0" sz="950" spc="-20">
                <a:latin typeface="Arial"/>
                <a:cs typeface="Arial"/>
              </a:rPr>
              <a:t>Many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333625" y="3502025"/>
            <a:ext cx="1885950" cy="2952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 marL="19050" marR="868680">
              <a:lnSpc>
                <a:spcPct val="101600"/>
              </a:lnSpc>
              <a:spcBef>
                <a:spcPts val="160"/>
              </a:spcBef>
            </a:pPr>
            <a:r>
              <a:rPr dirty="0" sz="800" b="1">
                <a:latin typeface="Arial"/>
                <a:cs typeface="Arial"/>
              </a:rPr>
              <a:t>SAP</a:t>
            </a:r>
            <a:r>
              <a:rPr dirty="0" sz="800" spc="7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Table</a:t>
            </a:r>
            <a:r>
              <a:rPr dirty="0" sz="800" spc="80" b="1">
                <a:latin typeface="Arial"/>
                <a:cs typeface="Arial"/>
              </a:rPr>
              <a:t> </a:t>
            </a:r>
            <a:r>
              <a:rPr dirty="0" sz="800" spc="-20" b="1">
                <a:latin typeface="Arial"/>
                <a:cs typeface="Arial"/>
              </a:rPr>
              <a:t>Name </a:t>
            </a:r>
            <a:r>
              <a:rPr dirty="0" sz="800" b="1">
                <a:latin typeface="Arial"/>
                <a:cs typeface="Arial"/>
              </a:rPr>
              <a:t>(Table</a:t>
            </a:r>
            <a:r>
              <a:rPr dirty="0" sz="800" spc="14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Description)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328862" y="3792537"/>
            <a:ext cx="1895475" cy="409575"/>
            <a:chOff x="2328862" y="3792537"/>
            <a:chExt cx="1895475" cy="409575"/>
          </a:xfrm>
        </p:grpSpPr>
        <p:sp>
          <p:nvSpPr>
            <p:cNvPr id="14" name="object 14" descr=""/>
            <p:cNvSpPr/>
            <p:nvPr/>
          </p:nvSpPr>
          <p:spPr>
            <a:xfrm>
              <a:off x="2333625" y="3797300"/>
              <a:ext cx="1885950" cy="400050"/>
            </a:xfrm>
            <a:custGeom>
              <a:avLst/>
              <a:gdLst/>
              <a:ahLst/>
              <a:cxnLst/>
              <a:rect l="l" t="t" r="r" b="b"/>
              <a:pathLst>
                <a:path w="1885950" h="400050">
                  <a:moveTo>
                    <a:pt x="188595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152400" y="371475"/>
                  </a:lnTo>
                  <a:lnTo>
                    <a:pt x="314325" y="390525"/>
                  </a:lnTo>
                  <a:lnTo>
                    <a:pt x="466725" y="400050"/>
                  </a:lnTo>
                  <a:lnTo>
                    <a:pt x="628650" y="390525"/>
                  </a:lnTo>
                  <a:lnTo>
                    <a:pt x="781050" y="371475"/>
                  </a:lnTo>
                  <a:lnTo>
                    <a:pt x="942975" y="342900"/>
                  </a:lnTo>
                  <a:lnTo>
                    <a:pt x="1095375" y="323850"/>
                  </a:lnTo>
                  <a:lnTo>
                    <a:pt x="1257300" y="304800"/>
                  </a:lnTo>
                  <a:lnTo>
                    <a:pt x="1409700" y="295275"/>
                  </a:lnTo>
                  <a:lnTo>
                    <a:pt x="1571625" y="304800"/>
                  </a:lnTo>
                  <a:lnTo>
                    <a:pt x="1724025" y="323850"/>
                  </a:lnTo>
                  <a:lnTo>
                    <a:pt x="1885950" y="342900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333625" y="3797300"/>
              <a:ext cx="1885950" cy="400050"/>
            </a:xfrm>
            <a:custGeom>
              <a:avLst/>
              <a:gdLst/>
              <a:ahLst/>
              <a:cxnLst/>
              <a:rect l="l" t="t" r="r" b="b"/>
              <a:pathLst>
                <a:path w="1885950" h="400050">
                  <a:moveTo>
                    <a:pt x="0" y="342900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342900"/>
                  </a:lnTo>
                  <a:lnTo>
                    <a:pt x="1724025" y="323850"/>
                  </a:lnTo>
                  <a:lnTo>
                    <a:pt x="1571625" y="304800"/>
                  </a:lnTo>
                  <a:lnTo>
                    <a:pt x="1409700" y="295275"/>
                  </a:lnTo>
                  <a:lnTo>
                    <a:pt x="1257300" y="304800"/>
                  </a:lnTo>
                  <a:lnTo>
                    <a:pt x="1095375" y="323850"/>
                  </a:lnTo>
                  <a:lnTo>
                    <a:pt x="942975" y="342900"/>
                  </a:lnTo>
                  <a:lnTo>
                    <a:pt x="781050" y="371475"/>
                  </a:lnTo>
                  <a:lnTo>
                    <a:pt x="628650" y="390525"/>
                  </a:lnTo>
                  <a:lnTo>
                    <a:pt x="466725" y="400050"/>
                  </a:lnTo>
                  <a:lnTo>
                    <a:pt x="314325" y="390525"/>
                  </a:lnTo>
                  <a:lnTo>
                    <a:pt x="152400" y="371475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352675" y="3794125"/>
            <a:ext cx="15938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SAP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Field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Name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(Field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Description)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276850" y="3965575"/>
            <a:ext cx="71755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Arial"/>
                <a:cs typeface="Arial"/>
              </a:rPr>
              <a:t>Useful</a:t>
            </a:r>
            <a:r>
              <a:rPr dirty="0" sz="950" spc="2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Fields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95875" y="3508375"/>
            <a:ext cx="124142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Arial"/>
                <a:cs typeface="Arial"/>
              </a:rPr>
              <a:t>SAP</a:t>
            </a:r>
            <a:r>
              <a:rPr dirty="0" sz="950" spc="3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Table</a:t>
            </a:r>
            <a:r>
              <a:rPr dirty="0" sz="950" spc="3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Information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4219575" y="3597275"/>
            <a:ext cx="4815205" cy="605155"/>
            <a:chOff x="4219575" y="3597275"/>
            <a:chExt cx="4815205" cy="605155"/>
          </a:xfrm>
        </p:grpSpPr>
        <p:sp>
          <p:nvSpPr>
            <p:cNvPr id="20" name="object 20" descr=""/>
            <p:cNvSpPr/>
            <p:nvPr/>
          </p:nvSpPr>
          <p:spPr>
            <a:xfrm>
              <a:off x="4295775" y="3997325"/>
              <a:ext cx="952500" cy="85725"/>
            </a:xfrm>
            <a:custGeom>
              <a:avLst/>
              <a:gdLst/>
              <a:ahLst/>
              <a:cxnLst/>
              <a:rect l="l" t="t" r="r" b="b"/>
              <a:pathLst>
                <a:path w="952500" h="85725">
                  <a:moveTo>
                    <a:pt x="952500" y="8572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9575" y="3949700"/>
              <a:ext cx="104775" cy="10477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4295775" y="3625850"/>
              <a:ext cx="781050" cy="19050"/>
            </a:xfrm>
            <a:custGeom>
              <a:avLst/>
              <a:gdLst/>
              <a:ahLst/>
              <a:cxnLst/>
              <a:rect l="l" t="t" r="r" b="b"/>
              <a:pathLst>
                <a:path w="781050" h="19050">
                  <a:moveTo>
                    <a:pt x="781050" y="0"/>
                  </a:moveTo>
                  <a:lnTo>
                    <a:pt x="0" y="190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19575" y="3597275"/>
              <a:ext cx="104775" cy="9525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7134225" y="3883025"/>
              <a:ext cx="1895475" cy="314325"/>
            </a:xfrm>
            <a:custGeom>
              <a:avLst/>
              <a:gdLst/>
              <a:ahLst/>
              <a:cxnLst/>
              <a:rect l="l" t="t" r="r" b="b"/>
              <a:pathLst>
                <a:path w="1895475" h="314325">
                  <a:moveTo>
                    <a:pt x="18954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161925" y="295275"/>
                  </a:lnTo>
                  <a:lnTo>
                    <a:pt x="314325" y="304800"/>
                  </a:lnTo>
                  <a:lnTo>
                    <a:pt x="476250" y="314325"/>
                  </a:lnTo>
                  <a:lnTo>
                    <a:pt x="628650" y="304800"/>
                  </a:lnTo>
                  <a:lnTo>
                    <a:pt x="790575" y="295275"/>
                  </a:lnTo>
                  <a:lnTo>
                    <a:pt x="942975" y="266700"/>
                  </a:lnTo>
                  <a:lnTo>
                    <a:pt x="1104900" y="247650"/>
                  </a:lnTo>
                  <a:lnTo>
                    <a:pt x="1257300" y="238125"/>
                  </a:lnTo>
                  <a:lnTo>
                    <a:pt x="1419225" y="228600"/>
                  </a:lnTo>
                  <a:lnTo>
                    <a:pt x="1581150" y="238125"/>
                  </a:lnTo>
                  <a:lnTo>
                    <a:pt x="1733550" y="247650"/>
                  </a:lnTo>
                  <a:lnTo>
                    <a:pt x="1895475" y="266700"/>
                  </a:lnTo>
                  <a:lnTo>
                    <a:pt x="189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134225" y="3883025"/>
              <a:ext cx="1895475" cy="314325"/>
            </a:xfrm>
            <a:custGeom>
              <a:avLst/>
              <a:gdLst/>
              <a:ahLst/>
              <a:cxnLst/>
              <a:rect l="l" t="t" r="r" b="b"/>
              <a:pathLst>
                <a:path w="1895475" h="314325">
                  <a:moveTo>
                    <a:pt x="0" y="266700"/>
                  </a:moveTo>
                  <a:lnTo>
                    <a:pt x="0" y="0"/>
                  </a:lnTo>
                  <a:lnTo>
                    <a:pt x="1895475" y="0"/>
                  </a:lnTo>
                  <a:lnTo>
                    <a:pt x="1895475" y="266700"/>
                  </a:lnTo>
                  <a:lnTo>
                    <a:pt x="1733550" y="247650"/>
                  </a:lnTo>
                  <a:lnTo>
                    <a:pt x="1581150" y="238125"/>
                  </a:lnTo>
                  <a:lnTo>
                    <a:pt x="1419225" y="228600"/>
                  </a:lnTo>
                  <a:lnTo>
                    <a:pt x="1257300" y="238125"/>
                  </a:lnTo>
                  <a:lnTo>
                    <a:pt x="1104900" y="247650"/>
                  </a:lnTo>
                  <a:lnTo>
                    <a:pt x="942975" y="266700"/>
                  </a:lnTo>
                  <a:lnTo>
                    <a:pt x="790575" y="295275"/>
                  </a:lnTo>
                  <a:lnTo>
                    <a:pt x="628650" y="304800"/>
                  </a:lnTo>
                  <a:lnTo>
                    <a:pt x="476250" y="314325"/>
                  </a:lnTo>
                  <a:lnTo>
                    <a:pt x="314325" y="304800"/>
                  </a:lnTo>
                  <a:lnTo>
                    <a:pt x="161925" y="295275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914400" y="1101725"/>
            <a:ext cx="1952625" cy="809625"/>
            <a:chOff x="914400" y="1101725"/>
            <a:chExt cx="1952625" cy="809625"/>
          </a:xfrm>
        </p:grpSpPr>
        <p:sp>
          <p:nvSpPr>
            <p:cNvPr id="27" name="object 27" descr=""/>
            <p:cNvSpPr/>
            <p:nvPr/>
          </p:nvSpPr>
          <p:spPr>
            <a:xfrm>
              <a:off x="1028700" y="1216025"/>
              <a:ext cx="1838325" cy="695325"/>
            </a:xfrm>
            <a:custGeom>
              <a:avLst/>
              <a:gdLst/>
              <a:ahLst/>
              <a:cxnLst/>
              <a:rect l="l" t="t" r="r" b="b"/>
              <a:pathLst>
                <a:path w="1838325" h="695325">
                  <a:moveTo>
                    <a:pt x="1838325" y="0"/>
                  </a:moveTo>
                  <a:lnTo>
                    <a:pt x="0" y="0"/>
                  </a:lnTo>
                  <a:lnTo>
                    <a:pt x="0" y="695325"/>
                  </a:lnTo>
                  <a:lnTo>
                    <a:pt x="1838325" y="695325"/>
                  </a:lnTo>
                  <a:lnTo>
                    <a:pt x="1838325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14400" y="1101725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1828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828800" y="6858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914400" y="1101725"/>
            <a:ext cx="1828800" cy="685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12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5"/>
              </a:spcBef>
            </a:pPr>
            <a:endParaRPr sz="95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dirty="0" sz="950" b="1">
                <a:latin typeface="Arial"/>
                <a:cs typeface="Arial"/>
              </a:rPr>
              <a:t>How</a:t>
            </a:r>
            <a:r>
              <a:rPr dirty="0" sz="950" spc="6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6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use</a:t>
            </a:r>
            <a:r>
              <a:rPr dirty="0" sz="950" spc="6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this</a:t>
            </a:r>
            <a:r>
              <a:rPr dirty="0" sz="950" spc="70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document?</a:t>
            </a:r>
            <a:endParaRPr sz="9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162800" y="3870325"/>
            <a:ext cx="15938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SAP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Field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Name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(Field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Description)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119937" y="3497262"/>
            <a:ext cx="2095500" cy="409575"/>
            <a:chOff x="7119937" y="3497262"/>
            <a:chExt cx="2095500" cy="409575"/>
          </a:xfrm>
        </p:grpSpPr>
        <p:sp>
          <p:nvSpPr>
            <p:cNvPr id="32" name="object 32" descr=""/>
            <p:cNvSpPr/>
            <p:nvPr/>
          </p:nvSpPr>
          <p:spPr>
            <a:xfrm>
              <a:off x="7124700" y="3502025"/>
              <a:ext cx="2085975" cy="400050"/>
            </a:xfrm>
            <a:custGeom>
              <a:avLst/>
              <a:gdLst/>
              <a:ahLst/>
              <a:cxnLst/>
              <a:rect l="l" t="t" r="r" b="b"/>
              <a:pathLst>
                <a:path w="2085975" h="400050">
                  <a:moveTo>
                    <a:pt x="2085975" y="0"/>
                  </a:moveTo>
                  <a:lnTo>
                    <a:pt x="200025" y="0"/>
                  </a:lnTo>
                  <a:lnTo>
                    <a:pt x="0" y="400050"/>
                  </a:lnTo>
                  <a:lnTo>
                    <a:pt x="1885950" y="400050"/>
                  </a:lnTo>
                  <a:lnTo>
                    <a:pt x="2085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124700" y="3502025"/>
              <a:ext cx="2085975" cy="400050"/>
            </a:xfrm>
            <a:custGeom>
              <a:avLst/>
              <a:gdLst/>
              <a:ahLst/>
              <a:cxnLst/>
              <a:rect l="l" t="t" r="r" b="b"/>
              <a:pathLst>
                <a:path w="2085975" h="400050">
                  <a:moveTo>
                    <a:pt x="0" y="400050"/>
                  </a:moveTo>
                  <a:lnTo>
                    <a:pt x="1885950" y="400050"/>
                  </a:lnTo>
                  <a:lnTo>
                    <a:pt x="2085975" y="0"/>
                  </a:lnTo>
                  <a:lnTo>
                    <a:pt x="200025" y="0"/>
                  </a:lnTo>
                  <a:lnTo>
                    <a:pt x="0" y="4000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562850" y="3508375"/>
            <a:ext cx="1003300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R="5080">
              <a:lnSpc>
                <a:spcPct val="101600"/>
              </a:lnSpc>
              <a:spcBef>
                <a:spcPts val="110"/>
              </a:spcBef>
            </a:pPr>
            <a:r>
              <a:rPr dirty="0" sz="800" b="1">
                <a:latin typeface="Arial"/>
                <a:cs typeface="Arial"/>
              </a:rPr>
              <a:t>SAP</a:t>
            </a:r>
            <a:r>
              <a:rPr dirty="0" sz="800" spc="7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Table</a:t>
            </a:r>
            <a:r>
              <a:rPr dirty="0" sz="800" spc="80" b="1">
                <a:latin typeface="Arial"/>
                <a:cs typeface="Arial"/>
              </a:rPr>
              <a:t> </a:t>
            </a:r>
            <a:r>
              <a:rPr dirty="0" sz="800" spc="-20" b="1">
                <a:latin typeface="Arial"/>
                <a:cs typeface="Arial"/>
              </a:rPr>
              <a:t>Name </a:t>
            </a:r>
            <a:r>
              <a:rPr dirty="0" sz="800" b="1">
                <a:latin typeface="Arial"/>
                <a:cs typeface="Arial"/>
              </a:rPr>
              <a:t>(Table</a:t>
            </a:r>
            <a:r>
              <a:rPr dirty="0" sz="800" spc="14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Description)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6043612" y="3621087"/>
            <a:ext cx="1176655" cy="471805"/>
            <a:chOff x="6043612" y="3621087"/>
            <a:chExt cx="1176655" cy="471805"/>
          </a:xfrm>
        </p:grpSpPr>
        <p:sp>
          <p:nvSpPr>
            <p:cNvPr id="36" name="object 36" descr=""/>
            <p:cNvSpPr/>
            <p:nvPr/>
          </p:nvSpPr>
          <p:spPr>
            <a:xfrm>
              <a:off x="6505575" y="3625850"/>
              <a:ext cx="638175" cy="76200"/>
            </a:xfrm>
            <a:custGeom>
              <a:avLst/>
              <a:gdLst/>
              <a:ahLst/>
              <a:cxnLst/>
              <a:rect l="l" t="t" r="r" b="b"/>
              <a:pathLst>
                <a:path w="638175" h="76200">
                  <a:moveTo>
                    <a:pt x="0" y="0"/>
                  </a:moveTo>
                  <a:lnTo>
                    <a:pt x="638175" y="76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5175" y="3644900"/>
              <a:ext cx="104775" cy="9525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6048375" y="4044950"/>
              <a:ext cx="1009650" cy="38100"/>
            </a:xfrm>
            <a:custGeom>
              <a:avLst/>
              <a:gdLst/>
              <a:ahLst/>
              <a:cxnLst/>
              <a:rect l="l" t="t" r="r" b="b"/>
              <a:pathLst>
                <a:path w="1009650" h="38100">
                  <a:moveTo>
                    <a:pt x="0" y="38100"/>
                  </a:moveTo>
                  <a:lnTo>
                    <a:pt x="10096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9450" y="3987800"/>
              <a:ext cx="104775" cy="104775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2686050" y="3060700"/>
            <a:ext cx="11182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Arial"/>
                <a:cs typeface="Arial"/>
              </a:rPr>
              <a:t>Transparent</a:t>
            </a:r>
            <a:r>
              <a:rPr dirty="0" sz="950" spc="30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Table</a:t>
            </a:r>
            <a:endParaRPr sz="95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7762875" y="3060700"/>
            <a:ext cx="8134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Arial"/>
                <a:cs typeface="Arial"/>
              </a:rPr>
              <a:t>Cluster</a:t>
            </a:r>
            <a:r>
              <a:rPr dirty="0" sz="950" spc="13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Table</a:t>
            </a:r>
            <a:endParaRPr sz="950">
              <a:latin typeface="Arial"/>
              <a:cs typeface="Aria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387475" y="2136775"/>
            <a:ext cx="7760970" cy="32639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457200">
              <a:lnSpc>
                <a:spcPct val="105300"/>
              </a:lnSpc>
              <a:spcBef>
                <a:spcPts val="65"/>
              </a:spcBef>
            </a:pPr>
            <a:r>
              <a:rPr dirty="0" sz="950">
                <a:latin typeface="Arial"/>
                <a:cs typeface="Arial"/>
              </a:rPr>
              <a:t>This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document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displays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and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describes</a:t>
            </a:r>
            <a:r>
              <a:rPr dirty="0" sz="950" spc="9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the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relationships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and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links</a:t>
            </a:r>
            <a:r>
              <a:rPr dirty="0" sz="950" spc="9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between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the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various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SAP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database</a:t>
            </a:r>
            <a:r>
              <a:rPr dirty="0" sz="950" spc="9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tables.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These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relationships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 spc="-25">
                <a:latin typeface="Arial"/>
                <a:cs typeface="Arial"/>
              </a:rPr>
              <a:t>are </a:t>
            </a:r>
            <a:r>
              <a:rPr dirty="0" sz="950">
                <a:latin typeface="Arial"/>
                <a:cs typeface="Arial"/>
              </a:rPr>
              <a:t>displayed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graphically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as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described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below: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1101725"/>
            <a:ext cx="1952625" cy="809625"/>
            <a:chOff x="914400" y="1101725"/>
            <a:chExt cx="1952625" cy="809625"/>
          </a:xfrm>
        </p:grpSpPr>
        <p:sp>
          <p:nvSpPr>
            <p:cNvPr id="3" name="object 3" descr=""/>
            <p:cNvSpPr/>
            <p:nvPr/>
          </p:nvSpPr>
          <p:spPr>
            <a:xfrm>
              <a:off x="1028700" y="1216025"/>
              <a:ext cx="1838325" cy="695325"/>
            </a:xfrm>
            <a:custGeom>
              <a:avLst/>
              <a:gdLst/>
              <a:ahLst/>
              <a:cxnLst/>
              <a:rect l="l" t="t" r="r" b="b"/>
              <a:pathLst>
                <a:path w="1838325" h="695325">
                  <a:moveTo>
                    <a:pt x="1838325" y="0"/>
                  </a:moveTo>
                  <a:lnTo>
                    <a:pt x="0" y="0"/>
                  </a:lnTo>
                  <a:lnTo>
                    <a:pt x="0" y="695325"/>
                  </a:lnTo>
                  <a:lnTo>
                    <a:pt x="1838325" y="695325"/>
                  </a:lnTo>
                  <a:lnTo>
                    <a:pt x="1838325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14400" y="1101725"/>
              <a:ext cx="1838325" cy="685800"/>
            </a:xfrm>
            <a:custGeom>
              <a:avLst/>
              <a:gdLst/>
              <a:ahLst/>
              <a:cxnLst/>
              <a:rect l="l" t="t" r="r" b="b"/>
              <a:pathLst>
                <a:path w="1838325" h="685800">
                  <a:moveTo>
                    <a:pt x="1838325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838325" y="685800"/>
                  </a:lnTo>
                  <a:lnTo>
                    <a:pt x="1838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14400" y="1101725"/>
            <a:ext cx="1838325" cy="685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30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30"/>
              </a:spcBef>
            </a:pPr>
            <a:endParaRPr sz="950">
              <a:latin typeface="Times New Roman"/>
              <a:cs typeface="Times New Roman"/>
            </a:endParaRPr>
          </a:p>
          <a:p>
            <a:pPr marL="361950">
              <a:lnSpc>
                <a:spcPct val="100000"/>
              </a:lnSpc>
            </a:pPr>
            <a:r>
              <a:rPr dirty="0" sz="950">
                <a:latin typeface="Arial"/>
                <a:cs typeface="Arial"/>
              </a:rPr>
              <a:t>Master</a:t>
            </a:r>
            <a:r>
              <a:rPr dirty="0" sz="950" spc="2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Data</a:t>
            </a:r>
            <a:r>
              <a:rPr dirty="0" sz="950" spc="30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Tables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14400" y="2016125"/>
            <a:ext cx="5267325" cy="22955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4605" rIns="0" bIns="0" rtlCol="0" vert="horz">
            <a:spAutoFit/>
          </a:bodyPr>
          <a:lstStyle/>
          <a:p>
            <a:pPr marL="28575" marR="3001645">
              <a:lnSpc>
                <a:spcPct val="105300"/>
              </a:lnSpc>
              <a:spcBef>
                <a:spcPts val="115"/>
              </a:spcBef>
            </a:pPr>
            <a:r>
              <a:rPr dirty="0" sz="950">
                <a:latin typeface="Arial"/>
                <a:cs typeface="Arial"/>
              </a:rPr>
              <a:t>CEPC</a:t>
            </a:r>
            <a:r>
              <a:rPr dirty="0" sz="950" spc="4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=</a:t>
            </a:r>
            <a:r>
              <a:rPr dirty="0" sz="950" spc="4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Profit</a:t>
            </a:r>
            <a:r>
              <a:rPr dirty="0" sz="950" spc="4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Center</a:t>
            </a:r>
            <a:r>
              <a:rPr dirty="0" sz="950" spc="4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Master</a:t>
            </a:r>
            <a:r>
              <a:rPr dirty="0" sz="950" spc="4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Data</a:t>
            </a:r>
            <a:r>
              <a:rPr dirty="0" sz="950" spc="4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Table </a:t>
            </a:r>
            <a:r>
              <a:rPr dirty="0" sz="950">
                <a:latin typeface="Arial"/>
                <a:cs typeface="Arial"/>
              </a:rPr>
              <a:t>CSKS</a:t>
            </a:r>
            <a:r>
              <a:rPr dirty="0" sz="950" spc="8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=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Cost</a:t>
            </a:r>
            <a:r>
              <a:rPr dirty="0" sz="950" spc="8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Center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Master</a:t>
            </a:r>
            <a:endParaRPr sz="9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60"/>
              </a:spcBef>
            </a:pPr>
            <a:r>
              <a:rPr dirty="0" sz="950">
                <a:latin typeface="Arial"/>
                <a:cs typeface="Arial"/>
              </a:rPr>
              <a:t>KNA1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=</a:t>
            </a:r>
            <a:r>
              <a:rPr dirty="0" sz="950" spc="6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Cutomer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Master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(General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Data)</a:t>
            </a:r>
            <a:endParaRPr sz="950">
              <a:latin typeface="Arial"/>
              <a:cs typeface="Arial"/>
            </a:endParaRPr>
          </a:p>
          <a:p>
            <a:pPr marL="28575" marR="3021330">
              <a:lnSpc>
                <a:spcPct val="105300"/>
              </a:lnSpc>
              <a:spcBef>
                <a:spcPts val="75"/>
              </a:spcBef>
            </a:pPr>
            <a:r>
              <a:rPr dirty="0" sz="950">
                <a:latin typeface="Arial"/>
                <a:cs typeface="Arial"/>
              </a:rPr>
              <a:t>LFA1</a:t>
            </a:r>
            <a:r>
              <a:rPr dirty="0" sz="950" spc="5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=</a:t>
            </a:r>
            <a:r>
              <a:rPr dirty="0" sz="950" spc="5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Vendor</a:t>
            </a:r>
            <a:r>
              <a:rPr dirty="0" sz="950" spc="5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Master</a:t>
            </a:r>
            <a:r>
              <a:rPr dirty="0" sz="950" spc="5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(General</a:t>
            </a:r>
            <a:r>
              <a:rPr dirty="0" sz="950" spc="5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Data) </a:t>
            </a:r>
            <a:r>
              <a:rPr dirty="0" sz="950">
                <a:latin typeface="Arial"/>
                <a:cs typeface="Arial"/>
              </a:rPr>
              <a:t>MARA</a:t>
            </a:r>
            <a:r>
              <a:rPr dirty="0" sz="950" spc="8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=</a:t>
            </a:r>
            <a:r>
              <a:rPr dirty="0" sz="950" spc="8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Material</a:t>
            </a:r>
            <a:r>
              <a:rPr dirty="0" sz="950" spc="8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Master</a:t>
            </a:r>
            <a:r>
              <a:rPr dirty="0" sz="950" spc="8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(General</a:t>
            </a:r>
            <a:r>
              <a:rPr dirty="0" sz="950" spc="80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Data)</a:t>
            </a:r>
            <a:endParaRPr sz="950">
              <a:latin typeface="Arial"/>
              <a:cs typeface="Arial"/>
            </a:endParaRPr>
          </a:p>
          <a:p>
            <a:pPr marL="28575" marR="2677795">
              <a:lnSpc>
                <a:spcPct val="105300"/>
              </a:lnSpc>
            </a:pPr>
            <a:r>
              <a:rPr dirty="0" sz="950">
                <a:latin typeface="Arial"/>
                <a:cs typeface="Arial"/>
              </a:rPr>
              <a:t>SKB1</a:t>
            </a:r>
            <a:r>
              <a:rPr dirty="0" sz="950" spc="10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=</a:t>
            </a:r>
            <a:r>
              <a:rPr dirty="0" sz="950" spc="10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G/L</a:t>
            </a:r>
            <a:r>
              <a:rPr dirty="0" sz="950" spc="10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Account</a:t>
            </a:r>
            <a:r>
              <a:rPr dirty="0" sz="950" spc="10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Master</a:t>
            </a:r>
            <a:r>
              <a:rPr dirty="0" sz="950" spc="10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(Company</a:t>
            </a:r>
            <a:r>
              <a:rPr dirty="0" sz="950" spc="100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Code) </a:t>
            </a:r>
            <a:r>
              <a:rPr dirty="0" sz="950">
                <a:latin typeface="Arial"/>
                <a:cs typeface="Arial"/>
              </a:rPr>
              <a:t>T001W</a:t>
            </a:r>
            <a:r>
              <a:rPr dirty="0" sz="950" spc="7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=</a:t>
            </a:r>
            <a:r>
              <a:rPr dirty="0" sz="950" spc="80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Plants/Branches</a:t>
            </a:r>
            <a:endParaRPr sz="9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55"/>
              </a:spcBef>
            </a:pPr>
            <a:r>
              <a:rPr dirty="0" sz="950">
                <a:latin typeface="Arial"/>
                <a:cs typeface="Arial"/>
              </a:rPr>
              <a:t>T001</a:t>
            </a:r>
            <a:r>
              <a:rPr dirty="0" sz="950" spc="2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=</a:t>
            </a:r>
            <a:r>
              <a:rPr dirty="0" sz="950" spc="3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Company</a:t>
            </a:r>
            <a:r>
              <a:rPr dirty="0" sz="950" spc="2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Codes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35575" y="241300"/>
            <a:ext cx="873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SAP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-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FI/CO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386137" y="1744662"/>
            <a:ext cx="1466850" cy="1019175"/>
            <a:chOff x="3386137" y="1744662"/>
            <a:chExt cx="1466850" cy="1019175"/>
          </a:xfrm>
        </p:grpSpPr>
        <p:sp>
          <p:nvSpPr>
            <p:cNvPr id="4" name="object 4" descr=""/>
            <p:cNvSpPr/>
            <p:nvPr/>
          </p:nvSpPr>
          <p:spPr>
            <a:xfrm>
              <a:off x="3390900" y="2644775"/>
              <a:ext cx="1457325" cy="114300"/>
            </a:xfrm>
            <a:custGeom>
              <a:avLst/>
              <a:gdLst/>
              <a:ahLst/>
              <a:cxnLst/>
              <a:rect l="l" t="t" r="r" b="b"/>
              <a:pathLst>
                <a:path w="1457325" h="114300">
                  <a:moveTo>
                    <a:pt x="1343025" y="0"/>
                  </a:moveTo>
                  <a:lnTo>
                    <a:pt x="0" y="0"/>
                  </a:lnTo>
                  <a:lnTo>
                    <a:pt x="114300" y="114300"/>
                  </a:lnTo>
                  <a:lnTo>
                    <a:pt x="1457325" y="114300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90900" y="2644775"/>
              <a:ext cx="1457325" cy="114300"/>
            </a:xfrm>
            <a:custGeom>
              <a:avLst/>
              <a:gdLst/>
              <a:ahLst/>
              <a:cxnLst/>
              <a:rect l="l" t="t" r="r" b="b"/>
              <a:pathLst>
                <a:path w="1457325" h="114300">
                  <a:moveTo>
                    <a:pt x="1343025" y="0"/>
                  </a:moveTo>
                  <a:lnTo>
                    <a:pt x="0" y="0"/>
                  </a:lnTo>
                  <a:lnTo>
                    <a:pt x="114300" y="114300"/>
                  </a:lnTo>
                  <a:lnTo>
                    <a:pt x="1457325" y="114300"/>
                  </a:lnTo>
                  <a:lnTo>
                    <a:pt x="134302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33925" y="1749425"/>
              <a:ext cx="114300" cy="1009650"/>
            </a:xfrm>
            <a:custGeom>
              <a:avLst/>
              <a:gdLst/>
              <a:ahLst/>
              <a:cxnLst/>
              <a:rect l="l" t="t" r="r" b="b"/>
              <a:pathLst>
                <a:path w="114300" h="1009650">
                  <a:moveTo>
                    <a:pt x="0" y="0"/>
                  </a:moveTo>
                  <a:lnTo>
                    <a:pt x="0" y="895350"/>
                  </a:lnTo>
                  <a:lnTo>
                    <a:pt x="114300" y="1009650"/>
                  </a:lnTo>
                  <a:lnTo>
                    <a:pt x="114300" y="114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33925" y="1749425"/>
              <a:ext cx="114300" cy="1009650"/>
            </a:xfrm>
            <a:custGeom>
              <a:avLst/>
              <a:gdLst/>
              <a:ahLst/>
              <a:cxnLst/>
              <a:rect l="l" t="t" r="r" b="b"/>
              <a:pathLst>
                <a:path w="114300" h="1009650">
                  <a:moveTo>
                    <a:pt x="114300" y="10096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14300" y="114300"/>
                  </a:lnTo>
                  <a:lnTo>
                    <a:pt x="114300" y="10096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390900" y="1749425"/>
            <a:ext cx="1343025" cy="8953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750">
              <a:latin typeface="Times New Roman"/>
              <a:cs typeface="Times New Roman"/>
            </a:endParaRPr>
          </a:p>
          <a:p>
            <a:pPr marL="428625" marR="335280" indent="57150">
              <a:lnSpc>
                <a:spcPct val="108300"/>
              </a:lnSpc>
            </a:pPr>
            <a:r>
              <a:rPr dirty="0" sz="750" spc="70">
                <a:latin typeface="Arial"/>
                <a:cs typeface="Arial"/>
              </a:rPr>
              <a:t>Financial </a:t>
            </a:r>
            <a:r>
              <a:rPr dirty="0" sz="750" spc="65">
                <a:latin typeface="Arial"/>
                <a:cs typeface="Arial"/>
              </a:rPr>
              <a:t>Accounting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519862" y="1744662"/>
            <a:ext cx="1457325" cy="1019175"/>
            <a:chOff x="6519862" y="1744662"/>
            <a:chExt cx="1457325" cy="1019175"/>
          </a:xfrm>
        </p:grpSpPr>
        <p:sp>
          <p:nvSpPr>
            <p:cNvPr id="10" name="object 10" descr=""/>
            <p:cNvSpPr/>
            <p:nvPr/>
          </p:nvSpPr>
          <p:spPr>
            <a:xfrm>
              <a:off x="6524625" y="2644775"/>
              <a:ext cx="1447800" cy="114300"/>
            </a:xfrm>
            <a:custGeom>
              <a:avLst/>
              <a:gdLst/>
              <a:ahLst/>
              <a:cxnLst/>
              <a:rect l="l" t="t" r="r" b="b"/>
              <a:pathLst>
                <a:path w="1447800" h="114300">
                  <a:moveTo>
                    <a:pt x="1343025" y="0"/>
                  </a:moveTo>
                  <a:lnTo>
                    <a:pt x="0" y="0"/>
                  </a:lnTo>
                  <a:lnTo>
                    <a:pt x="104775" y="114300"/>
                  </a:lnTo>
                  <a:lnTo>
                    <a:pt x="1447800" y="114300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524625" y="2644775"/>
              <a:ext cx="1447800" cy="114300"/>
            </a:xfrm>
            <a:custGeom>
              <a:avLst/>
              <a:gdLst/>
              <a:ahLst/>
              <a:cxnLst/>
              <a:rect l="l" t="t" r="r" b="b"/>
              <a:pathLst>
                <a:path w="1447800" h="114300">
                  <a:moveTo>
                    <a:pt x="1343025" y="0"/>
                  </a:moveTo>
                  <a:lnTo>
                    <a:pt x="0" y="0"/>
                  </a:lnTo>
                  <a:lnTo>
                    <a:pt x="104775" y="114300"/>
                  </a:lnTo>
                  <a:lnTo>
                    <a:pt x="1447800" y="114300"/>
                  </a:lnTo>
                  <a:lnTo>
                    <a:pt x="134302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867650" y="1749425"/>
              <a:ext cx="104775" cy="1009650"/>
            </a:xfrm>
            <a:custGeom>
              <a:avLst/>
              <a:gdLst/>
              <a:ahLst/>
              <a:cxnLst/>
              <a:rect l="l" t="t" r="r" b="b"/>
              <a:pathLst>
                <a:path w="104775" h="1009650">
                  <a:moveTo>
                    <a:pt x="0" y="0"/>
                  </a:moveTo>
                  <a:lnTo>
                    <a:pt x="0" y="895350"/>
                  </a:lnTo>
                  <a:lnTo>
                    <a:pt x="104775" y="1009650"/>
                  </a:lnTo>
                  <a:lnTo>
                    <a:pt x="104775" y="114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867650" y="1749425"/>
              <a:ext cx="104775" cy="1009650"/>
            </a:xfrm>
            <a:custGeom>
              <a:avLst/>
              <a:gdLst/>
              <a:ahLst/>
              <a:cxnLst/>
              <a:rect l="l" t="t" r="r" b="b"/>
              <a:pathLst>
                <a:path w="104775" h="1009650">
                  <a:moveTo>
                    <a:pt x="104775" y="10096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04775" y="114300"/>
                  </a:lnTo>
                  <a:lnTo>
                    <a:pt x="104775" y="10096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524625" y="1749425"/>
            <a:ext cx="1343025" cy="8953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750">
              <a:latin typeface="Times New Roman"/>
              <a:cs typeface="Times New Roman"/>
            </a:endParaRPr>
          </a:p>
          <a:p>
            <a:pPr marL="523875" marR="134620" indent="-200025">
              <a:lnSpc>
                <a:spcPct val="108300"/>
              </a:lnSpc>
            </a:pPr>
            <a:r>
              <a:rPr dirty="0" sz="750" spc="90">
                <a:latin typeface="Arial"/>
                <a:cs typeface="Arial"/>
              </a:rPr>
              <a:t>Special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Purpose Ledger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57762" y="3087687"/>
            <a:ext cx="1457325" cy="1019175"/>
            <a:chOff x="4957762" y="3087687"/>
            <a:chExt cx="1457325" cy="1019175"/>
          </a:xfrm>
        </p:grpSpPr>
        <p:sp>
          <p:nvSpPr>
            <p:cNvPr id="16" name="object 16" descr=""/>
            <p:cNvSpPr/>
            <p:nvPr/>
          </p:nvSpPr>
          <p:spPr>
            <a:xfrm>
              <a:off x="4962525" y="3987800"/>
              <a:ext cx="1447800" cy="114300"/>
            </a:xfrm>
            <a:custGeom>
              <a:avLst/>
              <a:gdLst/>
              <a:ahLst/>
              <a:cxnLst/>
              <a:rect l="l" t="t" r="r" b="b"/>
              <a:pathLst>
                <a:path w="1447800" h="114300">
                  <a:moveTo>
                    <a:pt x="1333500" y="0"/>
                  </a:moveTo>
                  <a:lnTo>
                    <a:pt x="0" y="0"/>
                  </a:lnTo>
                  <a:lnTo>
                    <a:pt x="104775" y="114300"/>
                  </a:lnTo>
                  <a:lnTo>
                    <a:pt x="1447800" y="114300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62525" y="3987800"/>
              <a:ext cx="1447800" cy="114300"/>
            </a:xfrm>
            <a:custGeom>
              <a:avLst/>
              <a:gdLst/>
              <a:ahLst/>
              <a:cxnLst/>
              <a:rect l="l" t="t" r="r" b="b"/>
              <a:pathLst>
                <a:path w="1447800" h="114300">
                  <a:moveTo>
                    <a:pt x="1333500" y="0"/>
                  </a:moveTo>
                  <a:lnTo>
                    <a:pt x="0" y="0"/>
                  </a:lnTo>
                  <a:lnTo>
                    <a:pt x="104775" y="114300"/>
                  </a:lnTo>
                  <a:lnTo>
                    <a:pt x="1447800" y="114300"/>
                  </a:lnTo>
                  <a:lnTo>
                    <a:pt x="13335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296025" y="3092450"/>
              <a:ext cx="114300" cy="1009650"/>
            </a:xfrm>
            <a:custGeom>
              <a:avLst/>
              <a:gdLst/>
              <a:ahLst/>
              <a:cxnLst/>
              <a:rect l="l" t="t" r="r" b="b"/>
              <a:pathLst>
                <a:path w="114300" h="1009650">
                  <a:moveTo>
                    <a:pt x="0" y="0"/>
                  </a:moveTo>
                  <a:lnTo>
                    <a:pt x="0" y="895350"/>
                  </a:lnTo>
                  <a:lnTo>
                    <a:pt x="114300" y="1009650"/>
                  </a:lnTo>
                  <a:lnTo>
                    <a:pt x="114300" y="114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296025" y="3092450"/>
              <a:ext cx="114300" cy="1009650"/>
            </a:xfrm>
            <a:custGeom>
              <a:avLst/>
              <a:gdLst/>
              <a:ahLst/>
              <a:cxnLst/>
              <a:rect l="l" t="t" r="r" b="b"/>
              <a:pathLst>
                <a:path w="114300" h="1009650">
                  <a:moveTo>
                    <a:pt x="114300" y="1009650"/>
                  </a:moveTo>
                  <a:lnTo>
                    <a:pt x="0" y="895350"/>
                  </a:lnTo>
                  <a:lnTo>
                    <a:pt x="0" y="0"/>
                  </a:lnTo>
                  <a:lnTo>
                    <a:pt x="114300" y="114300"/>
                  </a:lnTo>
                  <a:lnTo>
                    <a:pt x="114300" y="10096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962525" y="3092450"/>
            <a:ext cx="1333500" cy="8953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750">
              <a:latin typeface="Times New Roman"/>
              <a:cs typeface="Times New Roman"/>
            </a:endParaRPr>
          </a:p>
          <a:p>
            <a:pPr marL="438150">
              <a:lnSpc>
                <a:spcPct val="100000"/>
              </a:lnSpc>
            </a:pPr>
            <a:r>
              <a:rPr dirty="0" sz="750" spc="70">
                <a:latin typeface="Arial"/>
                <a:cs typeface="Arial"/>
              </a:rPr>
              <a:t>Controlling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376362" y="849312"/>
            <a:ext cx="1352550" cy="685800"/>
            <a:chOff x="1376362" y="849312"/>
            <a:chExt cx="1352550" cy="685800"/>
          </a:xfrm>
        </p:grpSpPr>
        <p:sp>
          <p:nvSpPr>
            <p:cNvPr id="22" name="object 22" descr=""/>
            <p:cNvSpPr/>
            <p:nvPr/>
          </p:nvSpPr>
          <p:spPr>
            <a:xfrm>
              <a:off x="1381125" y="8540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0" y="0"/>
                  </a:lnTo>
                  <a:lnTo>
                    <a:pt x="0" y="676275"/>
                  </a:lnTo>
                  <a:lnTo>
                    <a:pt x="114300" y="561975"/>
                  </a:lnTo>
                  <a:lnTo>
                    <a:pt x="1228725" y="114300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81125" y="8540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0" y="676275"/>
                  </a:moveTo>
                  <a:lnTo>
                    <a:pt x="114300" y="561975"/>
                  </a:lnTo>
                  <a:lnTo>
                    <a:pt x="1228725" y="114300"/>
                  </a:lnTo>
                  <a:lnTo>
                    <a:pt x="1343025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  <a:path w="1343025" h="676275">
                  <a:moveTo>
                    <a:pt x="0" y="0"/>
                  </a:moveTo>
                  <a:lnTo>
                    <a:pt x="114300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381125" y="8540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1228725" y="114300"/>
                  </a:lnTo>
                  <a:lnTo>
                    <a:pt x="114300" y="561975"/>
                  </a:ln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81125" y="8540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14300" y="561975"/>
                  </a:move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lnTo>
                    <a:pt x="1228725" y="114300"/>
                  </a:lnTo>
                  <a:lnTo>
                    <a:pt x="114300" y="561975"/>
                  </a:lnTo>
                  <a:close/>
                </a:path>
                <a:path w="1343025" h="676275">
                  <a:moveTo>
                    <a:pt x="1343025" y="676275"/>
                  </a:moveTo>
                  <a:lnTo>
                    <a:pt x="1228725" y="5619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495425" y="968375"/>
            <a:ext cx="1114425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390525" marR="287020" indent="-38100">
              <a:lnSpc>
                <a:spcPct val="108300"/>
              </a:lnSpc>
              <a:spcBef>
                <a:spcPts val="675"/>
              </a:spcBef>
            </a:pPr>
            <a:r>
              <a:rPr dirty="0" sz="750" spc="60">
                <a:latin typeface="Arial"/>
                <a:cs typeface="Arial"/>
              </a:rPr>
              <a:t>Accounts </a:t>
            </a:r>
            <a:r>
              <a:rPr dirty="0" sz="750" spc="70">
                <a:latin typeface="Arial"/>
                <a:cs typeface="Arial"/>
              </a:rPr>
              <a:t>Payable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376362" y="1858962"/>
            <a:ext cx="1352550" cy="676275"/>
            <a:chOff x="1376362" y="1858962"/>
            <a:chExt cx="1352550" cy="676275"/>
          </a:xfrm>
        </p:grpSpPr>
        <p:sp>
          <p:nvSpPr>
            <p:cNvPr id="28" name="object 28" descr=""/>
            <p:cNvSpPr/>
            <p:nvPr/>
          </p:nvSpPr>
          <p:spPr>
            <a:xfrm>
              <a:off x="1381125" y="1863725"/>
              <a:ext cx="1343025" cy="666750"/>
            </a:xfrm>
            <a:custGeom>
              <a:avLst/>
              <a:gdLst/>
              <a:ahLst/>
              <a:cxnLst/>
              <a:rect l="l" t="t" r="r" b="b"/>
              <a:pathLst>
                <a:path w="1343025" h="666750">
                  <a:moveTo>
                    <a:pt x="1343025" y="0"/>
                  </a:moveTo>
                  <a:lnTo>
                    <a:pt x="0" y="0"/>
                  </a:lnTo>
                  <a:lnTo>
                    <a:pt x="0" y="666750"/>
                  </a:lnTo>
                  <a:lnTo>
                    <a:pt x="114300" y="561975"/>
                  </a:lnTo>
                  <a:lnTo>
                    <a:pt x="1228725" y="114300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81125" y="1863725"/>
              <a:ext cx="1343025" cy="666750"/>
            </a:xfrm>
            <a:custGeom>
              <a:avLst/>
              <a:gdLst/>
              <a:ahLst/>
              <a:cxnLst/>
              <a:rect l="l" t="t" r="r" b="b"/>
              <a:pathLst>
                <a:path w="1343025" h="666750">
                  <a:moveTo>
                    <a:pt x="0" y="666750"/>
                  </a:moveTo>
                  <a:lnTo>
                    <a:pt x="114300" y="561975"/>
                  </a:lnTo>
                  <a:lnTo>
                    <a:pt x="1228725" y="114300"/>
                  </a:lnTo>
                  <a:lnTo>
                    <a:pt x="1343025" y="0"/>
                  </a:lnTo>
                  <a:lnTo>
                    <a:pt x="0" y="0"/>
                  </a:lnTo>
                  <a:lnTo>
                    <a:pt x="0" y="666750"/>
                  </a:lnTo>
                  <a:close/>
                </a:path>
                <a:path w="1343025" h="666750">
                  <a:moveTo>
                    <a:pt x="0" y="0"/>
                  </a:moveTo>
                  <a:lnTo>
                    <a:pt x="114300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81125" y="1863725"/>
              <a:ext cx="1343025" cy="666750"/>
            </a:xfrm>
            <a:custGeom>
              <a:avLst/>
              <a:gdLst/>
              <a:ahLst/>
              <a:cxnLst/>
              <a:rect l="l" t="t" r="r" b="b"/>
              <a:pathLst>
                <a:path w="1343025" h="666750">
                  <a:moveTo>
                    <a:pt x="1343025" y="0"/>
                  </a:moveTo>
                  <a:lnTo>
                    <a:pt x="1228725" y="114300"/>
                  </a:lnTo>
                  <a:lnTo>
                    <a:pt x="114300" y="561975"/>
                  </a:lnTo>
                  <a:lnTo>
                    <a:pt x="0" y="666750"/>
                  </a:lnTo>
                  <a:lnTo>
                    <a:pt x="1343025" y="666750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81125" y="1863725"/>
              <a:ext cx="1343025" cy="666750"/>
            </a:xfrm>
            <a:custGeom>
              <a:avLst/>
              <a:gdLst/>
              <a:ahLst/>
              <a:cxnLst/>
              <a:rect l="l" t="t" r="r" b="b"/>
              <a:pathLst>
                <a:path w="1343025" h="666750">
                  <a:moveTo>
                    <a:pt x="114300" y="561975"/>
                  </a:moveTo>
                  <a:lnTo>
                    <a:pt x="0" y="666750"/>
                  </a:lnTo>
                  <a:lnTo>
                    <a:pt x="1343025" y="666750"/>
                  </a:lnTo>
                  <a:lnTo>
                    <a:pt x="1343025" y="0"/>
                  </a:lnTo>
                  <a:lnTo>
                    <a:pt x="1228725" y="114300"/>
                  </a:lnTo>
                  <a:lnTo>
                    <a:pt x="114300" y="561975"/>
                  </a:lnTo>
                  <a:close/>
                </a:path>
                <a:path w="1343025" h="666750">
                  <a:moveTo>
                    <a:pt x="1343025" y="666750"/>
                  </a:moveTo>
                  <a:lnTo>
                    <a:pt x="1228725" y="5619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1495425" y="1978025"/>
            <a:ext cx="1114425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409575" marR="297180" indent="-19050">
              <a:lnSpc>
                <a:spcPct val="108300"/>
              </a:lnSpc>
              <a:spcBef>
                <a:spcPts val="675"/>
              </a:spcBef>
            </a:pPr>
            <a:r>
              <a:rPr dirty="0" sz="750" spc="70">
                <a:latin typeface="Arial"/>
                <a:cs typeface="Arial"/>
              </a:rPr>
              <a:t>General </a:t>
            </a:r>
            <a:r>
              <a:rPr dirty="0" sz="750" spc="90">
                <a:latin typeface="Arial"/>
                <a:cs typeface="Arial"/>
              </a:rPr>
              <a:t>Ledger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1376362" y="2973387"/>
            <a:ext cx="1352550" cy="685800"/>
            <a:chOff x="1376362" y="2973387"/>
            <a:chExt cx="1352550" cy="685800"/>
          </a:xfrm>
        </p:grpSpPr>
        <p:sp>
          <p:nvSpPr>
            <p:cNvPr id="34" name="object 34" descr=""/>
            <p:cNvSpPr/>
            <p:nvPr/>
          </p:nvSpPr>
          <p:spPr>
            <a:xfrm>
              <a:off x="1381125" y="2978150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0" y="0"/>
                  </a:lnTo>
                  <a:lnTo>
                    <a:pt x="0" y="676275"/>
                  </a:lnTo>
                  <a:lnTo>
                    <a:pt x="114300" y="561975"/>
                  </a:lnTo>
                  <a:lnTo>
                    <a:pt x="1228725" y="114300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81125" y="2978150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0" y="676275"/>
                  </a:moveTo>
                  <a:lnTo>
                    <a:pt x="114300" y="561975"/>
                  </a:lnTo>
                  <a:lnTo>
                    <a:pt x="1228725" y="114300"/>
                  </a:lnTo>
                  <a:lnTo>
                    <a:pt x="1343025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  <a:path w="1343025" h="676275">
                  <a:moveTo>
                    <a:pt x="0" y="0"/>
                  </a:moveTo>
                  <a:lnTo>
                    <a:pt x="114300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381125" y="2978150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1228725" y="114300"/>
                  </a:lnTo>
                  <a:lnTo>
                    <a:pt x="114300" y="561975"/>
                  </a:ln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381125" y="2978150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14300" y="561975"/>
                  </a:move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lnTo>
                    <a:pt x="1228725" y="114300"/>
                  </a:lnTo>
                  <a:lnTo>
                    <a:pt x="114300" y="561975"/>
                  </a:lnTo>
                  <a:close/>
                </a:path>
                <a:path w="1343025" h="676275">
                  <a:moveTo>
                    <a:pt x="1343025" y="676275"/>
                  </a:moveTo>
                  <a:lnTo>
                    <a:pt x="1228725" y="5619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495425" y="3092450"/>
            <a:ext cx="1114425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marL="323850" marR="201930" indent="28575">
              <a:lnSpc>
                <a:spcPct val="100000"/>
              </a:lnSpc>
              <a:spcBef>
                <a:spcPts val="825"/>
              </a:spcBef>
            </a:pPr>
            <a:r>
              <a:rPr dirty="0" sz="750" spc="60">
                <a:latin typeface="Arial"/>
                <a:cs typeface="Arial"/>
              </a:rPr>
              <a:t>Accounts </a:t>
            </a:r>
            <a:r>
              <a:rPr dirty="0" sz="750" spc="75">
                <a:latin typeface="Arial"/>
                <a:cs typeface="Arial"/>
              </a:rPr>
              <a:t>Receivable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8415337" y="1296987"/>
            <a:ext cx="1352550" cy="685800"/>
            <a:chOff x="8415337" y="1296987"/>
            <a:chExt cx="1352550" cy="685800"/>
          </a:xfrm>
        </p:grpSpPr>
        <p:sp>
          <p:nvSpPr>
            <p:cNvPr id="40" name="object 40" descr=""/>
            <p:cNvSpPr/>
            <p:nvPr/>
          </p:nvSpPr>
          <p:spPr>
            <a:xfrm>
              <a:off x="8420100" y="1301750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0" y="0"/>
                  </a:lnTo>
                  <a:lnTo>
                    <a:pt x="0" y="676275"/>
                  </a:lnTo>
                  <a:lnTo>
                    <a:pt x="114300" y="561975"/>
                  </a:lnTo>
                  <a:lnTo>
                    <a:pt x="1228725" y="114300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420100" y="1301750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0" y="676275"/>
                  </a:moveTo>
                  <a:lnTo>
                    <a:pt x="114300" y="561975"/>
                  </a:lnTo>
                  <a:lnTo>
                    <a:pt x="1228725" y="114300"/>
                  </a:lnTo>
                  <a:lnTo>
                    <a:pt x="1343025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  <a:path w="1343025" h="676275">
                  <a:moveTo>
                    <a:pt x="0" y="0"/>
                  </a:moveTo>
                  <a:lnTo>
                    <a:pt x="114300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420100" y="1301750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1228725" y="114300"/>
                  </a:lnTo>
                  <a:lnTo>
                    <a:pt x="114300" y="561975"/>
                  </a:ln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420100" y="1301750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14300" y="561975"/>
                  </a:move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lnTo>
                    <a:pt x="1228725" y="114300"/>
                  </a:lnTo>
                  <a:lnTo>
                    <a:pt x="114300" y="561975"/>
                  </a:lnTo>
                  <a:close/>
                </a:path>
                <a:path w="1343025" h="676275">
                  <a:moveTo>
                    <a:pt x="1343025" y="676275"/>
                  </a:moveTo>
                  <a:lnTo>
                    <a:pt x="1228725" y="5619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534400" y="1416050"/>
              <a:ext cx="1114425" cy="447675"/>
            </a:xfrm>
            <a:custGeom>
              <a:avLst/>
              <a:gdLst/>
              <a:ahLst/>
              <a:cxnLst/>
              <a:rect l="l" t="t" r="r" b="b"/>
              <a:pathLst>
                <a:path w="1114425" h="447675">
                  <a:moveTo>
                    <a:pt x="11144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114425" y="447675"/>
                  </a:lnTo>
                  <a:lnTo>
                    <a:pt x="111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534400" y="1416050"/>
              <a:ext cx="1114425" cy="447675"/>
            </a:xfrm>
            <a:custGeom>
              <a:avLst/>
              <a:gdLst/>
              <a:ahLst/>
              <a:cxnLst/>
              <a:rect l="l" t="t" r="r" b="b"/>
              <a:pathLst>
                <a:path w="1114425" h="447675">
                  <a:moveTo>
                    <a:pt x="0" y="447675"/>
                  </a:moveTo>
                  <a:lnTo>
                    <a:pt x="1114425" y="447675"/>
                  </a:lnTo>
                  <a:lnTo>
                    <a:pt x="11144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8626475" y="1565275"/>
            <a:ext cx="11684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85">
                <a:latin typeface="Arial"/>
                <a:cs typeface="Arial"/>
              </a:rPr>
              <a:t>Reconcillation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Ledger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8415337" y="2640012"/>
            <a:ext cx="1352550" cy="685800"/>
            <a:chOff x="8415337" y="2640012"/>
            <a:chExt cx="1352550" cy="685800"/>
          </a:xfrm>
        </p:grpSpPr>
        <p:sp>
          <p:nvSpPr>
            <p:cNvPr id="48" name="object 48" descr=""/>
            <p:cNvSpPr/>
            <p:nvPr/>
          </p:nvSpPr>
          <p:spPr>
            <a:xfrm>
              <a:off x="8420100" y="26447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0" y="0"/>
                  </a:lnTo>
                  <a:lnTo>
                    <a:pt x="0" y="676275"/>
                  </a:lnTo>
                  <a:lnTo>
                    <a:pt x="114300" y="561975"/>
                  </a:lnTo>
                  <a:lnTo>
                    <a:pt x="1228725" y="114300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420100" y="26447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0" y="676275"/>
                  </a:moveTo>
                  <a:lnTo>
                    <a:pt x="114300" y="561975"/>
                  </a:lnTo>
                  <a:lnTo>
                    <a:pt x="1228725" y="114300"/>
                  </a:lnTo>
                  <a:lnTo>
                    <a:pt x="1343025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  <a:path w="1343025" h="676275">
                  <a:moveTo>
                    <a:pt x="0" y="0"/>
                  </a:moveTo>
                  <a:lnTo>
                    <a:pt x="114300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420100" y="26447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1228725" y="114300"/>
                  </a:lnTo>
                  <a:lnTo>
                    <a:pt x="114300" y="561975"/>
                  </a:ln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420100" y="26447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14300" y="561975"/>
                  </a:move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lnTo>
                    <a:pt x="1228725" y="114300"/>
                  </a:lnTo>
                  <a:lnTo>
                    <a:pt x="114300" y="561975"/>
                  </a:lnTo>
                  <a:close/>
                </a:path>
                <a:path w="1343025" h="676275">
                  <a:moveTo>
                    <a:pt x="1343025" y="676275"/>
                  </a:moveTo>
                  <a:lnTo>
                    <a:pt x="1228725" y="5619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8534400" y="2759075"/>
            <a:ext cx="1114425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409575" marR="306070" indent="-19050">
              <a:lnSpc>
                <a:spcPct val="108300"/>
              </a:lnSpc>
              <a:spcBef>
                <a:spcPts val="675"/>
              </a:spcBef>
            </a:pPr>
            <a:r>
              <a:rPr dirty="0" sz="750" spc="90">
                <a:latin typeface="Arial"/>
                <a:cs typeface="Arial"/>
              </a:rPr>
              <a:t>Custom Ledger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3614737" y="4430712"/>
            <a:ext cx="1352550" cy="685800"/>
            <a:chOff x="3614737" y="4430712"/>
            <a:chExt cx="1352550" cy="685800"/>
          </a:xfrm>
        </p:grpSpPr>
        <p:sp>
          <p:nvSpPr>
            <p:cNvPr id="54" name="object 54" descr=""/>
            <p:cNvSpPr/>
            <p:nvPr/>
          </p:nvSpPr>
          <p:spPr>
            <a:xfrm>
              <a:off x="3619500" y="44354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0" y="0"/>
                  </a:lnTo>
                  <a:lnTo>
                    <a:pt x="0" y="676275"/>
                  </a:lnTo>
                  <a:lnTo>
                    <a:pt x="104775" y="561975"/>
                  </a:lnTo>
                  <a:lnTo>
                    <a:pt x="1228725" y="114300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619500" y="44354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0" y="676275"/>
                  </a:moveTo>
                  <a:lnTo>
                    <a:pt x="104775" y="561975"/>
                  </a:lnTo>
                  <a:lnTo>
                    <a:pt x="1228725" y="114300"/>
                  </a:lnTo>
                  <a:lnTo>
                    <a:pt x="1343025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  <a:path w="1343025" h="676275">
                  <a:moveTo>
                    <a:pt x="0" y="0"/>
                  </a:moveTo>
                  <a:lnTo>
                    <a:pt x="104775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619500" y="44354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1228725" y="114300"/>
                  </a:lnTo>
                  <a:lnTo>
                    <a:pt x="104775" y="561975"/>
                  </a:ln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619500" y="44354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04775" y="561975"/>
                  </a:move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lnTo>
                    <a:pt x="1228725" y="114300"/>
                  </a:lnTo>
                  <a:lnTo>
                    <a:pt x="104775" y="561975"/>
                  </a:lnTo>
                  <a:close/>
                </a:path>
                <a:path w="1343025" h="676275">
                  <a:moveTo>
                    <a:pt x="1343025" y="676275"/>
                  </a:moveTo>
                  <a:lnTo>
                    <a:pt x="1228725" y="5619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3724275" y="4549775"/>
            <a:ext cx="1123950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323850" marR="173355" indent="-28575">
              <a:lnSpc>
                <a:spcPct val="108300"/>
              </a:lnSpc>
              <a:spcBef>
                <a:spcPts val="675"/>
              </a:spcBef>
            </a:pPr>
            <a:r>
              <a:rPr dirty="0" sz="750" spc="60">
                <a:latin typeface="Arial"/>
                <a:cs typeface="Arial"/>
              </a:rPr>
              <a:t>Profit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65">
                <a:latin typeface="Arial"/>
                <a:cs typeface="Arial"/>
              </a:rPr>
              <a:t>Center Accounting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6519862" y="4430712"/>
            <a:ext cx="1352550" cy="685800"/>
            <a:chOff x="6519862" y="4430712"/>
            <a:chExt cx="1352550" cy="685800"/>
          </a:xfrm>
        </p:grpSpPr>
        <p:sp>
          <p:nvSpPr>
            <p:cNvPr id="60" name="object 60" descr=""/>
            <p:cNvSpPr/>
            <p:nvPr/>
          </p:nvSpPr>
          <p:spPr>
            <a:xfrm>
              <a:off x="6524625" y="44354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0" y="0"/>
                  </a:lnTo>
                  <a:lnTo>
                    <a:pt x="0" y="676275"/>
                  </a:lnTo>
                  <a:lnTo>
                    <a:pt x="104775" y="561975"/>
                  </a:lnTo>
                  <a:lnTo>
                    <a:pt x="1228725" y="114300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524625" y="44354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0" y="676275"/>
                  </a:moveTo>
                  <a:lnTo>
                    <a:pt x="104775" y="561975"/>
                  </a:lnTo>
                  <a:lnTo>
                    <a:pt x="1228725" y="114300"/>
                  </a:lnTo>
                  <a:lnTo>
                    <a:pt x="1343025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  <a:path w="1343025" h="676275">
                  <a:moveTo>
                    <a:pt x="0" y="0"/>
                  </a:moveTo>
                  <a:lnTo>
                    <a:pt x="104775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524625" y="44354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343025" y="0"/>
                  </a:moveTo>
                  <a:lnTo>
                    <a:pt x="1228725" y="114300"/>
                  </a:lnTo>
                  <a:lnTo>
                    <a:pt x="104775" y="561975"/>
                  </a:ln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524625" y="4435475"/>
              <a:ext cx="1343025" cy="676275"/>
            </a:xfrm>
            <a:custGeom>
              <a:avLst/>
              <a:gdLst/>
              <a:ahLst/>
              <a:cxnLst/>
              <a:rect l="l" t="t" r="r" b="b"/>
              <a:pathLst>
                <a:path w="1343025" h="676275">
                  <a:moveTo>
                    <a:pt x="104775" y="561975"/>
                  </a:moveTo>
                  <a:lnTo>
                    <a:pt x="0" y="676275"/>
                  </a:lnTo>
                  <a:lnTo>
                    <a:pt x="1343025" y="676275"/>
                  </a:lnTo>
                  <a:lnTo>
                    <a:pt x="1343025" y="0"/>
                  </a:lnTo>
                  <a:lnTo>
                    <a:pt x="1228725" y="114300"/>
                  </a:lnTo>
                  <a:lnTo>
                    <a:pt x="104775" y="561975"/>
                  </a:lnTo>
                  <a:close/>
                </a:path>
                <a:path w="1343025" h="676275">
                  <a:moveTo>
                    <a:pt x="1343025" y="676275"/>
                  </a:moveTo>
                  <a:lnTo>
                    <a:pt x="1228725" y="5619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6629400" y="4549775"/>
            <a:ext cx="1123950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323850" marR="182245" indent="-19050">
              <a:lnSpc>
                <a:spcPct val="108300"/>
              </a:lnSpc>
              <a:spcBef>
                <a:spcPts val="675"/>
              </a:spcBef>
            </a:pPr>
            <a:r>
              <a:rPr dirty="0" sz="750" spc="90">
                <a:latin typeface="Arial"/>
                <a:cs typeface="Arial"/>
              </a:rPr>
              <a:t>Cost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Center </a:t>
            </a:r>
            <a:r>
              <a:rPr dirty="0" sz="750" spc="65">
                <a:latin typeface="Arial"/>
                <a:cs typeface="Arial"/>
              </a:rPr>
              <a:t>Accounting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928687" y="4821237"/>
            <a:ext cx="1014730" cy="2472055"/>
            <a:chOff x="928687" y="4821237"/>
            <a:chExt cx="1014730" cy="2472055"/>
          </a:xfrm>
        </p:grpSpPr>
        <p:sp>
          <p:nvSpPr>
            <p:cNvPr id="66" name="object 66" descr=""/>
            <p:cNvSpPr/>
            <p:nvPr/>
          </p:nvSpPr>
          <p:spPr>
            <a:xfrm>
              <a:off x="1047750" y="4930775"/>
              <a:ext cx="895350" cy="2362200"/>
            </a:xfrm>
            <a:custGeom>
              <a:avLst/>
              <a:gdLst/>
              <a:ahLst/>
              <a:cxnLst/>
              <a:rect l="l" t="t" r="r" b="b"/>
              <a:pathLst>
                <a:path w="895350" h="2362200">
                  <a:moveTo>
                    <a:pt x="895350" y="0"/>
                  </a:moveTo>
                  <a:lnTo>
                    <a:pt x="0" y="0"/>
                  </a:lnTo>
                  <a:lnTo>
                    <a:pt x="0" y="2362200"/>
                  </a:lnTo>
                  <a:lnTo>
                    <a:pt x="895350" y="2362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933450" y="4826000"/>
              <a:ext cx="895350" cy="2352675"/>
            </a:xfrm>
            <a:custGeom>
              <a:avLst/>
              <a:gdLst/>
              <a:ahLst/>
              <a:cxnLst/>
              <a:rect l="l" t="t" r="r" b="b"/>
              <a:pathLst>
                <a:path w="895350" h="2352675">
                  <a:moveTo>
                    <a:pt x="895350" y="0"/>
                  </a:moveTo>
                  <a:lnTo>
                    <a:pt x="0" y="0"/>
                  </a:lnTo>
                  <a:lnTo>
                    <a:pt x="0" y="2352675"/>
                  </a:lnTo>
                  <a:lnTo>
                    <a:pt x="895350" y="2352675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933450" y="4826000"/>
              <a:ext cx="895350" cy="2352675"/>
            </a:xfrm>
            <a:custGeom>
              <a:avLst/>
              <a:gdLst/>
              <a:ahLst/>
              <a:cxnLst/>
              <a:rect l="l" t="t" r="r" b="b"/>
              <a:pathLst>
                <a:path w="895350" h="2352675">
                  <a:moveTo>
                    <a:pt x="0" y="2352675"/>
                  </a:moveTo>
                  <a:lnTo>
                    <a:pt x="895350" y="2352675"/>
                  </a:lnTo>
                  <a:lnTo>
                    <a:pt x="895350" y="0"/>
                  </a:lnTo>
                  <a:lnTo>
                    <a:pt x="0" y="0"/>
                  </a:lnTo>
                  <a:lnTo>
                    <a:pt x="0" y="2352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962025" y="5530850"/>
              <a:ext cx="428625" cy="0"/>
            </a:xfrm>
            <a:custGeom>
              <a:avLst/>
              <a:gdLst/>
              <a:ahLst/>
              <a:cxnLst/>
              <a:rect l="l" t="t" r="r" b="b"/>
              <a:pathLst>
                <a:path w="428625" h="0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" name="object 70" descr=""/>
          <p:cNvGrpSpPr/>
          <p:nvPr/>
        </p:nvGrpSpPr>
        <p:grpSpPr>
          <a:xfrm>
            <a:off x="2719387" y="1192212"/>
            <a:ext cx="5705475" cy="3248025"/>
            <a:chOff x="2719387" y="1192212"/>
            <a:chExt cx="5705475" cy="3248025"/>
          </a:xfrm>
        </p:grpSpPr>
        <p:sp>
          <p:nvSpPr>
            <p:cNvPr id="71" name="object 71" descr=""/>
            <p:cNvSpPr/>
            <p:nvPr/>
          </p:nvSpPr>
          <p:spPr>
            <a:xfrm>
              <a:off x="2724150" y="1196975"/>
              <a:ext cx="638175" cy="952500"/>
            </a:xfrm>
            <a:custGeom>
              <a:avLst/>
              <a:gdLst/>
              <a:ahLst/>
              <a:cxnLst/>
              <a:rect l="l" t="t" r="r" b="b"/>
              <a:pathLst>
                <a:path w="638175" h="952500">
                  <a:moveTo>
                    <a:pt x="0" y="0"/>
                  </a:moveTo>
                  <a:lnTo>
                    <a:pt x="638175" y="9525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324225" y="2120900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57150" y="0"/>
                  </a:moveTo>
                  <a:lnTo>
                    <a:pt x="0" y="38100"/>
                  </a:lnTo>
                  <a:lnTo>
                    <a:pt x="66675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724150" y="21971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 h="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324225" y="216852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0" y="66675"/>
                  </a:lnTo>
                  <a:lnTo>
                    <a:pt x="66675" y="28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724150" y="2254250"/>
              <a:ext cx="638175" cy="1066800"/>
            </a:xfrm>
            <a:custGeom>
              <a:avLst/>
              <a:gdLst/>
              <a:ahLst/>
              <a:cxnLst/>
              <a:rect l="l" t="t" r="r" b="b"/>
              <a:pathLst>
                <a:path w="638175" h="1066800">
                  <a:moveTo>
                    <a:pt x="0" y="1066800"/>
                  </a:moveTo>
                  <a:lnTo>
                    <a:pt x="6381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324225" y="2197100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66675" y="0"/>
                  </a:moveTo>
                  <a:lnTo>
                    <a:pt x="0" y="47625"/>
                  </a:lnTo>
                  <a:lnTo>
                    <a:pt x="66675" y="762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7905750" y="1635125"/>
              <a:ext cx="514350" cy="523875"/>
            </a:xfrm>
            <a:custGeom>
              <a:avLst/>
              <a:gdLst/>
              <a:ahLst/>
              <a:cxnLst/>
              <a:rect l="l" t="t" r="r" b="b"/>
              <a:pathLst>
                <a:path w="514350" h="523875">
                  <a:moveTo>
                    <a:pt x="514350" y="0"/>
                  </a:moveTo>
                  <a:lnTo>
                    <a:pt x="0" y="5238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867650" y="213042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19050" y="0"/>
                  </a:moveTo>
                  <a:lnTo>
                    <a:pt x="0" y="66675"/>
                  </a:lnTo>
                  <a:lnTo>
                    <a:pt x="66675" y="4762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896225" y="2244725"/>
              <a:ext cx="523875" cy="733425"/>
            </a:xfrm>
            <a:custGeom>
              <a:avLst/>
              <a:gdLst/>
              <a:ahLst/>
              <a:cxnLst/>
              <a:rect l="l" t="t" r="r" b="b"/>
              <a:pathLst>
                <a:path w="523875" h="733425">
                  <a:moveTo>
                    <a:pt x="523875" y="73342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7867650" y="21971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0" y="0"/>
                  </a:moveTo>
                  <a:lnTo>
                    <a:pt x="9525" y="76200"/>
                  </a:lnTo>
                  <a:lnTo>
                    <a:pt x="5715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286250" y="4006850"/>
              <a:ext cx="1285875" cy="428625"/>
            </a:xfrm>
            <a:custGeom>
              <a:avLst/>
              <a:gdLst/>
              <a:ahLst/>
              <a:cxnLst/>
              <a:rect l="l" t="t" r="r" b="b"/>
              <a:pathLst>
                <a:path w="1285875" h="428625">
                  <a:moveTo>
                    <a:pt x="0" y="428625"/>
                  </a:moveTo>
                  <a:lnTo>
                    <a:pt x="12858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5553075" y="3978275"/>
              <a:ext cx="76200" cy="66675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0" y="0"/>
                  </a:moveTo>
                  <a:lnTo>
                    <a:pt x="19050" y="66675"/>
                  </a:lnTo>
                  <a:lnTo>
                    <a:pt x="7620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686425" y="4006850"/>
              <a:ext cx="1504950" cy="428625"/>
            </a:xfrm>
            <a:custGeom>
              <a:avLst/>
              <a:gdLst/>
              <a:ahLst/>
              <a:cxnLst/>
              <a:rect l="l" t="t" r="r" b="b"/>
              <a:pathLst>
                <a:path w="1504950" h="428625">
                  <a:moveTo>
                    <a:pt x="1504950" y="42862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629275" y="3978275"/>
              <a:ext cx="76200" cy="66675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76200" y="0"/>
                  </a:moveTo>
                  <a:lnTo>
                    <a:pt x="0" y="9525"/>
                  </a:lnTo>
                  <a:lnTo>
                    <a:pt x="57150" y="666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733925" y="2197100"/>
              <a:ext cx="1790700" cy="895350"/>
            </a:xfrm>
            <a:custGeom>
              <a:avLst/>
              <a:gdLst/>
              <a:ahLst/>
              <a:cxnLst/>
              <a:rect l="l" t="t" r="r" b="b"/>
              <a:pathLst>
                <a:path w="1790700" h="895350">
                  <a:moveTo>
                    <a:pt x="0" y="0"/>
                  </a:moveTo>
                  <a:lnTo>
                    <a:pt x="1790700" y="0"/>
                  </a:lnTo>
                </a:path>
                <a:path w="1790700" h="895350">
                  <a:moveTo>
                    <a:pt x="0" y="0"/>
                  </a:moveTo>
                  <a:lnTo>
                    <a:pt x="895350" y="895350"/>
                  </a:lnTo>
                </a:path>
                <a:path w="1790700" h="895350">
                  <a:moveTo>
                    <a:pt x="1790700" y="0"/>
                  </a:moveTo>
                  <a:lnTo>
                    <a:pt x="895350" y="8953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949325" y="5384800"/>
            <a:ext cx="454025" cy="10693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dirty="0" sz="950" spc="-10" b="1">
                <a:latin typeface="Arial"/>
                <a:cs typeface="Arial"/>
              </a:rPr>
              <a:t>Tables: </a:t>
            </a:r>
            <a:r>
              <a:rPr dirty="0" sz="950" spc="-20">
                <a:latin typeface="Arial"/>
                <a:cs typeface="Arial"/>
              </a:rPr>
              <a:t>BSAD BSAS BSEG BSES BSIK BSIS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1101725"/>
            <a:ext cx="1495425" cy="1352550"/>
            <a:chOff x="914400" y="1101725"/>
            <a:chExt cx="1495425" cy="1352550"/>
          </a:xfrm>
        </p:grpSpPr>
        <p:sp>
          <p:nvSpPr>
            <p:cNvPr id="3" name="object 3" descr=""/>
            <p:cNvSpPr/>
            <p:nvPr/>
          </p:nvSpPr>
          <p:spPr>
            <a:xfrm>
              <a:off x="1028700" y="1216025"/>
              <a:ext cx="1381125" cy="1238250"/>
            </a:xfrm>
            <a:custGeom>
              <a:avLst/>
              <a:gdLst/>
              <a:ahLst/>
              <a:cxnLst/>
              <a:rect l="l" t="t" r="r" b="b"/>
              <a:pathLst>
                <a:path w="1381125" h="1238250">
                  <a:moveTo>
                    <a:pt x="1381125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1381125" y="1238250"/>
                  </a:lnTo>
                  <a:lnTo>
                    <a:pt x="138112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14400" y="1101725"/>
              <a:ext cx="1381125" cy="1238250"/>
            </a:xfrm>
            <a:custGeom>
              <a:avLst/>
              <a:gdLst/>
              <a:ahLst/>
              <a:cxnLst/>
              <a:rect l="l" t="t" r="r" b="b"/>
              <a:pathLst>
                <a:path w="1381125" h="1238250">
                  <a:moveTo>
                    <a:pt x="1381125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1381125" y="1238250"/>
                  </a:lnTo>
                  <a:lnTo>
                    <a:pt x="1381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14400" y="1101725"/>
            <a:ext cx="1381125" cy="12382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314325" rIns="0" bIns="0" rtlCol="0" vert="horz">
            <a:spAutoFit/>
          </a:bodyPr>
          <a:lstStyle/>
          <a:p>
            <a:pPr algn="ctr" marR="11430">
              <a:lnSpc>
                <a:spcPct val="100000"/>
              </a:lnSpc>
              <a:spcBef>
                <a:spcPts val="2475"/>
              </a:spcBef>
            </a:pPr>
            <a:r>
              <a:rPr dirty="0" sz="2400" spc="-10" b="1">
                <a:latin typeface="Arial"/>
                <a:cs typeface="Arial"/>
              </a:rPr>
              <a:t>FI/CO</a:t>
            </a:r>
            <a:endParaRPr sz="2400">
              <a:latin typeface="Arial"/>
              <a:cs typeface="Arial"/>
            </a:endParaRPr>
          </a:p>
          <a:p>
            <a:pPr algn="ctr" marR="30480">
              <a:lnSpc>
                <a:spcPct val="100000"/>
              </a:lnSpc>
              <a:spcBef>
                <a:spcPts val="120"/>
              </a:spcBef>
            </a:pPr>
            <a:r>
              <a:rPr dirty="0" sz="1200" spc="-10">
                <a:latin typeface="Arial"/>
                <a:cs typeface="Arial"/>
              </a:rPr>
              <a:t>Table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Mapping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3937" y="382587"/>
            <a:ext cx="8667750" cy="6858000"/>
            <a:chOff x="1023937" y="382587"/>
            <a:chExt cx="8667750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1028700" y="387350"/>
              <a:ext cx="8658225" cy="6848475"/>
            </a:xfrm>
            <a:custGeom>
              <a:avLst/>
              <a:gdLst/>
              <a:ahLst/>
              <a:cxnLst/>
              <a:rect l="l" t="t" r="r" b="b"/>
              <a:pathLst>
                <a:path w="8658225" h="6848475">
                  <a:moveTo>
                    <a:pt x="0" y="6848475"/>
                  </a:moveTo>
                  <a:lnTo>
                    <a:pt x="8658225" y="6848475"/>
                  </a:lnTo>
                  <a:lnTo>
                    <a:pt x="8658225" y="0"/>
                  </a:lnTo>
                  <a:lnTo>
                    <a:pt x="0" y="0"/>
                  </a:lnTo>
                  <a:lnTo>
                    <a:pt x="0" y="6848475"/>
                  </a:lnTo>
                  <a:close/>
                </a:path>
                <a:path w="8658225" h="6848475">
                  <a:moveTo>
                    <a:pt x="3448050" y="2781300"/>
                  </a:moveTo>
                  <a:lnTo>
                    <a:pt x="3343275" y="2571750"/>
                  </a:lnTo>
                  <a:lnTo>
                    <a:pt x="3238500" y="2781300"/>
                  </a:lnTo>
                </a:path>
                <a:path w="8658225" h="6848475">
                  <a:moveTo>
                    <a:pt x="3343275" y="2628900"/>
                  </a:moveTo>
                  <a:lnTo>
                    <a:pt x="3343275" y="2781300"/>
                  </a:lnTo>
                </a:path>
                <a:path w="8658225" h="6848475">
                  <a:moveTo>
                    <a:pt x="3343275" y="2019300"/>
                  </a:moveTo>
                  <a:lnTo>
                    <a:pt x="3343275" y="21717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257675" y="2559050"/>
              <a:ext cx="238125" cy="457200"/>
            </a:xfrm>
            <a:custGeom>
              <a:avLst/>
              <a:gdLst/>
              <a:ahLst/>
              <a:cxnLst/>
              <a:rect l="l" t="t" r="r" b="b"/>
              <a:pathLst>
                <a:path w="238125" h="457200">
                  <a:moveTo>
                    <a:pt x="23812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38125" y="45720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4253997" y="2498667"/>
            <a:ext cx="236854" cy="521334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 marR="5080" indent="114300">
              <a:lnSpc>
                <a:spcPts val="830"/>
              </a:lnSpc>
              <a:spcBef>
                <a:spcPts val="115"/>
              </a:spcBef>
            </a:pPr>
            <a:r>
              <a:rPr dirty="0" sz="750">
                <a:latin typeface="Arial"/>
                <a:cs typeface="Arial"/>
              </a:rPr>
              <a:t>All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25">
                <a:latin typeface="Arial"/>
                <a:cs typeface="Arial"/>
              </a:rPr>
              <a:t>FI</a:t>
            </a:r>
            <a:r>
              <a:rPr dirty="0" sz="750" spc="-10">
                <a:latin typeface="Arial"/>
                <a:cs typeface="Arial"/>
              </a:rPr>
              <a:t> documents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871787" y="2192337"/>
            <a:ext cx="638175" cy="1114425"/>
            <a:chOff x="2871787" y="2192337"/>
            <a:chExt cx="638175" cy="1114425"/>
          </a:xfrm>
        </p:grpSpPr>
        <p:sp>
          <p:nvSpPr>
            <p:cNvPr id="7" name="object 7" descr=""/>
            <p:cNvSpPr/>
            <p:nvPr/>
          </p:nvSpPr>
          <p:spPr>
            <a:xfrm>
              <a:off x="2876550" y="2197100"/>
              <a:ext cx="628650" cy="1104900"/>
            </a:xfrm>
            <a:custGeom>
              <a:avLst/>
              <a:gdLst/>
              <a:ahLst/>
              <a:cxnLst/>
              <a:rect l="l" t="t" r="r" b="b"/>
              <a:pathLst>
                <a:path w="628650" h="1104900">
                  <a:moveTo>
                    <a:pt x="628650" y="11049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924175" y="2682875"/>
              <a:ext cx="533400" cy="133350"/>
            </a:xfrm>
            <a:custGeom>
              <a:avLst/>
              <a:gdLst/>
              <a:ahLst/>
              <a:cxnLst/>
              <a:rect l="l" t="t" r="r" b="b"/>
              <a:pathLst>
                <a:path w="533400" h="133350">
                  <a:moveTo>
                    <a:pt x="533400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533400" y="13335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921000" y="2670175"/>
            <a:ext cx="6159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Closed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items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871787" y="3678237"/>
            <a:ext cx="2667000" cy="1924050"/>
            <a:chOff x="2871787" y="3678237"/>
            <a:chExt cx="2667000" cy="1924050"/>
          </a:xfrm>
        </p:grpSpPr>
        <p:sp>
          <p:nvSpPr>
            <p:cNvPr id="11" name="object 11" descr=""/>
            <p:cNvSpPr/>
            <p:nvPr/>
          </p:nvSpPr>
          <p:spPr>
            <a:xfrm>
              <a:off x="2876550" y="3683000"/>
              <a:ext cx="628650" cy="457200"/>
            </a:xfrm>
            <a:custGeom>
              <a:avLst/>
              <a:gdLst/>
              <a:ahLst/>
              <a:cxnLst/>
              <a:rect l="l" t="t" r="r" b="b"/>
              <a:pathLst>
                <a:path w="628650" h="457200">
                  <a:moveTo>
                    <a:pt x="628650" y="0"/>
                  </a:moveTo>
                  <a:lnTo>
                    <a:pt x="0" y="457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952750" y="3844925"/>
              <a:ext cx="485775" cy="133350"/>
            </a:xfrm>
            <a:custGeom>
              <a:avLst/>
              <a:gdLst/>
              <a:ahLst/>
              <a:cxnLst/>
              <a:rect l="l" t="t" r="r" b="b"/>
              <a:pathLst>
                <a:path w="485775" h="133350">
                  <a:moveTo>
                    <a:pt x="485775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485775" y="133350"/>
                  </a:lnTo>
                  <a:lnTo>
                    <a:pt x="485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371975" y="3892550"/>
              <a:ext cx="1162050" cy="1704975"/>
            </a:xfrm>
            <a:custGeom>
              <a:avLst/>
              <a:gdLst/>
              <a:ahLst/>
              <a:cxnLst/>
              <a:rect l="l" t="t" r="r" b="b"/>
              <a:pathLst>
                <a:path w="1162050" h="1704975">
                  <a:moveTo>
                    <a:pt x="0" y="0"/>
                  </a:moveTo>
                  <a:lnTo>
                    <a:pt x="1162050" y="17049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86300" y="4683125"/>
              <a:ext cx="533400" cy="123825"/>
            </a:xfrm>
            <a:custGeom>
              <a:avLst/>
              <a:gdLst/>
              <a:ahLst/>
              <a:cxnLst/>
              <a:rect l="l" t="t" r="r" b="b"/>
              <a:pathLst>
                <a:path w="533400" h="123825">
                  <a:moveTo>
                    <a:pt x="533400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533400" y="123825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683125" y="4670425"/>
            <a:ext cx="6159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Closed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items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243512" y="3678237"/>
            <a:ext cx="952500" cy="342900"/>
            <a:chOff x="5243512" y="3678237"/>
            <a:chExt cx="952500" cy="342900"/>
          </a:xfrm>
        </p:grpSpPr>
        <p:sp>
          <p:nvSpPr>
            <p:cNvPr id="17" name="object 17" descr=""/>
            <p:cNvSpPr/>
            <p:nvPr/>
          </p:nvSpPr>
          <p:spPr>
            <a:xfrm>
              <a:off x="5248275" y="3683000"/>
              <a:ext cx="942975" cy="333375"/>
            </a:xfrm>
            <a:custGeom>
              <a:avLst/>
              <a:gdLst/>
              <a:ahLst/>
              <a:cxnLst/>
              <a:rect l="l" t="t" r="r" b="b"/>
              <a:pathLst>
                <a:path w="942975" h="333375">
                  <a:moveTo>
                    <a:pt x="942975" y="33337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448300" y="3787775"/>
              <a:ext cx="542925" cy="123825"/>
            </a:xfrm>
            <a:custGeom>
              <a:avLst/>
              <a:gdLst/>
              <a:ahLst/>
              <a:cxnLst/>
              <a:rect l="l" t="t" r="r" b="b"/>
              <a:pathLst>
                <a:path w="542925" h="123825">
                  <a:moveTo>
                    <a:pt x="542925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542925" y="12382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445125" y="3775075"/>
            <a:ext cx="6159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Closed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items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633787" y="3887787"/>
            <a:ext cx="742950" cy="1819275"/>
            <a:chOff x="3633787" y="3887787"/>
            <a:chExt cx="742950" cy="1819275"/>
          </a:xfrm>
        </p:grpSpPr>
        <p:sp>
          <p:nvSpPr>
            <p:cNvPr id="21" name="object 21" descr=""/>
            <p:cNvSpPr/>
            <p:nvPr/>
          </p:nvSpPr>
          <p:spPr>
            <a:xfrm>
              <a:off x="3638550" y="3892550"/>
              <a:ext cx="733425" cy="1809750"/>
            </a:xfrm>
            <a:custGeom>
              <a:avLst/>
              <a:gdLst/>
              <a:ahLst/>
              <a:cxnLst/>
              <a:rect l="l" t="t" r="r" b="b"/>
              <a:pathLst>
                <a:path w="733425" h="1809750">
                  <a:moveTo>
                    <a:pt x="733425" y="0"/>
                  </a:moveTo>
                  <a:lnTo>
                    <a:pt x="0" y="18097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762375" y="4730750"/>
              <a:ext cx="485775" cy="133350"/>
            </a:xfrm>
            <a:custGeom>
              <a:avLst/>
              <a:gdLst/>
              <a:ahLst/>
              <a:cxnLst/>
              <a:rect l="l" t="t" r="r" b="b"/>
              <a:pathLst>
                <a:path w="485775" h="133350">
                  <a:moveTo>
                    <a:pt x="485775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485775" y="133350"/>
                  </a:lnTo>
                  <a:lnTo>
                    <a:pt x="485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759200" y="4718050"/>
            <a:ext cx="5588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Open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Items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243512" y="2239962"/>
            <a:ext cx="952500" cy="1066800"/>
            <a:chOff x="5243512" y="2239962"/>
            <a:chExt cx="952500" cy="1066800"/>
          </a:xfrm>
        </p:grpSpPr>
        <p:sp>
          <p:nvSpPr>
            <p:cNvPr id="25" name="object 25" descr=""/>
            <p:cNvSpPr/>
            <p:nvPr/>
          </p:nvSpPr>
          <p:spPr>
            <a:xfrm>
              <a:off x="5248275" y="2244725"/>
              <a:ext cx="942975" cy="1057275"/>
            </a:xfrm>
            <a:custGeom>
              <a:avLst/>
              <a:gdLst/>
              <a:ahLst/>
              <a:cxnLst/>
              <a:rect l="l" t="t" r="r" b="b"/>
              <a:pathLst>
                <a:path w="942975" h="1057275">
                  <a:moveTo>
                    <a:pt x="942975" y="0"/>
                  </a:moveTo>
                  <a:lnTo>
                    <a:pt x="0" y="10572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476875" y="2711450"/>
              <a:ext cx="485775" cy="133350"/>
            </a:xfrm>
            <a:custGeom>
              <a:avLst/>
              <a:gdLst/>
              <a:ahLst/>
              <a:cxnLst/>
              <a:rect l="l" t="t" r="r" b="b"/>
              <a:pathLst>
                <a:path w="485775" h="133350">
                  <a:moveTo>
                    <a:pt x="485775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485775" y="133350"/>
                  </a:lnTo>
                  <a:lnTo>
                    <a:pt x="485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473700" y="2698750"/>
            <a:ext cx="5588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Open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Items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976437" y="611187"/>
            <a:ext cx="4219575" cy="1400175"/>
            <a:chOff x="1976437" y="611187"/>
            <a:chExt cx="4219575" cy="1400175"/>
          </a:xfrm>
        </p:grpSpPr>
        <p:sp>
          <p:nvSpPr>
            <p:cNvPr id="29" name="object 29" descr=""/>
            <p:cNvSpPr/>
            <p:nvPr/>
          </p:nvSpPr>
          <p:spPr>
            <a:xfrm>
              <a:off x="5248275" y="615950"/>
              <a:ext cx="942975" cy="1285875"/>
            </a:xfrm>
            <a:custGeom>
              <a:avLst/>
              <a:gdLst/>
              <a:ahLst/>
              <a:cxnLst/>
              <a:rect l="l" t="t" r="r" b="b"/>
              <a:pathLst>
                <a:path w="942975" h="1285875">
                  <a:moveTo>
                    <a:pt x="0" y="1285875"/>
                  </a:moveTo>
                  <a:lnTo>
                    <a:pt x="9429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343525" y="1196975"/>
              <a:ext cx="752475" cy="133350"/>
            </a:xfrm>
            <a:custGeom>
              <a:avLst/>
              <a:gdLst/>
              <a:ahLst/>
              <a:cxnLst/>
              <a:rect l="l" t="t" r="r" b="b"/>
              <a:pathLst>
                <a:path w="752475" h="133350">
                  <a:moveTo>
                    <a:pt x="752475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752475" y="133350"/>
                  </a:lnTo>
                  <a:lnTo>
                    <a:pt x="752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981200" y="1273175"/>
              <a:ext cx="2390775" cy="733425"/>
            </a:xfrm>
            <a:custGeom>
              <a:avLst/>
              <a:gdLst/>
              <a:ahLst/>
              <a:cxnLst/>
              <a:rect l="l" t="t" r="r" b="b"/>
              <a:pathLst>
                <a:path w="2390775" h="733425">
                  <a:moveTo>
                    <a:pt x="1571625" y="533400"/>
                  </a:moveTo>
                  <a:lnTo>
                    <a:pt x="1333500" y="552450"/>
                  </a:lnTo>
                  <a:lnTo>
                    <a:pt x="1485900" y="733425"/>
                  </a:lnTo>
                </a:path>
                <a:path w="2390775" h="733425">
                  <a:moveTo>
                    <a:pt x="0" y="0"/>
                  </a:moveTo>
                  <a:lnTo>
                    <a:pt x="1524000" y="628650"/>
                  </a:lnTo>
                </a:path>
                <a:path w="2390775" h="733425">
                  <a:moveTo>
                    <a:pt x="2390775" y="342900"/>
                  </a:moveTo>
                  <a:lnTo>
                    <a:pt x="2390775" y="447675"/>
                  </a:lnTo>
                </a:path>
                <a:path w="2390775" h="733425">
                  <a:moveTo>
                    <a:pt x="2390775" y="57150"/>
                  </a:moveTo>
                  <a:lnTo>
                    <a:pt x="2390775" y="2190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343400" y="1711325"/>
              <a:ext cx="66675" cy="57150"/>
            </a:xfrm>
            <a:custGeom>
              <a:avLst/>
              <a:gdLst/>
              <a:ahLst/>
              <a:cxnLst/>
              <a:rect l="l" t="t" r="r" b="b"/>
              <a:pathLst>
                <a:path w="66675" h="57150">
                  <a:moveTo>
                    <a:pt x="66675" y="0"/>
                  </a:moveTo>
                  <a:lnTo>
                    <a:pt x="0" y="0"/>
                  </a:lnTo>
                  <a:lnTo>
                    <a:pt x="28575" y="571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4206875" y="1479550"/>
            <a:ext cx="3492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Arial"/>
                <a:cs typeface="Arial"/>
              </a:rPr>
              <a:t>VBLNR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815262" y="6326187"/>
            <a:ext cx="1752600" cy="771525"/>
            <a:chOff x="7815262" y="6326187"/>
            <a:chExt cx="1752600" cy="771525"/>
          </a:xfrm>
        </p:grpSpPr>
        <p:sp>
          <p:nvSpPr>
            <p:cNvPr id="35" name="object 35" descr=""/>
            <p:cNvSpPr/>
            <p:nvPr/>
          </p:nvSpPr>
          <p:spPr>
            <a:xfrm>
              <a:off x="7820025" y="6330950"/>
              <a:ext cx="1743075" cy="266700"/>
            </a:xfrm>
            <a:custGeom>
              <a:avLst/>
              <a:gdLst/>
              <a:ahLst/>
              <a:cxnLst/>
              <a:rect l="l" t="t" r="r" b="b"/>
              <a:pathLst>
                <a:path w="1743075" h="266700">
                  <a:moveTo>
                    <a:pt x="0" y="266700"/>
                  </a:moveTo>
                  <a:lnTo>
                    <a:pt x="1743075" y="266700"/>
                  </a:lnTo>
                  <a:lnTo>
                    <a:pt x="17430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820025" y="6569075"/>
              <a:ext cx="1743075" cy="523875"/>
            </a:xfrm>
            <a:custGeom>
              <a:avLst/>
              <a:gdLst/>
              <a:ahLst/>
              <a:cxnLst/>
              <a:rect l="l" t="t" r="r" b="b"/>
              <a:pathLst>
                <a:path w="1743075" h="523875">
                  <a:moveTo>
                    <a:pt x="17430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23825" y="495300"/>
                  </a:lnTo>
                  <a:lnTo>
                    <a:pt x="247650" y="514350"/>
                  </a:lnTo>
                  <a:lnTo>
                    <a:pt x="371475" y="523875"/>
                  </a:lnTo>
                  <a:lnTo>
                    <a:pt x="504825" y="523875"/>
                  </a:lnTo>
                  <a:lnTo>
                    <a:pt x="628650" y="514350"/>
                  </a:lnTo>
                  <a:lnTo>
                    <a:pt x="752475" y="495300"/>
                  </a:lnTo>
                  <a:lnTo>
                    <a:pt x="876300" y="457200"/>
                  </a:lnTo>
                  <a:lnTo>
                    <a:pt x="1000125" y="428625"/>
                  </a:lnTo>
                  <a:lnTo>
                    <a:pt x="1123950" y="409575"/>
                  </a:lnTo>
                  <a:lnTo>
                    <a:pt x="1238250" y="400050"/>
                  </a:lnTo>
                  <a:lnTo>
                    <a:pt x="1371600" y="400050"/>
                  </a:lnTo>
                  <a:lnTo>
                    <a:pt x="1495425" y="409575"/>
                  </a:lnTo>
                  <a:lnTo>
                    <a:pt x="1619250" y="428625"/>
                  </a:lnTo>
                  <a:lnTo>
                    <a:pt x="1743075" y="457200"/>
                  </a:lnTo>
                  <a:lnTo>
                    <a:pt x="1743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820025" y="6569075"/>
              <a:ext cx="1743075" cy="523875"/>
            </a:xfrm>
            <a:custGeom>
              <a:avLst/>
              <a:gdLst/>
              <a:ahLst/>
              <a:cxnLst/>
              <a:rect l="l" t="t" r="r" b="b"/>
              <a:pathLst>
                <a:path w="1743075" h="523875">
                  <a:moveTo>
                    <a:pt x="0" y="457200"/>
                  </a:moveTo>
                  <a:lnTo>
                    <a:pt x="0" y="0"/>
                  </a:lnTo>
                  <a:lnTo>
                    <a:pt x="1743075" y="0"/>
                  </a:lnTo>
                  <a:lnTo>
                    <a:pt x="1743075" y="457200"/>
                  </a:lnTo>
                  <a:lnTo>
                    <a:pt x="1619250" y="428625"/>
                  </a:lnTo>
                  <a:lnTo>
                    <a:pt x="1495425" y="409575"/>
                  </a:lnTo>
                  <a:lnTo>
                    <a:pt x="1371600" y="400050"/>
                  </a:lnTo>
                  <a:lnTo>
                    <a:pt x="1238250" y="400050"/>
                  </a:lnTo>
                  <a:lnTo>
                    <a:pt x="1123950" y="409575"/>
                  </a:lnTo>
                  <a:lnTo>
                    <a:pt x="1000125" y="428625"/>
                  </a:lnTo>
                  <a:lnTo>
                    <a:pt x="876300" y="457200"/>
                  </a:lnTo>
                  <a:lnTo>
                    <a:pt x="752475" y="495300"/>
                  </a:lnTo>
                  <a:lnTo>
                    <a:pt x="628650" y="514350"/>
                  </a:lnTo>
                  <a:lnTo>
                    <a:pt x="504825" y="523875"/>
                  </a:lnTo>
                  <a:lnTo>
                    <a:pt x="371475" y="523875"/>
                  </a:lnTo>
                  <a:lnTo>
                    <a:pt x="247650" y="514350"/>
                  </a:lnTo>
                  <a:lnTo>
                    <a:pt x="123825" y="49530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7835900" y="6337300"/>
            <a:ext cx="173101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LFC1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(Vendor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master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(transaction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figures))</a:t>
            </a:r>
            <a:endParaRPr sz="750">
              <a:latin typeface="Arial"/>
              <a:cs typeface="Arial"/>
            </a:endParaRPr>
          </a:p>
          <a:p>
            <a:pPr marL="12700" marR="58610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Vendor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(LIFNR)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7815262" y="5383212"/>
            <a:ext cx="1752600" cy="762000"/>
            <a:chOff x="7815262" y="5383212"/>
            <a:chExt cx="1752600" cy="762000"/>
          </a:xfrm>
        </p:grpSpPr>
        <p:sp>
          <p:nvSpPr>
            <p:cNvPr id="40" name="object 40" descr=""/>
            <p:cNvSpPr/>
            <p:nvPr/>
          </p:nvSpPr>
          <p:spPr>
            <a:xfrm>
              <a:off x="7820025" y="5387975"/>
              <a:ext cx="1743075" cy="257175"/>
            </a:xfrm>
            <a:custGeom>
              <a:avLst/>
              <a:gdLst/>
              <a:ahLst/>
              <a:cxnLst/>
              <a:rect l="l" t="t" r="r" b="b"/>
              <a:pathLst>
                <a:path w="1743075" h="257175">
                  <a:moveTo>
                    <a:pt x="0" y="257175"/>
                  </a:moveTo>
                  <a:lnTo>
                    <a:pt x="1743075" y="257175"/>
                  </a:lnTo>
                  <a:lnTo>
                    <a:pt x="174307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820025" y="5616575"/>
              <a:ext cx="1743075" cy="523875"/>
            </a:xfrm>
            <a:custGeom>
              <a:avLst/>
              <a:gdLst/>
              <a:ahLst/>
              <a:cxnLst/>
              <a:rect l="l" t="t" r="r" b="b"/>
              <a:pathLst>
                <a:path w="1743075" h="523875">
                  <a:moveTo>
                    <a:pt x="1743075" y="0"/>
                  </a:moveTo>
                  <a:lnTo>
                    <a:pt x="0" y="0"/>
                  </a:lnTo>
                  <a:lnTo>
                    <a:pt x="0" y="466725"/>
                  </a:lnTo>
                  <a:lnTo>
                    <a:pt x="123825" y="495300"/>
                  </a:lnTo>
                  <a:lnTo>
                    <a:pt x="247650" y="514350"/>
                  </a:lnTo>
                  <a:lnTo>
                    <a:pt x="371475" y="523875"/>
                  </a:lnTo>
                  <a:lnTo>
                    <a:pt x="504825" y="523875"/>
                  </a:lnTo>
                  <a:lnTo>
                    <a:pt x="628650" y="514350"/>
                  </a:lnTo>
                  <a:lnTo>
                    <a:pt x="752475" y="495300"/>
                  </a:lnTo>
                  <a:lnTo>
                    <a:pt x="876300" y="466725"/>
                  </a:lnTo>
                  <a:lnTo>
                    <a:pt x="1000125" y="428625"/>
                  </a:lnTo>
                  <a:lnTo>
                    <a:pt x="1123950" y="409575"/>
                  </a:lnTo>
                  <a:lnTo>
                    <a:pt x="1238250" y="400050"/>
                  </a:lnTo>
                  <a:lnTo>
                    <a:pt x="1371600" y="400050"/>
                  </a:lnTo>
                  <a:lnTo>
                    <a:pt x="1495425" y="409575"/>
                  </a:lnTo>
                  <a:lnTo>
                    <a:pt x="1619250" y="428625"/>
                  </a:lnTo>
                  <a:lnTo>
                    <a:pt x="1743075" y="466725"/>
                  </a:lnTo>
                  <a:lnTo>
                    <a:pt x="1743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820025" y="5616575"/>
              <a:ext cx="1743075" cy="523875"/>
            </a:xfrm>
            <a:custGeom>
              <a:avLst/>
              <a:gdLst/>
              <a:ahLst/>
              <a:cxnLst/>
              <a:rect l="l" t="t" r="r" b="b"/>
              <a:pathLst>
                <a:path w="1743075" h="523875">
                  <a:moveTo>
                    <a:pt x="0" y="466725"/>
                  </a:moveTo>
                  <a:lnTo>
                    <a:pt x="0" y="0"/>
                  </a:lnTo>
                  <a:lnTo>
                    <a:pt x="1743075" y="0"/>
                  </a:lnTo>
                  <a:lnTo>
                    <a:pt x="1743075" y="466725"/>
                  </a:lnTo>
                  <a:lnTo>
                    <a:pt x="1619250" y="428625"/>
                  </a:lnTo>
                  <a:lnTo>
                    <a:pt x="1495425" y="409575"/>
                  </a:lnTo>
                  <a:lnTo>
                    <a:pt x="1371600" y="400050"/>
                  </a:lnTo>
                  <a:lnTo>
                    <a:pt x="1238250" y="400050"/>
                  </a:lnTo>
                  <a:lnTo>
                    <a:pt x="1123950" y="409575"/>
                  </a:lnTo>
                  <a:lnTo>
                    <a:pt x="1000125" y="428625"/>
                  </a:lnTo>
                  <a:lnTo>
                    <a:pt x="876300" y="466725"/>
                  </a:lnTo>
                  <a:lnTo>
                    <a:pt x="752475" y="495300"/>
                  </a:lnTo>
                  <a:lnTo>
                    <a:pt x="628650" y="514350"/>
                  </a:lnTo>
                  <a:lnTo>
                    <a:pt x="504825" y="523875"/>
                  </a:lnTo>
                  <a:lnTo>
                    <a:pt x="371475" y="523875"/>
                  </a:lnTo>
                  <a:lnTo>
                    <a:pt x="247650" y="514350"/>
                  </a:lnTo>
                  <a:lnTo>
                    <a:pt x="123825" y="495300"/>
                  </a:lnTo>
                  <a:lnTo>
                    <a:pt x="0" y="466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7835900" y="5384800"/>
            <a:ext cx="1588135" cy="60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KNC1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(Customer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master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(trans</a:t>
            </a:r>
            <a:r>
              <a:rPr dirty="0" sz="750" spc="24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figures))</a:t>
            </a:r>
            <a:endParaRPr sz="750">
              <a:latin typeface="Arial"/>
              <a:cs typeface="Arial"/>
            </a:endParaRPr>
          </a:p>
          <a:p>
            <a:pPr marL="12700" marR="443230">
              <a:lnSpc>
                <a:spcPct val="100000"/>
              </a:lnSpc>
              <a:spcBef>
                <a:spcPts val="75"/>
              </a:spcBef>
            </a:pPr>
            <a:r>
              <a:rPr dirty="0" sz="750">
                <a:latin typeface="Arial"/>
                <a:cs typeface="Arial"/>
              </a:rPr>
              <a:t>Customer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(KUNNR) </a:t>
            </a: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</a:t>
            </a:r>
            <a:endParaRPr sz="75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4667250" y="5597525"/>
            <a:ext cx="1771650" cy="361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9050" marR="21590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BSAS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(Accounting: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Secondary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for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spc="-25" b="1">
                <a:latin typeface="Arial"/>
                <a:cs typeface="Arial"/>
              </a:rPr>
              <a:t>G/L</a:t>
            </a:r>
            <a:r>
              <a:rPr dirty="0" sz="750" b="1">
                <a:latin typeface="Arial"/>
                <a:cs typeface="Arial"/>
              </a:rPr>
              <a:t> accounts</a:t>
            </a:r>
            <a:r>
              <a:rPr dirty="0" sz="750" spc="6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(cleared</a:t>
            </a:r>
            <a:r>
              <a:rPr dirty="0" sz="750" spc="6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items))</a:t>
            </a:r>
            <a:endParaRPr sz="750">
              <a:latin typeface="Arial"/>
              <a:cs typeface="Arial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4667250" y="5959475"/>
            <a:ext cx="1733550" cy="1104900"/>
          </a:xfrm>
          <a:custGeom>
            <a:avLst/>
            <a:gdLst/>
            <a:ahLst/>
            <a:cxnLst/>
            <a:rect l="l" t="t" r="r" b="b"/>
            <a:pathLst>
              <a:path w="1733550" h="1104900">
                <a:moveTo>
                  <a:pt x="0" y="971550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971550"/>
                </a:lnTo>
                <a:lnTo>
                  <a:pt x="1666875" y="923925"/>
                </a:lnTo>
                <a:lnTo>
                  <a:pt x="1590675" y="895350"/>
                </a:lnTo>
                <a:lnTo>
                  <a:pt x="1504950" y="866775"/>
                </a:lnTo>
                <a:lnTo>
                  <a:pt x="1428750" y="847725"/>
                </a:lnTo>
                <a:lnTo>
                  <a:pt x="1343025" y="838200"/>
                </a:lnTo>
                <a:lnTo>
                  <a:pt x="1257300" y="838200"/>
                </a:lnTo>
                <a:lnTo>
                  <a:pt x="1171575" y="847725"/>
                </a:lnTo>
                <a:lnTo>
                  <a:pt x="1095375" y="866775"/>
                </a:lnTo>
                <a:lnTo>
                  <a:pt x="942975" y="923925"/>
                </a:lnTo>
                <a:lnTo>
                  <a:pt x="866775" y="971550"/>
                </a:lnTo>
                <a:lnTo>
                  <a:pt x="800100" y="1019175"/>
                </a:lnTo>
                <a:lnTo>
                  <a:pt x="723900" y="1057275"/>
                </a:lnTo>
                <a:lnTo>
                  <a:pt x="552450" y="1095375"/>
                </a:lnTo>
                <a:lnTo>
                  <a:pt x="476250" y="1104900"/>
                </a:lnTo>
                <a:lnTo>
                  <a:pt x="390525" y="1104900"/>
                </a:lnTo>
                <a:lnTo>
                  <a:pt x="304800" y="1095375"/>
                </a:lnTo>
                <a:lnTo>
                  <a:pt x="228600" y="1076325"/>
                </a:lnTo>
                <a:lnTo>
                  <a:pt x="142875" y="1057275"/>
                </a:lnTo>
                <a:lnTo>
                  <a:pt x="66675" y="1019175"/>
                </a:lnTo>
                <a:lnTo>
                  <a:pt x="0" y="9715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4673600" y="5965825"/>
            <a:ext cx="1149985" cy="920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7600"/>
              </a:lnSpc>
              <a:spcBef>
                <a:spcPts val="120"/>
              </a:spcBef>
            </a:pP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Account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(HKONT)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(AUGDT)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(AUGBL) </a:t>
            </a:r>
            <a:r>
              <a:rPr dirty="0" sz="750">
                <a:latin typeface="Arial"/>
                <a:cs typeface="Arial"/>
              </a:rPr>
              <a:t>Allocation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(ZUONR)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 </a:t>
            </a: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Items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(BUZEI)</a:t>
            </a:r>
            <a:endParaRPr sz="750">
              <a:latin typeface="Arial"/>
              <a:cs typeface="Arial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6191250" y="425450"/>
            <a:ext cx="1733550" cy="371475"/>
          </a:xfrm>
          <a:custGeom>
            <a:avLst/>
            <a:gdLst/>
            <a:ahLst/>
            <a:cxnLst/>
            <a:rect l="l" t="t" r="r" b="b"/>
            <a:pathLst>
              <a:path w="1733550" h="371475">
                <a:moveTo>
                  <a:pt x="0" y="371475"/>
                </a:moveTo>
                <a:lnTo>
                  <a:pt x="1733550" y="371475"/>
                </a:lnTo>
                <a:lnTo>
                  <a:pt x="173355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6207125" y="431800"/>
            <a:ext cx="2540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BSIP</a:t>
            </a:r>
            <a:endParaRPr sz="750">
              <a:latin typeface="Arial"/>
              <a:cs typeface="Arial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207125" y="546100"/>
            <a:ext cx="17780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b="1">
                <a:latin typeface="Arial"/>
                <a:cs typeface="Arial"/>
              </a:rPr>
              <a:t>(Index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for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vendor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validation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of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double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6186487" y="763587"/>
            <a:ext cx="1743075" cy="1247775"/>
            <a:chOff x="6186487" y="763587"/>
            <a:chExt cx="1743075" cy="1247775"/>
          </a:xfrm>
        </p:grpSpPr>
        <p:sp>
          <p:nvSpPr>
            <p:cNvPr id="51" name="object 51" descr=""/>
            <p:cNvSpPr/>
            <p:nvPr/>
          </p:nvSpPr>
          <p:spPr>
            <a:xfrm>
              <a:off x="6191250" y="768350"/>
              <a:ext cx="1733550" cy="1238250"/>
            </a:xfrm>
            <a:custGeom>
              <a:avLst/>
              <a:gdLst/>
              <a:ahLst/>
              <a:cxnLst/>
              <a:rect l="l" t="t" r="r" b="b"/>
              <a:pathLst>
                <a:path w="1733550" h="1238250">
                  <a:moveTo>
                    <a:pt x="1733550" y="0"/>
                  </a:moveTo>
                  <a:lnTo>
                    <a:pt x="0" y="0"/>
                  </a:lnTo>
                  <a:lnTo>
                    <a:pt x="0" y="1095375"/>
                  </a:lnTo>
                  <a:lnTo>
                    <a:pt x="76200" y="1143000"/>
                  </a:lnTo>
                  <a:lnTo>
                    <a:pt x="152400" y="1181100"/>
                  </a:lnTo>
                  <a:lnTo>
                    <a:pt x="228600" y="1209675"/>
                  </a:lnTo>
                  <a:lnTo>
                    <a:pt x="304800" y="1228725"/>
                  </a:lnTo>
                  <a:lnTo>
                    <a:pt x="390525" y="1238250"/>
                  </a:lnTo>
                  <a:lnTo>
                    <a:pt x="476250" y="1238250"/>
                  </a:lnTo>
                  <a:lnTo>
                    <a:pt x="561975" y="1228725"/>
                  </a:lnTo>
                  <a:lnTo>
                    <a:pt x="647700" y="1209675"/>
                  </a:lnTo>
                  <a:lnTo>
                    <a:pt x="723900" y="1181100"/>
                  </a:lnTo>
                  <a:lnTo>
                    <a:pt x="800100" y="1143000"/>
                  </a:lnTo>
                  <a:lnTo>
                    <a:pt x="866775" y="1095375"/>
                  </a:lnTo>
                  <a:lnTo>
                    <a:pt x="942975" y="1057275"/>
                  </a:lnTo>
                  <a:lnTo>
                    <a:pt x="1019175" y="1009650"/>
                  </a:lnTo>
                  <a:lnTo>
                    <a:pt x="1095375" y="981075"/>
                  </a:lnTo>
                  <a:lnTo>
                    <a:pt x="1181100" y="962025"/>
                  </a:lnTo>
                  <a:lnTo>
                    <a:pt x="1266825" y="952500"/>
                  </a:lnTo>
                  <a:lnTo>
                    <a:pt x="1343025" y="952500"/>
                  </a:lnTo>
                  <a:lnTo>
                    <a:pt x="1428750" y="962025"/>
                  </a:lnTo>
                  <a:lnTo>
                    <a:pt x="1514475" y="981075"/>
                  </a:lnTo>
                  <a:lnTo>
                    <a:pt x="1590675" y="1009650"/>
                  </a:lnTo>
                  <a:lnTo>
                    <a:pt x="1666875" y="1057275"/>
                  </a:lnTo>
                  <a:lnTo>
                    <a:pt x="1733550" y="109537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191250" y="768350"/>
              <a:ext cx="1733550" cy="1238250"/>
            </a:xfrm>
            <a:custGeom>
              <a:avLst/>
              <a:gdLst/>
              <a:ahLst/>
              <a:cxnLst/>
              <a:rect l="l" t="t" r="r" b="b"/>
              <a:pathLst>
                <a:path w="1733550" h="1238250">
                  <a:moveTo>
                    <a:pt x="0" y="1095375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1095375"/>
                  </a:lnTo>
                  <a:lnTo>
                    <a:pt x="1666875" y="1057275"/>
                  </a:lnTo>
                  <a:lnTo>
                    <a:pt x="1590675" y="1009650"/>
                  </a:lnTo>
                  <a:lnTo>
                    <a:pt x="1514475" y="981075"/>
                  </a:lnTo>
                  <a:lnTo>
                    <a:pt x="1428750" y="962025"/>
                  </a:lnTo>
                  <a:lnTo>
                    <a:pt x="1343025" y="952500"/>
                  </a:lnTo>
                  <a:lnTo>
                    <a:pt x="1266825" y="952500"/>
                  </a:lnTo>
                  <a:lnTo>
                    <a:pt x="1181100" y="962025"/>
                  </a:lnTo>
                  <a:lnTo>
                    <a:pt x="1095375" y="981075"/>
                  </a:lnTo>
                  <a:lnTo>
                    <a:pt x="1019175" y="1009650"/>
                  </a:lnTo>
                  <a:lnTo>
                    <a:pt x="942975" y="1057275"/>
                  </a:lnTo>
                  <a:lnTo>
                    <a:pt x="866775" y="1095375"/>
                  </a:lnTo>
                  <a:lnTo>
                    <a:pt x="800100" y="1143000"/>
                  </a:lnTo>
                  <a:lnTo>
                    <a:pt x="723900" y="1181100"/>
                  </a:lnTo>
                  <a:lnTo>
                    <a:pt x="647700" y="1209675"/>
                  </a:lnTo>
                  <a:lnTo>
                    <a:pt x="561975" y="1228725"/>
                  </a:lnTo>
                  <a:lnTo>
                    <a:pt x="476250" y="1238250"/>
                  </a:lnTo>
                  <a:lnTo>
                    <a:pt x="390525" y="1238250"/>
                  </a:lnTo>
                  <a:lnTo>
                    <a:pt x="304800" y="1228725"/>
                  </a:lnTo>
                  <a:lnTo>
                    <a:pt x="228600" y="1209675"/>
                  </a:lnTo>
                  <a:lnTo>
                    <a:pt x="152400" y="1181100"/>
                  </a:lnTo>
                  <a:lnTo>
                    <a:pt x="76200" y="1143000"/>
                  </a:lnTo>
                  <a:lnTo>
                    <a:pt x="0" y="1095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6207125" y="660400"/>
            <a:ext cx="114998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 b="1">
                <a:latin typeface="Arial"/>
                <a:cs typeface="Arial"/>
              </a:rPr>
              <a:t>documents)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Vendor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(LIFNR)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Currency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(WAERS)</a:t>
            </a:r>
            <a:endParaRPr sz="750">
              <a:latin typeface="Arial"/>
              <a:cs typeface="Aria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207125" y="1117600"/>
            <a:ext cx="11404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(BLDAT)</a:t>
            </a:r>
            <a:endParaRPr sz="75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5314950" y="1222375"/>
            <a:ext cx="203835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22222" sz="1125">
                <a:latin typeface="Arial"/>
                <a:cs typeface="Arial"/>
              </a:rPr>
              <a:t>Duplicate</a:t>
            </a:r>
            <a:r>
              <a:rPr dirty="0" baseline="22222" sz="1125" spc="179">
                <a:latin typeface="Arial"/>
                <a:cs typeface="Arial"/>
              </a:rPr>
              <a:t> </a:t>
            </a:r>
            <a:r>
              <a:rPr dirty="0" baseline="22222" sz="1125">
                <a:latin typeface="Arial"/>
                <a:cs typeface="Arial"/>
              </a:rPr>
              <a:t>Invoices</a:t>
            </a:r>
            <a:r>
              <a:rPr dirty="0" baseline="22222" sz="1125" spc="337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Reference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(WRBTR)</a:t>
            </a:r>
            <a:endParaRPr sz="750">
              <a:latin typeface="Arial"/>
              <a:cs typeface="Arial"/>
            </a:endParaRPr>
          </a:p>
          <a:p>
            <a:pPr marL="904875" marR="10604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Amount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(WRBTR)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Items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(BUZEI)</a:t>
            </a:r>
            <a:endParaRPr sz="750">
              <a:latin typeface="Arial"/>
              <a:cs typeface="Aria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6191250" y="2063750"/>
            <a:ext cx="1733550" cy="3714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ts val="865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BSIK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ts val="865"/>
              </a:lnSpc>
            </a:pPr>
            <a:r>
              <a:rPr dirty="0" sz="750" b="1">
                <a:latin typeface="Arial"/>
                <a:cs typeface="Arial"/>
              </a:rPr>
              <a:t>(Accounting: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Secondary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spc="-25" b="1">
                <a:latin typeface="Arial"/>
                <a:cs typeface="Arial"/>
              </a:rPr>
              <a:t>for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spc="-10" b="1">
                <a:latin typeface="Arial"/>
                <a:cs typeface="Arial"/>
              </a:rPr>
              <a:t>vendors)</a:t>
            </a:r>
            <a:endParaRPr sz="750">
              <a:latin typeface="Arial"/>
              <a:cs typeface="Arial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6191250" y="2435225"/>
            <a:ext cx="1733550" cy="1314450"/>
          </a:xfrm>
          <a:custGeom>
            <a:avLst/>
            <a:gdLst/>
            <a:ahLst/>
            <a:cxnLst/>
            <a:rect l="l" t="t" r="r" b="b"/>
            <a:pathLst>
              <a:path w="1733550" h="1314450">
                <a:moveTo>
                  <a:pt x="0" y="1171575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1171575"/>
                </a:lnTo>
                <a:lnTo>
                  <a:pt x="1666875" y="1123950"/>
                </a:lnTo>
                <a:lnTo>
                  <a:pt x="1590675" y="1085850"/>
                </a:lnTo>
                <a:lnTo>
                  <a:pt x="1514475" y="1057275"/>
                </a:lnTo>
                <a:lnTo>
                  <a:pt x="1428750" y="1038225"/>
                </a:lnTo>
                <a:lnTo>
                  <a:pt x="1343025" y="1028700"/>
                </a:lnTo>
                <a:lnTo>
                  <a:pt x="1266825" y="1028700"/>
                </a:lnTo>
                <a:lnTo>
                  <a:pt x="1181100" y="1038225"/>
                </a:lnTo>
                <a:lnTo>
                  <a:pt x="1095375" y="1057275"/>
                </a:lnTo>
                <a:lnTo>
                  <a:pt x="1019175" y="1085850"/>
                </a:lnTo>
                <a:lnTo>
                  <a:pt x="942975" y="1123950"/>
                </a:lnTo>
                <a:lnTo>
                  <a:pt x="866775" y="1171575"/>
                </a:lnTo>
                <a:lnTo>
                  <a:pt x="800100" y="1219200"/>
                </a:lnTo>
                <a:lnTo>
                  <a:pt x="723900" y="1257300"/>
                </a:lnTo>
                <a:lnTo>
                  <a:pt x="647700" y="1285875"/>
                </a:lnTo>
                <a:lnTo>
                  <a:pt x="561975" y="1304925"/>
                </a:lnTo>
                <a:lnTo>
                  <a:pt x="476250" y="1314450"/>
                </a:lnTo>
                <a:lnTo>
                  <a:pt x="390525" y="1314450"/>
                </a:lnTo>
                <a:lnTo>
                  <a:pt x="304800" y="1304925"/>
                </a:lnTo>
                <a:lnTo>
                  <a:pt x="228600" y="1285875"/>
                </a:lnTo>
                <a:lnTo>
                  <a:pt x="152400" y="1257300"/>
                </a:lnTo>
                <a:lnTo>
                  <a:pt x="76200" y="1219200"/>
                </a:lnTo>
                <a:lnTo>
                  <a:pt x="0" y="11715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6207125" y="2432050"/>
            <a:ext cx="1282700" cy="1149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779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Vendor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(LIFNR)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98600"/>
              </a:lnSpc>
              <a:spcBef>
                <a:spcPts val="10"/>
              </a:spcBef>
            </a:pPr>
            <a:r>
              <a:rPr dirty="0" sz="750">
                <a:latin typeface="Arial"/>
                <a:cs typeface="Arial"/>
              </a:rPr>
              <a:t>Special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Trans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(UMSKS) </a:t>
            </a:r>
            <a:r>
              <a:rPr dirty="0" sz="750">
                <a:latin typeface="Arial"/>
                <a:cs typeface="Arial"/>
              </a:rPr>
              <a:t>Special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Ind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(UMSKZ)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(AUGDT)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(AUGBL) </a:t>
            </a:r>
            <a:r>
              <a:rPr dirty="0" sz="750">
                <a:latin typeface="Arial"/>
                <a:cs typeface="Arial"/>
              </a:rPr>
              <a:t>Allocation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(ZUONR)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Items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(BUZEI)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6186487" y="3792537"/>
            <a:ext cx="1743075" cy="1695450"/>
            <a:chOff x="6186487" y="3792537"/>
            <a:chExt cx="1743075" cy="1695450"/>
          </a:xfrm>
        </p:grpSpPr>
        <p:sp>
          <p:nvSpPr>
            <p:cNvPr id="60" name="object 60" descr=""/>
            <p:cNvSpPr/>
            <p:nvPr/>
          </p:nvSpPr>
          <p:spPr>
            <a:xfrm>
              <a:off x="6191250" y="3797300"/>
              <a:ext cx="1733550" cy="428625"/>
            </a:xfrm>
            <a:custGeom>
              <a:avLst/>
              <a:gdLst/>
              <a:ahLst/>
              <a:cxnLst/>
              <a:rect l="l" t="t" r="r" b="b"/>
              <a:pathLst>
                <a:path w="1733550" h="428625">
                  <a:moveTo>
                    <a:pt x="0" y="428625"/>
                  </a:moveTo>
                  <a:lnTo>
                    <a:pt x="1733550" y="428625"/>
                  </a:lnTo>
                  <a:lnTo>
                    <a:pt x="1733550" y="0"/>
                  </a:lnTo>
                  <a:lnTo>
                    <a:pt x="0" y="0"/>
                  </a:lnTo>
                  <a:lnTo>
                    <a:pt x="0" y="4286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191250" y="4140200"/>
              <a:ext cx="1733550" cy="1343025"/>
            </a:xfrm>
            <a:custGeom>
              <a:avLst/>
              <a:gdLst/>
              <a:ahLst/>
              <a:cxnLst/>
              <a:rect l="l" t="t" r="r" b="b"/>
              <a:pathLst>
                <a:path w="1733550" h="1343025">
                  <a:moveTo>
                    <a:pt x="1733550" y="0"/>
                  </a:moveTo>
                  <a:lnTo>
                    <a:pt x="0" y="0"/>
                  </a:lnTo>
                  <a:lnTo>
                    <a:pt x="0" y="1200150"/>
                  </a:lnTo>
                  <a:lnTo>
                    <a:pt x="76200" y="1247775"/>
                  </a:lnTo>
                  <a:lnTo>
                    <a:pt x="152400" y="1285875"/>
                  </a:lnTo>
                  <a:lnTo>
                    <a:pt x="228600" y="1314450"/>
                  </a:lnTo>
                  <a:lnTo>
                    <a:pt x="304800" y="1333500"/>
                  </a:lnTo>
                  <a:lnTo>
                    <a:pt x="390525" y="1343025"/>
                  </a:lnTo>
                  <a:lnTo>
                    <a:pt x="476250" y="1343025"/>
                  </a:lnTo>
                  <a:lnTo>
                    <a:pt x="561975" y="1333500"/>
                  </a:lnTo>
                  <a:lnTo>
                    <a:pt x="647700" y="1314450"/>
                  </a:lnTo>
                  <a:lnTo>
                    <a:pt x="723900" y="1285875"/>
                  </a:lnTo>
                  <a:lnTo>
                    <a:pt x="800100" y="1247775"/>
                  </a:lnTo>
                  <a:lnTo>
                    <a:pt x="866775" y="1200150"/>
                  </a:lnTo>
                  <a:lnTo>
                    <a:pt x="942975" y="1152525"/>
                  </a:lnTo>
                  <a:lnTo>
                    <a:pt x="1019175" y="1123950"/>
                  </a:lnTo>
                  <a:lnTo>
                    <a:pt x="1095375" y="1085850"/>
                  </a:lnTo>
                  <a:lnTo>
                    <a:pt x="1181100" y="1066800"/>
                  </a:lnTo>
                  <a:lnTo>
                    <a:pt x="1266825" y="1057275"/>
                  </a:lnTo>
                  <a:lnTo>
                    <a:pt x="1343025" y="1057275"/>
                  </a:lnTo>
                  <a:lnTo>
                    <a:pt x="1428750" y="1066800"/>
                  </a:lnTo>
                  <a:lnTo>
                    <a:pt x="1514475" y="1085850"/>
                  </a:lnTo>
                  <a:lnTo>
                    <a:pt x="1590675" y="1123950"/>
                  </a:lnTo>
                  <a:lnTo>
                    <a:pt x="1666875" y="1152525"/>
                  </a:lnTo>
                  <a:lnTo>
                    <a:pt x="1733550" y="120015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191250" y="4140200"/>
              <a:ext cx="1733550" cy="1343025"/>
            </a:xfrm>
            <a:custGeom>
              <a:avLst/>
              <a:gdLst/>
              <a:ahLst/>
              <a:cxnLst/>
              <a:rect l="l" t="t" r="r" b="b"/>
              <a:pathLst>
                <a:path w="1733550" h="1343025">
                  <a:moveTo>
                    <a:pt x="0" y="1200150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1200150"/>
                  </a:lnTo>
                  <a:lnTo>
                    <a:pt x="1666875" y="1152525"/>
                  </a:lnTo>
                  <a:lnTo>
                    <a:pt x="1590675" y="1123950"/>
                  </a:lnTo>
                  <a:lnTo>
                    <a:pt x="1514475" y="1085850"/>
                  </a:lnTo>
                  <a:lnTo>
                    <a:pt x="1428750" y="1066800"/>
                  </a:lnTo>
                  <a:lnTo>
                    <a:pt x="1343025" y="1057275"/>
                  </a:lnTo>
                  <a:lnTo>
                    <a:pt x="1266825" y="1057275"/>
                  </a:lnTo>
                  <a:lnTo>
                    <a:pt x="1181100" y="1066800"/>
                  </a:lnTo>
                  <a:lnTo>
                    <a:pt x="1095375" y="1085850"/>
                  </a:lnTo>
                  <a:lnTo>
                    <a:pt x="1019175" y="1123950"/>
                  </a:lnTo>
                  <a:lnTo>
                    <a:pt x="942975" y="1152525"/>
                  </a:lnTo>
                  <a:lnTo>
                    <a:pt x="866775" y="1200150"/>
                  </a:lnTo>
                  <a:lnTo>
                    <a:pt x="800100" y="1247775"/>
                  </a:lnTo>
                  <a:lnTo>
                    <a:pt x="723900" y="1285875"/>
                  </a:lnTo>
                  <a:lnTo>
                    <a:pt x="647700" y="1314450"/>
                  </a:lnTo>
                  <a:lnTo>
                    <a:pt x="561975" y="1333500"/>
                  </a:lnTo>
                  <a:lnTo>
                    <a:pt x="476250" y="1343025"/>
                  </a:lnTo>
                  <a:lnTo>
                    <a:pt x="390525" y="1343025"/>
                  </a:lnTo>
                  <a:lnTo>
                    <a:pt x="304800" y="1333500"/>
                  </a:lnTo>
                  <a:lnTo>
                    <a:pt x="228600" y="1314450"/>
                  </a:lnTo>
                  <a:lnTo>
                    <a:pt x="152400" y="1285875"/>
                  </a:lnTo>
                  <a:lnTo>
                    <a:pt x="76200" y="1247775"/>
                  </a:lnTo>
                  <a:lnTo>
                    <a:pt x="0" y="1200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6207125" y="3803650"/>
            <a:ext cx="1568450" cy="1492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BSAK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(Accounting: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Secondary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spc="-25" b="1">
                <a:latin typeface="Arial"/>
                <a:cs typeface="Arial"/>
              </a:rPr>
              <a:t>for</a:t>
            </a:r>
            <a:r>
              <a:rPr dirty="0" sz="750" b="1">
                <a:latin typeface="Arial"/>
                <a:cs typeface="Arial"/>
              </a:rPr>
              <a:t> vendors</a:t>
            </a:r>
            <a:r>
              <a:rPr dirty="0" sz="750" spc="8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(cleared</a:t>
            </a:r>
            <a:r>
              <a:rPr dirty="0" sz="750" spc="9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items))</a:t>
            </a:r>
            <a:r>
              <a:rPr dirty="0" sz="750" spc="500" b="1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Vendor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(LIFNR)</a:t>
            </a:r>
            <a:endParaRPr sz="750">
              <a:latin typeface="Arial"/>
              <a:cs typeface="Arial"/>
            </a:endParaRPr>
          </a:p>
          <a:p>
            <a:pPr marL="12700" marR="290195">
              <a:lnSpc>
                <a:spcPct val="98600"/>
              </a:lnSpc>
              <a:spcBef>
                <a:spcPts val="10"/>
              </a:spcBef>
            </a:pPr>
            <a:r>
              <a:rPr dirty="0" sz="750">
                <a:latin typeface="Arial"/>
                <a:cs typeface="Arial"/>
              </a:rPr>
              <a:t>Special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Trans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(UMSKS) </a:t>
            </a:r>
            <a:r>
              <a:rPr dirty="0" sz="750">
                <a:latin typeface="Arial"/>
                <a:cs typeface="Arial"/>
              </a:rPr>
              <a:t>Special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Ind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(UMSKZ)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(AUGDT)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(AUGBL) </a:t>
            </a:r>
            <a:r>
              <a:rPr dirty="0" sz="750">
                <a:latin typeface="Arial"/>
                <a:cs typeface="Arial"/>
              </a:rPr>
              <a:t>Allocation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(ZUONR)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Items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(BUZEI)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1109662" y="534987"/>
            <a:ext cx="1743075" cy="847725"/>
            <a:chOff x="1109662" y="534987"/>
            <a:chExt cx="1743075" cy="847725"/>
          </a:xfrm>
        </p:grpSpPr>
        <p:sp>
          <p:nvSpPr>
            <p:cNvPr id="65" name="object 65" descr=""/>
            <p:cNvSpPr/>
            <p:nvPr/>
          </p:nvSpPr>
          <p:spPr>
            <a:xfrm>
              <a:off x="1114425" y="539750"/>
              <a:ext cx="1733550" cy="257175"/>
            </a:xfrm>
            <a:custGeom>
              <a:avLst/>
              <a:gdLst/>
              <a:ahLst/>
              <a:cxnLst/>
              <a:rect l="l" t="t" r="r" b="b"/>
              <a:pathLst>
                <a:path w="1733550" h="257175">
                  <a:moveTo>
                    <a:pt x="0" y="257175"/>
                  </a:moveTo>
                  <a:lnTo>
                    <a:pt x="1733550" y="257175"/>
                  </a:lnTo>
                  <a:lnTo>
                    <a:pt x="1733550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114425" y="768350"/>
              <a:ext cx="1733550" cy="609600"/>
            </a:xfrm>
            <a:custGeom>
              <a:avLst/>
              <a:gdLst/>
              <a:ahLst/>
              <a:cxnLst/>
              <a:rect l="l" t="t" r="r" b="b"/>
              <a:pathLst>
                <a:path w="1733550" h="609600">
                  <a:moveTo>
                    <a:pt x="173355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04775" y="571500"/>
                  </a:lnTo>
                  <a:lnTo>
                    <a:pt x="209550" y="590550"/>
                  </a:lnTo>
                  <a:lnTo>
                    <a:pt x="323850" y="609600"/>
                  </a:lnTo>
                  <a:lnTo>
                    <a:pt x="542925" y="609600"/>
                  </a:lnTo>
                  <a:lnTo>
                    <a:pt x="647700" y="590550"/>
                  </a:lnTo>
                  <a:lnTo>
                    <a:pt x="762000" y="571500"/>
                  </a:lnTo>
                  <a:lnTo>
                    <a:pt x="866775" y="533400"/>
                  </a:lnTo>
                  <a:lnTo>
                    <a:pt x="1076325" y="476250"/>
                  </a:lnTo>
                  <a:lnTo>
                    <a:pt x="1190625" y="466725"/>
                  </a:lnTo>
                  <a:lnTo>
                    <a:pt x="1295400" y="457200"/>
                  </a:lnTo>
                  <a:lnTo>
                    <a:pt x="1524000" y="476250"/>
                  </a:lnTo>
                  <a:lnTo>
                    <a:pt x="1733550" y="53340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114425" y="768350"/>
              <a:ext cx="1733550" cy="609600"/>
            </a:xfrm>
            <a:custGeom>
              <a:avLst/>
              <a:gdLst/>
              <a:ahLst/>
              <a:cxnLst/>
              <a:rect l="l" t="t" r="r" b="b"/>
              <a:pathLst>
                <a:path w="1733550" h="609600">
                  <a:moveTo>
                    <a:pt x="0" y="533400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533400"/>
                  </a:lnTo>
                  <a:lnTo>
                    <a:pt x="1524000" y="476250"/>
                  </a:lnTo>
                  <a:lnTo>
                    <a:pt x="1295400" y="457200"/>
                  </a:lnTo>
                  <a:lnTo>
                    <a:pt x="1190625" y="466725"/>
                  </a:lnTo>
                  <a:lnTo>
                    <a:pt x="1076325" y="476250"/>
                  </a:lnTo>
                  <a:lnTo>
                    <a:pt x="866775" y="533400"/>
                  </a:lnTo>
                  <a:lnTo>
                    <a:pt x="762000" y="571500"/>
                  </a:lnTo>
                  <a:lnTo>
                    <a:pt x="647700" y="590550"/>
                  </a:lnTo>
                  <a:lnTo>
                    <a:pt x="542925" y="609600"/>
                  </a:lnTo>
                  <a:lnTo>
                    <a:pt x="323850" y="609600"/>
                  </a:lnTo>
                  <a:lnTo>
                    <a:pt x="209550" y="590550"/>
                  </a:lnTo>
                  <a:lnTo>
                    <a:pt x="104775" y="57150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1120775" y="536575"/>
            <a:ext cx="1654175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BVOR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(Intercompany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posting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procedures)</a:t>
            </a:r>
            <a:endParaRPr sz="750">
              <a:latin typeface="Arial"/>
              <a:cs typeface="Arial"/>
            </a:endParaRPr>
          </a:p>
          <a:p>
            <a:pPr marL="12700" marR="423545">
              <a:lnSpc>
                <a:spcPct val="100000"/>
              </a:lnSpc>
              <a:spcBef>
                <a:spcPts val="75"/>
              </a:spcBef>
            </a:pPr>
            <a:r>
              <a:rPr dirty="0" sz="750">
                <a:latin typeface="Arial"/>
                <a:cs typeface="Arial"/>
              </a:rPr>
              <a:t>Intercompany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(BVORG) </a:t>
            </a: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3500437" y="496887"/>
            <a:ext cx="1752600" cy="923925"/>
            <a:chOff x="3500437" y="496887"/>
            <a:chExt cx="1752600" cy="923925"/>
          </a:xfrm>
        </p:grpSpPr>
        <p:sp>
          <p:nvSpPr>
            <p:cNvPr id="70" name="object 70" descr=""/>
            <p:cNvSpPr/>
            <p:nvPr/>
          </p:nvSpPr>
          <p:spPr>
            <a:xfrm>
              <a:off x="3505200" y="501650"/>
              <a:ext cx="1743075" cy="257175"/>
            </a:xfrm>
            <a:custGeom>
              <a:avLst/>
              <a:gdLst/>
              <a:ahLst/>
              <a:cxnLst/>
              <a:rect l="l" t="t" r="r" b="b"/>
              <a:pathLst>
                <a:path w="1743075" h="257175">
                  <a:moveTo>
                    <a:pt x="0" y="257175"/>
                  </a:moveTo>
                  <a:lnTo>
                    <a:pt x="1743075" y="257175"/>
                  </a:lnTo>
                  <a:lnTo>
                    <a:pt x="174307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505200" y="730250"/>
              <a:ext cx="1743075" cy="685800"/>
            </a:xfrm>
            <a:custGeom>
              <a:avLst/>
              <a:gdLst/>
              <a:ahLst/>
              <a:cxnLst/>
              <a:rect l="l" t="t" r="r" b="b"/>
              <a:pathLst>
                <a:path w="1743075" h="685800">
                  <a:moveTo>
                    <a:pt x="1743075" y="0"/>
                  </a:moveTo>
                  <a:lnTo>
                    <a:pt x="0" y="0"/>
                  </a:lnTo>
                  <a:lnTo>
                    <a:pt x="0" y="600075"/>
                  </a:lnTo>
                  <a:lnTo>
                    <a:pt x="104775" y="638175"/>
                  </a:lnTo>
                  <a:lnTo>
                    <a:pt x="209550" y="666750"/>
                  </a:lnTo>
                  <a:lnTo>
                    <a:pt x="323850" y="685800"/>
                  </a:lnTo>
                  <a:lnTo>
                    <a:pt x="552450" y="685800"/>
                  </a:lnTo>
                  <a:lnTo>
                    <a:pt x="657225" y="666750"/>
                  </a:lnTo>
                  <a:lnTo>
                    <a:pt x="762000" y="638175"/>
                  </a:lnTo>
                  <a:lnTo>
                    <a:pt x="971550" y="561975"/>
                  </a:lnTo>
                  <a:lnTo>
                    <a:pt x="1085850" y="542925"/>
                  </a:lnTo>
                  <a:lnTo>
                    <a:pt x="1190625" y="523875"/>
                  </a:lnTo>
                  <a:lnTo>
                    <a:pt x="1304925" y="514350"/>
                  </a:lnTo>
                  <a:lnTo>
                    <a:pt x="1419225" y="523875"/>
                  </a:lnTo>
                  <a:lnTo>
                    <a:pt x="1524000" y="542925"/>
                  </a:lnTo>
                  <a:lnTo>
                    <a:pt x="1638300" y="561975"/>
                  </a:lnTo>
                  <a:lnTo>
                    <a:pt x="1743075" y="600075"/>
                  </a:lnTo>
                  <a:lnTo>
                    <a:pt x="1743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505200" y="730250"/>
              <a:ext cx="1743075" cy="685800"/>
            </a:xfrm>
            <a:custGeom>
              <a:avLst/>
              <a:gdLst/>
              <a:ahLst/>
              <a:cxnLst/>
              <a:rect l="l" t="t" r="r" b="b"/>
              <a:pathLst>
                <a:path w="1743075" h="685800">
                  <a:moveTo>
                    <a:pt x="0" y="600075"/>
                  </a:moveTo>
                  <a:lnTo>
                    <a:pt x="0" y="0"/>
                  </a:lnTo>
                  <a:lnTo>
                    <a:pt x="1743075" y="0"/>
                  </a:lnTo>
                  <a:lnTo>
                    <a:pt x="1743075" y="600075"/>
                  </a:lnTo>
                  <a:lnTo>
                    <a:pt x="1638300" y="561975"/>
                  </a:lnTo>
                  <a:lnTo>
                    <a:pt x="1524000" y="542925"/>
                  </a:lnTo>
                  <a:lnTo>
                    <a:pt x="1419225" y="523875"/>
                  </a:lnTo>
                  <a:lnTo>
                    <a:pt x="1304925" y="514350"/>
                  </a:lnTo>
                  <a:lnTo>
                    <a:pt x="1190625" y="523875"/>
                  </a:lnTo>
                  <a:lnTo>
                    <a:pt x="1085850" y="542925"/>
                  </a:lnTo>
                  <a:lnTo>
                    <a:pt x="971550" y="561975"/>
                  </a:lnTo>
                  <a:lnTo>
                    <a:pt x="762000" y="638175"/>
                  </a:lnTo>
                  <a:lnTo>
                    <a:pt x="657225" y="666750"/>
                  </a:lnTo>
                  <a:lnTo>
                    <a:pt x="552450" y="685800"/>
                  </a:lnTo>
                  <a:lnTo>
                    <a:pt x="323850" y="685800"/>
                  </a:lnTo>
                  <a:lnTo>
                    <a:pt x="209550" y="666750"/>
                  </a:lnTo>
                  <a:lnTo>
                    <a:pt x="104775" y="638175"/>
                  </a:lnTo>
                  <a:lnTo>
                    <a:pt x="0" y="6000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/>
          <p:nvPr/>
        </p:nvSpPr>
        <p:spPr>
          <a:xfrm>
            <a:off x="3511550" y="498475"/>
            <a:ext cx="1454785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PAYR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(Payment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transfer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medium</a:t>
            </a:r>
            <a:r>
              <a:rPr dirty="0" sz="750" spc="5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file)</a:t>
            </a:r>
            <a:endParaRPr sz="750">
              <a:latin typeface="Arial"/>
              <a:cs typeface="Arial"/>
            </a:endParaRPr>
          </a:p>
          <a:p>
            <a:pPr marL="12700" marR="252729">
              <a:lnSpc>
                <a:spcPct val="95800"/>
              </a:lnSpc>
              <a:spcBef>
                <a:spcPts val="110"/>
              </a:spcBef>
            </a:pPr>
            <a:r>
              <a:rPr dirty="0" sz="750">
                <a:latin typeface="Arial"/>
                <a:cs typeface="Arial"/>
              </a:rPr>
              <a:t>Paying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(ZBUKR) </a:t>
            </a:r>
            <a:r>
              <a:rPr dirty="0" sz="750">
                <a:latin typeface="Arial"/>
                <a:cs typeface="Arial"/>
              </a:rPr>
              <a:t>House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Bank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(HBKID) </a:t>
            </a:r>
            <a:r>
              <a:rPr dirty="0" sz="750">
                <a:latin typeface="Arial"/>
                <a:cs typeface="Arial"/>
              </a:rPr>
              <a:t>Account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(HKTID)</a:t>
            </a:r>
            <a:endParaRPr sz="750">
              <a:latin typeface="Arial"/>
              <a:cs typeface="Arial"/>
            </a:endParaRPr>
          </a:p>
          <a:p>
            <a:pPr marL="12700" marR="26162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Payment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Method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(ZLSCH) </a:t>
            </a:r>
            <a:r>
              <a:rPr dirty="0" sz="750">
                <a:latin typeface="Arial"/>
                <a:cs typeface="Arial"/>
              </a:rPr>
              <a:t>Check</a:t>
            </a:r>
            <a:r>
              <a:rPr dirty="0" sz="750" spc="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(CHECKT)</a:t>
            </a:r>
            <a:endParaRPr sz="750">
              <a:latin typeface="Arial"/>
              <a:cs typeface="Arial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1143000" y="2016125"/>
            <a:ext cx="1733550" cy="361950"/>
          </a:xfrm>
          <a:custGeom>
            <a:avLst/>
            <a:gdLst/>
            <a:ahLst/>
            <a:cxnLst/>
            <a:rect l="l" t="t" r="r" b="b"/>
            <a:pathLst>
              <a:path w="1733550" h="361950">
                <a:moveTo>
                  <a:pt x="0" y="361950"/>
                </a:moveTo>
                <a:lnTo>
                  <a:pt x="1733550" y="361950"/>
                </a:lnTo>
                <a:lnTo>
                  <a:pt x="1733550" y="0"/>
                </a:lnTo>
                <a:lnTo>
                  <a:pt x="0" y="0"/>
                </a:lnTo>
                <a:lnTo>
                  <a:pt x="0" y="3619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1147762" y="2012950"/>
            <a:ext cx="172402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BSAD</a:t>
            </a:r>
            <a:endParaRPr sz="750">
              <a:latin typeface="Arial"/>
              <a:cs typeface="Arial"/>
            </a:endParaRPr>
          </a:p>
          <a:p>
            <a:pPr marL="13970" marR="1587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(Accounting: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Secondary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spc="-25" b="1">
                <a:latin typeface="Arial"/>
                <a:cs typeface="Arial"/>
              </a:rPr>
              <a:t>for</a:t>
            </a:r>
            <a:r>
              <a:rPr dirty="0" sz="750" b="1">
                <a:latin typeface="Arial"/>
                <a:cs typeface="Arial"/>
              </a:rPr>
              <a:t> customers</a:t>
            </a:r>
            <a:r>
              <a:rPr dirty="0" sz="750" spc="10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(cleared</a:t>
            </a:r>
            <a:r>
              <a:rPr dirty="0" sz="750" spc="10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items))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1138237" y="2354262"/>
            <a:ext cx="1743075" cy="1266825"/>
            <a:chOff x="1138237" y="2354262"/>
            <a:chExt cx="1743075" cy="1266825"/>
          </a:xfrm>
        </p:grpSpPr>
        <p:sp>
          <p:nvSpPr>
            <p:cNvPr id="77" name="object 77" descr=""/>
            <p:cNvSpPr/>
            <p:nvPr/>
          </p:nvSpPr>
          <p:spPr>
            <a:xfrm>
              <a:off x="1143000" y="2359025"/>
              <a:ext cx="1733550" cy="1257300"/>
            </a:xfrm>
            <a:custGeom>
              <a:avLst/>
              <a:gdLst/>
              <a:ahLst/>
              <a:cxnLst/>
              <a:rect l="l" t="t" r="r" b="b"/>
              <a:pathLst>
                <a:path w="1733550" h="1257300">
                  <a:moveTo>
                    <a:pt x="1733550" y="0"/>
                  </a:moveTo>
                  <a:lnTo>
                    <a:pt x="0" y="0"/>
                  </a:lnTo>
                  <a:lnTo>
                    <a:pt x="0" y="1114425"/>
                  </a:lnTo>
                  <a:lnTo>
                    <a:pt x="66675" y="1162050"/>
                  </a:lnTo>
                  <a:lnTo>
                    <a:pt x="142875" y="1200150"/>
                  </a:lnTo>
                  <a:lnTo>
                    <a:pt x="219075" y="1228725"/>
                  </a:lnTo>
                  <a:lnTo>
                    <a:pt x="304800" y="1247775"/>
                  </a:lnTo>
                  <a:lnTo>
                    <a:pt x="390525" y="1257300"/>
                  </a:lnTo>
                  <a:lnTo>
                    <a:pt x="466725" y="1257300"/>
                  </a:lnTo>
                  <a:lnTo>
                    <a:pt x="552450" y="1247775"/>
                  </a:lnTo>
                  <a:lnTo>
                    <a:pt x="638175" y="1228725"/>
                  </a:lnTo>
                  <a:lnTo>
                    <a:pt x="714375" y="1200150"/>
                  </a:lnTo>
                  <a:lnTo>
                    <a:pt x="790575" y="1162050"/>
                  </a:lnTo>
                  <a:lnTo>
                    <a:pt x="866775" y="1114425"/>
                  </a:lnTo>
                  <a:lnTo>
                    <a:pt x="933450" y="1066800"/>
                  </a:lnTo>
                  <a:lnTo>
                    <a:pt x="1009650" y="1028700"/>
                  </a:lnTo>
                  <a:lnTo>
                    <a:pt x="1085850" y="1000125"/>
                  </a:lnTo>
                  <a:lnTo>
                    <a:pt x="1171575" y="981075"/>
                  </a:lnTo>
                  <a:lnTo>
                    <a:pt x="1257300" y="971550"/>
                  </a:lnTo>
                  <a:lnTo>
                    <a:pt x="1343025" y="971550"/>
                  </a:lnTo>
                  <a:lnTo>
                    <a:pt x="1428750" y="981075"/>
                  </a:lnTo>
                  <a:lnTo>
                    <a:pt x="1504950" y="1000125"/>
                  </a:lnTo>
                  <a:lnTo>
                    <a:pt x="1581150" y="1028700"/>
                  </a:lnTo>
                  <a:lnTo>
                    <a:pt x="1657350" y="1066800"/>
                  </a:lnTo>
                  <a:lnTo>
                    <a:pt x="1733550" y="111442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143000" y="2359025"/>
              <a:ext cx="1733550" cy="1257300"/>
            </a:xfrm>
            <a:custGeom>
              <a:avLst/>
              <a:gdLst/>
              <a:ahLst/>
              <a:cxnLst/>
              <a:rect l="l" t="t" r="r" b="b"/>
              <a:pathLst>
                <a:path w="1733550" h="1257300">
                  <a:moveTo>
                    <a:pt x="0" y="1114425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1114425"/>
                  </a:lnTo>
                  <a:lnTo>
                    <a:pt x="1657350" y="1066800"/>
                  </a:lnTo>
                  <a:lnTo>
                    <a:pt x="1581150" y="1028700"/>
                  </a:lnTo>
                  <a:lnTo>
                    <a:pt x="1504950" y="1000125"/>
                  </a:lnTo>
                  <a:lnTo>
                    <a:pt x="1428750" y="981075"/>
                  </a:lnTo>
                  <a:lnTo>
                    <a:pt x="1343025" y="971550"/>
                  </a:lnTo>
                  <a:lnTo>
                    <a:pt x="1257300" y="971550"/>
                  </a:lnTo>
                  <a:lnTo>
                    <a:pt x="1171575" y="981075"/>
                  </a:lnTo>
                  <a:lnTo>
                    <a:pt x="1085850" y="1000125"/>
                  </a:lnTo>
                  <a:lnTo>
                    <a:pt x="1009650" y="1028700"/>
                  </a:lnTo>
                  <a:lnTo>
                    <a:pt x="933450" y="1066800"/>
                  </a:lnTo>
                  <a:lnTo>
                    <a:pt x="866775" y="1114425"/>
                  </a:lnTo>
                  <a:lnTo>
                    <a:pt x="790575" y="1162050"/>
                  </a:lnTo>
                  <a:lnTo>
                    <a:pt x="714375" y="1200150"/>
                  </a:lnTo>
                  <a:lnTo>
                    <a:pt x="638175" y="1228725"/>
                  </a:lnTo>
                  <a:lnTo>
                    <a:pt x="552450" y="1247775"/>
                  </a:lnTo>
                  <a:lnTo>
                    <a:pt x="466725" y="1257300"/>
                  </a:lnTo>
                  <a:lnTo>
                    <a:pt x="390525" y="1257300"/>
                  </a:lnTo>
                  <a:lnTo>
                    <a:pt x="304800" y="1247775"/>
                  </a:lnTo>
                  <a:lnTo>
                    <a:pt x="219075" y="1228725"/>
                  </a:lnTo>
                  <a:lnTo>
                    <a:pt x="142875" y="1200150"/>
                  </a:lnTo>
                  <a:lnTo>
                    <a:pt x="66675" y="1162050"/>
                  </a:lnTo>
                  <a:lnTo>
                    <a:pt x="0" y="1114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1149350" y="2355850"/>
            <a:ext cx="1282700" cy="1149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779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Customer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(KUNNR)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97200"/>
              </a:lnSpc>
              <a:spcBef>
                <a:spcPts val="25"/>
              </a:spcBef>
            </a:pPr>
            <a:r>
              <a:rPr dirty="0" sz="750">
                <a:latin typeface="Arial"/>
                <a:cs typeface="Arial"/>
              </a:rPr>
              <a:t>Special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Trans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(UMSKS) </a:t>
            </a:r>
            <a:r>
              <a:rPr dirty="0" sz="750">
                <a:latin typeface="Arial"/>
                <a:cs typeface="Arial"/>
              </a:rPr>
              <a:t>Special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Ind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(UMSKZ)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(AUGDT)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(AUGBL) </a:t>
            </a:r>
            <a:r>
              <a:rPr dirty="0" sz="750">
                <a:latin typeface="Arial"/>
                <a:cs typeface="Arial"/>
              </a:rPr>
              <a:t>Allocation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(ZUONR)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Items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(BUZEI)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3500437" y="1763712"/>
            <a:ext cx="1752600" cy="276225"/>
            <a:chOff x="3500437" y="1763712"/>
            <a:chExt cx="1752600" cy="276225"/>
          </a:xfrm>
        </p:grpSpPr>
        <p:sp>
          <p:nvSpPr>
            <p:cNvPr id="81" name="object 81" descr=""/>
            <p:cNvSpPr/>
            <p:nvPr/>
          </p:nvSpPr>
          <p:spPr>
            <a:xfrm>
              <a:off x="3505200" y="1768475"/>
              <a:ext cx="1743075" cy="266700"/>
            </a:xfrm>
            <a:custGeom>
              <a:avLst/>
              <a:gdLst/>
              <a:ahLst/>
              <a:cxnLst/>
              <a:rect l="l" t="t" r="r" b="b"/>
              <a:pathLst>
                <a:path w="1743075" h="266700">
                  <a:moveTo>
                    <a:pt x="17430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1743075" y="266700"/>
                  </a:lnTo>
                  <a:lnTo>
                    <a:pt x="1743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3505200" y="1768475"/>
              <a:ext cx="1743075" cy="266700"/>
            </a:xfrm>
            <a:custGeom>
              <a:avLst/>
              <a:gdLst/>
              <a:ahLst/>
              <a:cxnLst/>
              <a:rect l="l" t="t" r="r" b="b"/>
              <a:pathLst>
                <a:path w="1743075" h="266700">
                  <a:moveTo>
                    <a:pt x="0" y="266700"/>
                  </a:moveTo>
                  <a:lnTo>
                    <a:pt x="1743075" y="266700"/>
                  </a:lnTo>
                  <a:lnTo>
                    <a:pt x="17430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 descr=""/>
          <p:cNvSpPr txBox="1"/>
          <p:nvPr/>
        </p:nvSpPr>
        <p:spPr>
          <a:xfrm>
            <a:off x="3509962" y="1774825"/>
            <a:ext cx="1733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BKPF</a:t>
            </a:r>
            <a:endParaRPr sz="7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(Accounting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document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header)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3500437" y="2011362"/>
            <a:ext cx="1752600" cy="447675"/>
            <a:chOff x="3500437" y="2011362"/>
            <a:chExt cx="1752600" cy="447675"/>
          </a:xfrm>
        </p:grpSpPr>
        <p:sp>
          <p:nvSpPr>
            <p:cNvPr id="85" name="object 85" descr=""/>
            <p:cNvSpPr/>
            <p:nvPr/>
          </p:nvSpPr>
          <p:spPr>
            <a:xfrm>
              <a:off x="3505200" y="2016125"/>
              <a:ext cx="1743075" cy="438150"/>
            </a:xfrm>
            <a:custGeom>
              <a:avLst/>
              <a:gdLst/>
              <a:ahLst/>
              <a:cxnLst/>
              <a:rect l="l" t="t" r="r" b="b"/>
              <a:pathLst>
                <a:path w="1743075" h="438150">
                  <a:moveTo>
                    <a:pt x="1743075" y="0"/>
                  </a:moveTo>
                  <a:lnTo>
                    <a:pt x="0" y="0"/>
                  </a:lnTo>
                  <a:lnTo>
                    <a:pt x="0" y="390525"/>
                  </a:lnTo>
                  <a:lnTo>
                    <a:pt x="123825" y="419100"/>
                  </a:lnTo>
                  <a:lnTo>
                    <a:pt x="247650" y="438150"/>
                  </a:lnTo>
                  <a:lnTo>
                    <a:pt x="628650" y="438150"/>
                  </a:lnTo>
                  <a:lnTo>
                    <a:pt x="742950" y="419100"/>
                  </a:lnTo>
                  <a:lnTo>
                    <a:pt x="990600" y="361950"/>
                  </a:lnTo>
                  <a:lnTo>
                    <a:pt x="1114425" y="342900"/>
                  </a:lnTo>
                  <a:lnTo>
                    <a:pt x="1238250" y="333375"/>
                  </a:lnTo>
                  <a:lnTo>
                    <a:pt x="1371600" y="333375"/>
                  </a:lnTo>
                  <a:lnTo>
                    <a:pt x="1495425" y="342900"/>
                  </a:lnTo>
                  <a:lnTo>
                    <a:pt x="1619250" y="361950"/>
                  </a:lnTo>
                  <a:lnTo>
                    <a:pt x="1743075" y="390525"/>
                  </a:lnTo>
                  <a:lnTo>
                    <a:pt x="1743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505200" y="2016125"/>
              <a:ext cx="1743075" cy="438150"/>
            </a:xfrm>
            <a:custGeom>
              <a:avLst/>
              <a:gdLst/>
              <a:ahLst/>
              <a:cxnLst/>
              <a:rect l="l" t="t" r="r" b="b"/>
              <a:pathLst>
                <a:path w="1743075" h="438150">
                  <a:moveTo>
                    <a:pt x="0" y="390525"/>
                  </a:moveTo>
                  <a:lnTo>
                    <a:pt x="0" y="0"/>
                  </a:lnTo>
                  <a:lnTo>
                    <a:pt x="1743075" y="0"/>
                  </a:lnTo>
                  <a:lnTo>
                    <a:pt x="1743075" y="390525"/>
                  </a:lnTo>
                  <a:lnTo>
                    <a:pt x="1619250" y="361950"/>
                  </a:lnTo>
                  <a:lnTo>
                    <a:pt x="1495425" y="342900"/>
                  </a:lnTo>
                  <a:lnTo>
                    <a:pt x="1371600" y="333375"/>
                  </a:lnTo>
                  <a:lnTo>
                    <a:pt x="1238250" y="333375"/>
                  </a:lnTo>
                  <a:lnTo>
                    <a:pt x="1114425" y="342900"/>
                  </a:lnTo>
                  <a:lnTo>
                    <a:pt x="990600" y="361950"/>
                  </a:lnTo>
                  <a:lnTo>
                    <a:pt x="742950" y="419100"/>
                  </a:lnTo>
                  <a:lnTo>
                    <a:pt x="628650" y="438150"/>
                  </a:lnTo>
                  <a:lnTo>
                    <a:pt x="247650" y="438150"/>
                  </a:lnTo>
                  <a:lnTo>
                    <a:pt x="123825" y="419100"/>
                  </a:lnTo>
                  <a:lnTo>
                    <a:pt x="0" y="3905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/>
          <p:nvPr/>
        </p:nvSpPr>
        <p:spPr>
          <a:xfrm>
            <a:off x="3511550" y="2012950"/>
            <a:ext cx="114998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88" name="object 88" descr=""/>
          <p:cNvGrpSpPr/>
          <p:nvPr/>
        </p:nvGrpSpPr>
        <p:grpSpPr>
          <a:xfrm>
            <a:off x="3500437" y="3163887"/>
            <a:ext cx="1752600" cy="800100"/>
            <a:chOff x="3500437" y="3163887"/>
            <a:chExt cx="1752600" cy="800100"/>
          </a:xfrm>
        </p:grpSpPr>
        <p:sp>
          <p:nvSpPr>
            <p:cNvPr id="89" name="object 89" descr=""/>
            <p:cNvSpPr/>
            <p:nvPr/>
          </p:nvSpPr>
          <p:spPr>
            <a:xfrm>
              <a:off x="3505200" y="3168650"/>
              <a:ext cx="1743075" cy="266700"/>
            </a:xfrm>
            <a:custGeom>
              <a:avLst/>
              <a:gdLst/>
              <a:ahLst/>
              <a:cxnLst/>
              <a:rect l="l" t="t" r="r" b="b"/>
              <a:pathLst>
                <a:path w="1743075" h="266700">
                  <a:moveTo>
                    <a:pt x="0" y="266700"/>
                  </a:moveTo>
                  <a:lnTo>
                    <a:pt x="1743075" y="266700"/>
                  </a:lnTo>
                  <a:lnTo>
                    <a:pt x="17430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3505200" y="3406775"/>
              <a:ext cx="1743075" cy="552450"/>
            </a:xfrm>
            <a:custGeom>
              <a:avLst/>
              <a:gdLst/>
              <a:ahLst/>
              <a:cxnLst/>
              <a:rect l="l" t="t" r="r" b="b"/>
              <a:pathLst>
                <a:path w="1743075" h="552450">
                  <a:moveTo>
                    <a:pt x="1743075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104775" y="514350"/>
                  </a:lnTo>
                  <a:lnTo>
                    <a:pt x="219075" y="533400"/>
                  </a:lnTo>
                  <a:lnTo>
                    <a:pt x="323850" y="552450"/>
                  </a:lnTo>
                  <a:lnTo>
                    <a:pt x="542925" y="552450"/>
                  </a:lnTo>
                  <a:lnTo>
                    <a:pt x="657225" y="533400"/>
                  </a:lnTo>
                  <a:lnTo>
                    <a:pt x="762000" y="514350"/>
                  </a:lnTo>
                  <a:lnTo>
                    <a:pt x="866775" y="485775"/>
                  </a:lnTo>
                  <a:lnTo>
                    <a:pt x="981075" y="457200"/>
                  </a:lnTo>
                  <a:lnTo>
                    <a:pt x="1190625" y="419100"/>
                  </a:lnTo>
                  <a:lnTo>
                    <a:pt x="1419225" y="419100"/>
                  </a:lnTo>
                  <a:lnTo>
                    <a:pt x="1628775" y="457200"/>
                  </a:lnTo>
                  <a:lnTo>
                    <a:pt x="1743075" y="485775"/>
                  </a:lnTo>
                  <a:lnTo>
                    <a:pt x="1743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505200" y="3406775"/>
              <a:ext cx="1743075" cy="552450"/>
            </a:xfrm>
            <a:custGeom>
              <a:avLst/>
              <a:gdLst/>
              <a:ahLst/>
              <a:cxnLst/>
              <a:rect l="l" t="t" r="r" b="b"/>
              <a:pathLst>
                <a:path w="1743075" h="552450">
                  <a:moveTo>
                    <a:pt x="0" y="485775"/>
                  </a:moveTo>
                  <a:lnTo>
                    <a:pt x="0" y="0"/>
                  </a:lnTo>
                  <a:lnTo>
                    <a:pt x="1743075" y="0"/>
                  </a:lnTo>
                  <a:lnTo>
                    <a:pt x="1743075" y="485775"/>
                  </a:lnTo>
                  <a:lnTo>
                    <a:pt x="1628775" y="457200"/>
                  </a:lnTo>
                  <a:lnTo>
                    <a:pt x="1419225" y="419100"/>
                  </a:lnTo>
                  <a:lnTo>
                    <a:pt x="1190625" y="419100"/>
                  </a:lnTo>
                  <a:lnTo>
                    <a:pt x="981075" y="457200"/>
                  </a:lnTo>
                  <a:lnTo>
                    <a:pt x="866775" y="485775"/>
                  </a:lnTo>
                  <a:lnTo>
                    <a:pt x="762000" y="514350"/>
                  </a:lnTo>
                  <a:lnTo>
                    <a:pt x="657225" y="533400"/>
                  </a:lnTo>
                  <a:lnTo>
                    <a:pt x="542925" y="552450"/>
                  </a:lnTo>
                  <a:lnTo>
                    <a:pt x="323850" y="552450"/>
                  </a:lnTo>
                  <a:lnTo>
                    <a:pt x="219075" y="533400"/>
                  </a:lnTo>
                  <a:lnTo>
                    <a:pt x="104775" y="514350"/>
                  </a:lnTo>
                  <a:lnTo>
                    <a:pt x="0" y="4857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3511550" y="3175000"/>
            <a:ext cx="152082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BSEG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(Accounting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document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segment)</a:t>
            </a:r>
            <a:endParaRPr sz="750">
              <a:latin typeface="Arial"/>
              <a:cs typeface="Arial"/>
            </a:endParaRPr>
          </a:p>
          <a:p>
            <a:pPr marL="12700" marR="375920">
              <a:lnSpc>
                <a:spcPct val="95800"/>
              </a:lnSpc>
              <a:spcBef>
                <a:spcPts val="110"/>
              </a:spcBef>
            </a:pP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</a:t>
            </a:r>
            <a:endParaRPr sz="750">
              <a:latin typeface="Arial"/>
              <a:cs typeface="Arial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2949575" y="3746500"/>
            <a:ext cx="1397000" cy="225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4675">
              <a:lnSpc>
                <a:spcPts val="79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(BUZEI)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790"/>
              </a:lnSpc>
            </a:pPr>
            <a:r>
              <a:rPr dirty="0" sz="750">
                <a:latin typeface="Arial"/>
                <a:cs typeface="Arial"/>
              </a:rPr>
              <a:t>Open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Items</a:t>
            </a:r>
            <a:endParaRPr sz="750">
              <a:latin typeface="Arial"/>
              <a:cs typeface="Arial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2771775" y="5702300"/>
            <a:ext cx="1733550" cy="257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BSIS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95" name="object 95" descr=""/>
          <p:cNvSpPr/>
          <p:nvPr/>
        </p:nvSpPr>
        <p:spPr>
          <a:xfrm>
            <a:off x="2771775" y="5959475"/>
            <a:ext cx="1733550" cy="1104900"/>
          </a:xfrm>
          <a:custGeom>
            <a:avLst/>
            <a:gdLst/>
            <a:ahLst/>
            <a:cxnLst/>
            <a:rect l="l" t="t" r="r" b="b"/>
            <a:pathLst>
              <a:path w="1733550" h="1104900">
                <a:moveTo>
                  <a:pt x="0" y="971550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971550"/>
                </a:lnTo>
                <a:lnTo>
                  <a:pt x="1666875" y="923925"/>
                </a:lnTo>
                <a:lnTo>
                  <a:pt x="1590675" y="895350"/>
                </a:lnTo>
                <a:lnTo>
                  <a:pt x="1504950" y="866775"/>
                </a:lnTo>
                <a:lnTo>
                  <a:pt x="1428750" y="847725"/>
                </a:lnTo>
                <a:lnTo>
                  <a:pt x="1343025" y="838200"/>
                </a:lnTo>
                <a:lnTo>
                  <a:pt x="1257300" y="838200"/>
                </a:lnTo>
                <a:lnTo>
                  <a:pt x="1171575" y="847725"/>
                </a:lnTo>
                <a:lnTo>
                  <a:pt x="1095375" y="866775"/>
                </a:lnTo>
                <a:lnTo>
                  <a:pt x="942975" y="923925"/>
                </a:lnTo>
                <a:lnTo>
                  <a:pt x="866775" y="971550"/>
                </a:lnTo>
                <a:lnTo>
                  <a:pt x="800100" y="1019175"/>
                </a:lnTo>
                <a:lnTo>
                  <a:pt x="723900" y="1057275"/>
                </a:lnTo>
                <a:lnTo>
                  <a:pt x="638175" y="1076325"/>
                </a:lnTo>
                <a:lnTo>
                  <a:pt x="561975" y="1095375"/>
                </a:lnTo>
                <a:lnTo>
                  <a:pt x="476250" y="1104900"/>
                </a:lnTo>
                <a:lnTo>
                  <a:pt x="390525" y="1104900"/>
                </a:lnTo>
                <a:lnTo>
                  <a:pt x="304800" y="1095375"/>
                </a:lnTo>
                <a:lnTo>
                  <a:pt x="228600" y="1076325"/>
                </a:lnTo>
                <a:lnTo>
                  <a:pt x="142875" y="1057275"/>
                </a:lnTo>
                <a:lnTo>
                  <a:pt x="66675" y="1019175"/>
                </a:lnTo>
                <a:lnTo>
                  <a:pt x="0" y="9715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 txBox="1"/>
          <p:nvPr/>
        </p:nvSpPr>
        <p:spPr>
          <a:xfrm>
            <a:off x="2778125" y="5965825"/>
            <a:ext cx="1149985" cy="920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7600"/>
              </a:lnSpc>
              <a:spcBef>
                <a:spcPts val="120"/>
              </a:spcBef>
            </a:pP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Account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(HKONT)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(AUGDT)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(AUGBL) </a:t>
            </a:r>
            <a:r>
              <a:rPr dirty="0" sz="750">
                <a:latin typeface="Arial"/>
                <a:cs typeface="Arial"/>
              </a:rPr>
              <a:t>Allocation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(ZUONR)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 </a:t>
            </a: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Items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(BUZEI)</a:t>
            </a:r>
            <a:endParaRPr sz="750">
              <a:latin typeface="Arial"/>
              <a:cs typeface="Arial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1143000" y="3959225"/>
            <a:ext cx="1733550" cy="3714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BSID</a:t>
            </a:r>
            <a:endParaRPr sz="750">
              <a:latin typeface="Arial"/>
              <a:cs typeface="Arial"/>
            </a:endParaRPr>
          </a:p>
          <a:p>
            <a:pPr marL="19050" marR="163830">
              <a:lnSpc>
                <a:spcPts val="830"/>
              </a:lnSpc>
              <a:spcBef>
                <a:spcPts val="85"/>
              </a:spcBef>
            </a:pPr>
            <a:r>
              <a:rPr dirty="0" sz="750" b="1">
                <a:latin typeface="Arial"/>
                <a:cs typeface="Arial"/>
              </a:rPr>
              <a:t>(Accounting: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Secondary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spc="-25" b="1">
                <a:latin typeface="Arial"/>
                <a:cs typeface="Arial"/>
              </a:rPr>
              <a:t>for</a:t>
            </a:r>
            <a:r>
              <a:rPr dirty="0" sz="750" spc="-10" b="1">
                <a:latin typeface="Arial"/>
                <a:cs typeface="Arial"/>
              </a:rPr>
              <a:t> customers)</a:t>
            </a:r>
            <a:endParaRPr sz="750">
              <a:latin typeface="Arial"/>
              <a:cs typeface="Arial"/>
            </a:endParaRPr>
          </a:p>
        </p:txBody>
      </p:sp>
      <p:sp>
        <p:nvSpPr>
          <p:cNvPr id="98" name="object 98" descr=""/>
          <p:cNvSpPr/>
          <p:nvPr/>
        </p:nvSpPr>
        <p:spPr>
          <a:xfrm>
            <a:off x="1143000" y="4330700"/>
            <a:ext cx="1733550" cy="1314450"/>
          </a:xfrm>
          <a:custGeom>
            <a:avLst/>
            <a:gdLst/>
            <a:ahLst/>
            <a:cxnLst/>
            <a:rect l="l" t="t" r="r" b="b"/>
            <a:pathLst>
              <a:path w="1733550" h="1314450">
                <a:moveTo>
                  <a:pt x="0" y="1171575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1171575"/>
                </a:lnTo>
                <a:lnTo>
                  <a:pt x="1657350" y="1123950"/>
                </a:lnTo>
                <a:lnTo>
                  <a:pt x="1581150" y="1085850"/>
                </a:lnTo>
                <a:lnTo>
                  <a:pt x="1504950" y="1057275"/>
                </a:lnTo>
                <a:lnTo>
                  <a:pt x="1428750" y="1038225"/>
                </a:lnTo>
                <a:lnTo>
                  <a:pt x="1343025" y="1028700"/>
                </a:lnTo>
                <a:lnTo>
                  <a:pt x="1257300" y="1028700"/>
                </a:lnTo>
                <a:lnTo>
                  <a:pt x="1171575" y="1038225"/>
                </a:lnTo>
                <a:lnTo>
                  <a:pt x="1085850" y="1057275"/>
                </a:lnTo>
                <a:lnTo>
                  <a:pt x="1009650" y="1085850"/>
                </a:lnTo>
                <a:lnTo>
                  <a:pt x="933450" y="1123950"/>
                </a:lnTo>
                <a:lnTo>
                  <a:pt x="866775" y="1171575"/>
                </a:lnTo>
                <a:lnTo>
                  <a:pt x="790575" y="1219200"/>
                </a:lnTo>
                <a:lnTo>
                  <a:pt x="714375" y="1257300"/>
                </a:lnTo>
                <a:lnTo>
                  <a:pt x="638175" y="1285875"/>
                </a:lnTo>
                <a:lnTo>
                  <a:pt x="552450" y="1304925"/>
                </a:lnTo>
                <a:lnTo>
                  <a:pt x="466725" y="1314450"/>
                </a:lnTo>
                <a:lnTo>
                  <a:pt x="390525" y="1314450"/>
                </a:lnTo>
                <a:lnTo>
                  <a:pt x="304800" y="1304925"/>
                </a:lnTo>
                <a:lnTo>
                  <a:pt x="219075" y="1285875"/>
                </a:lnTo>
                <a:lnTo>
                  <a:pt x="142875" y="1257300"/>
                </a:lnTo>
                <a:lnTo>
                  <a:pt x="66675" y="1219200"/>
                </a:lnTo>
                <a:lnTo>
                  <a:pt x="0" y="11715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 txBox="1"/>
          <p:nvPr/>
        </p:nvSpPr>
        <p:spPr>
          <a:xfrm>
            <a:off x="1149350" y="4327525"/>
            <a:ext cx="1282700" cy="1158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779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Customer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(KUNNR)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98600"/>
              </a:lnSpc>
              <a:spcBef>
                <a:spcPts val="10"/>
              </a:spcBef>
            </a:pPr>
            <a:r>
              <a:rPr dirty="0" sz="750">
                <a:latin typeface="Arial"/>
                <a:cs typeface="Arial"/>
              </a:rPr>
              <a:t>Special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Trans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(UMSKS) </a:t>
            </a:r>
            <a:r>
              <a:rPr dirty="0" sz="750">
                <a:latin typeface="Arial"/>
                <a:cs typeface="Arial"/>
              </a:rPr>
              <a:t>Special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Ind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(UMSKZ)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(AUGDT) </a:t>
            </a:r>
            <a:r>
              <a:rPr dirty="0" sz="750">
                <a:latin typeface="Arial"/>
                <a:cs typeface="Arial"/>
              </a:rPr>
              <a:t>Clearing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(AUGBL) </a:t>
            </a:r>
            <a:r>
              <a:rPr dirty="0" sz="750">
                <a:latin typeface="Arial"/>
                <a:cs typeface="Arial"/>
              </a:rPr>
              <a:t>Allocation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(ZUONR)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Items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(BUZEI)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09675" y="2120900"/>
            <a:ext cx="8286750" cy="1209675"/>
          </a:xfrm>
          <a:custGeom>
            <a:avLst/>
            <a:gdLst/>
            <a:ahLst/>
            <a:cxnLst/>
            <a:rect l="l" t="t" r="r" b="b"/>
            <a:pathLst>
              <a:path w="8286750" h="1209675">
                <a:moveTo>
                  <a:pt x="0" y="1209675"/>
                </a:moveTo>
                <a:lnTo>
                  <a:pt x="8286750" y="1209675"/>
                </a:lnTo>
                <a:lnTo>
                  <a:pt x="8286750" y="0"/>
                </a:lnTo>
                <a:lnTo>
                  <a:pt x="0" y="0"/>
                </a:lnTo>
                <a:lnTo>
                  <a:pt x="0" y="1209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19200" y="3511550"/>
            <a:ext cx="8286750" cy="3105150"/>
          </a:xfrm>
          <a:custGeom>
            <a:avLst/>
            <a:gdLst/>
            <a:ahLst/>
            <a:cxnLst/>
            <a:rect l="l" t="t" r="r" b="b"/>
            <a:pathLst>
              <a:path w="8286750" h="3105150">
                <a:moveTo>
                  <a:pt x="0" y="3105150"/>
                </a:moveTo>
                <a:lnTo>
                  <a:pt x="8286750" y="3105150"/>
                </a:lnTo>
                <a:lnTo>
                  <a:pt x="8286750" y="0"/>
                </a:lnTo>
                <a:lnTo>
                  <a:pt x="0" y="0"/>
                </a:lnTo>
                <a:lnTo>
                  <a:pt x="0" y="3105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552825" y="2339975"/>
            <a:ext cx="1428750" cy="180975"/>
          </a:xfrm>
          <a:custGeom>
            <a:avLst/>
            <a:gdLst/>
            <a:ahLst/>
            <a:cxnLst/>
            <a:rect l="l" t="t" r="r" b="b"/>
            <a:pathLst>
              <a:path w="1428750" h="180975">
                <a:moveTo>
                  <a:pt x="1428750" y="0"/>
                </a:moveTo>
                <a:lnTo>
                  <a:pt x="1200150" y="85725"/>
                </a:lnTo>
                <a:lnTo>
                  <a:pt x="1428750" y="180975"/>
                </a:lnTo>
              </a:path>
              <a:path w="1428750" h="180975">
                <a:moveTo>
                  <a:pt x="0" y="85725"/>
                </a:moveTo>
                <a:lnTo>
                  <a:pt x="1428750" y="857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3443287" y="3754437"/>
            <a:ext cx="1657350" cy="1152525"/>
            <a:chOff x="3443287" y="3754437"/>
            <a:chExt cx="1657350" cy="1152525"/>
          </a:xfrm>
        </p:grpSpPr>
        <p:sp>
          <p:nvSpPr>
            <p:cNvPr id="6" name="object 6" descr=""/>
            <p:cNvSpPr/>
            <p:nvPr/>
          </p:nvSpPr>
          <p:spPr>
            <a:xfrm>
              <a:off x="3448050" y="3759200"/>
              <a:ext cx="1647825" cy="1143000"/>
            </a:xfrm>
            <a:custGeom>
              <a:avLst/>
              <a:gdLst/>
              <a:ahLst/>
              <a:cxnLst/>
              <a:rect l="l" t="t" r="r" b="b"/>
              <a:pathLst>
                <a:path w="1647825" h="1143000">
                  <a:moveTo>
                    <a:pt x="1495425" y="0"/>
                  </a:moveTo>
                  <a:lnTo>
                    <a:pt x="1400175" y="180975"/>
                  </a:lnTo>
                  <a:lnTo>
                    <a:pt x="1647825" y="133350"/>
                  </a:lnTo>
                </a:path>
                <a:path w="1647825" h="1143000">
                  <a:moveTo>
                    <a:pt x="0" y="1143000"/>
                  </a:moveTo>
                  <a:lnTo>
                    <a:pt x="1571625" y="666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914775" y="4130675"/>
              <a:ext cx="638175" cy="457200"/>
            </a:xfrm>
            <a:custGeom>
              <a:avLst/>
              <a:gdLst/>
              <a:ahLst/>
              <a:cxnLst/>
              <a:rect l="l" t="t" r="r" b="b"/>
              <a:pathLst>
                <a:path w="638175" h="457200">
                  <a:moveTo>
                    <a:pt x="542925" y="0"/>
                  </a:moveTo>
                  <a:lnTo>
                    <a:pt x="0" y="381000"/>
                  </a:lnTo>
                  <a:lnTo>
                    <a:pt x="95250" y="457200"/>
                  </a:lnTo>
                  <a:lnTo>
                    <a:pt x="638175" y="8572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 rot="19140000">
            <a:off x="3860612" y="4258039"/>
            <a:ext cx="746847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55">
                <a:latin typeface="Arial"/>
                <a:cs typeface="Arial"/>
              </a:rPr>
              <a:t>All</a:t>
            </a:r>
            <a:r>
              <a:rPr dirty="0" sz="600" spc="70">
                <a:latin typeface="Arial"/>
                <a:cs typeface="Arial"/>
              </a:rPr>
              <a:t> </a:t>
            </a:r>
            <a:r>
              <a:rPr dirty="0" sz="600" spc="75">
                <a:latin typeface="Arial"/>
                <a:cs typeface="Arial"/>
              </a:rPr>
              <a:t>FI </a:t>
            </a:r>
            <a:r>
              <a:rPr dirty="0" baseline="4629" sz="900" spc="120">
                <a:latin typeface="Arial"/>
                <a:cs typeface="Arial"/>
              </a:rPr>
              <a:t>documents</a:t>
            </a:r>
            <a:endParaRPr baseline="4629" sz="9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443287" y="4811712"/>
            <a:ext cx="1552575" cy="180975"/>
            <a:chOff x="3443287" y="4811712"/>
            <a:chExt cx="1552575" cy="180975"/>
          </a:xfrm>
        </p:grpSpPr>
        <p:sp>
          <p:nvSpPr>
            <p:cNvPr id="10" name="object 10" descr=""/>
            <p:cNvSpPr/>
            <p:nvPr/>
          </p:nvSpPr>
          <p:spPr>
            <a:xfrm>
              <a:off x="3448050" y="4816475"/>
              <a:ext cx="1543050" cy="171450"/>
            </a:xfrm>
            <a:custGeom>
              <a:avLst/>
              <a:gdLst/>
              <a:ahLst/>
              <a:cxnLst/>
              <a:rect l="l" t="t" r="r" b="b"/>
              <a:pathLst>
                <a:path w="1543050" h="171450">
                  <a:moveTo>
                    <a:pt x="1543050" y="0"/>
                  </a:moveTo>
                  <a:lnTo>
                    <a:pt x="1314450" y="85725"/>
                  </a:lnTo>
                  <a:lnTo>
                    <a:pt x="1543050" y="171450"/>
                  </a:lnTo>
                </a:path>
                <a:path w="1543050" h="171450">
                  <a:moveTo>
                    <a:pt x="0" y="85725"/>
                  </a:moveTo>
                  <a:lnTo>
                    <a:pt x="361950" y="85725"/>
                  </a:lnTo>
                </a:path>
                <a:path w="1543050" h="171450">
                  <a:moveTo>
                    <a:pt x="1181100" y="85725"/>
                  </a:moveTo>
                  <a:lnTo>
                    <a:pt x="1543050" y="857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10000" y="4845050"/>
              <a:ext cx="819150" cy="114300"/>
            </a:xfrm>
            <a:custGeom>
              <a:avLst/>
              <a:gdLst/>
              <a:ahLst/>
              <a:cxnLst/>
              <a:rect l="l" t="t" r="r" b="b"/>
              <a:pathLst>
                <a:path w="819150" h="114300">
                  <a:moveTo>
                    <a:pt x="81915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19150" y="114300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819525" y="4832350"/>
            <a:ext cx="842644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00" spc="100">
                <a:latin typeface="Arial"/>
                <a:cs typeface="Arial"/>
              </a:rPr>
              <a:t>One</a:t>
            </a:r>
            <a:r>
              <a:rPr dirty="0" sz="600" spc="85">
                <a:latin typeface="Arial"/>
                <a:cs typeface="Arial"/>
              </a:rPr>
              <a:t> </a:t>
            </a:r>
            <a:r>
              <a:rPr dirty="0" sz="600" spc="75">
                <a:latin typeface="Arial"/>
                <a:cs typeface="Arial"/>
              </a:rPr>
              <a:t>time</a:t>
            </a:r>
            <a:r>
              <a:rPr dirty="0" sz="600" spc="85">
                <a:latin typeface="Arial"/>
                <a:cs typeface="Arial"/>
              </a:rPr>
              <a:t> </a:t>
            </a:r>
            <a:r>
              <a:rPr dirty="0" sz="600" spc="75">
                <a:latin typeface="Arial"/>
                <a:cs typeface="Arial"/>
              </a:rPr>
              <a:t>accounts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443287" y="4897437"/>
            <a:ext cx="1647825" cy="981075"/>
            <a:chOff x="3443287" y="4897437"/>
            <a:chExt cx="1647825" cy="981075"/>
          </a:xfrm>
        </p:grpSpPr>
        <p:sp>
          <p:nvSpPr>
            <p:cNvPr id="14" name="object 14" descr=""/>
            <p:cNvSpPr/>
            <p:nvPr/>
          </p:nvSpPr>
          <p:spPr>
            <a:xfrm>
              <a:off x="3448050" y="4902200"/>
              <a:ext cx="1638300" cy="971550"/>
            </a:xfrm>
            <a:custGeom>
              <a:avLst/>
              <a:gdLst/>
              <a:ahLst/>
              <a:cxnLst/>
              <a:rect l="l" t="t" r="r" b="b"/>
              <a:pathLst>
                <a:path w="1638300" h="971550">
                  <a:moveTo>
                    <a:pt x="1638300" y="838200"/>
                  </a:moveTo>
                  <a:lnTo>
                    <a:pt x="1390650" y="800100"/>
                  </a:lnTo>
                  <a:lnTo>
                    <a:pt x="1504950" y="971550"/>
                  </a:lnTo>
                </a:path>
                <a:path w="1638300" h="971550">
                  <a:moveTo>
                    <a:pt x="0" y="0"/>
                  </a:moveTo>
                  <a:lnTo>
                    <a:pt x="1571625" y="9048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924300" y="5159375"/>
              <a:ext cx="619125" cy="390525"/>
            </a:xfrm>
            <a:custGeom>
              <a:avLst/>
              <a:gdLst/>
              <a:ahLst/>
              <a:cxnLst/>
              <a:rect l="l" t="t" r="r" b="b"/>
              <a:pathLst>
                <a:path w="619125" h="390525">
                  <a:moveTo>
                    <a:pt x="85725" y="0"/>
                  </a:moveTo>
                  <a:lnTo>
                    <a:pt x="0" y="85725"/>
                  </a:lnTo>
                  <a:lnTo>
                    <a:pt x="533400" y="390525"/>
                  </a:lnTo>
                  <a:lnTo>
                    <a:pt x="619125" y="3143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 rot="2160000">
            <a:off x="3913791" y="5375724"/>
            <a:ext cx="688127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0"/>
              </a:lnSpc>
            </a:pPr>
            <a:r>
              <a:rPr dirty="0" sz="600" spc="90">
                <a:latin typeface="Arial"/>
                <a:cs typeface="Arial"/>
              </a:rPr>
              <a:t>Tax</a:t>
            </a:r>
            <a:r>
              <a:rPr dirty="0" sz="600" spc="80">
                <a:latin typeface="Arial"/>
                <a:cs typeface="Arial"/>
              </a:rPr>
              <a:t> documents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397375" y="1765300"/>
            <a:ext cx="15760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70" b="1">
                <a:latin typeface="Arial"/>
                <a:cs typeface="Arial"/>
              </a:rPr>
              <a:t>Financial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spc="70" b="1">
                <a:latin typeface="Arial"/>
                <a:cs typeface="Arial"/>
              </a:rPr>
              <a:t>Accounting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258050" y="2727325"/>
            <a:ext cx="3841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00" spc="70">
                <a:latin typeface="Arial"/>
                <a:cs typeface="Arial"/>
              </a:rPr>
              <a:t>Physical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315200" y="5060950"/>
            <a:ext cx="3365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00" spc="70">
                <a:latin typeface="Arial"/>
                <a:cs typeface="Arial"/>
              </a:rPr>
              <a:t>Logical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704975" y="2320925"/>
            <a:ext cx="1847850" cy="647700"/>
          </a:xfrm>
          <a:custGeom>
            <a:avLst/>
            <a:gdLst/>
            <a:ahLst/>
            <a:cxnLst/>
            <a:rect l="l" t="t" r="r" b="b"/>
            <a:pathLst>
              <a:path w="1847850" h="647700">
                <a:moveTo>
                  <a:pt x="0" y="219075"/>
                </a:moveTo>
                <a:lnTo>
                  <a:pt x="1847850" y="219075"/>
                </a:lnTo>
                <a:lnTo>
                  <a:pt x="1847850" y="0"/>
                </a:lnTo>
                <a:lnTo>
                  <a:pt x="0" y="0"/>
                </a:lnTo>
                <a:lnTo>
                  <a:pt x="0" y="219075"/>
                </a:lnTo>
                <a:close/>
              </a:path>
              <a:path w="1847850" h="647700">
                <a:moveTo>
                  <a:pt x="0" y="590550"/>
                </a:moveTo>
                <a:lnTo>
                  <a:pt x="0" y="219075"/>
                </a:lnTo>
                <a:lnTo>
                  <a:pt x="1847850" y="219075"/>
                </a:lnTo>
                <a:lnTo>
                  <a:pt x="1847850" y="590550"/>
                </a:lnTo>
                <a:lnTo>
                  <a:pt x="1581150" y="552450"/>
                </a:lnTo>
                <a:lnTo>
                  <a:pt x="1457325" y="542925"/>
                </a:lnTo>
                <a:lnTo>
                  <a:pt x="1314450" y="542925"/>
                </a:lnTo>
                <a:lnTo>
                  <a:pt x="1181100" y="552450"/>
                </a:lnTo>
                <a:lnTo>
                  <a:pt x="1057275" y="571500"/>
                </a:lnTo>
                <a:lnTo>
                  <a:pt x="923925" y="590550"/>
                </a:lnTo>
                <a:lnTo>
                  <a:pt x="790575" y="619125"/>
                </a:lnTo>
                <a:lnTo>
                  <a:pt x="657225" y="638175"/>
                </a:lnTo>
                <a:lnTo>
                  <a:pt x="523875" y="647700"/>
                </a:lnTo>
                <a:lnTo>
                  <a:pt x="400050" y="647700"/>
                </a:lnTo>
                <a:lnTo>
                  <a:pt x="257175" y="638175"/>
                </a:lnTo>
                <a:lnTo>
                  <a:pt x="133350" y="619125"/>
                </a:lnTo>
                <a:lnTo>
                  <a:pt x="0" y="5905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724025" y="2317750"/>
            <a:ext cx="1432560" cy="51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00" spc="70" b="1">
                <a:latin typeface="Arial"/>
                <a:cs typeface="Arial"/>
              </a:rPr>
              <a:t>BKPF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600" spc="75" b="1">
                <a:latin typeface="Arial"/>
                <a:cs typeface="Arial"/>
              </a:rPr>
              <a:t>(Accounting</a:t>
            </a:r>
            <a:r>
              <a:rPr dirty="0" sz="600" spc="100" b="1">
                <a:latin typeface="Arial"/>
                <a:cs typeface="Arial"/>
              </a:rPr>
              <a:t> </a:t>
            </a:r>
            <a:r>
              <a:rPr dirty="0" sz="600" spc="85" b="1">
                <a:latin typeface="Arial"/>
                <a:cs typeface="Arial"/>
              </a:rPr>
              <a:t>document</a:t>
            </a:r>
            <a:r>
              <a:rPr dirty="0" sz="600" spc="100" b="1">
                <a:latin typeface="Arial"/>
                <a:cs typeface="Arial"/>
              </a:rPr>
              <a:t> </a:t>
            </a:r>
            <a:r>
              <a:rPr dirty="0" sz="600" spc="60" b="1">
                <a:latin typeface="Arial"/>
                <a:cs typeface="Arial"/>
              </a:rPr>
              <a:t>header)</a:t>
            </a:r>
            <a:endParaRPr sz="600">
              <a:latin typeface="Arial"/>
              <a:cs typeface="Arial"/>
            </a:endParaRPr>
          </a:p>
          <a:p>
            <a:pPr marR="737870">
              <a:lnSpc>
                <a:spcPct val="99000"/>
              </a:lnSpc>
              <a:spcBef>
                <a:spcPts val="260"/>
              </a:spcBef>
            </a:pPr>
            <a:r>
              <a:rPr dirty="0" sz="600" spc="100">
                <a:latin typeface="Arial"/>
                <a:cs typeface="Arial"/>
              </a:rPr>
              <a:t>Company</a:t>
            </a:r>
            <a:r>
              <a:rPr dirty="0" sz="600" spc="85">
                <a:latin typeface="Arial"/>
                <a:cs typeface="Arial"/>
              </a:rPr>
              <a:t> </a:t>
            </a:r>
            <a:r>
              <a:rPr dirty="0" sz="600" spc="75">
                <a:latin typeface="Arial"/>
                <a:cs typeface="Arial"/>
              </a:rPr>
              <a:t>Code </a:t>
            </a:r>
            <a:r>
              <a:rPr dirty="0" sz="600" spc="85">
                <a:latin typeface="Arial"/>
                <a:cs typeface="Arial"/>
              </a:rPr>
              <a:t>Document</a:t>
            </a:r>
            <a:r>
              <a:rPr dirty="0" sz="600" spc="75">
                <a:latin typeface="Arial"/>
                <a:cs typeface="Arial"/>
              </a:rPr>
              <a:t> </a:t>
            </a:r>
            <a:r>
              <a:rPr dirty="0" sz="600" spc="50">
                <a:latin typeface="Arial"/>
                <a:cs typeface="Arial"/>
              </a:rPr>
              <a:t>No </a:t>
            </a:r>
            <a:r>
              <a:rPr dirty="0" sz="600" spc="70">
                <a:latin typeface="Arial"/>
                <a:cs typeface="Arial"/>
              </a:rPr>
              <a:t>Fiscal</a:t>
            </a:r>
            <a:r>
              <a:rPr dirty="0" sz="600" spc="75">
                <a:latin typeface="Arial"/>
                <a:cs typeface="Arial"/>
              </a:rPr>
              <a:t> </a:t>
            </a:r>
            <a:r>
              <a:rPr dirty="0" sz="600" spc="65">
                <a:latin typeface="Arial"/>
                <a:cs typeface="Arial"/>
              </a:rPr>
              <a:t>Year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4895850" y="2559050"/>
            <a:ext cx="1847850" cy="581025"/>
          </a:xfrm>
          <a:custGeom>
            <a:avLst/>
            <a:gdLst/>
            <a:ahLst/>
            <a:cxnLst/>
            <a:rect l="l" t="t" r="r" b="b"/>
            <a:pathLst>
              <a:path w="1847850" h="581025">
                <a:moveTo>
                  <a:pt x="0" y="514350"/>
                </a:moveTo>
                <a:lnTo>
                  <a:pt x="0" y="0"/>
                </a:lnTo>
                <a:lnTo>
                  <a:pt x="1847850" y="0"/>
                </a:lnTo>
                <a:lnTo>
                  <a:pt x="1847850" y="514350"/>
                </a:lnTo>
                <a:lnTo>
                  <a:pt x="1752600" y="485775"/>
                </a:lnTo>
                <a:lnTo>
                  <a:pt x="1647825" y="457200"/>
                </a:lnTo>
                <a:lnTo>
                  <a:pt x="1438275" y="438150"/>
                </a:lnTo>
                <a:lnTo>
                  <a:pt x="1333500" y="438150"/>
                </a:lnTo>
                <a:lnTo>
                  <a:pt x="1123950" y="457200"/>
                </a:lnTo>
                <a:lnTo>
                  <a:pt x="1019175" y="485775"/>
                </a:lnTo>
                <a:lnTo>
                  <a:pt x="923925" y="514350"/>
                </a:lnTo>
                <a:lnTo>
                  <a:pt x="819150" y="542925"/>
                </a:lnTo>
                <a:lnTo>
                  <a:pt x="723900" y="561975"/>
                </a:lnTo>
                <a:lnTo>
                  <a:pt x="514350" y="581025"/>
                </a:lnTo>
                <a:lnTo>
                  <a:pt x="409575" y="581025"/>
                </a:lnTo>
                <a:lnTo>
                  <a:pt x="200025" y="561975"/>
                </a:lnTo>
                <a:lnTo>
                  <a:pt x="95250" y="542925"/>
                </a:lnTo>
                <a:lnTo>
                  <a:pt x="0" y="5143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4914900" y="2555875"/>
            <a:ext cx="288925" cy="4883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R="5080">
              <a:lnSpc>
                <a:spcPct val="101600"/>
              </a:lnSpc>
              <a:spcBef>
                <a:spcPts val="85"/>
              </a:spcBef>
            </a:pPr>
            <a:r>
              <a:rPr dirty="0" sz="600" spc="105">
                <a:latin typeface="Arial"/>
                <a:cs typeface="Arial"/>
              </a:rPr>
              <a:t>BSEC BSED </a:t>
            </a:r>
            <a:r>
              <a:rPr dirty="0" sz="600" spc="100">
                <a:latin typeface="Arial"/>
                <a:cs typeface="Arial"/>
              </a:rPr>
              <a:t>BSEG BSES </a:t>
            </a:r>
            <a:r>
              <a:rPr dirty="0" sz="600" spc="90">
                <a:latin typeface="Arial"/>
                <a:cs typeface="Arial"/>
              </a:rPr>
              <a:t>BSET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595437" y="3973512"/>
            <a:ext cx="5162550" cy="1562100"/>
            <a:chOff x="1595437" y="3973512"/>
            <a:chExt cx="5162550" cy="1562100"/>
          </a:xfrm>
        </p:grpSpPr>
        <p:sp>
          <p:nvSpPr>
            <p:cNvPr id="25" name="object 25" descr=""/>
            <p:cNvSpPr/>
            <p:nvPr/>
          </p:nvSpPr>
          <p:spPr>
            <a:xfrm>
              <a:off x="4905375" y="3978275"/>
              <a:ext cx="1847850" cy="466725"/>
            </a:xfrm>
            <a:custGeom>
              <a:avLst/>
              <a:gdLst/>
              <a:ahLst/>
              <a:cxnLst/>
              <a:rect l="l" t="t" r="r" b="b"/>
              <a:pathLst>
                <a:path w="1847850" h="466725">
                  <a:moveTo>
                    <a:pt x="1847850" y="0"/>
                  </a:moveTo>
                  <a:lnTo>
                    <a:pt x="0" y="0"/>
                  </a:lnTo>
                  <a:lnTo>
                    <a:pt x="0" y="409575"/>
                  </a:lnTo>
                  <a:lnTo>
                    <a:pt x="114300" y="438150"/>
                  </a:lnTo>
                  <a:lnTo>
                    <a:pt x="228600" y="457200"/>
                  </a:lnTo>
                  <a:lnTo>
                    <a:pt x="342900" y="466725"/>
                  </a:lnTo>
                  <a:lnTo>
                    <a:pt x="581025" y="466725"/>
                  </a:lnTo>
                  <a:lnTo>
                    <a:pt x="695325" y="457200"/>
                  </a:lnTo>
                  <a:lnTo>
                    <a:pt x="809625" y="438150"/>
                  </a:lnTo>
                  <a:lnTo>
                    <a:pt x="1038225" y="381000"/>
                  </a:lnTo>
                  <a:lnTo>
                    <a:pt x="1152525" y="361950"/>
                  </a:lnTo>
                  <a:lnTo>
                    <a:pt x="1266825" y="361950"/>
                  </a:lnTo>
                  <a:lnTo>
                    <a:pt x="1381125" y="352425"/>
                  </a:lnTo>
                  <a:lnTo>
                    <a:pt x="1504950" y="361950"/>
                  </a:lnTo>
                  <a:lnTo>
                    <a:pt x="1619250" y="361950"/>
                  </a:lnTo>
                  <a:lnTo>
                    <a:pt x="1733550" y="381000"/>
                  </a:lnTo>
                  <a:lnTo>
                    <a:pt x="1847850" y="4095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905375" y="3978275"/>
              <a:ext cx="1847850" cy="466725"/>
            </a:xfrm>
            <a:custGeom>
              <a:avLst/>
              <a:gdLst/>
              <a:ahLst/>
              <a:cxnLst/>
              <a:rect l="l" t="t" r="r" b="b"/>
              <a:pathLst>
                <a:path w="1847850" h="466725">
                  <a:moveTo>
                    <a:pt x="0" y="409575"/>
                  </a:moveTo>
                  <a:lnTo>
                    <a:pt x="0" y="0"/>
                  </a:lnTo>
                  <a:lnTo>
                    <a:pt x="1847850" y="0"/>
                  </a:lnTo>
                  <a:lnTo>
                    <a:pt x="1847850" y="409575"/>
                  </a:lnTo>
                  <a:lnTo>
                    <a:pt x="1733550" y="381000"/>
                  </a:lnTo>
                  <a:lnTo>
                    <a:pt x="1619250" y="361950"/>
                  </a:lnTo>
                  <a:lnTo>
                    <a:pt x="1504950" y="361950"/>
                  </a:lnTo>
                  <a:lnTo>
                    <a:pt x="1381125" y="352425"/>
                  </a:lnTo>
                  <a:lnTo>
                    <a:pt x="1266825" y="361950"/>
                  </a:lnTo>
                  <a:lnTo>
                    <a:pt x="1152525" y="361950"/>
                  </a:lnTo>
                  <a:lnTo>
                    <a:pt x="1038225" y="381000"/>
                  </a:lnTo>
                  <a:lnTo>
                    <a:pt x="809625" y="438150"/>
                  </a:lnTo>
                  <a:lnTo>
                    <a:pt x="695325" y="457200"/>
                  </a:lnTo>
                  <a:lnTo>
                    <a:pt x="581025" y="466725"/>
                  </a:lnTo>
                  <a:lnTo>
                    <a:pt x="342900" y="466725"/>
                  </a:lnTo>
                  <a:lnTo>
                    <a:pt x="228600" y="457200"/>
                  </a:lnTo>
                  <a:lnTo>
                    <a:pt x="114300" y="438150"/>
                  </a:lnTo>
                  <a:lnTo>
                    <a:pt x="0" y="4095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876800" y="5054600"/>
              <a:ext cx="1847850" cy="476250"/>
            </a:xfrm>
            <a:custGeom>
              <a:avLst/>
              <a:gdLst/>
              <a:ahLst/>
              <a:cxnLst/>
              <a:rect l="l" t="t" r="r" b="b"/>
              <a:pathLst>
                <a:path w="1847850" h="476250">
                  <a:moveTo>
                    <a:pt x="1847850" y="0"/>
                  </a:moveTo>
                  <a:lnTo>
                    <a:pt x="0" y="0"/>
                  </a:lnTo>
                  <a:lnTo>
                    <a:pt x="0" y="409575"/>
                  </a:lnTo>
                  <a:lnTo>
                    <a:pt x="114300" y="438150"/>
                  </a:lnTo>
                  <a:lnTo>
                    <a:pt x="228600" y="457200"/>
                  </a:lnTo>
                  <a:lnTo>
                    <a:pt x="342900" y="466725"/>
                  </a:lnTo>
                  <a:lnTo>
                    <a:pt x="466725" y="476250"/>
                  </a:lnTo>
                  <a:lnTo>
                    <a:pt x="695325" y="457200"/>
                  </a:lnTo>
                  <a:lnTo>
                    <a:pt x="809625" y="438150"/>
                  </a:lnTo>
                  <a:lnTo>
                    <a:pt x="923925" y="409575"/>
                  </a:lnTo>
                  <a:lnTo>
                    <a:pt x="1152525" y="371475"/>
                  </a:lnTo>
                  <a:lnTo>
                    <a:pt x="1381125" y="352425"/>
                  </a:lnTo>
                  <a:lnTo>
                    <a:pt x="1504950" y="361950"/>
                  </a:lnTo>
                  <a:lnTo>
                    <a:pt x="1619250" y="371475"/>
                  </a:lnTo>
                  <a:lnTo>
                    <a:pt x="1847850" y="4095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600200" y="4797425"/>
              <a:ext cx="5124450" cy="733425"/>
            </a:xfrm>
            <a:custGeom>
              <a:avLst/>
              <a:gdLst/>
              <a:ahLst/>
              <a:cxnLst/>
              <a:rect l="l" t="t" r="r" b="b"/>
              <a:pathLst>
                <a:path w="5124450" h="733425">
                  <a:moveTo>
                    <a:pt x="3276600" y="666750"/>
                  </a:moveTo>
                  <a:lnTo>
                    <a:pt x="3276600" y="257175"/>
                  </a:lnTo>
                  <a:lnTo>
                    <a:pt x="5124450" y="257175"/>
                  </a:lnTo>
                  <a:lnTo>
                    <a:pt x="5124450" y="666750"/>
                  </a:lnTo>
                  <a:lnTo>
                    <a:pt x="4895850" y="628650"/>
                  </a:lnTo>
                  <a:lnTo>
                    <a:pt x="4781550" y="619125"/>
                  </a:lnTo>
                  <a:lnTo>
                    <a:pt x="4657725" y="609600"/>
                  </a:lnTo>
                  <a:lnTo>
                    <a:pt x="4429125" y="628650"/>
                  </a:lnTo>
                  <a:lnTo>
                    <a:pt x="4200525" y="666750"/>
                  </a:lnTo>
                  <a:lnTo>
                    <a:pt x="4086225" y="695325"/>
                  </a:lnTo>
                  <a:lnTo>
                    <a:pt x="3971925" y="714375"/>
                  </a:lnTo>
                  <a:lnTo>
                    <a:pt x="3743325" y="733425"/>
                  </a:lnTo>
                  <a:lnTo>
                    <a:pt x="3619500" y="723900"/>
                  </a:lnTo>
                  <a:lnTo>
                    <a:pt x="3505200" y="714375"/>
                  </a:lnTo>
                  <a:lnTo>
                    <a:pt x="3390900" y="695325"/>
                  </a:lnTo>
                  <a:lnTo>
                    <a:pt x="3276600" y="666750"/>
                  </a:lnTo>
                  <a:close/>
                </a:path>
                <a:path w="5124450" h="733425">
                  <a:moveTo>
                    <a:pt x="0" y="209550"/>
                  </a:moveTo>
                  <a:lnTo>
                    <a:pt x="1847850" y="209550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2095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600200" y="4987925"/>
              <a:ext cx="1847850" cy="409575"/>
            </a:xfrm>
            <a:custGeom>
              <a:avLst/>
              <a:gdLst/>
              <a:ahLst/>
              <a:cxnLst/>
              <a:rect l="l" t="t" r="r" b="b"/>
              <a:pathLst>
                <a:path w="1847850" h="409575">
                  <a:moveTo>
                    <a:pt x="18478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33350" y="390525"/>
                  </a:lnTo>
                  <a:lnTo>
                    <a:pt x="400050" y="409575"/>
                  </a:lnTo>
                  <a:lnTo>
                    <a:pt x="533400" y="409575"/>
                  </a:lnTo>
                  <a:lnTo>
                    <a:pt x="800100" y="390525"/>
                  </a:lnTo>
                  <a:lnTo>
                    <a:pt x="923925" y="361950"/>
                  </a:lnTo>
                  <a:lnTo>
                    <a:pt x="1057275" y="333375"/>
                  </a:lnTo>
                  <a:lnTo>
                    <a:pt x="1323975" y="314325"/>
                  </a:lnTo>
                  <a:lnTo>
                    <a:pt x="1457325" y="314325"/>
                  </a:lnTo>
                  <a:lnTo>
                    <a:pt x="1590675" y="323850"/>
                  </a:lnTo>
                  <a:lnTo>
                    <a:pt x="1714500" y="333375"/>
                  </a:lnTo>
                  <a:lnTo>
                    <a:pt x="1847850" y="361950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600200" y="4987925"/>
              <a:ext cx="1847850" cy="409575"/>
            </a:xfrm>
            <a:custGeom>
              <a:avLst/>
              <a:gdLst/>
              <a:ahLst/>
              <a:cxnLst/>
              <a:rect l="l" t="t" r="r" b="b"/>
              <a:pathLst>
                <a:path w="1847850" h="409575">
                  <a:moveTo>
                    <a:pt x="0" y="361950"/>
                  </a:moveTo>
                  <a:lnTo>
                    <a:pt x="0" y="0"/>
                  </a:lnTo>
                  <a:lnTo>
                    <a:pt x="1847850" y="0"/>
                  </a:lnTo>
                  <a:lnTo>
                    <a:pt x="1847850" y="361950"/>
                  </a:lnTo>
                  <a:lnTo>
                    <a:pt x="1714500" y="333375"/>
                  </a:lnTo>
                  <a:lnTo>
                    <a:pt x="1590675" y="323850"/>
                  </a:lnTo>
                  <a:lnTo>
                    <a:pt x="1457325" y="314325"/>
                  </a:lnTo>
                  <a:lnTo>
                    <a:pt x="1323975" y="314325"/>
                  </a:lnTo>
                  <a:lnTo>
                    <a:pt x="1057275" y="333375"/>
                  </a:lnTo>
                  <a:lnTo>
                    <a:pt x="923925" y="361950"/>
                  </a:lnTo>
                  <a:lnTo>
                    <a:pt x="800100" y="390525"/>
                  </a:lnTo>
                  <a:lnTo>
                    <a:pt x="533400" y="409575"/>
                  </a:lnTo>
                  <a:lnTo>
                    <a:pt x="400050" y="409575"/>
                  </a:lnTo>
                  <a:lnTo>
                    <a:pt x="133350" y="390525"/>
                  </a:lnTo>
                  <a:lnTo>
                    <a:pt x="0" y="3619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628775" y="4794250"/>
            <a:ext cx="143256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00" spc="70" b="1">
                <a:latin typeface="Arial"/>
                <a:cs typeface="Arial"/>
              </a:rPr>
              <a:t>BKPF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600" spc="75" b="1">
                <a:latin typeface="Arial"/>
                <a:cs typeface="Arial"/>
              </a:rPr>
              <a:t>(Accounting</a:t>
            </a:r>
            <a:r>
              <a:rPr dirty="0" sz="600" spc="100" b="1">
                <a:latin typeface="Arial"/>
                <a:cs typeface="Arial"/>
              </a:rPr>
              <a:t> </a:t>
            </a:r>
            <a:r>
              <a:rPr dirty="0" sz="600" spc="85" b="1">
                <a:latin typeface="Arial"/>
                <a:cs typeface="Arial"/>
              </a:rPr>
              <a:t>document</a:t>
            </a:r>
            <a:r>
              <a:rPr dirty="0" sz="600" spc="100" b="1">
                <a:latin typeface="Arial"/>
                <a:cs typeface="Arial"/>
              </a:rPr>
              <a:t> </a:t>
            </a:r>
            <a:r>
              <a:rPr dirty="0" sz="600" spc="60" b="1">
                <a:latin typeface="Arial"/>
                <a:cs typeface="Arial"/>
              </a:rPr>
              <a:t>header)</a:t>
            </a:r>
            <a:endParaRPr sz="600">
              <a:latin typeface="Arial"/>
              <a:cs typeface="Arial"/>
            </a:endParaRPr>
          </a:p>
          <a:p>
            <a:pPr marR="737870">
              <a:lnSpc>
                <a:spcPct val="104200"/>
              </a:lnSpc>
            </a:pPr>
            <a:r>
              <a:rPr dirty="0" sz="600" spc="100">
                <a:latin typeface="Arial"/>
                <a:cs typeface="Arial"/>
              </a:rPr>
              <a:t>Company</a:t>
            </a:r>
            <a:r>
              <a:rPr dirty="0" sz="600" spc="85">
                <a:latin typeface="Arial"/>
                <a:cs typeface="Arial"/>
              </a:rPr>
              <a:t> </a:t>
            </a:r>
            <a:r>
              <a:rPr dirty="0" sz="600" spc="75">
                <a:latin typeface="Arial"/>
                <a:cs typeface="Arial"/>
              </a:rPr>
              <a:t>Code </a:t>
            </a:r>
            <a:r>
              <a:rPr dirty="0" sz="600" spc="85">
                <a:latin typeface="Arial"/>
                <a:cs typeface="Arial"/>
              </a:rPr>
              <a:t>Document</a:t>
            </a:r>
            <a:r>
              <a:rPr dirty="0" sz="600" spc="75">
                <a:latin typeface="Arial"/>
                <a:cs typeface="Arial"/>
              </a:rPr>
              <a:t> </a:t>
            </a:r>
            <a:r>
              <a:rPr dirty="0" sz="600" spc="50">
                <a:latin typeface="Arial"/>
                <a:cs typeface="Arial"/>
              </a:rPr>
              <a:t>No </a:t>
            </a:r>
            <a:r>
              <a:rPr dirty="0" sz="600" spc="70">
                <a:latin typeface="Arial"/>
                <a:cs typeface="Arial"/>
              </a:rPr>
              <a:t>Fiscal</a:t>
            </a:r>
            <a:r>
              <a:rPr dirty="0" sz="600" spc="75">
                <a:latin typeface="Arial"/>
                <a:cs typeface="Arial"/>
              </a:rPr>
              <a:t> </a:t>
            </a:r>
            <a:r>
              <a:rPr dirty="0" sz="600" spc="65">
                <a:latin typeface="Arial"/>
                <a:cs typeface="Arial"/>
              </a:rPr>
              <a:t>Year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4900612" y="3668712"/>
            <a:ext cx="2066925" cy="2771775"/>
            <a:chOff x="4900612" y="3668712"/>
            <a:chExt cx="2066925" cy="2771775"/>
          </a:xfrm>
        </p:grpSpPr>
        <p:sp>
          <p:nvSpPr>
            <p:cNvPr id="33" name="object 33" descr=""/>
            <p:cNvSpPr/>
            <p:nvPr/>
          </p:nvSpPr>
          <p:spPr>
            <a:xfrm>
              <a:off x="4905375" y="5959475"/>
              <a:ext cx="1847850" cy="476250"/>
            </a:xfrm>
            <a:custGeom>
              <a:avLst/>
              <a:gdLst/>
              <a:ahLst/>
              <a:cxnLst/>
              <a:rect l="l" t="t" r="r" b="b"/>
              <a:pathLst>
                <a:path w="1847850" h="476250">
                  <a:moveTo>
                    <a:pt x="0" y="419100"/>
                  </a:moveTo>
                  <a:lnTo>
                    <a:pt x="0" y="0"/>
                  </a:lnTo>
                  <a:lnTo>
                    <a:pt x="1847850" y="0"/>
                  </a:lnTo>
                  <a:lnTo>
                    <a:pt x="1847850" y="419100"/>
                  </a:lnTo>
                  <a:lnTo>
                    <a:pt x="1733550" y="390525"/>
                  </a:lnTo>
                  <a:lnTo>
                    <a:pt x="1619250" y="371475"/>
                  </a:lnTo>
                  <a:lnTo>
                    <a:pt x="1504950" y="361950"/>
                  </a:lnTo>
                  <a:lnTo>
                    <a:pt x="1381125" y="352425"/>
                  </a:lnTo>
                  <a:lnTo>
                    <a:pt x="1152525" y="371475"/>
                  </a:lnTo>
                  <a:lnTo>
                    <a:pt x="1038225" y="390525"/>
                  </a:lnTo>
                  <a:lnTo>
                    <a:pt x="923925" y="419100"/>
                  </a:lnTo>
                  <a:lnTo>
                    <a:pt x="695325" y="457200"/>
                  </a:lnTo>
                  <a:lnTo>
                    <a:pt x="581025" y="466725"/>
                  </a:lnTo>
                  <a:lnTo>
                    <a:pt x="457200" y="476250"/>
                  </a:lnTo>
                  <a:lnTo>
                    <a:pt x="228600" y="457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914900" y="3673475"/>
              <a:ext cx="2047875" cy="304800"/>
            </a:xfrm>
            <a:custGeom>
              <a:avLst/>
              <a:gdLst/>
              <a:ahLst/>
              <a:cxnLst/>
              <a:rect l="l" t="t" r="r" b="b"/>
              <a:pathLst>
                <a:path w="2047875" h="304800">
                  <a:moveTo>
                    <a:pt x="2047875" y="0"/>
                  </a:moveTo>
                  <a:lnTo>
                    <a:pt x="200025" y="0"/>
                  </a:lnTo>
                  <a:lnTo>
                    <a:pt x="0" y="304800"/>
                  </a:lnTo>
                  <a:lnTo>
                    <a:pt x="1847850" y="304800"/>
                  </a:lnTo>
                  <a:lnTo>
                    <a:pt x="2047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914900" y="3673475"/>
              <a:ext cx="2047875" cy="304800"/>
            </a:xfrm>
            <a:custGeom>
              <a:avLst/>
              <a:gdLst/>
              <a:ahLst/>
              <a:cxnLst/>
              <a:rect l="l" t="t" r="r" b="b"/>
              <a:pathLst>
                <a:path w="2047875" h="304800">
                  <a:moveTo>
                    <a:pt x="0" y="304800"/>
                  </a:moveTo>
                  <a:lnTo>
                    <a:pt x="1847850" y="304800"/>
                  </a:lnTo>
                  <a:lnTo>
                    <a:pt x="2047875" y="0"/>
                  </a:lnTo>
                  <a:lnTo>
                    <a:pt x="200025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4924425" y="3670300"/>
            <a:ext cx="1479550" cy="697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8625">
              <a:lnSpc>
                <a:spcPct val="100000"/>
              </a:lnSpc>
              <a:spcBef>
                <a:spcPts val="100"/>
              </a:spcBef>
            </a:pPr>
            <a:r>
              <a:rPr dirty="0" sz="600" spc="95" b="1">
                <a:latin typeface="Arial"/>
                <a:cs typeface="Arial"/>
              </a:rPr>
              <a:t>BSEG</a:t>
            </a:r>
            <a:endParaRPr sz="600">
              <a:latin typeface="Arial"/>
              <a:cs typeface="Arial"/>
            </a:endParaRPr>
          </a:p>
          <a:p>
            <a:pPr marL="428625" marR="5080">
              <a:lnSpc>
                <a:spcPts val="680"/>
              </a:lnSpc>
              <a:spcBef>
                <a:spcPts val="85"/>
              </a:spcBef>
            </a:pPr>
            <a:r>
              <a:rPr dirty="0" sz="600" spc="70" b="1">
                <a:latin typeface="Arial"/>
                <a:cs typeface="Arial"/>
              </a:rPr>
              <a:t>(Accounting</a:t>
            </a:r>
            <a:r>
              <a:rPr dirty="0" sz="600" spc="105" b="1">
                <a:latin typeface="Arial"/>
                <a:cs typeface="Arial"/>
              </a:rPr>
              <a:t> </a:t>
            </a:r>
            <a:r>
              <a:rPr dirty="0" sz="600" spc="70" b="1">
                <a:latin typeface="Arial"/>
                <a:cs typeface="Arial"/>
              </a:rPr>
              <a:t>document </a:t>
            </a:r>
            <a:r>
              <a:rPr dirty="0" sz="600" spc="75" b="1">
                <a:latin typeface="Arial"/>
                <a:cs typeface="Arial"/>
              </a:rPr>
              <a:t>segment)</a:t>
            </a:r>
            <a:endParaRPr sz="600">
              <a:latin typeface="Arial"/>
              <a:cs typeface="Arial"/>
            </a:endParaRPr>
          </a:p>
          <a:p>
            <a:pPr marR="785495">
              <a:lnSpc>
                <a:spcPct val="100699"/>
              </a:lnSpc>
              <a:spcBef>
                <a:spcPts val="229"/>
              </a:spcBef>
            </a:pPr>
            <a:r>
              <a:rPr dirty="0" sz="600" spc="100">
                <a:latin typeface="Arial"/>
                <a:cs typeface="Arial"/>
              </a:rPr>
              <a:t>Company</a:t>
            </a:r>
            <a:r>
              <a:rPr dirty="0" sz="600" spc="85">
                <a:latin typeface="Arial"/>
                <a:cs typeface="Arial"/>
              </a:rPr>
              <a:t> </a:t>
            </a:r>
            <a:r>
              <a:rPr dirty="0" sz="600" spc="75">
                <a:latin typeface="Arial"/>
                <a:cs typeface="Arial"/>
              </a:rPr>
              <a:t>Code </a:t>
            </a:r>
            <a:r>
              <a:rPr dirty="0" sz="600" spc="85">
                <a:latin typeface="Arial"/>
                <a:cs typeface="Arial"/>
              </a:rPr>
              <a:t>Document</a:t>
            </a:r>
            <a:r>
              <a:rPr dirty="0" sz="600" spc="75">
                <a:latin typeface="Arial"/>
                <a:cs typeface="Arial"/>
              </a:rPr>
              <a:t> </a:t>
            </a:r>
            <a:r>
              <a:rPr dirty="0" sz="600" spc="50">
                <a:latin typeface="Arial"/>
                <a:cs typeface="Arial"/>
              </a:rPr>
              <a:t>No </a:t>
            </a:r>
            <a:r>
              <a:rPr dirty="0" sz="600" spc="70">
                <a:latin typeface="Arial"/>
                <a:cs typeface="Arial"/>
              </a:rPr>
              <a:t>Fiscal</a:t>
            </a:r>
            <a:r>
              <a:rPr dirty="0" sz="600" spc="75">
                <a:latin typeface="Arial"/>
                <a:cs typeface="Arial"/>
              </a:rPr>
              <a:t> </a:t>
            </a:r>
            <a:r>
              <a:rPr dirty="0" sz="600" spc="65">
                <a:latin typeface="Arial"/>
                <a:cs typeface="Arial"/>
              </a:rPr>
              <a:t>Year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80">
                <a:latin typeface="Arial"/>
                <a:cs typeface="Arial"/>
              </a:rPr>
              <a:t>Line</a:t>
            </a:r>
            <a:r>
              <a:rPr dirty="0" sz="600" spc="80">
                <a:latin typeface="Arial"/>
                <a:cs typeface="Arial"/>
              </a:rPr>
              <a:t> </a:t>
            </a:r>
            <a:r>
              <a:rPr dirty="0" sz="600" spc="70">
                <a:latin typeface="Arial"/>
                <a:cs typeface="Arial"/>
              </a:rPr>
              <a:t>Item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4891087" y="4745037"/>
            <a:ext cx="2047875" cy="314325"/>
            <a:chOff x="4891087" y="4745037"/>
            <a:chExt cx="2047875" cy="314325"/>
          </a:xfrm>
        </p:grpSpPr>
        <p:sp>
          <p:nvSpPr>
            <p:cNvPr id="38" name="object 38" descr=""/>
            <p:cNvSpPr/>
            <p:nvPr/>
          </p:nvSpPr>
          <p:spPr>
            <a:xfrm>
              <a:off x="4895850" y="4749800"/>
              <a:ext cx="2038350" cy="304800"/>
            </a:xfrm>
            <a:custGeom>
              <a:avLst/>
              <a:gdLst/>
              <a:ahLst/>
              <a:cxnLst/>
              <a:rect l="l" t="t" r="r" b="b"/>
              <a:pathLst>
                <a:path w="2038350" h="304800">
                  <a:moveTo>
                    <a:pt x="2038350" y="0"/>
                  </a:moveTo>
                  <a:lnTo>
                    <a:pt x="190500" y="0"/>
                  </a:lnTo>
                  <a:lnTo>
                    <a:pt x="0" y="304800"/>
                  </a:lnTo>
                  <a:lnTo>
                    <a:pt x="1838325" y="304800"/>
                  </a:lnTo>
                  <a:lnTo>
                    <a:pt x="2038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895850" y="4749800"/>
              <a:ext cx="2038350" cy="304800"/>
            </a:xfrm>
            <a:custGeom>
              <a:avLst/>
              <a:gdLst/>
              <a:ahLst/>
              <a:cxnLst/>
              <a:rect l="l" t="t" r="r" b="b"/>
              <a:pathLst>
                <a:path w="2038350" h="304800">
                  <a:moveTo>
                    <a:pt x="0" y="304800"/>
                  </a:moveTo>
                  <a:lnTo>
                    <a:pt x="1838325" y="304800"/>
                  </a:lnTo>
                  <a:lnTo>
                    <a:pt x="2038350" y="0"/>
                  </a:lnTo>
                  <a:lnTo>
                    <a:pt x="19050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4905375" y="4746625"/>
            <a:ext cx="1489710" cy="697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9575">
              <a:lnSpc>
                <a:spcPct val="100000"/>
              </a:lnSpc>
              <a:spcBef>
                <a:spcPts val="100"/>
              </a:spcBef>
            </a:pPr>
            <a:r>
              <a:rPr dirty="0" sz="600" spc="100" b="1">
                <a:latin typeface="Arial"/>
                <a:cs typeface="Arial"/>
              </a:rPr>
              <a:t>BSEC</a:t>
            </a:r>
            <a:endParaRPr sz="600">
              <a:latin typeface="Arial"/>
              <a:cs typeface="Arial"/>
            </a:endParaRPr>
          </a:p>
          <a:p>
            <a:pPr marL="409575" marR="5080">
              <a:lnSpc>
                <a:spcPct val="104200"/>
              </a:lnSpc>
            </a:pPr>
            <a:r>
              <a:rPr dirty="0" sz="600" spc="75" b="1">
                <a:latin typeface="Arial"/>
                <a:cs typeface="Arial"/>
              </a:rPr>
              <a:t>(One-time</a:t>
            </a:r>
            <a:r>
              <a:rPr dirty="0" sz="600" spc="70" b="1">
                <a:latin typeface="Arial"/>
                <a:cs typeface="Arial"/>
              </a:rPr>
              <a:t> </a:t>
            </a:r>
            <a:r>
              <a:rPr dirty="0" sz="600" spc="80" b="1">
                <a:latin typeface="Arial"/>
                <a:cs typeface="Arial"/>
              </a:rPr>
              <a:t>account </a:t>
            </a:r>
            <a:r>
              <a:rPr dirty="0" sz="600" spc="50" b="1">
                <a:latin typeface="Arial"/>
                <a:cs typeface="Arial"/>
              </a:rPr>
              <a:t>data </a:t>
            </a:r>
            <a:r>
              <a:rPr dirty="0" sz="600" spc="85" b="1">
                <a:latin typeface="Arial"/>
                <a:cs typeface="Arial"/>
              </a:rPr>
              <a:t>document</a:t>
            </a:r>
            <a:r>
              <a:rPr dirty="0" sz="600" spc="95" b="1">
                <a:latin typeface="Arial"/>
                <a:cs typeface="Arial"/>
              </a:rPr>
              <a:t> </a:t>
            </a:r>
            <a:r>
              <a:rPr dirty="0" sz="600" spc="70" b="1">
                <a:latin typeface="Arial"/>
                <a:cs typeface="Arial"/>
              </a:rPr>
              <a:t>segment)</a:t>
            </a:r>
            <a:endParaRPr sz="600">
              <a:latin typeface="Arial"/>
              <a:cs typeface="Arial"/>
            </a:endParaRPr>
          </a:p>
          <a:p>
            <a:pPr marR="795020">
              <a:lnSpc>
                <a:spcPct val="100699"/>
              </a:lnSpc>
              <a:spcBef>
                <a:spcPts val="175"/>
              </a:spcBef>
            </a:pPr>
            <a:r>
              <a:rPr dirty="0" sz="600" spc="100">
                <a:latin typeface="Arial"/>
                <a:cs typeface="Arial"/>
              </a:rPr>
              <a:t>Company</a:t>
            </a:r>
            <a:r>
              <a:rPr dirty="0" sz="600" spc="85">
                <a:latin typeface="Arial"/>
                <a:cs typeface="Arial"/>
              </a:rPr>
              <a:t> </a:t>
            </a:r>
            <a:r>
              <a:rPr dirty="0" sz="600" spc="75">
                <a:latin typeface="Arial"/>
                <a:cs typeface="Arial"/>
              </a:rPr>
              <a:t>Code </a:t>
            </a:r>
            <a:r>
              <a:rPr dirty="0" sz="600" spc="85">
                <a:latin typeface="Arial"/>
                <a:cs typeface="Arial"/>
              </a:rPr>
              <a:t>Document</a:t>
            </a:r>
            <a:r>
              <a:rPr dirty="0" sz="600" spc="75">
                <a:latin typeface="Arial"/>
                <a:cs typeface="Arial"/>
              </a:rPr>
              <a:t> </a:t>
            </a:r>
            <a:r>
              <a:rPr dirty="0" sz="600" spc="50">
                <a:latin typeface="Arial"/>
                <a:cs typeface="Arial"/>
              </a:rPr>
              <a:t>No </a:t>
            </a:r>
            <a:r>
              <a:rPr dirty="0" sz="600" spc="70">
                <a:latin typeface="Arial"/>
                <a:cs typeface="Arial"/>
              </a:rPr>
              <a:t>Fiscal</a:t>
            </a:r>
            <a:r>
              <a:rPr dirty="0" sz="600" spc="75">
                <a:latin typeface="Arial"/>
                <a:cs typeface="Arial"/>
              </a:rPr>
              <a:t> </a:t>
            </a:r>
            <a:r>
              <a:rPr dirty="0" sz="600" spc="65">
                <a:latin typeface="Arial"/>
                <a:cs typeface="Arial"/>
              </a:rPr>
              <a:t>Year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80">
                <a:latin typeface="Arial"/>
                <a:cs typeface="Arial"/>
              </a:rPr>
              <a:t>Line</a:t>
            </a:r>
            <a:r>
              <a:rPr dirty="0" sz="600" spc="80">
                <a:latin typeface="Arial"/>
                <a:cs typeface="Arial"/>
              </a:rPr>
              <a:t> </a:t>
            </a:r>
            <a:r>
              <a:rPr dirty="0" sz="600" spc="70">
                <a:latin typeface="Arial"/>
                <a:cs typeface="Arial"/>
              </a:rPr>
              <a:t>Item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4910137" y="5649912"/>
            <a:ext cx="2057400" cy="314325"/>
            <a:chOff x="4910137" y="5649912"/>
            <a:chExt cx="2057400" cy="314325"/>
          </a:xfrm>
        </p:grpSpPr>
        <p:sp>
          <p:nvSpPr>
            <p:cNvPr id="42" name="object 42" descr=""/>
            <p:cNvSpPr/>
            <p:nvPr/>
          </p:nvSpPr>
          <p:spPr>
            <a:xfrm>
              <a:off x="4914900" y="5654675"/>
              <a:ext cx="2047875" cy="304800"/>
            </a:xfrm>
            <a:custGeom>
              <a:avLst/>
              <a:gdLst/>
              <a:ahLst/>
              <a:cxnLst/>
              <a:rect l="l" t="t" r="r" b="b"/>
              <a:pathLst>
                <a:path w="2047875" h="304800">
                  <a:moveTo>
                    <a:pt x="2047875" y="0"/>
                  </a:moveTo>
                  <a:lnTo>
                    <a:pt x="200025" y="0"/>
                  </a:lnTo>
                  <a:lnTo>
                    <a:pt x="0" y="304800"/>
                  </a:lnTo>
                  <a:lnTo>
                    <a:pt x="1847850" y="304800"/>
                  </a:lnTo>
                  <a:lnTo>
                    <a:pt x="2047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914900" y="5654675"/>
              <a:ext cx="2047875" cy="304800"/>
            </a:xfrm>
            <a:custGeom>
              <a:avLst/>
              <a:gdLst/>
              <a:ahLst/>
              <a:cxnLst/>
              <a:rect l="l" t="t" r="r" b="b"/>
              <a:pathLst>
                <a:path w="2047875" h="304800">
                  <a:moveTo>
                    <a:pt x="0" y="304800"/>
                  </a:moveTo>
                  <a:lnTo>
                    <a:pt x="1847850" y="304800"/>
                  </a:lnTo>
                  <a:lnTo>
                    <a:pt x="2047875" y="0"/>
                  </a:lnTo>
                  <a:lnTo>
                    <a:pt x="200025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4924425" y="5661025"/>
            <a:ext cx="1356360" cy="688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8625">
              <a:lnSpc>
                <a:spcPts val="695"/>
              </a:lnSpc>
              <a:spcBef>
                <a:spcPts val="100"/>
              </a:spcBef>
            </a:pPr>
            <a:r>
              <a:rPr dirty="0" sz="600" spc="85" b="1">
                <a:latin typeface="Arial"/>
                <a:cs typeface="Arial"/>
              </a:rPr>
              <a:t>BSET</a:t>
            </a:r>
            <a:endParaRPr sz="600">
              <a:latin typeface="Arial"/>
              <a:cs typeface="Arial"/>
            </a:endParaRPr>
          </a:p>
          <a:p>
            <a:pPr marL="428625">
              <a:lnSpc>
                <a:spcPts val="695"/>
              </a:lnSpc>
            </a:pPr>
            <a:r>
              <a:rPr dirty="0" sz="600" spc="75" b="1">
                <a:latin typeface="Arial"/>
                <a:cs typeface="Arial"/>
              </a:rPr>
              <a:t>(Tax</a:t>
            </a:r>
            <a:r>
              <a:rPr dirty="0" sz="600" spc="70" b="1">
                <a:latin typeface="Arial"/>
                <a:cs typeface="Arial"/>
              </a:rPr>
              <a:t> </a:t>
            </a:r>
            <a:r>
              <a:rPr dirty="0" sz="600" spc="75" b="1">
                <a:latin typeface="Arial"/>
                <a:cs typeface="Arial"/>
              </a:rPr>
              <a:t>data</a:t>
            </a:r>
            <a:r>
              <a:rPr dirty="0" sz="600" spc="70" b="1">
                <a:latin typeface="Arial"/>
                <a:cs typeface="Arial"/>
              </a:rPr>
              <a:t> </a:t>
            </a:r>
            <a:r>
              <a:rPr dirty="0" sz="600" spc="80" b="1">
                <a:latin typeface="Arial"/>
                <a:cs typeface="Arial"/>
              </a:rPr>
              <a:t>document</a:t>
            </a:r>
            <a:endParaRPr sz="600">
              <a:latin typeface="Arial"/>
              <a:cs typeface="Arial"/>
            </a:endParaRPr>
          </a:p>
          <a:p>
            <a:pPr marL="428625">
              <a:lnSpc>
                <a:spcPct val="100000"/>
              </a:lnSpc>
              <a:spcBef>
                <a:spcPts val="30"/>
              </a:spcBef>
            </a:pPr>
            <a:r>
              <a:rPr dirty="0" sz="600" spc="75" b="1">
                <a:latin typeface="Arial"/>
                <a:cs typeface="Arial"/>
              </a:rPr>
              <a:t>segment)</a:t>
            </a:r>
            <a:endParaRPr sz="600">
              <a:latin typeface="Arial"/>
              <a:cs typeface="Arial"/>
            </a:endParaRPr>
          </a:p>
          <a:p>
            <a:pPr marR="661670">
              <a:lnSpc>
                <a:spcPct val="100699"/>
              </a:lnSpc>
              <a:spcBef>
                <a:spcPts val="175"/>
              </a:spcBef>
            </a:pPr>
            <a:r>
              <a:rPr dirty="0" sz="600" spc="100">
                <a:latin typeface="Arial"/>
                <a:cs typeface="Arial"/>
              </a:rPr>
              <a:t>Company</a:t>
            </a:r>
            <a:r>
              <a:rPr dirty="0" sz="600" spc="85">
                <a:latin typeface="Arial"/>
                <a:cs typeface="Arial"/>
              </a:rPr>
              <a:t> </a:t>
            </a:r>
            <a:r>
              <a:rPr dirty="0" sz="600" spc="75">
                <a:latin typeface="Arial"/>
                <a:cs typeface="Arial"/>
              </a:rPr>
              <a:t>Code </a:t>
            </a:r>
            <a:r>
              <a:rPr dirty="0" sz="600" spc="85">
                <a:latin typeface="Arial"/>
                <a:cs typeface="Arial"/>
              </a:rPr>
              <a:t>Document</a:t>
            </a:r>
            <a:r>
              <a:rPr dirty="0" sz="600" spc="75">
                <a:latin typeface="Arial"/>
                <a:cs typeface="Arial"/>
              </a:rPr>
              <a:t> </a:t>
            </a:r>
            <a:r>
              <a:rPr dirty="0" sz="600" spc="50">
                <a:latin typeface="Arial"/>
                <a:cs typeface="Arial"/>
              </a:rPr>
              <a:t>No </a:t>
            </a:r>
            <a:r>
              <a:rPr dirty="0" sz="600" spc="70">
                <a:latin typeface="Arial"/>
                <a:cs typeface="Arial"/>
              </a:rPr>
              <a:t>Fiscal</a:t>
            </a:r>
            <a:r>
              <a:rPr dirty="0" sz="600" spc="75">
                <a:latin typeface="Arial"/>
                <a:cs typeface="Arial"/>
              </a:rPr>
              <a:t> </a:t>
            </a:r>
            <a:r>
              <a:rPr dirty="0" sz="600" spc="65">
                <a:latin typeface="Arial"/>
                <a:cs typeface="Arial"/>
              </a:rPr>
              <a:t>Year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80">
                <a:latin typeface="Arial"/>
                <a:cs typeface="Arial"/>
              </a:rPr>
              <a:t>Line</a:t>
            </a:r>
            <a:r>
              <a:rPr dirty="0" sz="600" spc="80">
                <a:latin typeface="Arial"/>
                <a:cs typeface="Arial"/>
              </a:rPr>
              <a:t> </a:t>
            </a:r>
            <a:r>
              <a:rPr dirty="0" sz="600" spc="70">
                <a:latin typeface="Arial"/>
                <a:cs typeface="Arial"/>
              </a:rPr>
              <a:t>Item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4872037" y="2278062"/>
            <a:ext cx="2057400" cy="304800"/>
            <a:chOff x="4872037" y="2278062"/>
            <a:chExt cx="2057400" cy="304800"/>
          </a:xfrm>
        </p:grpSpPr>
        <p:sp>
          <p:nvSpPr>
            <p:cNvPr id="46" name="object 46" descr=""/>
            <p:cNvSpPr/>
            <p:nvPr/>
          </p:nvSpPr>
          <p:spPr>
            <a:xfrm>
              <a:off x="4876800" y="2282825"/>
              <a:ext cx="2047875" cy="295275"/>
            </a:xfrm>
            <a:custGeom>
              <a:avLst/>
              <a:gdLst/>
              <a:ahLst/>
              <a:cxnLst/>
              <a:rect l="l" t="t" r="r" b="b"/>
              <a:pathLst>
                <a:path w="2047875" h="295275">
                  <a:moveTo>
                    <a:pt x="2047875" y="0"/>
                  </a:moveTo>
                  <a:lnTo>
                    <a:pt x="200025" y="0"/>
                  </a:lnTo>
                  <a:lnTo>
                    <a:pt x="0" y="295275"/>
                  </a:lnTo>
                  <a:lnTo>
                    <a:pt x="1847850" y="295275"/>
                  </a:lnTo>
                  <a:lnTo>
                    <a:pt x="2047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876800" y="2282825"/>
              <a:ext cx="2047875" cy="295275"/>
            </a:xfrm>
            <a:custGeom>
              <a:avLst/>
              <a:gdLst/>
              <a:ahLst/>
              <a:cxnLst/>
              <a:rect l="l" t="t" r="r" b="b"/>
              <a:pathLst>
                <a:path w="2047875" h="295275">
                  <a:moveTo>
                    <a:pt x="0" y="295275"/>
                  </a:moveTo>
                  <a:lnTo>
                    <a:pt x="1847850" y="295275"/>
                  </a:lnTo>
                  <a:lnTo>
                    <a:pt x="2047875" y="0"/>
                  </a:lnTo>
                  <a:lnTo>
                    <a:pt x="200025" y="0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5305425" y="2279650"/>
            <a:ext cx="1070610" cy="297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00" spc="80" b="1">
                <a:latin typeface="Arial"/>
                <a:cs typeface="Arial"/>
              </a:rPr>
              <a:t>RFBLG</a:t>
            </a:r>
            <a:endParaRPr sz="600">
              <a:latin typeface="Arial"/>
              <a:cs typeface="Arial"/>
            </a:endParaRPr>
          </a:p>
          <a:p>
            <a:pPr marR="5080">
              <a:lnSpc>
                <a:spcPts val="680"/>
              </a:lnSpc>
              <a:spcBef>
                <a:spcPts val="85"/>
              </a:spcBef>
            </a:pPr>
            <a:r>
              <a:rPr dirty="0" sz="600" spc="65" b="1">
                <a:latin typeface="Arial"/>
                <a:cs typeface="Arial"/>
              </a:rPr>
              <a:t>(Cluster</a:t>
            </a:r>
            <a:r>
              <a:rPr dirty="0" sz="600" spc="75" b="1">
                <a:latin typeface="Arial"/>
                <a:cs typeface="Arial"/>
              </a:rPr>
              <a:t> </a:t>
            </a:r>
            <a:r>
              <a:rPr dirty="0" sz="600" spc="60" b="1">
                <a:latin typeface="Arial"/>
                <a:cs typeface="Arial"/>
              </a:rPr>
              <a:t>for</a:t>
            </a:r>
            <a:r>
              <a:rPr dirty="0" sz="600" spc="80" b="1">
                <a:latin typeface="Arial"/>
                <a:cs typeface="Arial"/>
              </a:rPr>
              <a:t> </a:t>
            </a:r>
            <a:r>
              <a:rPr dirty="0" sz="600" spc="65" b="1">
                <a:latin typeface="Arial"/>
                <a:cs typeface="Arial"/>
              </a:rPr>
              <a:t>accounting </a:t>
            </a:r>
            <a:r>
              <a:rPr dirty="0" sz="600" spc="70" b="1">
                <a:latin typeface="Arial"/>
                <a:cs typeface="Arial"/>
              </a:rPr>
              <a:t>document)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4010025" y="1301750"/>
            <a:ext cx="2447925" cy="342900"/>
            <a:chOff x="4010025" y="1301750"/>
            <a:chExt cx="2447925" cy="342900"/>
          </a:xfrm>
        </p:grpSpPr>
        <p:sp>
          <p:nvSpPr>
            <p:cNvPr id="50" name="object 50" descr=""/>
            <p:cNvSpPr/>
            <p:nvPr/>
          </p:nvSpPr>
          <p:spPr>
            <a:xfrm>
              <a:off x="4124325" y="1387475"/>
              <a:ext cx="2333625" cy="257175"/>
            </a:xfrm>
            <a:custGeom>
              <a:avLst/>
              <a:gdLst/>
              <a:ahLst/>
              <a:cxnLst/>
              <a:rect l="l" t="t" r="r" b="b"/>
              <a:pathLst>
                <a:path w="2333625" h="257175">
                  <a:moveTo>
                    <a:pt x="233362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2333625" y="257175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010025" y="1301750"/>
              <a:ext cx="2333625" cy="257175"/>
            </a:xfrm>
            <a:custGeom>
              <a:avLst/>
              <a:gdLst/>
              <a:ahLst/>
              <a:cxnLst/>
              <a:rect l="l" t="t" r="r" b="b"/>
              <a:pathLst>
                <a:path w="2333625" h="257175">
                  <a:moveTo>
                    <a:pt x="233362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2333625" y="257175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4010025" y="1301750"/>
            <a:ext cx="2333625" cy="257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8575" rIns="0" bIns="0" rtlCol="0" vert="horz">
            <a:spAutoFit/>
          </a:bodyPr>
          <a:lstStyle/>
          <a:p>
            <a:pPr marL="733425">
              <a:lnSpc>
                <a:spcPct val="100000"/>
              </a:lnSpc>
              <a:spcBef>
                <a:spcPts val="225"/>
              </a:spcBef>
            </a:pPr>
            <a:r>
              <a:rPr dirty="0" sz="1050" spc="145" b="1">
                <a:latin typeface="Arial"/>
                <a:cs typeface="Arial"/>
              </a:rPr>
              <a:t>SAP</a:t>
            </a:r>
            <a:r>
              <a:rPr dirty="0" sz="1050" b="1">
                <a:latin typeface="Arial"/>
                <a:cs typeface="Arial"/>
              </a:rPr>
              <a:t> </a:t>
            </a:r>
            <a:r>
              <a:rPr dirty="0" sz="1050" spc="70" b="1">
                <a:latin typeface="Arial"/>
                <a:cs typeface="Arial"/>
              </a:rPr>
              <a:t>FI/CO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71475" y="1177925"/>
            <a:ext cx="4305300" cy="5867400"/>
          </a:xfrm>
          <a:custGeom>
            <a:avLst/>
            <a:gdLst/>
            <a:ahLst/>
            <a:cxnLst/>
            <a:rect l="l" t="t" r="r" b="b"/>
            <a:pathLst>
              <a:path w="4305300" h="5867400">
                <a:moveTo>
                  <a:pt x="0" y="2990850"/>
                </a:moveTo>
                <a:lnTo>
                  <a:pt x="4305300" y="2990850"/>
                </a:lnTo>
                <a:lnTo>
                  <a:pt x="4305300" y="0"/>
                </a:lnTo>
                <a:lnTo>
                  <a:pt x="0" y="0"/>
                </a:lnTo>
                <a:lnTo>
                  <a:pt x="0" y="2990850"/>
                </a:lnTo>
                <a:close/>
              </a:path>
              <a:path w="4305300" h="5867400">
                <a:moveTo>
                  <a:pt x="0" y="5867400"/>
                </a:moveTo>
                <a:lnTo>
                  <a:pt x="4305300" y="5867400"/>
                </a:lnTo>
                <a:lnTo>
                  <a:pt x="4305300" y="2990850"/>
                </a:lnTo>
                <a:lnTo>
                  <a:pt x="0" y="2990850"/>
                </a:lnTo>
                <a:lnTo>
                  <a:pt x="0" y="5867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776787" y="1173162"/>
            <a:ext cx="4429125" cy="5895975"/>
            <a:chOff x="4776787" y="1173162"/>
            <a:chExt cx="4429125" cy="5895975"/>
          </a:xfrm>
        </p:grpSpPr>
        <p:sp>
          <p:nvSpPr>
            <p:cNvPr id="4" name="object 4" descr=""/>
            <p:cNvSpPr/>
            <p:nvPr/>
          </p:nvSpPr>
          <p:spPr>
            <a:xfrm>
              <a:off x="4781550" y="1177925"/>
              <a:ext cx="4419600" cy="5886450"/>
            </a:xfrm>
            <a:custGeom>
              <a:avLst/>
              <a:gdLst/>
              <a:ahLst/>
              <a:cxnLst/>
              <a:rect l="l" t="t" r="r" b="b"/>
              <a:pathLst>
                <a:path w="4419600" h="5886450">
                  <a:moveTo>
                    <a:pt x="0" y="5886450"/>
                  </a:moveTo>
                  <a:lnTo>
                    <a:pt x="4419600" y="5886450"/>
                  </a:lnTo>
                  <a:lnTo>
                    <a:pt x="4419600" y="0"/>
                  </a:lnTo>
                  <a:lnTo>
                    <a:pt x="0" y="0"/>
                  </a:lnTo>
                  <a:lnTo>
                    <a:pt x="0" y="5886450"/>
                  </a:lnTo>
                  <a:close/>
                </a:path>
                <a:path w="4419600" h="5886450">
                  <a:moveTo>
                    <a:pt x="1905000" y="3781425"/>
                  </a:moveTo>
                  <a:lnTo>
                    <a:pt x="2009775" y="3571875"/>
                  </a:lnTo>
                  <a:lnTo>
                    <a:pt x="1781175" y="3619500"/>
                  </a:lnTo>
                </a:path>
                <a:path w="4419600" h="5886450">
                  <a:moveTo>
                    <a:pt x="2362200" y="3286125"/>
                  </a:moveTo>
                  <a:lnTo>
                    <a:pt x="1838325" y="37052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734175" y="4540250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238125" y="0"/>
                  </a:moveTo>
                  <a:lnTo>
                    <a:pt x="0" y="190500"/>
                  </a:lnTo>
                  <a:lnTo>
                    <a:pt x="66675" y="266700"/>
                  </a:lnTo>
                  <a:lnTo>
                    <a:pt x="304800" y="7620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82625" y="1250950"/>
            <a:ext cx="711835" cy="3054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dirty="0" sz="900" spc="-10" b="1">
                <a:latin typeface="Arial"/>
                <a:cs typeface="Arial"/>
              </a:rPr>
              <a:t>Profit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Center Accounting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205037" y="1878012"/>
            <a:ext cx="638175" cy="485775"/>
            <a:chOff x="2205037" y="1878012"/>
            <a:chExt cx="638175" cy="485775"/>
          </a:xfrm>
        </p:grpSpPr>
        <p:sp>
          <p:nvSpPr>
            <p:cNvPr id="8" name="object 8" descr=""/>
            <p:cNvSpPr/>
            <p:nvPr/>
          </p:nvSpPr>
          <p:spPr>
            <a:xfrm>
              <a:off x="2209800" y="1882775"/>
              <a:ext cx="628650" cy="476250"/>
            </a:xfrm>
            <a:custGeom>
              <a:avLst/>
              <a:gdLst/>
              <a:ahLst/>
              <a:cxnLst/>
              <a:rect l="l" t="t" r="r" b="b"/>
              <a:pathLst>
                <a:path w="628650" h="476250">
                  <a:moveTo>
                    <a:pt x="0" y="0"/>
                  </a:moveTo>
                  <a:lnTo>
                    <a:pt x="628650" y="4762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324100" y="2054225"/>
              <a:ext cx="400050" cy="133350"/>
            </a:xfrm>
            <a:custGeom>
              <a:avLst/>
              <a:gdLst/>
              <a:ahLst/>
              <a:cxnLst/>
              <a:rect l="l" t="t" r="r" b="b"/>
              <a:pathLst>
                <a:path w="400050" h="133350">
                  <a:moveTo>
                    <a:pt x="400050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400050" y="1333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476250" y="4406900"/>
            <a:ext cx="3076575" cy="1657350"/>
          </a:xfrm>
          <a:custGeom>
            <a:avLst/>
            <a:gdLst/>
            <a:ahLst/>
            <a:cxnLst/>
            <a:rect l="l" t="t" r="r" b="b"/>
            <a:pathLst>
              <a:path w="3076575" h="1657350">
                <a:moveTo>
                  <a:pt x="2867025" y="571500"/>
                </a:moveTo>
                <a:lnTo>
                  <a:pt x="2971800" y="781050"/>
                </a:lnTo>
                <a:lnTo>
                  <a:pt x="3076575" y="571500"/>
                </a:lnTo>
              </a:path>
              <a:path w="3076575" h="1657350">
                <a:moveTo>
                  <a:pt x="2971800" y="1657350"/>
                </a:moveTo>
                <a:lnTo>
                  <a:pt x="2971800" y="571500"/>
                </a:lnTo>
              </a:path>
              <a:path w="3076575" h="1657350">
                <a:moveTo>
                  <a:pt x="2105025" y="0"/>
                </a:moveTo>
                <a:lnTo>
                  <a:pt x="1733550" y="476250"/>
                </a:lnTo>
              </a:path>
              <a:path w="3076575" h="1657350">
                <a:moveTo>
                  <a:pt x="0" y="657225"/>
                </a:moveTo>
                <a:lnTo>
                  <a:pt x="1733550" y="657225"/>
                </a:lnTo>
                <a:lnTo>
                  <a:pt x="1733550" y="285750"/>
                </a:lnTo>
                <a:lnTo>
                  <a:pt x="0" y="285750"/>
                </a:lnTo>
                <a:lnTo>
                  <a:pt x="0" y="6572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320925" y="2041525"/>
            <a:ext cx="4159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Arial"/>
                <a:cs typeface="Arial"/>
              </a:rPr>
              <a:t>ROBJNR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205037" y="1878012"/>
            <a:ext cx="638175" cy="1533525"/>
            <a:chOff x="2205037" y="1878012"/>
            <a:chExt cx="638175" cy="1533525"/>
          </a:xfrm>
        </p:grpSpPr>
        <p:sp>
          <p:nvSpPr>
            <p:cNvPr id="13" name="object 13" descr=""/>
            <p:cNvSpPr/>
            <p:nvPr/>
          </p:nvSpPr>
          <p:spPr>
            <a:xfrm>
              <a:off x="2209800" y="1882775"/>
              <a:ext cx="628650" cy="1524000"/>
            </a:xfrm>
            <a:custGeom>
              <a:avLst/>
              <a:gdLst/>
              <a:ahLst/>
              <a:cxnLst/>
              <a:rect l="l" t="t" r="r" b="b"/>
              <a:pathLst>
                <a:path w="628650" h="1524000">
                  <a:moveTo>
                    <a:pt x="0" y="0"/>
                  </a:moveTo>
                  <a:lnTo>
                    <a:pt x="628650" y="1524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324100" y="2578100"/>
              <a:ext cx="400050" cy="133350"/>
            </a:xfrm>
            <a:custGeom>
              <a:avLst/>
              <a:gdLst/>
              <a:ahLst/>
              <a:cxnLst/>
              <a:rect l="l" t="t" r="r" b="b"/>
              <a:pathLst>
                <a:path w="400050" h="133350">
                  <a:moveTo>
                    <a:pt x="400050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400050" y="1333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320925" y="2565400"/>
            <a:ext cx="4159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Arial"/>
                <a:cs typeface="Arial"/>
              </a:rPr>
              <a:t>COBJNR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2209800" y="1406525"/>
            <a:ext cx="581025" cy="476250"/>
          </a:xfrm>
          <a:custGeom>
            <a:avLst/>
            <a:gdLst/>
            <a:ahLst/>
            <a:cxnLst/>
            <a:rect l="l" t="t" r="r" b="b"/>
            <a:pathLst>
              <a:path w="581025" h="476250">
                <a:moveTo>
                  <a:pt x="0" y="476250"/>
                </a:moveTo>
                <a:lnTo>
                  <a:pt x="5810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87400" y="4298950"/>
            <a:ext cx="664210" cy="3054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dirty="0" sz="900" spc="-10" b="1">
                <a:latin typeface="Arial"/>
                <a:cs typeface="Arial"/>
              </a:rPr>
              <a:t>Cost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Center Accounting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6475" y="898525"/>
            <a:ext cx="165417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Special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Purpose</a:t>
            </a:r>
            <a:r>
              <a:rPr dirty="0" sz="1100" spc="8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Ledger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 rot="19320000">
            <a:off x="6743821" y="4642669"/>
            <a:ext cx="286010" cy="66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25"/>
              </a:lnSpc>
            </a:pPr>
            <a:r>
              <a:rPr dirty="0" sz="500" spc="-10">
                <a:latin typeface="Arial"/>
                <a:cs typeface="Arial"/>
              </a:rPr>
              <a:t>COBJNR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615112" y="1954212"/>
            <a:ext cx="561975" cy="561975"/>
            <a:chOff x="6615112" y="1954212"/>
            <a:chExt cx="561975" cy="561975"/>
          </a:xfrm>
        </p:grpSpPr>
        <p:sp>
          <p:nvSpPr>
            <p:cNvPr id="21" name="object 21" descr=""/>
            <p:cNvSpPr/>
            <p:nvPr/>
          </p:nvSpPr>
          <p:spPr>
            <a:xfrm>
              <a:off x="6619875" y="1958975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450" y="55245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696075" y="2178050"/>
              <a:ext cx="400050" cy="123825"/>
            </a:xfrm>
            <a:custGeom>
              <a:avLst/>
              <a:gdLst/>
              <a:ahLst/>
              <a:cxnLst/>
              <a:rect l="l" t="t" r="r" b="b"/>
              <a:pathLst>
                <a:path w="400050" h="123825">
                  <a:moveTo>
                    <a:pt x="400050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400050" y="123825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6692900" y="2165350"/>
            <a:ext cx="4159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Arial"/>
                <a:cs typeface="Arial"/>
              </a:rPr>
              <a:t>ROBJNR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786947" y="2506662"/>
            <a:ext cx="3742054" cy="3600450"/>
            <a:chOff x="4786947" y="2506662"/>
            <a:chExt cx="3742054" cy="3600450"/>
          </a:xfrm>
        </p:grpSpPr>
        <p:sp>
          <p:nvSpPr>
            <p:cNvPr id="25" name="object 25" descr=""/>
            <p:cNvSpPr/>
            <p:nvPr/>
          </p:nvSpPr>
          <p:spPr>
            <a:xfrm>
              <a:off x="4791074" y="4113086"/>
              <a:ext cx="3733800" cy="0"/>
            </a:xfrm>
            <a:custGeom>
              <a:avLst/>
              <a:gdLst/>
              <a:ahLst/>
              <a:cxnLst/>
              <a:rect l="l" t="t" r="r" b="b"/>
              <a:pathLst>
                <a:path w="3733800" h="0">
                  <a:moveTo>
                    <a:pt x="0" y="0"/>
                  </a:moveTo>
                  <a:lnTo>
                    <a:pt x="3733674" y="0"/>
                  </a:lnTo>
                </a:path>
              </a:pathLst>
            </a:custGeom>
            <a:ln w="7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619874" y="2511425"/>
              <a:ext cx="552450" cy="3590925"/>
            </a:xfrm>
            <a:custGeom>
              <a:avLst/>
              <a:gdLst/>
              <a:ahLst/>
              <a:cxnLst/>
              <a:rect l="l" t="t" r="r" b="b"/>
              <a:pathLst>
                <a:path w="552450" h="3590925">
                  <a:moveTo>
                    <a:pt x="552450" y="0"/>
                  </a:moveTo>
                  <a:lnTo>
                    <a:pt x="0" y="533400"/>
                  </a:lnTo>
                </a:path>
                <a:path w="552450" h="3590925">
                  <a:moveTo>
                    <a:pt x="0" y="2371725"/>
                  </a:moveTo>
                  <a:lnTo>
                    <a:pt x="266700" y="2371725"/>
                  </a:lnTo>
                  <a:lnTo>
                    <a:pt x="266700" y="3590925"/>
                  </a:lnTo>
                  <a:lnTo>
                    <a:pt x="523875" y="35909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4883150" y="1403350"/>
            <a:ext cx="1159510" cy="3054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dirty="0" sz="900" spc="-10" b="1">
                <a:latin typeface="Arial"/>
                <a:cs typeface="Arial"/>
              </a:rPr>
              <a:t>Example</a:t>
            </a:r>
            <a:r>
              <a:rPr dirty="0" sz="900" spc="-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of</a:t>
            </a:r>
            <a:r>
              <a:rPr dirty="0" sz="900" spc="-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Custom </a:t>
            </a:r>
            <a:r>
              <a:rPr dirty="0" sz="900" spc="-10" b="1">
                <a:latin typeface="Arial"/>
                <a:cs typeface="Arial"/>
              </a:rPr>
              <a:t>Ledger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883150" y="4318000"/>
            <a:ext cx="787400" cy="3054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dirty="0" sz="900" spc="-20" b="1">
                <a:latin typeface="Arial"/>
                <a:cs typeface="Arial"/>
              </a:rPr>
              <a:t>Reconcillation </a:t>
            </a:r>
            <a:r>
              <a:rPr dirty="0" sz="900" spc="-10" b="1">
                <a:latin typeface="Arial"/>
                <a:cs typeface="Arial"/>
              </a:rPr>
              <a:t>Ledger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683375" y="5413375"/>
            <a:ext cx="4159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Arial"/>
                <a:cs typeface="Arial"/>
              </a:rPr>
              <a:t>ROBJNR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3524250" y="387350"/>
            <a:ext cx="2295525" cy="419100"/>
            <a:chOff x="3524250" y="387350"/>
            <a:chExt cx="2295525" cy="419100"/>
          </a:xfrm>
        </p:grpSpPr>
        <p:sp>
          <p:nvSpPr>
            <p:cNvPr id="31" name="object 31" descr=""/>
            <p:cNvSpPr/>
            <p:nvPr/>
          </p:nvSpPr>
          <p:spPr>
            <a:xfrm>
              <a:off x="3629025" y="492125"/>
              <a:ext cx="2190750" cy="314325"/>
            </a:xfrm>
            <a:custGeom>
              <a:avLst/>
              <a:gdLst/>
              <a:ahLst/>
              <a:cxnLst/>
              <a:rect l="l" t="t" r="r" b="b"/>
              <a:pathLst>
                <a:path w="2190750" h="314325">
                  <a:moveTo>
                    <a:pt x="21907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2190750" y="314325"/>
                  </a:lnTo>
                  <a:lnTo>
                    <a:pt x="219075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524250" y="387350"/>
              <a:ext cx="2190750" cy="314325"/>
            </a:xfrm>
            <a:custGeom>
              <a:avLst/>
              <a:gdLst/>
              <a:ahLst/>
              <a:cxnLst/>
              <a:rect l="l" t="t" r="r" b="b"/>
              <a:pathLst>
                <a:path w="2190750" h="314325">
                  <a:moveTo>
                    <a:pt x="21907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2190750" y="314325"/>
                  </a:lnTo>
                  <a:lnTo>
                    <a:pt x="2190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3524250" y="387350"/>
            <a:ext cx="2190750" cy="3143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685800">
              <a:lnSpc>
                <a:spcPct val="100000"/>
              </a:lnSpc>
              <a:spcBef>
                <a:spcPts val="400"/>
              </a:spcBef>
            </a:pPr>
            <a:r>
              <a:rPr dirty="0" sz="1250" spc="-30" b="1">
                <a:latin typeface="Arial"/>
                <a:cs typeface="Arial"/>
              </a:rPr>
              <a:t>SAP</a:t>
            </a:r>
            <a:r>
              <a:rPr dirty="0" sz="1250" spc="-65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FI/CO</a:t>
            </a:r>
            <a:endParaRPr sz="1250">
              <a:latin typeface="Arial"/>
              <a:cs typeface="Arial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4886325" y="1835150"/>
            <a:ext cx="1733550" cy="257175"/>
          </a:xfrm>
          <a:custGeom>
            <a:avLst/>
            <a:gdLst/>
            <a:ahLst/>
            <a:cxnLst/>
            <a:rect l="l" t="t" r="r" b="b"/>
            <a:pathLst>
              <a:path w="1733550" h="257175">
                <a:moveTo>
                  <a:pt x="0" y="257175"/>
                </a:moveTo>
                <a:lnTo>
                  <a:pt x="1733550" y="257175"/>
                </a:lnTo>
                <a:lnTo>
                  <a:pt x="1733550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4891087" y="1831975"/>
            <a:ext cx="17240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dirty="0" sz="750" spc="-10" b="1">
                <a:latin typeface="Arial"/>
                <a:cs typeface="Arial"/>
              </a:rPr>
              <a:t>ZZGLO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4881562" y="2068512"/>
            <a:ext cx="1743075" cy="533400"/>
            <a:chOff x="4881562" y="2068512"/>
            <a:chExt cx="1743075" cy="533400"/>
          </a:xfrm>
        </p:grpSpPr>
        <p:sp>
          <p:nvSpPr>
            <p:cNvPr id="37" name="object 37" descr=""/>
            <p:cNvSpPr/>
            <p:nvPr/>
          </p:nvSpPr>
          <p:spPr>
            <a:xfrm>
              <a:off x="4886325" y="2073275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17335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23825" y="485775"/>
                  </a:lnTo>
                  <a:lnTo>
                    <a:pt x="371475" y="523875"/>
                  </a:lnTo>
                  <a:lnTo>
                    <a:pt x="495300" y="523875"/>
                  </a:lnTo>
                  <a:lnTo>
                    <a:pt x="628650" y="504825"/>
                  </a:lnTo>
                  <a:lnTo>
                    <a:pt x="742950" y="485775"/>
                  </a:lnTo>
                  <a:lnTo>
                    <a:pt x="866775" y="457200"/>
                  </a:lnTo>
                  <a:lnTo>
                    <a:pt x="990600" y="419100"/>
                  </a:lnTo>
                  <a:lnTo>
                    <a:pt x="1114425" y="400050"/>
                  </a:lnTo>
                  <a:lnTo>
                    <a:pt x="1238250" y="390525"/>
                  </a:lnTo>
                  <a:lnTo>
                    <a:pt x="1362075" y="390525"/>
                  </a:lnTo>
                  <a:lnTo>
                    <a:pt x="1485900" y="400050"/>
                  </a:lnTo>
                  <a:lnTo>
                    <a:pt x="1619250" y="419100"/>
                  </a:lnTo>
                  <a:lnTo>
                    <a:pt x="1733550" y="45720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886325" y="2073275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0" y="457200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457200"/>
                  </a:lnTo>
                  <a:lnTo>
                    <a:pt x="1619250" y="419100"/>
                  </a:lnTo>
                  <a:lnTo>
                    <a:pt x="1485900" y="400050"/>
                  </a:lnTo>
                  <a:lnTo>
                    <a:pt x="1362075" y="390525"/>
                  </a:lnTo>
                  <a:lnTo>
                    <a:pt x="1238250" y="390525"/>
                  </a:lnTo>
                  <a:lnTo>
                    <a:pt x="1114425" y="400050"/>
                  </a:lnTo>
                  <a:lnTo>
                    <a:pt x="990600" y="419100"/>
                  </a:lnTo>
                  <a:lnTo>
                    <a:pt x="866775" y="457200"/>
                  </a:lnTo>
                  <a:lnTo>
                    <a:pt x="742950" y="485775"/>
                  </a:lnTo>
                  <a:lnTo>
                    <a:pt x="628650" y="504825"/>
                  </a:lnTo>
                  <a:lnTo>
                    <a:pt x="495300" y="523875"/>
                  </a:lnTo>
                  <a:lnTo>
                    <a:pt x="371475" y="523875"/>
                  </a:lnTo>
                  <a:lnTo>
                    <a:pt x="123825" y="485775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4902200" y="2070100"/>
            <a:ext cx="7308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5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(OBJNR)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7172325" y="2387600"/>
            <a:ext cx="1733550" cy="257175"/>
          </a:xfrm>
          <a:custGeom>
            <a:avLst/>
            <a:gdLst/>
            <a:ahLst/>
            <a:cxnLst/>
            <a:rect l="l" t="t" r="r" b="b"/>
            <a:pathLst>
              <a:path w="1733550" h="257175">
                <a:moveTo>
                  <a:pt x="0" y="257175"/>
                </a:moveTo>
                <a:lnTo>
                  <a:pt x="1733550" y="257175"/>
                </a:lnTo>
                <a:lnTo>
                  <a:pt x="1733550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7177087" y="2384425"/>
            <a:ext cx="17240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dirty="0" sz="750" spc="-10" b="1">
                <a:latin typeface="Arial"/>
                <a:cs typeface="Arial"/>
              </a:rPr>
              <a:t>ZZGLT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7167562" y="2620962"/>
            <a:ext cx="1743075" cy="1266825"/>
            <a:chOff x="7167562" y="2620962"/>
            <a:chExt cx="1743075" cy="1266825"/>
          </a:xfrm>
        </p:grpSpPr>
        <p:sp>
          <p:nvSpPr>
            <p:cNvPr id="43" name="object 43" descr=""/>
            <p:cNvSpPr/>
            <p:nvPr/>
          </p:nvSpPr>
          <p:spPr>
            <a:xfrm>
              <a:off x="7172325" y="2625725"/>
              <a:ext cx="1733550" cy="1257300"/>
            </a:xfrm>
            <a:custGeom>
              <a:avLst/>
              <a:gdLst/>
              <a:ahLst/>
              <a:cxnLst/>
              <a:rect l="l" t="t" r="r" b="b"/>
              <a:pathLst>
                <a:path w="1733550" h="1257300">
                  <a:moveTo>
                    <a:pt x="1733550" y="0"/>
                  </a:moveTo>
                  <a:lnTo>
                    <a:pt x="0" y="0"/>
                  </a:lnTo>
                  <a:lnTo>
                    <a:pt x="0" y="1114425"/>
                  </a:lnTo>
                  <a:lnTo>
                    <a:pt x="76200" y="1162050"/>
                  </a:lnTo>
                  <a:lnTo>
                    <a:pt x="152400" y="1200150"/>
                  </a:lnTo>
                  <a:lnTo>
                    <a:pt x="228600" y="1228725"/>
                  </a:lnTo>
                  <a:lnTo>
                    <a:pt x="304800" y="1247775"/>
                  </a:lnTo>
                  <a:lnTo>
                    <a:pt x="390525" y="1257300"/>
                  </a:lnTo>
                  <a:lnTo>
                    <a:pt x="476250" y="1257300"/>
                  </a:lnTo>
                  <a:lnTo>
                    <a:pt x="561975" y="1247775"/>
                  </a:lnTo>
                  <a:lnTo>
                    <a:pt x="647700" y="1228725"/>
                  </a:lnTo>
                  <a:lnTo>
                    <a:pt x="723900" y="1200150"/>
                  </a:lnTo>
                  <a:lnTo>
                    <a:pt x="800100" y="1162050"/>
                  </a:lnTo>
                  <a:lnTo>
                    <a:pt x="866775" y="1114425"/>
                  </a:lnTo>
                  <a:lnTo>
                    <a:pt x="942975" y="1066800"/>
                  </a:lnTo>
                  <a:lnTo>
                    <a:pt x="1009650" y="1028700"/>
                  </a:lnTo>
                  <a:lnTo>
                    <a:pt x="1095375" y="1000125"/>
                  </a:lnTo>
                  <a:lnTo>
                    <a:pt x="1181100" y="981075"/>
                  </a:lnTo>
                  <a:lnTo>
                    <a:pt x="1257300" y="971550"/>
                  </a:lnTo>
                  <a:lnTo>
                    <a:pt x="1343025" y="971550"/>
                  </a:lnTo>
                  <a:lnTo>
                    <a:pt x="1428750" y="981075"/>
                  </a:lnTo>
                  <a:lnTo>
                    <a:pt x="1514475" y="1000125"/>
                  </a:lnTo>
                  <a:lnTo>
                    <a:pt x="1590675" y="1028700"/>
                  </a:lnTo>
                  <a:lnTo>
                    <a:pt x="1666875" y="1066800"/>
                  </a:lnTo>
                  <a:lnTo>
                    <a:pt x="1733550" y="111442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172325" y="2625725"/>
              <a:ext cx="1733550" cy="1257300"/>
            </a:xfrm>
            <a:custGeom>
              <a:avLst/>
              <a:gdLst/>
              <a:ahLst/>
              <a:cxnLst/>
              <a:rect l="l" t="t" r="r" b="b"/>
              <a:pathLst>
                <a:path w="1733550" h="1257300">
                  <a:moveTo>
                    <a:pt x="0" y="1114425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1114425"/>
                  </a:lnTo>
                  <a:lnTo>
                    <a:pt x="1666875" y="1066800"/>
                  </a:lnTo>
                  <a:lnTo>
                    <a:pt x="1590675" y="1028700"/>
                  </a:lnTo>
                  <a:lnTo>
                    <a:pt x="1514475" y="1000125"/>
                  </a:lnTo>
                  <a:lnTo>
                    <a:pt x="1428750" y="981075"/>
                  </a:lnTo>
                  <a:lnTo>
                    <a:pt x="1343025" y="971550"/>
                  </a:lnTo>
                  <a:lnTo>
                    <a:pt x="1257300" y="971550"/>
                  </a:lnTo>
                  <a:lnTo>
                    <a:pt x="1181100" y="981075"/>
                  </a:lnTo>
                  <a:lnTo>
                    <a:pt x="1095375" y="1000125"/>
                  </a:lnTo>
                  <a:lnTo>
                    <a:pt x="1009650" y="1028700"/>
                  </a:lnTo>
                  <a:lnTo>
                    <a:pt x="942975" y="1066800"/>
                  </a:lnTo>
                  <a:lnTo>
                    <a:pt x="866775" y="1114425"/>
                  </a:lnTo>
                  <a:lnTo>
                    <a:pt x="800100" y="1162050"/>
                  </a:lnTo>
                  <a:lnTo>
                    <a:pt x="723900" y="1200150"/>
                  </a:lnTo>
                  <a:lnTo>
                    <a:pt x="647700" y="1228725"/>
                  </a:lnTo>
                  <a:lnTo>
                    <a:pt x="561975" y="1247775"/>
                  </a:lnTo>
                  <a:lnTo>
                    <a:pt x="476250" y="1257300"/>
                  </a:lnTo>
                  <a:lnTo>
                    <a:pt x="390525" y="1257300"/>
                  </a:lnTo>
                  <a:lnTo>
                    <a:pt x="304800" y="1247775"/>
                  </a:lnTo>
                  <a:lnTo>
                    <a:pt x="228600" y="1228725"/>
                  </a:lnTo>
                  <a:lnTo>
                    <a:pt x="152400" y="1200150"/>
                  </a:lnTo>
                  <a:lnTo>
                    <a:pt x="76200" y="1162050"/>
                  </a:lnTo>
                  <a:lnTo>
                    <a:pt x="0" y="1114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7188200" y="2622550"/>
            <a:ext cx="1159510" cy="1149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138430">
              <a:lnSpc>
                <a:spcPct val="97600"/>
              </a:lnSpc>
              <a:spcBef>
                <a:spcPts val="120"/>
              </a:spcBef>
            </a:pPr>
            <a:r>
              <a:rPr dirty="0" sz="750" spc="-10">
                <a:latin typeface="Arial"/>
                <a:cs typeface="Arial"/>
              </a:rPr>
              <a:t>Ledger(RLDNR)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(RRCTY) </a:t>
            </a:r>
            <a:r>
              <a:rPr dirty="0" sz="750">
                <a:latin typeface="Arial"/>
                <a:cs typeface="Arial"/>
              </a:rPr>
              <a:t>Version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(RVERS)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(ROBJNR) </a:t>
            </a: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(SOBJNR) </a:t>
            </a:r>
            <a:r>
              <a:rPr dirty="0" sz="750">
                <a:latin typeface="Arial"/>
                <a:cs typeface="Arial"/>
              </a:rPr>
              <a:t>Currency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(RTCUR) </a:t>
            </a:r>
            <a:r>
              <a:rPr dirty="0" sz="750">
                <a:latin typeface="Arial"/>
                <a:cs typeface="Arial"/>
              </a:rPr>
              <a:t>UOM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(RUNIT)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Debit/Credit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Ind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(DRCRX) </a:t>
            </a:r>
            <a:r>
              <a:rPr dirty="0" sz="750">
                <a:latin typeface="Arial"/>
                <a:cs typeface="Arial"/>
              </a:rPr>
              <a:t>Period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(RPMAX)</a:t>
            </a:r>
            <a:endParaRPr sz="750">
              <a:latin typeface="Arial"/>
              <a:cs typeface="Arial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4886325" y="2911475"/>
            <a:ext cx="1733550" cy="257175"/>
          </a:xfrm>
          <a:custGeom>
            <a:avLst/>
            <a:gdLst/>
            <a:ahLst/>
            <a:cxnLst/>
            <a:rect l="l" t="t" r="r" b="b"/>
            <a:pathLst>
              <a:path w="1733550" h="257175">
                <a:moveTo>
                  <a:pt x="0" y="257175"/>
                </a:moveTo>
                <a:lnTo>
                  <a:pt x="1733550" y="257175"/>
                </a:lnTo>
                <a:lnTo>
                  <a:pt x="1733550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4891087" y="2908300"/>
            <a:ext cx="17240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dirty="0" sz="750" spc="-10" b="1">
                <a:latin typeface="Arial"/>
                <a:cs typeface="Arial"/>
              </a:rPr>
              <a:t>ZZGLO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4881562" y="3144837"/>
            <a:ext cx="1743075" cy="533400"/>
            <a:chOff x="4881562" y="3144837"/>
            <a:chExt cx="1743075" cy="533400"/>
          </a:xfrm>
        </p:grpSpPr>
        <p:sp>
          <p:nvSpPr>
            <p:cNvPr id="49" name="object 49" descr=""/>
            <p:cNvSpPr/>
            <p:nvPr/>
          </p:nvSpPr>
          <p:spPr>
            <a:xfrm>
              <a:off x="4886325" y="3149600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17335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23825" y="485775"/>
                  </a:lnTo>
                  <a:lnTo>
                    <a:pt x="371475" y="523875"/>
                  </a:lnTo>
                  <a:lnTo>
                    <a:pt x="495300" y="523875"/>
                  </a:lnTo>
                  <a:lnTo>
                    <a:pt x="628650" y="504825"/>
                  </a:lnTo>
                  <a:lnTo>
                    <a:pt x="742950" y="485775"/>
                  </a:lnTo>
                  <a:lnTo>
                    <a:pt x="1114425" y="400050"/>
                  </a:lnTo>
                  <a:lnTo>
                    <a:pt x="1238250" y="390525"/>
                  </a:lnTo>
                  <a:lnTo>
                    <a:pt x="1362075" y="390525"/>
                  </a:lnTo>
                  <a:lnTo>
                    <a:pt x="1485900" y="400050"/>
                  </a:lnTo>
                  <a:lnTo>
                    <a:pt x="1619250" y="428625"/>
                  </a:lnTo>
                  <a:lnTo>
                    <a:pt x="1733550" y="45720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886325" y="3149600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0" y="457200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457200"/>
                  </a:lnTo>
                  <a:lnTo>
                    <a:pt x="1619250" y="428625"/>
                  </a:lnTo>
                  <a:lnTo>
                    <a:pt x="1485900" y="400050"/>
                  </a:lnTo>
                  <a:lnTo>
                    <a:pt x="1362075" y="390525"/>
                  </a:lnTo>
                  <a:lnTo>
                    <a:pt x="1238250" y="390525"/>
                  </a:lnTo>
                  <a:lnTo>
                    <a:pt x="1114425" y="400050"/>
                  </a:lnTo>
                  <a:lnTo>
                    <a:pt x="742950" y="485775"/>
                  </a:lnTo>
                  <a:lnTo>
                    <a:pt x="628650" y="504825"/>
                  </a:lnTo>
                  <a:lnTo>
                    <a:pt x="495300" y="523875"/>
                  </a:lnTo>
                  <a:lnTo>
                    <a:pt x="371475" y="523875"/>
                  </a:lnTo>
                  <a:lnTo>
                    <a:pt x="123825" y="485775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4902200" y="3146425"/>
            <a:ext cx="10255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(GL_SIRID)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4881562" y="4687887"/>
            <a:ext cx="1743075" cy="381000"/>
            <a:chOff x="4881562" y="4687887"/>
            <a:chExt cx="1743075" cy="381000"/>
          </a:xfrm>
        </p:grpSpPr>
        <p:sp>
          <p:nvSpPr>
            <p:cNvPr id="53" name="object 53" descr=""/>
            <p:cNvSpPr/>
            <p:nvPr/>
          </p:nvSpPr>
          <p:spPr>
            <a:xfrm>
              <a:off x="4886325" y="4692650"/>
              <a:ext cx="1733550" cy="371475"/>
            </a:xfrm>
            <a:custGeom>
              <a:avLst/>
              <a:gdLst/>
              <a:ahLst/>
              <a:cxnLst/>
              <a:rect l="l" t="t" r="r" b="b"/>
              <a:pathLst>
                <a:path w="1733550" h="371475">
                  <a:moveTo>
                    <a:pt x="173355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733550" y="37147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886325" y="4692650"/>
              <a:ext cx="1733550" cy="371475"/>
            </a:xfrm>
            <a:custGeom>
              <a:avLst/>
              <a:gdLst/>
              <a:ahLst/>
              <a:cxnLst/>
              <a:rect l="l" t="t" r="r" b="b"/>
              <a:pathLst>
                <a:path w="1733550" h="371475">
                  <a:moveTo>
                    <a:pt x="0" y="371475"/>
                  </a:moveTo>
                  <a:lnTo>
                    <a:pt x="1733550" y="371475"/>
                  </a:lnTo>
                  <a:lnTo>
                    <a:pt x="173355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4902200" y="4699000"/>
            <a:ext cx="3111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 b="1">
                <a:latin typeface="Arial"/>
                <a:cs typeface="Arial"/>
              </a:rPr>
              <a:t>COFIT</a:t>
            </a:r>
            <a:endParaRPr sz="750">
              <a:latin typeface="Arial"/>
              <a:cs typeface="Aria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4902200" y="4813300"/>
            <a:ext cx="17970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b="1">
                <a:latin typeface="Arial"/>
                <a:cs typeface="Arial"/>
              </a:rPr>
              <a:t>(Totals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records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-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reconciliation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ledger)</a:t>
            </a:r>
            <a:endParaRPr sz="750">
              <a:latin typeface="Arial"/>
              <a:cs typeface="Arial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4886325" y="5064125"/>
            <a:ext cx="1733550" cy="1447800"/>
          </a:xfrm>
          <a:custGeom>
            <a:avLst/>
            <a:gdLst/>
            <a:ahLst/>
            <a:cxnLst/>
            <a:rect l="l" t="t" r="r" b="b"/>
            <a:pathLst>
              <a:path w="1733550" h="1447800">
                <a:moveTo>
                  <a:pt x="0" y="1304925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1304925"/>
                </a:lnTo>
                <a:lnTo>
                  <a:pt x="1666875" y="1257300"/>
                </a:lnTo>
                <a:lnTo>
                  <a:pt x="1590675" y="1219200"/>
                </a:lnTo>
                <a:lnTo>
                  <a:pt x="1514475" y="1190625"/>
                </a:lnTo>
                <a:lnTo>
                  <a:pt x="1343025" y="1152525"/>
                </a:lnTo>
                <a:lnTo>
                  <a:pt x="1257300" y="1152525"/>
                </a:lnTo>
                <a:lnTo>
                  <a:pt x="1171575" y="1171575"/>
                </a:lnTo>
                <a:lnTo>
                  <a:pt x="1095375" y="1190625"/>
                </a:lnTo>
                <a:lnTo>
                  <a:pt x="1019175" y="1219200"/>
                </a:lnTo>
                <a:lnTo>
                  <a:pt x="942975" y="1257300"/>
                </a:lnTo>
                <a:lnTo>
                  <a:pt x="866775" y="1304925"/>
                </a:lnTo>
                <a:lnTo>
                  <a:pt x="800100" y="1343025"/>
                </a:lnTo>
                <a:lnTo>
                  <a:pt x="723900" y="1390650"/>
                </a:lnTo>
                <a:lnTo>
                  <a:pt x="647700" y="1419225"/>
                </a:lnTo>
                <a:lnTo>
                  <a:pt x="561975" y="1438275"/>
                </a:lnTo>
                <a:lnTo>
                  <a:pt x="476250" y="1447800"/>
                </a:lnTo>
                <a:lnTo>
                  <a:pt x="390525" y="1447800"/>
                </a:lnTo>
                <a:lnTo>
                  <a:pt x="314325" y="1438275"/>
                </a:lnTo>
                <a:lnTo>
                  <a:pt x="228600" y="1419225"/>
                </a:lnTo>
                <a:lnTo>
                  <a:pt x="152400" y="1390650"/>
                </a:lnTo>
                <a:lnTo>
                  <a:pt x="76200" y="1343025"/>
                </a:lnTo>
                <a:lnTo>
                  <a:pt x="0" y="13049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4902200" y="5060950"/>
            <a:ext cx="1159510" cy="11493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138430">
              <a:lnSpc>
                <a:spcPct val="99000"/>
              </a:lnSpc>
              <a:spcBef>
                <a:spcPts val="110"/>
              </a:spcBef>
            </a:pPr>
            <a:r>
              <a:rPr dirty="0" sz="750" spc="-10">
                <a:latin typeface="Arial"/>
                <a:cs typeface="Arial"/>
              </a:rPr>
              <a:t>Ledger(RLDNR)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(RRCTY) </a:t>
            </a:r>
            <a:r>
              <a:rPr dirty="0" sz="750">
                <a:latin typeface="Arial"/>
                <a:cs typeface="Arial"/>
              </a:rPr>
              <a:t>Version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(RVERS)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(ROBJNR) </a:t>
            </a: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(COBJNR) </a:t>
            </a: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(SOBJNR) </a:t>
            </a:r>
            <a:r>
              <a:rPr dirty="0" sz="750">
                <a:latin typeface="Arial"/>
                <a:cs typeface="Arial"/>
              </a:rPr>
              <a:t>Currency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(RTCUR) </a:t>
            </a:r>
            <a:r>
              <a:rPr dirty="0" sz="750">
                <a:latin typeface="Arial"/>
                <a:cs typeface="Arial"/>
              </a:rPr>
              <a:t>UOM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(RUNIT)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Debit/Credit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Ind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(DRCRX)</a:t>
            </a:r>
            <a:endParaRPr sz="750">
              <a:latin typeface="Arial"/>
              <a:cs typeface="Arial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4902200" y="6184900"/>
            <a:ext cx="7683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Period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(RPMAX)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7138987" y="4268787"/>
            <a:ext cx="1743075" cy="876300"/>
            <a:chOff x="7138987" y="4268787"/>
            <a:chExt cx="1743075" cy="876300"/>
          </a:xfrm>
        </p:grpSpPr>
        <p:sp>
          <p:nvSpPr>
            <p:cNvPr id="61" name="object 61" descr=""/>
            <p:cNvSpPr/>
            <p:nvPr/>
          </p:nvSpPr>
          <p:spPr>
            <a:xfrm>
              <a:off x="7143750" y="4273550"/>
              <a:ext cx="1733550" cy="371475"/>
            </a:xfrm>
            <a:custGeom>
              <a:avLst/>
              <a:gdLst/>
              <a:ahLst/>
              <a:cxnLst/>
              <a:rect l="l" t="t" r="r" b="b"/>
              <a:pathLst>
                <a:path w="1733550" h="371475">
                  <a:moveTo>
                    <a:pt x="0" y="371475"/>
                  </a:moveTo>
                  <a:lnTo>
                    <a:pt x="1733550" y="371475"/>
                  </a:lnTo>
                  <a:lnTo>
                    <a:pt x="173355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143750" y="4616450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17335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23825" y="495300"/>
                  </a:lnTo>
                  <a:lnTo>
                    <a:pt x="247650" y="514350"/>
                  </a:lnTo>
                  <a:lnTo>
                    <a:pt x="371475" y="523875"/>
                  </a:lnTo>
                  <a:lnTo>
                    <a:pt x="504825" y="523875"/>
                  </a:lnTo>
                  <a:lnTo>
                    <a:pt x="628650" y="514350"/>
                  </a:lnTo>
                  <a:lnTo>
                    <a:pt x="752475" y="495300"/>
                  </a:lnTo>
                  <a:lnTo>
                    <a:pt x="866775" y="457200"/>
                  </a:lnTo>
                  <a:lnTo>
                    <a:pt x="990600" y="428625"/>
                  </a:lnTo>
                  <a:lnTo>
                    <a:pt x="1114425" y="409575"/>
                  </a:lnTo>
                  <a:lnTo>
                    <a:pt x="1238250" y="400050"/>
                  </a:lnTo>
                  <a:lnTo>
                    <a:pt x="1371600" y="400050"/>
                  </a:lnTo>
                  <a:lnTo>
                    <a:pt x="1495425" y="409575"/>
                  </a:lnTo>
                  <a:lnTo>
                    <a:pt x="1619250" y="428625"/>
                  </a:lnTo>
                  <a:lnTo>
                    <a:pt x="1733550" y="45720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143750" y="4616450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0" y="457200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457200"/>
                  </a:lnTo>
                  <a:lnTo>
                    <a:pt x="1619250" y="428625"/>
                  </a:lnTo>
                  <a:lnTo>
                    <a:pt x="1495425" y="409575"/>
                  </a:lnTo>
                  <a:lnTo>
                    <a:pt x="1371600" y="400050"/>
                  </a:lnTo>
                  <a:lnTo>
                    <a:pt x="1238250" y="400050"/>
                  </a:lnTo>
                  <a:lnTo>
                    <a:pt x="1114425" y="409575"/>
                  </a:lnTo>
                  <a:lnTo>
                    <a:pt x="990600" y="428625"/>
                  </a:lnTo>
                  <a:lnTo>
                    <a:pt x="866775" y="457200"/>
                  </a:lnTo>
                  <a:lnTo>
                    <a:pt x="752475" y="495300"/>
                  </a:lnTo>
                  <a:lnTo>
                    <a:pt x="628650" y="514350"/>
                  </a:lnTo>
                  <a:lnTo>
                    <a:pt x="504825" y="523875"/>
                  </a:lnTo>
                  <a:lnTo>
                    <a:pt x="371475" y="523875"/>
                  </a:lnTo>
                  <a:lnTo>
                    <a:pt x="247650" y="514350"/>
                  </a:lnTo>
                  <a:lnTo>
                    <a:pt x="123825" y="49530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7159625" y="4279900"/>
            <a:ext cx="1549400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65"/>
              </a:lnSpc>
              <a:spcBef>
                <a:spcPts val="100"/>
              </a:spcBef>
            </a:pPr>
            <a:r>
              <a:rPr dirty="0" sz="750" spc="-10" b="1">
                <a:latin typeface="Arial"/>
                <a:cs typeface="Arial"/>
              </a:rPr>
              <a:t>COFIO2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65"/>
              </a:lnSpc>
            </a:pPr>
            <a:r>
              <a:rPr dirty="0" sz="750" spc="-10" b="1">
                <a:latin typeface="Arial"/>
                <a:cs typeface="Arial"/>
              </a:rPr>
              <a:t>(Transaction-</a:t>
            </a:r>
            <a:r>
              <a:rPr dirty="0" sz="750" b="1">
                <a:latin typeface="Arial"/>
                <a:cs typeface="Arial"/>
              </a:rPr>
              <a:t>dependent</a:t>
            </a:r>
            <a:r>
              <a:rPr dirty="0" sz="750" spc="2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fields</a:t>
            </a:r>
            <a:r>
              <a:rPr dirty="0" sz="750" spc="25" b="1">
                <a:latin typeface="Arial"/>
                <a:cs typeface="Arial"/>
              </a:rPr>
              <a:t> </a:t>
            </a:r>
            <a:r>
              <a:rPr dirty="0" sz="750" spc="-25" b="1">
                <a:latin typeface="Arial"/>
                <a:cs typeface="Arial"/>
              </a:rPr>
              <a:t>for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reconciliation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ledger)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5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(OBJNR)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7138987" y="5897562"/>
            <a:ext cx="1743075" cy="904875"/>
            <a:chOff x="7138987" y="5897562"/>
            <a:chExt cx="1743075" cy="904875"/>
          </a:xfrm>
        </p:grpSpPr>
        <p:sp>
          <p:nvSpPr>
            <p:cNvPr id="66" name="object 66" descr=""/>
            <p:cNvSpPr/>
            <p:nvPr/>
          </p:nvSpPr>
          <p:spPr>
            <a:xfrm>
              <a:off x="7143750" y="5902325"/>
              <a:ext cx="1733550" cy="400050"/>
            </a:xfrm>
            <a:custGeom>
              <a:avLst/>
              <a:gdLst/>
              <a:ahLst/>
              <a:cxnLst/>
              <a:rect l="l" t="t" r="r" b="b"/>
              <a:pathLst>
                <a:path w="1733550" h="400050">
                  <a:moveTo>
                    <a:pt x="0" y="400050"/>
                  </a:moveTo>
                  <a:lnTo>
                    <a:pt x="1733550" y="400050"/>
                  </a:lnTo>
                  <a:lnTo>
                    <a:pt x="1733550" y="0"/>
                  </a:lnTo>
                  <a:lnTo>
                    <a:pt x="0" y="0"/>
                  </a:lnTo>
                  <a:lnTo>
                    <a:pt x="0" y="4000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143750" y="6273800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17335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23825" y="495300"/>
                  </a:lnTo>
                  <a:lnTo>
                    <a:pt x="247650" y="514350"/>
                  </a:lnTo>
                  <a:lnTo>
                    <a:pt x="371475" y="523875"/>
                  </a:lnTo>
                  <a:lnTo>
                    <a:pt x="504825" y="523875"/>
                  </a:lnTo>
                  <a:lnTo>
                    <a:pt x="628650" y="514350"/>
                  </a:lnTo>
                  <a:lnTo>
                    <a:pt x="752475" y="495300"/>
                  </a:lnTo>
                  <a:lnTo>
                    <a:pt x="866775" y="457200"/>
                  </a:lnTo>
                  <a:lnTo>
                    <a:pt x="990600" y="428625"/>
                  </a:lnTo>
                  <a:lnTo>
                    <a:pt x="1114425" y="409575"/>
                  </a:lnTo>
                  <a:lnTo>
                    <a:pt x="1238250" y="400050"/>
                  </a:lnTo>
                  <a:lnTo>
                    <a:pt x="1371600" y="400050"/>
                  </a:lnTo>
                  <a:lnTo>
                    <a:pt x="1495425" y="409575"/>
                  </a:lnTo>
                  <a:lnTo>
                    <a:pt x="1619250" y="428625"/>
                  </a:lnTo>
                  <a:lnTo>
                    <a:pt x="1733550" y="45720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143750" y="6273800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0" y="457200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457200"/>
                  </a:lnTo>
                  <a:lnTo>
                    <a:pt x="1619250" y="428625"/>
                  </a:lnTo>
                  <a:lnTo>
                    <a:pt x="1495425" y="409575"/>
                  </a:lnTo>
                  <a:lnTo>
                    <a:pt x="1371600" y="400050"/>
                  </a:lnTo>
                  <a:lnTo>
                    <a:pt x="1238250" y="400050"/>
                  </a:lnTo>
                  <a:lnTo>
                    <a:pt x="1114425" y="409575"/>
                  </a:lnTo>
                  <a:lnTo>
                    <a:pt x="990600" y="428625"/>
                  </a:lnTo>
                  <a:lnTo>
                    <a:pt x="866775" y="457200"/>
                  </a:lnTo>
                  <a:lnTo>
                    <a:pt x="752475" y="495300"/>
                  </a:lnTo>
                  <a:lnTo>
                    <a:pt x="628650" y="514350"/>
                  </a:lnTo>
                  <a:lnTo>
                    <a:pt x="504825" y="523875"/>
                  </a:lnTo>
                  <a:lnTo>
                    <a:pt x="371475" y="523875"/>
                  </a:lnTo>
                  <a:lnTo>
                    <a:pt x="247650" y="514350"/>
                  </a:lnTo>
                  <a:lnTo>
                    <a:pt x="123825" y="49530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7159625" y="5908675"/>
            <a:ext cx="1492250" cy="501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65"/>
              </a:lnSpc>
              <a:spcBef>
                <a:spcPts val="100"/>
              </a:spcBef>
            </a:pPr>
            <a:r>
              <a:rPr dirty="0" sz="750" spc="-10" b="1">
                <a:latin typeface="Arial"/>
                <a:cs typeface="Arial"/>
              </a:rPr>
              <a:t>COFIO1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65"/>
              </a:lnSpc>
            </a:pPr>
            <a:r>
              <a:rPr dirty="0" sz="750" b="1">
                <a:latin typeface="Arial"/>
                <a:cs typeface="Arial"/>
              </a:rPr>
              <a:t>(Object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Table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for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Reconciliation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spc="-10" b="1">
                <a:latin typeface="Arial"/>
                <a:cs typeface="Arial"/>
              </a:rPr>
              <a:t>Ledger COFIT)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5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(OBJNR)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81012" y="4699000"/>
            <a:ext cx="1724025" cy="358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COSP</a:t>
            </a:r>
            <a:endParaRPr sz="750">
              <a:latin typeface="Arial"/>
              <a:cs typeface="Arial"/>
            </a:endParaRPr>
          </a:p>
          <a:p>
            <a:pPr marL="13970" marR="111125">
              <a:lnSpc>
                <a:spcPts val="830"/>
              </a:lnSpc>
              <a:spcBef>
                <a:spcPts val="85"/>
              </a:spcBef>
            </a:pPr>
            <a:r>
              <a:rPr dirty="0" sz="750" b="1">
                <a:latin typeface="Arial"/>
                <a:cs typeface="Arial"/>
              </a:rPr>
              <a:t>(CO</a:t>
            </a:r>
            <a:r>
              <a:rPr dirty="0" sz="750" spc="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Object:</a:t>
            </a:r>
            <a:r>
              <a:rPr dirty="0" sz="750" spc="22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Cost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Totals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-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External Postings)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71" name="object 71" descr=""/>
          <p:cNvGrpSpPr/>
          <p:nvPr/>
        </p:nvGrpSpPr>
        <p:grpSpPr>
          <a:xfrm>
            <a:off x="471487" y="5049837"/>
            <a:ext cx="1743075" cy="1781175"/>
            <a:chOff x="471487" y="5049837"/>
            <a:chExt cx="1743075" cy="1781175"/>
          </a:xfrm>
        </p:grpSpPr>
        <p:sp>
          <p:nvSpPr>
            <p:cNvPr id="72" name="object 72" descr=""/>
            <p:cNvSpPr/>
            <p:nvPr/>
          </p:nvSpPr>
          <p:spPr>
            <a:xfrm>
              <a:off x="476250" y="5054600"/>
              <a:ext cx="1733550" cy="1771650"/>
            </a:xfrm>
            <a:custGeom>
              <a:avLst/>
              <a:gdLst/>
              <a:ahLst/>
              <a:cxnLst/>
              <a:rect l="l" t="t" r="r" b="b"/>
              <a:pathLst>
                <a:path w="1733550" h="1771650">
                  <a:moveTo>
                    <a:pt x="1733550" y="0"/>
                  </a:moveTo>
                  <a:lnTo>
                    <a:pt x="0" y="0"/>
                  </a:lnTo>
                  <a:lnTo>
                    <a:pt x="0" y="1628775"/>
                  </a:lnTo>
                  <a:lnTo>
                    <a:pt x="66675" y="1676400"/>
                  </a:lnTo>
                  <a:lnTo>
                    <a:pt x="142875" y="1714500"/>
                  </a:lnTo>
                  <a:lnTo>
                    <a:pt x="228600" y="1743075"/>
                  </a:lnTo>
                  <a:lnTo>
                    <a:pt x="304800" y="1762125"/>
                  </a:lnTo>
                  <a:lnTo>
                    <a:pt x="390525" y="1771650"/>
                  </a:lnTo>
                  <a:lnTo>
                    <a:pt x="476250" y="1771650"/>
                  </a:lnTo>
                  <a:lnTo>
                    <a:pt x="561975" y="1762125"/>
                  </a:lnTo>
                  <a:lnTo>
                    <a:pt x="638175" y="1743075"/>
                  </a:lnTo>
                  <a:lnTo>
                    <a:pt x="723900" y="1714500"/>
                  </a:lnTo>
                  <a:lnTo>
                    <a:pt x="790575" y="1676400"/>
                  </a:lnTo>
                  <a:lnTo>
                    <a:pt x="866775" y="1628775"/>
                  </a:lnTo>
                  <a:lnTo>
                    <a:pt x="933450" y="1581150"/>
                  </a:lnTo>
                  <a:lnTo>
                    <a:pt x="1009650" y="1543050"/>
                  </a:lnTo>
                  <a:lnTo>
                    <a:pt x="1095375" y="1514475"/>
                  </a:lnTo>
                  <a:lnTo>
                    <a:pt x="1171575" y="1495425"/>
                  </a:lnTo>
                  <a:lnTo>
                    <a:pt x="1257300" y="1485900"/>
                  </a:lnTo>
                  <a:lnTo>
                    <a:pt x="1343025" y="1485900"/>
                  </a:lnTo>
                  <a:lnTo>
                    <a:pt x="1428750" y="1495425"/>
                  </a:lnTo>
                  <a:lnTo>
                    <a:pt x="1504950" y="1514475"/>
                  </a:lnTo>
                  <a:lnTo>
                    <a:pt x="1590675" y="1543050"/>
                  </a:lnTo>
                  <a:lnTo>
                    <a:pt x="1666875" y="1581150"/>
                  </a:lnTo>
                  <a:lnTo>
                    <a:pt x="1733550" y="162877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476250" y="5054600"/>
              <a:ext cx="1733550" cy="1771650"/>
            </a:xfrm>
            <a:custGeom>
              <a:avLst/>
              <a:gdLst/>
              <a:ahLst/>
              <a:cxnLst/>
              <a:rect l="l" t="t" r="r" b="b"/>
              <a:pathLst>
                <a:path w="1733550" h="1771650">
                  <a:moveTo>
                    <a:pt x="0" y="1628775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1628775"/>
                  </a:lnTo>
                  <a:lnTo>
                    <a:pt x="1666875" y="1581150"/>
                  </a:lnTo>
                  <a:lnTo>
                    <a:pt x="1590675" y="1543050"/>
                  </a:lnTo>
                  <a:lnTo>
                    <a:pt x="1504950" y="1514475"/>
                  </a:lnTo>
                  <a:lnTo>
                    <a:pt x="1428750" y="1495425"/>
                  </a:lnTo>
                  <a:lnTo>
                    <a:pt x="1343025" y="1485900"/>
                  </a:lnTo>
                  <a:lnTo>
                    <a:pt x="1257300" y="1485900"/>
                  </a:lnTo>
                  <a:lnTo>
                    <a:pt x="1171575" y="1495425"/>
                  </a:lnTo>
                  <a:lnTo>
                    <a:pt x="1095375" y="1514475"/>
                  </a:lnTo>
                  <a:lnTo>
                    <a:pt x="1009650" y="1543050"/>
                  </a:lnTo>
                  <a:lnTo>
                    <a:pt x="933450" y="1581150"/>
                  </a:lnTo>
                  <a:lnTo>
                    <a:pt x="866775" y="1628775"/>
                  </a:lnTo>
                  <a:lnTo>
                    <a:pt x="790575" y="1676400"/>
                  </a:lnTo>
                  <a:lnTo>
                    <a:pt x="723900" y="1714500"/>
                  </a:lnTo>
                  <a:lnTo>
                    <a:pt x="638175" y="1743075"/>
                  </a:lnTo>
                  <a:lnTo>
                    <a:pt x="561975" y="1762125"/>
                  </a:lnTo>
                  <a:lnTo>
                    <a:pt x="476250" y="1771650"/>
                  </a:lnTo>
                  <a:lnTo>
                    <a:pt x="390525" y="1771650"/>
                  </a:lnTo>
                  <a:lnTo>
                    <a:pt x="304800" y="1762125"/>
                  </a:lnTo>
                  <a:lnTo>
                    <a:pt x="228600" y="1743075"/>
                  </a:lnTo>
                  <a:lnTo>
                    <a:pt x="142875" y="1714500"/>
                  </a:lnTo>
                  <a:lnTo>
                    <a:pt x="66675" y="1676400"/>
                  </a:lnTo>
                  <a:lnTo>
                    <a:pt x="0" y="16287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482600" y="5051425"/>
            <a:ext cx="1188085" cy="14827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195580">
              <a:lnSpc>
                <a:spcPct val="97900"/>
              </a:lnSpc>
              <a:spcBef>
                <a:spcPts val="114"/>
              </a:spcBef>
            </a:pPr>
            <a:r>
              <a:rPr dirty="0" sz="750">
                <a:latin typeface="Arial"/>
                <a:cs typeface="Arial"/>
              </a:rPr>
              <a:t>Ledger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(LEDNR) </a:t>
            </a: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(J_OBJNR)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Value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(WRTTP) </a:t>
            </a:r>
            <a:r>
              <a:rPr dirty="0" sz="750">
                <a:latin typeface="Arial"/>
                <a:cs typeface="Arial"/>
              </a:rPr>
              <a:t>Version</a:t>
            </a:r>
            <a:r>
              <a:rPr dirty="0" sz="750" spc="5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(VERSN)</a:t>
            </a:r>
            <a:endParaRPr sz="750">
              <a:latin typeface="Arial"/>
              <a:cs typeface="Arial"/>
            </a:endParaRPr>
          </a:p>
          <a:p>
            <a:pPr marL="12700" marR="14732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Cost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Element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(KSTAR) </a:t>
            </a:r>
            <a:r>
              <a:rPr dirty="0" sz="750">
                <a:latin typeface="Arial"/>
                <a:cs typeface="Arial"/>
              </a:rPr>
              <a:t>CO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Key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(HRKFT)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CO</a:t>
            </a:r>
            <a:r>
              <a:rPr dirty="0" sz="750" spc="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Trans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(VRGNG)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97200"/>
              </a:lnSpc>
              <a:spcBef>
                <a:spcPts val="30"/>
              </a:spcBef>
            </a:pPr>
            <a:r>
              <a:rPr dirty="0" sz="750">
                <a:latin typeface="Arial"/>
                <a:cs typeface="Arial"/>
              </a:rPr>
              <a:t>Trading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Part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ID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(VBUND) </a:t>
            </a:r>
            <a:r>
              <a:rPr dirty="0" sz="750">
                <a:latin typeface="Arial"/>
                <a:cs typeface="Arial"/>
              </a:rPr>
              <a:t>Trading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Part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BA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(PARGB) </a:t>
            </a:r>
            <a:r>
              <a:rPr dirty="0" sz="750">
                <a:latin typeface="Arial"/>
                <a:cs typeface="Arial"/>
              </a:rPr>
              <a:t>Debit/Credit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Ind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(BEKNZ) </a:t>
            </a:r>
            <a:r>
              <a:rPr dirty="0" sz="750">
                <a:latin typeface="Arial"/>
                <a:cs typeface="Arial"/>
              </a:rPr>
              <a:t>Currency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(TWAER)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Period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Block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(PERBL)</a:t>
            </a:r>
            <a:endParaRPr sz="750">
              <a:latin typeface="Arial"/>
              <a:cs typeface="Arial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2581275" y="4273550"/>
            <a:ext cx="1733550" cy="266700"/>
          </a:xfrm>
          <a:custGeom>
            <a:avLst/>
            <a:gdLst/>
            <a:ahLst/>
            <a:cxnLst/>
            <a:rect l="l" t="t" r="r" b="b"/>
            <a:pathLst>
              <a:path w="1733550" h="266700">
                <a:moveTo>
                  <a:pt x="0" y="266700"/>
                </a:moveTo>
                <a:lnTo>
                  <a:pt x="1733550" y="266700"/>
                </a:lnTo>
                <a:lnTo>
                  <a:pt x="1733550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2587625" y="4279900"/>
            <a:ext cx="3016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COEP</a:t>
            </a:r>
            <a:endParaRPr sz="750">
              <a:latin typeface="Arial"/>
              <a:cs typeface="Arial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2587625" y="4384675"/>
            <a:ext cx="17780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b="1">
                <a:latin typeface="Arial"/>
                <a:cs typeface="Arial"/>
              </a:rPr>
              <a:t>(CO</a:t>
            </a:r>
            <a:r>
              <a:rPr dirty="0" sz="750" spc="6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object:</a:t>
            </a:r>
            <a:r>
              <a:rPr dirty="0" sz="750" spc="32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period-related</a:t>
            </a:r>
            <a:r>
              <a:rPr dirty="0" sz="750" spc="6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line</a:t>
            </a:r>
            <a:r>
              <a:rPr dirty="0" sz="750" spc="6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items)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78" name="object 78" descr=""/>
          <p:cNvGrpSpPr/>
          <p:nvPr/>
        </p:nvGrpSpPr>
        <p:grpSpPr>
          <a:xfrm>
            <a:off x="2576512" y="4506912"/>
            <a:ext cx="1743075" cy="533400"/>
            <a:chOff x="2576512" y="4506912"/>
            <a:chExt cx="1743075" cy="533400"/>
          </a:xfrm>
        </p:grpSpPr>
        <p:sp>
          <p:nvSpPr>
            <p:cNvPr id="79" name="object 79" descr=""/>
            <p:cNvSpPr/>
            <p:nvPr/>
          </p:nvSpPr>
          <p:spPr>
            <a:xfrm>
              <a:off x="2581275" y="4511675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1733550" y="0"/>
                  </a:moveTo>
                  <a:lnTo>
                    <a:pt x="0" y="0"/>
                  </a:lnTo>
                  <a:lnTo>
                    <a:pt x="0" y="466725"/>
                  </a:lnTo>
                  <a:lnTo>
                    <a:pt x="114300" y="495300"/>
                  </a:lnTo>
                  <a:lnTo>
                    <a:pt x="238125" y="514350"/>
                  </a:lnTo>
                  <a:lnTo>
                    <a:pt x="361950" y="523875"/>
                  </a:lnTo>
                  <a:lnTo>
                    <a:pt x="495300" y="523875"/>
                  </a:lnTo>
                  <a:lnTo>
                    <a:pt x="619125" y="514350"/>
                  </a:lnTo>
                  <a:lnTo>
                    <a:pt x="742950" y="495300"/>
                  </a:lnTo>
                  <a:lnTo>
                    <a:pt x="866775" y="466725"/>
                  </a:lnTo>
                  <a:lnTo>
                    <a:pt x="981075" y="428625"/>
                  </a:lnTo>
                  <a:lnTo>
                    <a:pt x="1104900" y="409575"/>
                  </a:lnTo>
                  <a:lnTo>
                    <a:pt x="1238250" y="400050"/>
                  </a:lnTo>
                  <a:lnTo>
                    <a:pt x="1362075" y="400050"/>
                  </a:lnTo>
                  <a:lnTo>
                    <a:pt x="1485900" y="409575"/>
                  </a:lnTo>
                  <a:lnTo>
                    <a:pt x="1609725" y="428625"/>
                  </a:lnTo>
                  <a:lnTo>
                    <a:pt x="1733550" y="46672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581275" y="4511675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0" y="466725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466725"/>
                  </a:lnTo>
                  <a:lnTo>
                    <a:pt x="1609725" y="428625"/>
                  </a:lnTo>
                  <a:lnTo>
                    <a:pt x="1485900" y="409575"/>
                  </a:lnTo>
                  <a:lnTo>
                    <a:pt x="1362075" y="400050"/>
                  </a:lnTo>
                  <a:lnTo>
                    <a:pt x="1238250" y="400050"/>
                  </a:lnTo>
                  <a:lnTo>
                    <a:pt x="1104900" y="409575"/>
                  </a:lnTo>
                  <a:lnTo>
                    <a:pt x="981075" y="428625"/>
                  </a:lnTo>
                  <a:lnTo>
                    <a:pt x="866775" y="466725"/>
                  </a:lnTo>
                  <a:lnTo>
                    <a:pt x="742950" y="495300"/>
                  </a:lnTo>
                  <a:lnTo>
                    <a:pt x="619125" y="514350"/>
                  </a:lnTo>
                  <a:lnTo>
                    <a:pt x="495300" y="523875"/>
                  </a:lnTo>
                  <a:lnTo>
                    <a:pt x="361950" y="523875"/>
                  </a:lnTo>
                  <a:lnTo>
                    <a:pt x="238125" y="514350"/>
                  </a:lnTo>
                  <a:lnTo>
                    <a:pt x="114300" y="495300"/>
                  </a:lnTo>
                  <a:lnTo>
                    <a:pt x="0" y="466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2587625" y="4508500"/>
            <a:ext cx="119697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Controlling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Area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(KOKRS)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(BUZEI)</a:t>
            </a:r>
            <a:endParaRPr sz="750">
              <a:latin typeface="Arial"/>
              <a:cs typeface="Arial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2581275" y="6064250"/>
            <a:ext cx="1733550" cy="257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COBK</a:t>
            </a:r>
            <a:endParaRPr sz="750">
              <a:latin typeface="Arial"/>
              <a:cs typeface="Arial"/>
            </a:endParaRPr>
          </a:p>
        </p:txBody>
      </p:sp>
      <p:sp>
        <p:nvSpPr>
          <p:cNvPr id="83" name="object 83" descr=""/>
          <p:cNvSpPr/>
          <p:nvPr/>
        </p:nvSpPr>
        <p:spPr>
          <a:xfrm>
            <a:off x="2581275" y="6321425"/>
            <a:ext cx="1733550" cy="523875"/>
          </a:xfrm>
          <a:custGeom>
            <a:avLst/>
            <a:gdLst/>
            <a:ahLst/>
            <a:cxnLst/>
            <a:rect l="l" t="t" r="r" b="b"/>
            <a:pathLst>
              <a:path w="1733550" h="523875">
                <a:moveTo>
                  <a:pt x="0" y="466725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466725"/>
                </a:lnTo>
                <a:lnTo>
                  <a:pt x="1609725" y="428625"/>
                </a:lnTo>
                <a:lnTo>
                  <a:pt x="1485900" y="409575"/>
                </a:lnTo>
                <a:lnTo>
                  <a:pt x="1362075" y="400050"/>
                </a:lnTo>
                <a:lnTo>
                  <a:pt x="1238250" y="400050"/>
                </a:lnTo>
                <a:lnTo>
                  <a:pt x="1104900" y="409575"/>
                </a:lnTo>
                <a:lnTo>
                  <a:pt x="981075" y="428625"/>
                </a:lnTo>
                <a:lnTo>
                  <a:pt x="866775" y="466725"/>
                </a:lnTo>
                <a:lnTo>
                  <a:pt x="619125" y="523875"/>
                </a:lnTo>
                <a:lnTo>
                  <a:pt x="238125" y="523875"/>
                </a:lnTo>
                <a:lnTo>
                  <a:pt x="114300" y="495300"/>
                </a:lnTo>
                <a:lnTo>
                  <a:pt x="0" y="4667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 txBox="1"/>
          <p:nvPr/>
        </p:nvSpPr>
        <p:spPr>
          <a:xfrm>
            <a:off x="2587625" y="6327775"/>
            <a:ext cx="1196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Controlling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Area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(KOKRS)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(BELNR)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2790825" y="1282700"/>
            <a:ext cx="1733550" cy="257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750" spc="-10" b="1">
                <a:latin typeface="Arial"/>
                <a:cs typeface="Arial"/>
              </a:rPr>
              <a:t>GLPCA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(EC-PCA: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Actual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Line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Items)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2786062" y="1535112"/>
            <a:ext cx="1743075" cy="533400"/>
            <a:chOff x="2786062" y="1535112"/>
            <a:chExt cx="1743075" cy="533400"/>
          </a:xfrm>
        </p:grpSpPr>
        <p:sp>
          <p:nvSpPr>
            <p:cNvPr id="87" name="object 87" descr=""/>
            <p:cNvSpPr/>
            <p:nvPr/>
          </p:nvSpPr>
          <p:spPr>
            <a:xfrm>
              <a:off x="2790825" y="1539875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1733550" y="0"/>
                  </a:moveTo>
                  <a:lnTo>
                    <a:pt x="0" y="0"/>
                  </a:lnTo>
                  <a:lnTo>
                    <a:pt x="0" y="466725"/>
                  </a:lnTo>
                  <a:lnTo>
                    <a:pt x="123825" y="495300"/>
                  </a:lnTo>
                  <a:lnTo>
                    <a:pt x="247650" y="514350"/>
                  </a:lnTo>
                  <a:lnTo>
                    <a:pt x="361950" y="523875"/>
                  </a:lnTo>
                  <a:lnTo>
                    <a:pt x="495300" y="523875"/>
                  </a:lnTo>
                  <a:lnTo>
                    <a:pt x="619125" y="514350"/>
                  </a:lnTo>
                  <a:lnTo>
                    <a:pt x="742950" y="495300"/>
                  </a:lnTo>
                  <a:lnTo>
                    <a:pt x="866775" y="466725"/>
                  </a:lnTo>
                  <a:lnTo>
                    <a:pt x="981075" y="428625"/>
                  </a:lnTo>
                  <a:lnTo>
                    <a:pt x="1104900" y="409575"/>
                  </a:lnTo>
                  <a:lnTo>
                    <a:pt x="1238250" y="400050"/>
                  </a:lnTo>
                  <a:lnTo>
                    <a:pt x="1362075" y="400050"/>
                  </a:lnTo>
                  <a:lnTo>
                    <a:pt x="1485900" y="409575"/>
                  </a:lnTo>
                  <a:lnTo>
                    <a:pt x="1609725" y="428625"/>
                  </a:lnTo>
                  <a:lnTo>
                    <a:pt x="1733550" y="46672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2790825" y="1539875"/>
              <a:ext cx="1733550" cy="523875"/>
            </a:xfrm>
            <a:custGeom>
              <a:avLst/>
              <a:gdLst/>
              <a:ahLst/>
              <a:cxnLst/>
              <a:rect l="l" t="t" r="r" b="b"/>
              <a:pathLst>
                <a:path w="1733550" h="523875">
                  <a:moveTo>
                    <a:pt x="0" y="466725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466725"/>
                  </a:lnTo>
                  <a:lnTo>
                    <a:pt x="1609725" y="428625"/>
                  </a:lnTo>
                  <a:lnTo>
                    <a:pt x="1485900" y="409575"/>
                  </a:lnTo>
                  <a:lnTo>
                    <a:pt x="1362075" y="400050"/>
                  </a:lnTo>
                  <a:lnTo>
                    <a:pt x="1238250" y="400050"/>
                  </a:lnTo>
                  <a:lnTo>
                    <a:pt x="1104900" y="409575"/>
                  </a:lnTo>
                  <a:lnTo>
                    <a:pt x="981075" y="428625"/>
                  </a:lnTo>
                  <a:lnTo>
                    <a:pt x="866775" y="466725"/>
                  </a:lnTo>
                  <a:lnTo>
                    <a:pt x="742950" y="495300"/>
                  </a:lnTo>
                  <a:lnTo>
                    <a:pt x="619125" y="514350"/>
                  </a:lnTo>
                  <a:lnTo>
                    <a:pt x="495300" y="523875"/>
                  </a:lnTo>
                  <a:lnTo>
                    <a:pt x="361950" y="523875"/>
                  </a:lnTo>
                  <a:lnTo>
                    <a:pt x="247650" y="514350"/>
                  </a:lnTo>
                  <a:lnTo>
                    <a:pt x="123825" y="495300"/>
                  </a:lnTo>
                  <a:lnTo>
                    <a:pt x="0" y="466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2797175" y="1546225"/>
            <a:ext cx="10255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(GL_SIRID)</a:t>
            </a:r>
            <a:endParaRPr sz="750">
              <a:latin typeface="Arial"/>
              <a:cs typeface="Arial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2838450" y="2178050"/>
            <a:ext cx="1733550" cy="361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75"/>
              </a:spcBef>
            </a:pPr>
            <a:r>
              <a:rPr dirty="0" sz="750" spc="-10" b="1">
                <a:latin typeface="Arial"/>
                <a:cs typeface="Arial"/>
              </a:rPr>
              <a:t>GLPCO</a:t>
            </a:r>
            <a:endParaRPr sz="750">
              <a:latin typeface="Arial"/>
              <a:cs typeface="Arial"/>
            </a:endParaRPr>
          </a:p>
          <a:p>
            <a:pPr marL="28575" marR="9652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(EC-PCA: Object Table</a:t>
            </a:r>
            <a:r>
              <a:rPr dirty="0" sz="750" spc="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for </a:t>
            </a:r>
            <a:r>
              <a:rPr dirty="0" sz="750" spc="-10" b="1">
                <a:latin typeface="Arial"/>
                <a:cs typeface="Arial"/>
              </a:rPr>
              <a:t>Account </a:t>
            </a:r>
            <a:r>
              <a:rPr dirty="0" sz="750" b="1">
                <a:latin typeface="Arial"/>
                <a:cs typeface="Arial"/>
              </a:rPr>
              <a:t>Assignment</a:t>
            </a:r>
            <a:r>
              <a:rPr dirty="0" sz="750" spc="114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Elements)</a:t>
            </a:r>
            <a:endParaRPr sz="750">
              <a:latin typeface="Arial"/>
              <a:cs typeface="Arial"/>
            </a:endParaRPr>
          </a:p>
        </p:txBody>
      </p:sp>
      <p:sp>
        <p:nvSpPr>
          <p:cNvPr id="91" name="object 91" descr=""/>
          <p:cNvSpPr/>
          <p:nvPr/>
        </p:nvSpPr>
        <p:spPr>
          <a:xfrm>
            <a:off x="2838450" y="2540000"/>
            <a:ext cx="1733550" cy="523875"/>
          </a:xfrm>
          <a:custGeom>
            <a:avLst/>
            <a:gdLst/>
            <a:ahLst/>
            <a:cxnLst/>
            <a:rect l="l" t="t" r="r" b="b"/>
            <a:pathLst>
              <a:path w="1733550" h="523875">
                <a:moveTo>
                  <a:pt x="0" y="466725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466725"/>
                </a:lnTo>
                <a:lnTo>
                  <a:pt x="1609725" y="428625"/>
                </a:lnTo>
                <a:lnTo>
                  <a:pt x="1485900" y="409575"/>
                </a:lnTo>
                <a:lnTo>
                  <a:pt x="1362075" y="400050"/>
                </a:lnTo>
                <a:lnTo>
                  <a:pt x="1238250" y="400050"/>
                </a:lnTo>
                <a:lnTo>
                  <a:pt x="1114425" y="409575"/>
                </a:lnTo>
                <a:lnTo>
                  <a:pt x="990600" y="428625"/>
                </a:lnTo>
                <a:lnTo>
                  <a:pt x="866775" y="466725"/>
                </a:lnTo>
                <a:lnTo>
                  <a:pt x="742950" y="495300"/>
                </a:lnTo>
                <a:lnTo>
                  <a:pt x="628650" y="514350"/>
                </a:lnTo>
                <a:lnTo>
                  <a:pt x="495300" y="523875"/>
                </a:lnTo>
                <a:lnTo>
                  <a:pt x="371475" y="523875"/>
                </a:lnTo>
                <a:lnTo>
                  <a:pt x="247650" y="514350"/>
                </a:lnTo>
                <a:lnTo>
                  <a:pt x="123825" y="495300"/>
                </a:lnTo>
                <a:lnTo>
                  <a:pt x="0" y="4667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 txBox="1"/>
          <p:nvPr/>
        </p:nvSpPr>
        <p:spPr>
          <a:xfrm>
            <a:off x="2854325" y="2546350"/>
            <a:ext cx="7308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5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(OBJNR)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476250" y="1749425"/>
            <a:ext cx="1733550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10" b="1">
                <a:latin typeface="Arial"/>
                <a:cs typeface="Arial"/>
              </a:rPr>
              <a:t>GLPCT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spc="-10" b="1">
                <a:latin typeface="Arial"/>
                <a:cs typeface="Arial"/>
              </a:rPr>
              <a:t>(EC-</a:t>
            </a:r>
            <a:r>
              <a:rPr dirty="0" sz="750" b="1">
                <a:latin typeface="Arial"/>
                <a:cs typeface="Arial"/>
              </a:rPr>
              <a:t>PCA: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Totals</a:t>
            </a:r>
            <a:r>
              <a:rPr dirty="0" sz="750" spc="-10" b="1">
                <a:latin typeface="Arial"/>
                <a:cs typeface="Arial"/>
              </a:rPr>
              <a:t> Table)</a:t>
            </a:r>
            <a:endParaRPr sz="750">
              <a:latin typeface="Arial"/>
              <a:cs typeface="Arial"/>
            </a:endParaRPr>
          </a:p>
        </p:txBody>
      </p:sp>
      <p:sp>
        <p:nvSpPr>
          <p:cNvPr id="94" name="object 94" descr=""/>
          <p:cNvSpPr/>
          <p:nvPr/>
        </p:nvSpPr>
        <p:spPr>
          <a:xfrm>
            <a:off x="476250" y="2016125"/>
            <a:ext cx="1733550" cy="1419225"/>
          </a:xfrm>
          <a:custGeom>
            <a:avLst/>
            <a:gdLst/>
            <a:ahLst/>
            <a:cxnLst/>
            <a:rect l="l" t="t" r="r" b="b"/>
            <a:pathLst>
              <a:path w="1733550" h="1419225">
                <a:moveTo>
                  <a:pt x="0" y="1276350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1276350"/>
                </a:lnTo>
                <a:lnTo>
                  <a:pt x="1666875" y="1228725"/>
                </a:lnTo>
                <a:lnTo>
                  <a:pt x="1590675" y="1190625"/>
                </a:lnTo>
                <a:lnTo>
                  <a:pt x="1504950" y="1162050"/>
                </a:lnTo>
                <a:lnTo>
                  <a:pt x="1428750" y="1143000"/>
                </a:lnTo>
                <a:lnTo>
                  <a:pt x="1343025" y="1133475"/>
                </a:lnTo>
                <a:lnTo>
                  <a:pt x="1257300" y="1133475"/>
                </a:lnTo>
                <a:lnTo>
                  <a:pt x="1171575" y="1143000"/>
                </a:lnTo>
                <a:lnTo>
                  <a:pt x="1095375" y="1162050"/>
                </a:lnTo>
                <a:lnTo>
                  <a:pt x="1009650" y="1190625"/>
                </a:lnTo>
                <a:lnTo>
                  <a:pt x="933450" y="1228725"/>
                </a:lnTo>
                <a:lnTo>
                  <a:pt x="866775" y="1276350"/>
                </a:lnTo>
                <a:lnTo>
                  <a:pt x="790575" y="1323975"/>
                </a:lnTo>
                <a:lnTo>
                  <a:pt x="723900" y="1362075"/>
                </a:lnTo>
                <a:lnTo>
                  <a:pt x="638175" y="1390650"/>
                </a:lnTo>
                <a:lnTo>
                  <a:pt x="561975" y="1409700"/>
                </a:lnTo>
                <a:lnTo>
                  <a:pt x="476250" y="1419225"/>
                </a:lnTo>
                <a:lnTo>
                  <a:pt x="390525" y="1419225"/>
                </a:lnTo>
                <a:lnTo>
                  <a:pt x="304800" y="1409700"/>
                </a:lnTo>
                <a:lnTo>
                  <a:pt x="228600" y="1390650"/>
                </a:lnTo>
                <a:lnTo>
                  <a:pt x="142875" y="1362075"/>
                </a:lnTo>
                <a:lnTo>
                  <a:pt x="66675" y="1323975"/>
                </a:lnTo>
                <a:lnTo>
                  <a:pt x="0" y="12763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 txBox="1"/>
          <p:nvPr/>
        </p:nvSpPr>
        <p:spPr>
          <a:xfrm>
            <a:off x="482600" y="2012950"/>
            <a:ext cx="1159510" cy="12636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138430">
              <a:lnSpc>
                <a:spcPct val="97900"/>
              </a:lnSpc>
              <a:spcBef>
                <a:spcPts val="114"/>
              </a:spcBef>
            </a:pPr>
            <a:r>
              <a:rPr dirty="0" sz="750" spc="-10">
                <a:latin typeface="Arial"/>
                <a:cs typeface="Arial"/>
              </a:rPr>
              <a:t>Ledger(RLDNR)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(RRCTY) </a:t>
            </a:r>
            <a:r>
              <a:rPr dirty="0" sz="750">
                <a:latin typeface="Arial"/>
                <a:cs typeface="Arial"/>
              </a:rPr>
              <a:t>Plan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Version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(RVERS)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 </a:t>
            </a: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(ROBJNR) </a:t>
            </a: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(COBJNR) </a:t>
            </a: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(SOBJNR) </a:t>
            </a:r>
            <a:r>
              <a:rPr dirty="0" sz="750">
                <a:latin typeface="Arial"/>
                <a:cs typeface="Arial"/>
              </a:rPr>
              <a:t>Currency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(RTCUR) </a:t>
            </a:r>
            <a:r>
              <a:rPr dirty="0" sz="750">
                <a:latin typeface="Arial"/>
                <a:cs typeface="Arial"/>
              </a:rPr>
              <a:t>UOM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(RUNIT)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Debit/Credit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Ind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(DRCRX) </a:t>
            </a:r>
            <a:r>
              <a:rPr dirty="0" sz="750">
                <a:latin typeface="Arial"/>
                <a:cs typeface="Arial"/>
              </a:rPr>
              <a:t>Period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(RPMAX)</a:t>
            </a:r>
            <a:endParaRPr sz="750">
              <a:latin typeface="Arial"/>
              <a:cs typeface="Arial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2838450" y="3273425"/>
            <a:ext cx="1733550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ts val="865"/>
              </a:lnSpc>
              <a:spcBef>
                <a:spcPts val="150"/>
              </a:spcBef>
            </a:pPr>
            <a:r>
              <a:rPr dirty="0" sz="750" spc="-10" b="1">
                <a:latin typeface="Arial"/>
                <a:cs typeface="Arial"/>
              </a:rPr>
              <a:t>GLPCC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ts val="865"/>
              </a:lnSpc>
            </a:pPr>
            <a:r>
              <a:rPr dirty="0" sz="750" spc="-10" b="1">
                <a:latin typeface="Arial"/>
                <a:cs typeface="Arial"/>
              </a:rPr>
              <a:t>(EC-</a:t>
            </a:r>
            <a:r>
              <a:rPr dirty="0" sz="750" b="1">
                <a:latin typeface="Arial"/>
                <a:cs typeface="Arial"/>
              </a:rPr>
              <a:t>PCA: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Transaction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Attributes)</a:t>
            </a:r>
            <a:endParaRPr sz="750">
              <a:latin typeface="Arial"/>
              <a:cs typeface="Arial"/>
            </a:endParaRPr>
          </a:p>
        </p:txBody>
      </p:sp>
      <p:sp>
        <p:nvSpPr>
          <p:cNvPr id="97" name="object 97" descr=""/>
          <p:cNvSpPr/>
          <p:nvPr/>
        </p:nvSpPr>
        <p:spPr>
          <a:xfrm>
            <a:off x="2838450" y="3540125"/>
            <a:ext cx="1733550" cy="523875"/>
          </a:xfrm>
          <a:custGeom>
            <a:avLst/>
            <a:gdLst/>
            <a:ahLst/>
            <a:cxnLst/>
            <a:rect l="l" t="t" r="r" b="b"/>
            <a:pathLst>
              <a:path w="1733550" h="523875">
                <a:moveTo>
                  <a:pt x="0" y="457200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457200"/>
                </a:lnTo>
                <a:lnTo>
                  <a:pt x="1609725" y="428625"/>
                </a:lnTo>
                <a:lnTo>
                  <a:pt x="1485900" y="409575"/>
                </a:lnTo>
                <a:lnTo>
                  <a:pt x="1362075" y="400050"/>
                </a:lnTo>
                <a:lnTo>
                  <a:pt x="1238250" y="400050"/>
                </a:lnTo>
                <a:lnTo>
                  <a:pt x="1114425" y="409575"/>
                </a:lnTo>
                <a:lnTo>
                  <a:pt x="990600" y="428625"/>
                </a:lnTo>
                <a:lnTo>
                  <a:pt x="866775" y="457200"/>
                </a:lnTo>
                <a:lnTo>
                  <a:pt x="742950" y="495300"/>
                </a:lnTo>
                <a:lnTo>
                  <a:pt x="628650" y="514350"/>
                </a:lnTo>
                <a:lnTo>
                  <a:pt x="495300" y="523875"/>
                </a:lnTo>
                <a:lnTo>
                  <a:pt x="371475" y="523875"/>
                </a:lnTo>
                <a:lnTo>
                  <a:pt x="247650" y="514350"/>
                </a:lnTo>
                <a:lnTo>
                  <a:pt x="123825" y="49530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 txBox="1"/>
          <p:nvPr/>
        </p:nvSpPr>
        <p:spPr>
          <a:xfrm>
            <a:off x="2854325" y="3536950"/>
            <a:ext cx="7308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Object</a:t>
            </a:r>
            <a:r>
              <a:rPr dirty="0" sz="750" spc="5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(OBJNR)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539750" y="927100"/>
            <a:ext cx="77787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 b="1">
                <a:latin typeface="Arial"/>
                <a:cs typeface="Arial"/>
              </a:rPr>
              <a:t>Controlling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14425" y="1768475"/>
            <a:ext cx="8543925" cy="4981575"/>
          </a:xfrm>
          <a:custGeom>
            <a:avLst/>
            <a:gdLst/>
            <a:ahLst/>
            <a:cxnLst/>
            <a:rect l="l" t="t" r="r" b="b"/>
            <a:pathLst>
              <a:path w="8543925" h="4981575">
                <a:moveTo>
                  <a:pt x="0" y="4981575"/>
                </a:moveTo>
                <a:lnTo>
                  <a:pt x="8543925" y="4981575"/>
                </a:lnTo>
                <a:lnTo>
                  <a:pt x="8543925" y="0"/>
                </a:lnTo>
                <a:lnTo>
                  <a:pt x="0" y="0"/>
                </a:lnTo>
                <a:lnTo>
                  <a:pt x="0" y="4981575"/>
                </a:lnTo>
                <a:close/>
              </a:path>
              <a:path w="8543925" h="4981575">
                <a:moveTo>
                  <a:pt x="438150" y="4295775"/>
                </a:moveTo>
                <a:lnTo>
                  <a:pt x="2628900" y="4295775"/>
                </a:lnTo>
                <a:lnTo>
                  <a:pt x="2628900" y="819150"/>
                </a:lnTo>
                <a:lnTo>
                  <a:pt x="438150" y="819150"/>
                </a:lnTo>
                <a:lnTo>
                  <a:pt x="438150" y="4295775"/>
                </a:lnTo>
                <a:close/>
              </a:path>
              <a:path w="8543925" h="4981575">
                <a:moveTo>
                  <a:pt x="3171825" y="4267200"/>
                </a:moveTo>
                <a:lnTo>
                  <a:pt x="5362575" y="4267200"/>
                </a:lnTo>
                <a:lnTo>
                  <a:pt x="5362575" y="800100"/>
                </a:lnTo>
                <a:lnTo>
                  <a:pt x="3171825" y="800100"/>
                </a:lnTo>
                <a:lnTo>
                  <a:pt x="3171825" y="4267200"/>
                </a:lnTo>
                <a:close/>
              </a:path>
              <a:path w="8543925" h="4981575">
                <a:moveTo>
                  <a:pt x="5915025" y="4295775"/>
                </a:moveTo>
                <a:lnTo>
                  <a:pt x="8105775" y="4295775"/>
                </a:lnTo>
                <a:lnTo>
                  <a:pt x="8105775" y="819150"/>
                </a:lnTo>
                <a:lnTo>
                  <a:pt x="5915025" y="819150"/>
                </a:lnTo>
                <a:lnTo>
                  <a:pt x="5915025" y="4295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540250" y="1460500"/>
            <a:ext cx="11880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Arial"/>
                <a:cs typeface="Arial"/>
              </a:rPr>
              <a:t>Accounts</a:t>
            </a:r>
            <a:r>
              <a:rPr dirty="0" sz="1050" spc="-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Payable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76775" y="2079625"/>
            <a:ext cx="1118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b="1" i="1">
                <a:latin typeface="Arial"/>
                <a:cs typeface="Arial"/>
              </a:rPr>
              <a:t>Vendor</a:t>
            </a:r>
            <a:r>
              <a:rPr dirty="0" sz="900" spc="65" b="1" i="1">
                <a:latin typeface="Arial"/>
                <a:cs typeface="Arial"/>
              </a:rPr>
              <a:t> </a:t>
            </a:r>
            <a:r>
              <a:rPr dirty="0" sz="900" b="1" i="1">
                <a:latin typeface="Arial"/>
                <a:cs typeface="Arial"/>
              </a:rPr>
              <a:t>Master</a:t>
            </a:r>
            <a:r>
              <a:rPr dirty="0" sz="900" spc="65" b="1" i="1">
                <a:latin typeface="Arial"/>
                <a:cs typeface="Arial"/>
              </a:rPr>
              <a:t> </a:t>
            </a:r>
            <a:r>
              <a:rPr dirty="0" sz="900" spc="-20" b="1" i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757362" y="3173412"/>
            <a:ext cx="6496050" cy="1638300"/>
            <a:chOff x="1757362" y="3173412"/>
            <a:chExt cx="6496050" cy="1638300"/>
          </a:xfrm>
        </p:grpSpPr>
        <p:sp>
          <p:nvSpPr>
            <p:cNvPr id="6" name="object 6" descr=""/>
            <p:cNvSpPr/>
            <p:nvPr/>
          </p:nvSpPr>
          <p:spPr>
            <a:xfrm>
              <a:off x="1762125" y="3178175"/>
              <a:ext cx="6486525" cy="1628775"/>
            </a:xfrm>
            <a:custGeom>
              <a:avLst/>
              <a:gdLst/>
              <a:ahLst/>
              <a:cxnLst/>
              <a:rect l="l" t="t" r="r" b="b"/>
              <a:pathLst>
                <a:path w="6486525" h="1628775">
                  <a:moveTo>
                    <a:pt x="6486525" y="1628775"/>
                  </a:moveTo>
                  <a:lnTo>
                    <a:pt x="6381750" y="1428750"/>
                  </a:lnTo>
                  <a:lnTo>
                    <a:pt x="6267450" y="1628775"/>
                  </a:lnTo>
                </a:path>
                <a:path w="6486525" h="1628775">
                  <a:moveTo>
                    <a:pt x="6381750" y="714375"/>
                  </a:moveTo>
                  <a:lnTo>
                    <a:pt x="6381750" y="1628775"/>
                  </a:lnTo>
                </a:path>
                <a:path w="6486525" h="1628775">
                  <a:moveTo>
                    <a:pt x="5476875" y="66675"/>
                  </a:moveTo>
                  <a:lnTo>
                    <a:pt x="5257800" y="161925"/>
                  </a:lnTo>
                  <a:lnTo>
                    <a:pt x="5476875" y="266700"/>
                  </a:lnTo>
                </a:path>
                <a:path w="6486525" h="1628775">
                  <a:moveTo>
                    <a:pt x="4543425" y="161925"/>
                  </a:moveTo>
                  <a:lnTo>
                    <a:pt x="5476875" y="161925"/>
                  </a:lnTo>
                </a:path>
                <a:path w="6486525" h="1628775">
                  <a:moveTo>
                    <a:pt x="1009650" y="1533525"/>
                  </a:moveTo>
                  <a:lnTo>
                    <a:pt x="904875" y="1323975"/>
                  </a:lnTo>
                  <a:lnTo>
                    <a:pt x="790575" y="1533525"/>
                  </a:lnTo>
                </a:path>
                <a:path w="6486525" h="1628775">
                  <a:moveTo>
                    <a:pt x="904875" y="781050"/>
                  </a:moveTo>
                  <a:lnTo>
                    <a:pt x="904875" y="1533525"/>
                  </a:lnTo>
                </a:path>
                <a:path w="6486525" h="1628775">
                  <a:moveTo>
                    <a:pt x="1809750" y="276225"/>
                  </a:moveTo>
                  <a:lnTo>
                    <a:pt x="2028825" y="180975"/>
                  </a:lnTo>
                  <a:lnTo>
                    <a:pt x="1809750" y="76200"/>
                  </a:lnTo>
                </a:path>
                <a:path w="6486525" h="1628775">
                  <a:moveTo>
                    <a:pt x="2743200" y="161925"/>
                  </a:moveTo>
                  <a:lnTo>
                    <a:pt x="1809750" y="180975"/>
                  </a:lnTo>
                </a:path>
                <a:path w="6486525" h="1628775">
                  <a:moveTo>
                    <a:pt x="3743325" y="1609725"/>
                  </a:moveTo>
                  <a:lnTo>
                    <a:pt x="3638550" y="1400175"/>
                  </a:lnTo>
                  <a:lnTo>
                    <a:pt x="3524250" y="1609725"/>
                  </a:lnTo>
                </a:path>
                <a:path w="6486525" h="1628775">
                  <a:moveTo>
                    <a:pt x="3638550" y="714375"/>
                  </a:moveTo>
                  <a:lnTo>
                    <a:pt x="3629025" y="1609725"/>
                  </a:lnTo>
                </a:path>
                <a:path w="6486525" h="1628775">
                  <a:moveTo>
                    <a:pt x="0" y="352425"/>
                  </a:moveTo>
                  <a:lnTo>
                    <a:pt x="1809750" y="352425"/>
                  </a:lnTo>
                  <a:lnTo>
                    <a:pt x="1809750" y="0"/>
                  </a:lnTo>
                  <a:lnTo>
                    <a:pt x="0" y="0"/>
                  </a:lnTo>
                  <a:lnTo>
                    <a:pt x="0" y="352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62125" y="3511550"/>
              <a:ext cx="1809750" cy="504825"/>
            </a:xfrm>
            <a:custGeom>
              <a:avLst/>
              <a:gdLst/>
              <a:ahLst/>
              <a:cxnLst/>
              <a:rect l="l" t="t" r="r" b="b"/>
              <a:pathLst>
                <a:path w="1809750" h="504825">
                  <a:moveTo>
                    <a:pt x="1809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23825" y="476250"/>
                  </a:lnTo>
                  <a:lnTo>
                    <a:pt x="257175" y="495300"/>
                  </a:lnTo>
                  <a:lnTo>
                    <a:pt x="390525" y="504825"/>
                  </a:lnTo>
                  <a:lnTo>
                    <a:pt x="523875" y="504825"/>
                  </a:lnTo>
                  <a:lnTo>
                    <a:pt x="647700" y="495300"/>
                  </a:lnTo>
                  <a:lnTo>
                    <a:pt x="781050" y="476250"/>
                  </a:lnTo>
                  <a:lnTo>
                    <a:pt x="1028700" y="419100"/>
                  </a:lnTo>
                  <a:lnTo>
                    <a:pt x="1162050" y="390525"/>
                  </a:lnTo>
                  <a:lnTo>
                    <a:pt x="1285875" y="381000"/>
                  </a:lnTo>
                  <a:lnTo>
                    <a:pt x="1419225" y="381000"/>
                  </a:lnTo>
                  <a:lnTo>
                    <a:pt x="1552575" y="390525"/>
                  </a:lnTo>
                  <a:lnTo>
                    <a:pt x="1685925" y="419100"/>
                  </a:lnTo>
                  <a:lnTo>
                    <a:pt x="1809750" y="447675"/>
                  </a:lnTo>
                  <a:lnTo>
                    <a:pt x="1809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762125" y="3511550"/>
              <a:ext cx="1809750" cy="504825"/>
            </a:xfrm>
            <a:custGeom>
              <a:avLst/>
              <a:gdLst/>
              <a:ahLst/>
              <a:cxnLst/>
              <a:rect l="l" t="t" r="r" b="b"/>
              <a:pathLst>
                <a:path w="1809750" h="504825">
                  <a:moveTo>
                    <a:pt x="0" y="447675"/>
                  </a:moveTo>
                  <a:lnTo>
                    <a:pt x="0" y="0"/>
                  </a:lnTo>
                  <a:lnTo>
                    <a:pt x="1809750" y="0"/>
                  </a:lnTo>
                  <a:lnTo>
                    <a:pt x="1809750" y="447675"/>
                  </a:lnTo>
                  <a:lnTo>
                    <a:pt x="1685925" y="419100"/>
                  </a:lnTo>
                  <a:lnTo>
                    <a:pt x="1552575" y="390525"/>
                  </a:lnTo>
                  <a:lnTo>
                    <a:pt x="1419225" y="381000"/>
                  </a:lnTo>
                  <a:lnTo>
                    <a:pt x="1285875" y="381000"/>
                  </a:lnTo>
                  <a:lnTo>
                    <a:pt x="1162050" y="390525"/>
                  </a:lnTo>
                  <a:lnTo>
                    <a:pt x="1028700" y="419100"/>
                  </a:lnTo>
                  <a:lnTo>
                    <a:pt x="781050" y="476250"/>
                  </a:lnTo>
                  <a:lnTo>
                    <a:pt x="647700" y="495300"/>
                  </a:lnTo>
                  <a:lnTo>
                    <a:pt x="523875" y="504825"/>
                  </a:lnTo>
                  <a:lnTo>
                    <a:pt x="390525" y="504825"/>
                  </a:lnTo>
                  <a:lnTo>
                    <a:pt x="257175" y="495300"/>
                  </a:lnTo>
                  <a:lnTo>
                    <a:pt x="123825" y="476250"/>
                  </a:lnTo>
                  <a:lnTo>
                    <a:pt x="0" y="447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620000" y="2689225"/>
            <a:ext cx="12414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114" b="1">
                <a:latin typeface="Arial"/>
                <a:cs typeface="Arial"/>
              </a:rPr>
              <a:t>Company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110" b="1">
                <a:latin typeface="Arial"/>
                <a:cs typeface="Arial"/>
              </a:rPr>
              <a:t>Code</a:t>
            </a:r>
            <a:r>
              <a:rPr dirty="0" sz="800" spc="75" b="1">
                <a:latin typeface="Arial"/>
                <a:cs typeface="Arial"/>
              </a:rPr>
              <a:t> </a:t>
            </a:r>
            <a:r>
              <a:rPr dirty="0" sz="800" spc="70" b="1">
                <a:latin typeface="Arial"/>
                <a:cs typeface="Arial"/>
              </a:rPr>
              <a:t>Data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91116" y="2660650"/>
            <a:ext cx="8039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95" b="1">
                <a:latin typeface="Arial"/>
                <a:cs typeface="Arial"/>
              </a:rPr>
              <a:t>General</a:t>
            </a:r>
            <a:r>
              <a:rPr dirty="0" sz="800" spc="110" b="1">
                <a:latin typeface="Arial"/>
                <a:cs typeface="Arial"/>
              </a:rPr>
              <a:t> </a:t>
            </a:r>
            <a:r>
              <a:rPr dirty="0" sz="800" spc="80" b="1">
                <a:latin typeface="Arial"/>
                <a:cs typeface="Arial"/>
              </a:rPr>
              <a:t>Data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247900" y="2689225"/>
            <a:ext cx="9937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90" b="1">
                <a:latin typeface="Arial"/>
                <a:cs typeface="Arial"/>
              </a:rPr>
              <a:t>Purchasing</a:t>
            </a:r>
            <a:r>
              <a:rPr dirty="0" sz="800" spc="80" b="1">
                <a:latin typeface="Arial"/>
                <a:cs typeface="Arial"/>
              </a:rPr>
              <a:t> </a:t>
            </a:r>
            <a:r>
              <a:rPr dirty="0" sz="800" spc="65" b="1">
                <a:latin typeface="Arial"/>
                <a:cs typeface="Arial"/>
              </a:rPr>
              <a:t>Data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90700" y="3173095"/>
            <a:ext cx="1852930" cy="57785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r>
              <a:rPr dirty="0" sz="650" spc="110" b="1">
                <a:latin typeface="Arial"/>
                <a:cs typeface="Arial"/>
              </a:rPr>
              <a:t>LFM1</a:t>
            </a:r>
            <a:endParaRPr sz="650">
              <a:latin typeface="Arial"/>
              <a:cs typeface="Arial"/>
            </a:endParaRPr>
          </a:p>
          <a:p>
            <a:pPr marR="5080">
              <a:lnSpc>
                <a:spcPct val="105800"/>
              </a:lnSpc>
              <a:spcBef>
                <a:spcPts val="75"/>
              </a:spcBef>
            </a:pPr>
            <a:r>
              <a:rPr dirty="0" sz="650" spc="114" b="1">
                <a:latin typeface="Arial"/>
                <a:cs typeface="Arial"/>
              </a:rPr>
              <a:t>(Vendor</a:t>
            </a:r>
            <a:r>
              <a:rPr dirty="0" sz="650" spc="90" b="1">
                <a:latin typeface="Arial"/>
                <a:cs typeface="Arial"/>
              </a:rPr>
              <a:t> </a:t>
            </a:r>
            <a:r>
              <a:rPr dirty="0" sz="650" spc="120" b="1">
                <a:latin typeface="Arial"/>
                <a:cs typeface="Arial"/>
              </a:rPr>
              <a:t>master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110" b="1">
                <a:latin typeface="Arial"/>
                <a:cs typeface="Arial"/>
              </a:rPr>
              <a:t>record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110" b="1">
                <a:latin typeface="Arial"/>
                <a:cs typeface="Arial"/>
              </a:rPr>
              <a:t>purchasing </a:t>
            </a:r>
            <a:r>
              <a:rPr dirty="0" sz="650" spc="90" b="1">
                <a:latin typeface="Arial"/>
                <a:cs typeface="Arial"/>
              </a:rPr>
              <a:t>organization</a:t>
            </a:r>
            <a:r>
              <a:rPr dirty="0" sz="650" spc="85" b="1">
                <a:latin typeface="Arial"/>
                <a:cs typeface="Arial"/>
              </a:rPr>
              <a:t> </a:t>
            </a:r>
            <a:r>
              <a:rPr dirty="0" sz="650" spc="80" b="1">
                <a:latin typeface="Arial"/>
                <a:cs typeface="Arial"/>
              </a:rPr>
              <a:t>data)</a:t>
            </a:r>
            <a:endParaRPr sz="650">
              <a:latin typeface="Arial"/>
              <a:cs typeface="Arial"/>
            </a:endParaRPr>
          </a:p>
          <a:p>
            <a:pPr marR="941705">
              <a:lnSpc>
                <a:spcPct val="105800"/>
              </a:lnSpc>
              <a:spcBef>
                <a:spcPts val="75"/>
              </a:spcBef>
            </a:pPr>
            <a:r>
              <a:rPr dirty="0" sz="650" spc="70">
                <a:latin typeface="Arial"/>
                <a:cs typeface="Arial"/>
              </a:rPr>
              <a:t>Vendor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95">
                <a:latin typeface="Arial"/>
                <a:cs typeface="Arial"/>
              </a:rPr>
              <a:t>No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50">
                <a:latin typeface="Arial"/>
                <a:cs typeface="Arial"/>
              </a:rPr>
              <a:t>(LIFNR) </a:t>
            </a:r>
            <a:r>
              <a:rPr dirty="0" sz="650" spc="65">
                <a:latin typeface="Arial"/>
                <a:cs typeface="Arial"/>
              </a:rPr>
              <a:t>Purch</a:t>
            </a:r>
            <a:r>
              <a:rPr dirty="0" sz="650" spc="5">
                <a:latin typeface="Arial"/>
                <a:cs typeface="Arial"/>
              </a:rPr>
              <a:t> </a:t>
            </a:r>
            <a:r>
              <a:rPr dirty="0" sz="650" spc="80">
                <a:latin typeface="Arial"/>
                <a:cs typeface="Arial"/>
              </a:rPr>
              <a:t>Org</a:t>
            </a:r>
            <a:r>
              <a:rPr dirty="0" sz="650" spc="5">
                <a:latin typeface="Arial"/>
                <a:cs typeface="Arial"/>
              </a:rPr>
              <a:t> </a:t>
            </a:r>
            <a:r>
              <a:rPr dirty="0" sz="650" spc="65">
                <a:latin typeface="Arial"/>
                <a:cs typeface="Arial"/>
              </a:rPr>
              <a:t>(EKORG)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757362" y="4706937"/>
            <a:ext cx="1819275" cy="847725"/>
            <a:chOff x="1757362" y="4706937"/>
            <a:chExt cx="1819275" cy="847725"/>
          </a:xfrm>
        </p:grpSpPr>
        <p:sp>
          <p:nvSpPr>
            <p:cNvPr id="14" name="object 14" descr=""/>
            <p:cNvSpPr/>
            <p:nvPr/>
          </p:nvSpPr>
          <p:spPr>
            <a:xfrm>
              <a:off x="1762125" y="4711700"/>
              <a:ext cx="1809750" cy="352425"/>
            </a:xfrm>
            <a:custGeom>
              <a:avLst/>
              <a:gdLst/>
              <a:ahLst/>
              <a:cxnLst/>
              <a:rect l="l" t="t" r="r" b="b"/>
              <a:pathLst>
                <a:path w="1809750" h="352425">
                  <a:moveTo>
                    <a:pt x="0" y="352425"/>
                  </a:moveTo>
                  <a:lnTo>
                    <a:pt x="1809750" y="352425"/>
                  </a:lnTo>
                  <a:lnTo>
                    <a:pt x="1809750" y="0"/>
                  </a:lnTo>
                  <a:lnTo>
                    <a:pt x="0" y="0"/>
                  </a:lnTo>
                  <a:lnTo>
                    <a:pt x="0" y="352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762125" y="5045075"/>
              <a:ext cx="1809750" cy="504825"/>
            </a:xfrm>
            <a:custGeom>
              <a:avLst/>
              <a:gdLst/>
              <a:ahLst/>
              <a:cxnLst/>
              <a:rect l="l" t="t" r="r" b="b"/>
              <a:pathLst>
                <a:path w="1809750" h="504825">
                  <a:moveTo>
                    <a:pt x="1809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23825" y="476250"/>
                  </a:lnTo>
                  <a:lnTo>
                    <a:pt x="257175" y="495300"/>
                  </a:lnTo>
                  <a:lnTo>
                    <a:pt x="390525" y="504825"/>
                  </a:lnTo>
                  <a:lnTo>
                    <a:pt x="523875" y="504825"/>
                  </a:lnTo>
                  <a:lnTo>
                    <a:pt x="647700" y="495300"/>
                  </a:lnTo>
                  <a:lnTo>
                    <a:pt x="781050" y="476250"/>
                  </a:lnTo>
                  <a:lnTo>
                    <a:pt x="904875" y="447675"/>
                  </a:lnTo>
                  <a:lnTo>
                    <a:pt x="1028700" y="409575"/>
                  </a:lnTo>
                  <a:lnTo>
                    <a:pt x="1162050" y="390525"/>
                  </a:lnTo>
                  <a:lnTo>
                    <a:pt x="1285875" y="381000"/>
                  </a:lnTo>
                  <a:lnTo>
                    <a:pt x="1419225" y="381000"/>
                  </a:lnTo>
                  <a:lnTo>
                    <a:pt x="1552575" y="390525"/>
                  </a:lnTo>
                  <a:lnTo>
                    <a:pt x="1685925" y="409575"/>
                  </a:lnTo>
                  <a:lnTo>
                    <a:pt x="1809750" y="447675"/>
                  </a:lnTo>
                  <a:lnTo>
                    <a:pt x="1809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762125" y="5045075"/>
              <a:ext cx="1809750" cy="504825"/>
            </a:xfrm>
            <a:custGeom>
              <a:avLst/>
              <a:gdLst/>
              <a:ahLst/>
              <a:cxnLst/>
              <a:rect l="l" t="t" r="r" b="b"/>
              <a:pathLst>
                <a:path w="1809750" h="504825">
                  <a:moveTo>
                    <a:pt x="0" y="447675"/>
                  </a:moveTo>
                  <a:lnTo>
                    <a:pt x="0" y="0"/>
                  </a:lnTo>
                  <a:lnTo>
                    <a:pt x="1809750" y="0"/>
                  </a:lnTo>
                  <a:lnTo>
                    <a:pt x="1809750" y="447675"/>
                  </a:lnTo>
                  <a:lnTo>
                    <a:pt x="1685925" y="409575"/>
                  </a:lnTo>
                  <a:lnTo>
                    <a:pt x="1552575" y="390525"/>
                  </a:lnTo>
                  <a:lnTo>
                    <a:pt x="1419225" y="381000"/>
                  </a:lnTo>
                  <a:lnTo>
                    <a:pt x="1285875" y="381000"/>
                  </a:lnTo>
                  <a:lnTo>
                    <a:pt x="1162050" y="390525"/>
                  </a:lnTo>
                  <a:lnTo>
                    <a:pt x="1028700" y="409575"/>
                  </a:lnTo>
                  <a:lnTo>
                    <a:pt x="904875" y="447675"/>
                  </a:lnTo>
                  <a:lnTo>
                    <a:pt x="781050" y="476250"/>
                  </a:lnTo>
                  <a:lnTo>
                    <a:pt x="647700" y="495300"/>
                  </a:lnTo>
                  <a:lnTo>
                    <a:pt x="523875" y="504825"/>
                  </a:lnTo>
                  <a:lnTo>
                    <a:pt x="390525" y="504825"/>
                  </a:lnTo>
                  <a:lnTo>
                    <a:pt x="257175" y="495300"/>
                  </a:lnTo>
                  <a:lnTo>
                    <a:pt x="123825" y="476250"/>
                  </a:lnTo>
                  <a:lnTo>
                    <a:pt x="0" y="447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790700" y="4718050"/>
            <a:ext cx="1890395" cy="7854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50" spc="110" b="1">
                <a:latin typeface="Arial"/>
                <a:cs typeface="Arial"/>
              </a:rPr>
              <a:t>LFM2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650" spc="110" b="1">
                <a:latin typeface="Arial"/>
                <a:cs typeface="Arial"/>
              </a:rPr>
              <a:t>(Vendor</a:t>
            </a:r>
            <a:r>
              <a:rPr dirty="0" sz="650" spc="65" b="1">
                <a:latin typeface="Arial"/>
                <a:cs typeface="Arial"/>
              </a:rPr>
              <a:t> </a:t>
            </a:r>
            <a:r>
              <a:rPr dirty="0" sz="650" spc="110" b="1">
                <a:latin typeface="Arial"/>
                <a:cs typeface="Arial"/>
              </a:rPr>
              <a:t>Master</a:t>
            </a:r>
            <a:r>
              <a:rPr dirty="0" sz="650" spc="70" b="1">
                <a:latin typeface="Arial"/>
                <a:cs typeface="Arial"/>
              </a:rPr>
              <a:t> </a:t>
            </a:r>
            <a:r>
              <a:rPr dirty="0" sz="650" spc="110" b="1">
                <a:latin typeface="Arial"/>
                <a:cs typeface="Arial"/>
              </a:rPr>
              <a:t>Record:</a:t>
            </a:r>
            <a:r>
              <a:rPr dirty="0" sz="650" spc="65" b="1">
                <a:latin typeface="Arial"/>
                <a:cs typeface="Arial"/>
              </a:rPr>
              <a:t> </a:t>
            </a:r>
            <a:r>
              <a:rPr dirty="0" sz="650" spc="100" b="1">
                <a:latin typeface="Arial"/>
                <a:cs typeface="Arial"/>
              </a:rPr>
              <a:t>Purchasing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650" spc="45" b="1">
                <a:latin typeface="Arial"/>
                <a:cs typeface="Arial"/>
              </a:rPr>
              <a:t>Data)</a:t>
            </a:r>
            <a:endParaRPr sz="650">
              <a:latin typeface="Arial"/>
              <a:cs typeface="Arial"/>
            </a:endParaRPr>
          </a:p>
          <a:p>
            <a:pPr marR="979169">
              <a:lnSpc>
                <a:spcPct val="109000"/>
              </a:lnSpc>
              <a:spcBef>
                <a:spcPts val="50"/>
              </a:spcBef>
            </a:pPr>
            <a:r>
              <a:rPr dirty="0" sz="650" spc="70">
                <a:latin typeface="Arial"/>
                <a:cs typeface="Arial"/>
              </a:rPr>
              <a:t>Vendor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95">
                <a:latin typeface="Arial"/>
                <a:cs typeface="Arial"/>
              </a:rPr>
              <a:t>No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50">
                <a:latin typeface="Arial"/>
                <a:cs typeface="Arial"/>
              </a:rPr>
              <a:t>(LIFNR) </a:t>
            </a:r>
            <a:r>
              <a:rPr dirty="0" sz="650" spc="65">
                <a:latin typeface="Arial"/>
                <a:cs typeface="Arial"/>
              </a:rPr>
              <a:t>Purch</a:t>
            </a:r>
            <a:r>
              <a:rPr dirty="0" sz="650" spc="5">
                <a:latin typeface="Arial"/>
                <a:cs typeface="Arial"/>
              </a:rPr>
              <a:t> </a:t>
            </a:r>
            <a:r>
              <a:rPr dirty="0" sz="650" spc="80">
                <a:latin typeface="Arial"/>
                <a:cs typeface="Arial"/>
              </a:rPr>
              <a:t>Org</a:t>
            </a:r>
            <a:r>
              <a:rPr dirty="0" sz="650" spc="5">
                <a:latin typeface="Arial"/>
                <a:cs typeface="Arial"/>
              </a:rPr>
              <a:t> </a:t>
            </a:r>
            <a:r>
              <a:rPr dirty="0" sz="650" spc="65">
                <a:latin typeface="Arial"/>
                <a:cs typeface="Arial"/>
              </a:rPr>
              <a:t>(EKORG) Sub-</a:t>
            </a:r>
            <a:r>
              <a:rPr dirty="0" sz="650" spc="70">
                <a:latin typeface="Arial"/>
                <a:cs typeface="Arial"/>
              </a:rPr>
              <a:t>range</a:t>
            </a:r>
            <a:r>
              <a:rPr dirty="0" sz="650" spc="40">
                <a:latin typeface="Arial"/>
                <a:cs typeface="Arial"/>
              </a:rPr>
              <a:t> </a:t>
            </a:r>
            <a:r>
              <a:rPr dirty="0" sz="650" spc="65">
                <a:latin typeface="Arial"/>
                <a:cs typeface="Arial"/>
              </a:rPr>
              <a:t>(LTSNR) </a:t>
            </a:r>
            <a:r>
              <a:rPr dirty="0" sz="650" spc="20">
                <a:latin typeface="Arial"/>
                <a:cs typeface="Arial"/>
              </a:rPr>
              <a:t>Plant</a:t>
            </a:r>
            <a:r>
              <a:rPr dirty="0" sz="650" spc="114">
                <a:latin typeface="Arial"/>
                <a:cs typeface="Arial"/>
              </a:rPr>
              <a:t> </a:t>
            </a:r>
            <a:r>
              <a:rPr dirty="0" sz="650" spc="55">
                <a:latin typeface="Arial"/>
                <a:cs typeface="Arial"/>
              </a:rPr>
              <a:t>(WERKS)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500562" y="3211512"/>
            <a:ext cx="1809750" cy="752475"/>
            <a:chOff x="4500562" y="3211512"/>
            <a:chExt cx="1809750" cy="752475"/>
          </a:xfrm>
        </p:grpSpPr>
        <p:sp>
          <p:nvSpPr>
            <p:cNvPr id="19" name="object 19" descr=""/>
            <p:cNvSpPr/>
            <p:nvPr/>
          </p:nvSpPr>
          <p:spPr>
            <a:xfrm>
              <a:off x="4505325" y="3216275"/>
              <a:ext cx="1800225" cy="257175"/>
            </a:xfrm>
            <a:custGeom>
              <a:avLst/>
              <a:gdLst/>
              <a:ahLst/>
              <a:cxnLst/>
              <a:rect l="l" t="t" r="r" b="b"/>
              <a:pathLst>
                <a:path w="1800225" h="257175">
                  <a:moveTo>
                    <a:pt x="0" y="257175"/>
                  </a:moveTo>
                  <a:lnTo>
                    <a:pt x="1800225" y="25717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505325" y="3444875"/>
              <a:ext cx="1800225" cy="514350"/>
            </a:xfrm>
            <a:custGeom>
              <a:avLst/>
              <a:gdLst/>
              <a:ahLst/>
              <a:cxnLst/>
              <a:rect l="l" t="t" r="r" b="b"/>
              <a:pathLst>
                <a:path w="1800225" h="514350">
                  <a:moveTo>
                    <a:pt x="18002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23825" y="476250"/>
                  </a:lnTo>
                  <a:lnTo>
                    <a:pt x="257175" y="504825"/>
                  </a:lnTo>
                  <a:lnTo>
                    <a:pt x="381000" y="514350"/>
                  </a:lnTo>
                  <a:lnTo>
                    <a:pt x="514350" y="514350"/>
                  </a:lnTo>
                  <a:lnTo>
                    <a:pt x="647700" y="504825"/>
                  </a:lnTo>
                  <a:lnTo>
                    <a:pt x="895350" y="447675"/>
                  </a:lnTo>
                  <a:lnTo>
                    <a:pt x="1028700" y="419100"/>
                  </a:lnTo>
                  <a:lnTo>
                    <a:pt x="1152525" y="400050"/>
                  </a:lnTo>
                  <a:lnTo>
                    <a:pt x="1285875" y="390525"/>
                  </a:lnTo>
                  <a:lnTo>
                    <a:pt x="1419225" y="390525"/>
                  </a:lnTo>
                  <a:lnTo>
                    <a:pt x="1543050" y="400050"/>
                  </a:lnTo>
                  <a:lnTo>
                    <a:pt x="1676400" y="419100"/>
                  </a:lnTo>
                  <a:lnTo>
                    <a:pt x="1800225" y="44767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505325" y="3444875"/>
              <a:ext cx="1800225" cy="514350"/>
            </a:xfrm>
            <a:custGeom>
              <a:avLst/>
              <a:gdLst/>
              <a:ahLst/>
              <a:cxnLst/>
              <a:rect l="l" t="t" r="r" b="b"/>
              <a:pathLst>
                <a:path w="1800225" h="514350">
                  <a:moveTo>
                    <a:pt x="0" y="447675"/>
                  </a:moveTo>
                  <a:lnTo>
                    <a:pt x="0" y="0"/>
                  </a:lnTo>
                  <a:lnTo>
                    <a:pt x="1800225" y="0"/>
                  </a:lnTo>
                  <a:lnTo>
                    <a:pt x="1800225" y="447675"/>
                  </a:lnTo>
                  <a:lnTo>
                    <a:pt x="1676400" y="419100"/>
                  </a:lnTo>
                  <a:lnTo>
                    <a:pt x="1543050" y="400050"/>
                  </a:lnTo>
                  <a:lnTo>
                    <a:pt x="1419225" y="390525"/>
                  </a:lnTo>
                  <a:lnTo>
                    <a:pt x="1285875" y="390525"/>
                  </a:lnTo>
                  <a:lnTo>
                    <a:pt x="1152525" y="400050"/>
                  </a:lnTo>
                  <a:lnTo>
                    <a:pt x="1028700" y="419100"/>
                  </a:lnTo>
                  <a:lnTo>
                    <a:pt x="895350" y="447675"/>
                  </a:lnTo>
                  <a:lnTo>
                    <a:pt x="647700" y="504825"/>
                  </a:lnTo>
                  <a:lnTo>
                    <a:pt x="514350" y="514350"/>
                  </a:lnTo>
                  <a:lnTo>
                    <a:pt x="381000" y="514350"/>
                  </a:lnTo>
                  <a:lnTo>
                    <a:pt x="257175" y="504825"/>
                  </a:lnTo>
                  <a:lnTo>
                    <a:pt x="123825" y="476250"/>
                  </a:lnTo>
                  <a:lnTo>
                    <a:pt x="0" y="447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524375" y="3211195"/>
            <a:ext cx="1815464" cy="3683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r>
              <a:rPr dirty="0" sz="650" spc="65" b="1">
                <a:latin typeface="Arial"/>
                <a:cs typeface="Arial"/>
              </a:rPr>
              <a:t>LFA1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650" spc="114" b="1">
                <a:latin typeface="Arial"/>
                <a:cs typeface="Arial"/>
              </a:rPr>
              <a:t>(Vendor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120" b="1">
                <a:latin typeface="Arial"/>
                <a:cs typeface="Arial"/>
              </a:rPr>
              <a:t>master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105" b="1">
                <a:latin typeface="Arial"/>
                <a:cs typeface="Arial"/>
              </a:rPr>
              <a:t>(general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100" b="1">
                <a:latin typeface="Arial"/>
                <a:cs typeface="Arial"/>
              </a:rPr>
              <a:t>section))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650" spc="70">
                <a:latin typeface="Arial"/>
                <a:cs typeface="Arial"/>
              </a:rPr>
              <a:t>Vendor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95">
                <a:latin typeface="Arial"/>
                <a:cs typeface="Arial"/>
              </a:rPr>
              <a:t>No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50">
                <a:latin typeface="Arial"/>
                <a:cs typeface="Arial"/>
              </a:rPr>
              <a:t>(LIFNR)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234237" y="3211512"/>
            <a:ext cx="1819275" cy="752475"/>
            <a:chOff x="7234237" y="3211512"/>
            <a:chExt cx="1819275" cy="752475"/>
          </a:xfrm>
        </p:grpSpPr>
        <p:sp>
          <p:nvSpPr>
            <p:cNvPr id="24" name="object 24" descr=""/>
            <p:cNvSpPr/>
            <p:nvPr/>
          </p:nvSpPr>
          <p:spPr>
            <a:xfrm>
              <a:off x="7239000" y="3216275"/>
              <a:ext cx="1809750" cy="257175"/>
            </a:xfrm>
            <a:custGeom>
              <a:avLst/>
              <a:gdLst/>
              <a:ahLst/>
              <a:cxnLst/>
              <a:rect l="l" t="t" r="r" b="b"/>
              <a:pathLst>
                <a:path w="1809750" h="257175">
                  <a:moveTo>
                    <a:pt x="0" y="257175"/>
                  </a:moveTo>
                  <a:lnTo>
                    <a:pt x="1809750" y="257175"/>
                  </a:lnTo>
                  <a:lnTo>
                    <a:pt x="1809750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239000" y="3444875"/>
              <a:ext cx="1809750" cy="514350"/>
            </a:xfrm>
            <a:custGeom>
              <a:avLst/>
              <a:gdLst/>
              <a:ahLst/>
              <a:cxnLst/>
              <a:rect l="l" t="t" r="r" b="b"/>
              <a:pathLst>
                <a:path w="1809750" h="514350">
                  <a:moveTo>
                    <a:pt x="1809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23825" y="476250"/>
                  </a:lnTo>
                  <a:lnTo>
                    <a:pt x="257175" y="504825"/>
                  </a:lnTo>
                  <a:lnTo>
                    <a:pt x="390525" y="514350"/>
                  </a:lnTo>
                  <a:lnTo>
                    <a:pt x="523875" y="514350"/>
                  </a:lnTo>
                  <a:lnTo>
                    <a:pt x="647700" y="504825"/>
                  </a:lnTo>
                  <a:lnTo>
                    <a:pt x="781050" y="476250"/>
                  </a:lnTo>
                  <a:lnTo>
                    <a:pt x="1028700" y="419100"/>
                  </a:lnTo>
                  <a:lnTo>
                    <a:pt x="1162050" y="400050"/>
                  </a:lnTo>
                  <a:lnTo>
                    <a:pt x="1285875" y="390525"/>
                  </a:lnTo>
                  <a:lnTo>
                    <a:pt x="1419225" y="390525"/>
                  </a:lnTo>
                  <a:lnTo>
                    <a:pt x="1552575" y="400050"/>
                  </a:lnTo>
                  <a:lnTo>
                    <a:pt x="1685925" y="419100"/>
                  </a:lnTo>
                  <a:lnTo>
                    <a:pt x="1809750" y="447675"/>
                  </a:lnTo>
                  <a:lnTo>
                    <a:pt x="1809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239000" y="3444875"/>
              <a:ext cx="1809750" cy="514350"/>
            </a:xfrm>
            <a:custGeom>
              <a:avLst/>
              <a:gdLst/>
              <a:ahLst/>
              <a:cxnLst/>
              <a:rect l="l" t="t" r="r" b="b"/>
              <a:pathLst>
                <a:path w="1809750" h="514350">
                  <a:moveTo>
                    <a:pt x="0" y="447675"/>
                  </a:moveTo>
                  <a:lnTo>
                    <a:pt x="0" y="0"/>
                  </a:lnTo>
                  <a:lnTo>
                    <a:pt x="1809750" y="0"/>
                  </a:lnTo>
                  <a:lnTo>
                    <a:pt x="1809750" y="447675"/>
                  </a:lnTo>
                  <a:lnTo>
                    <a:pt x="1685925" y="419100"/>
                  </a:lnTo>
                  <a:lnTo>
                    <a:pt x="1552575" y="400050"/>
                  </a:lnTo>
                  <a:lnTo>
                    <a:pt x="1419225" y="390525"/>
                  </a:lnTo>
                  <a:lnTo>
                    <a:pt x="1285875" y="390525"/>
                  </a:lnTo>
                  <a:lnTo>
                    <a:pt x="1162050" y="400050"/>
                  </a:lnTo>
                  <a:lnTo>
                    <a:pt x="1028700" y="419100"/>
                  </a:lnTo>
                  <a:lnTo>
                    <a:pt x="781050" y="476250"/>
                  </a:lnTo>
                  <a:lnTo>
                    <a:pt x="647700" y="504825"/>
                  </a:lnTo>
                  <a:lnTo>
                    <a:pt x="523875" y="514350"/>
                  </a:lnTo>
                  <a:lnTo>
                    <a:pt x="390525" y="514350"/>
                  </a:lnTo>
                  <a:lnTo>
                    <a:pt x="257175" y="504825"/>
                  </a:lnTo>
                  <a:lnTo>
                    <a:pt x="123825" y="476250"/>
                  </a:lnTo>
                  <a:lnTo>
                    <a:pt x="0" y="447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7267575" y="3211195"/>
            <a:ext cx="1757680" cy="4826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r>
              <a:rPr dirty="0" sz="650" spc="30" b="1">
                <a:latin typeface="Arial"/>
                <a:cs typeface="Arial"/>
              </a:rPr>
              <a:t>LFB1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650" spc="114" b="1">
                <a:latin typeface="Arial"/>
                <a:cs typeface="Arial"/>
              </a:rPr>
              <a:t>(Vendor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120" b="1">
                <a:latin typeface="Arial"/>
                <a:cs typeface="Arial"/>
              </a:rPr>
              <a:t>master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125" b="1">
                <a:latin typeface="Arial"/>
                <a:cs typeface="Arial"/>
              </a:rPr>
              <a:t>(company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100" b="1">
                <a:latin typeface="Arial"/>
                <a:cs typeface="Arial"/>
              </a:rPr>
              <a:t>code))</a:t>
            </a:r>
            <a:endParaRPr sz="650">
              <a:latin typeface="Arial"/>
              <a:cs typeface="Arial"/>
            </a:endParaRPr>
          </a:p>
          <a:p>
            <a:pPr marR="627380">
              <a:lnSpc>
                <a:spcPct val="115399"/>
              </a:lnSpc>
            </a:pPr>
            <a:r>
              <a:rPr dirty="0" sz="650" spc="70">
                <a:latin typeface="Arial"/>
                <a:cs typeface="Arial"/>
              </a:rPr>
              <a:t>Vendor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95">
                <a:latin typeface="Arial"/>
                <a:cs typeface="Arial"/>
              </a:rPr>
              <a:t>No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50">
                <a:latin typeface="Arial"/>
                <a:cs typeface="Arial"/>
              </a:rPr>
              <a:t>(LIFNR) </a:t>
            </a:r>
            <a:r>
              <a:rPr dirty="0" sz="650" spc="80">
                <a:latin typeface="Arial"/>
                <a:cs typeface="Arial"/>
              </a:rPr>
              <a:t>Company</a:t>
            </a:r>
            <a:r>
              <a:rPr dirty="0" sz="650" spc="5">
                <a:latin typeface="Arial"/>
                <a:cs typeface="Arial"/>
              </a:rPr>
              <a:t> </a:t>
            </a:r>
            <a:r>
              <a:rPr dirty="0" sz="650" spc="80">
                <a:latin typeface="Arial"/>
                <a:cs typeface="Arial"/>
              </a:rPr>
              <a:t>Code</a:t>
            </a:r>
            <a:r>
              <a:rPr dirty="0" sz="650" spc="5">
                <a:latin typeface="Arial"/>
                <a:cs typeface="Arial"/>
              </a:rPr>
              <a:t> </a:t>
            </a:r>
            <a:r>
              <a:rPr dirty="0" sz="650" spc="60">
                <a:latin typeface="Arial"/>
                <a:cs typeface="Arial"/>
              </a:rPr>
              <a:t>(BUKRS)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491037" y="4783137"/>
            <a:ext cx="1809750" cy="742950"/>
            <a:chOff x="4491037" y="4783137"/>
            <a:chExt cx="1809750" cy="742950"/>
          </a:xfrm>
        </p:grpSpPr>
        <p:sp>
          <p:nvSpPr>
            <p:cNvPr id="29" name="object 29" descr=""/>
            <p:cNvSpPr/>
            <p:nvPr/>
          </p:nvSpPr>
          <p:spPr>
            <a:xfrm>
              <a:off x="4495800" y="4787900"/>
              <a:ext cx="1800225" cy="257175"/>
            </a:xfrm>
            <a:custGeom>
              <a:avLst/>
              <a:gdLst/>
              <a:ahLst/>
              <a:cxnLst/>
              <a:rect l="l" t="t" r="r" b="b"/>
              <a:pathLst>
                <a:path w="1800225" h="257175">
                  <a:moveTo>
                    <a:pt x="0" y="257175"/>
                  </a:moveTo>
                  <a:lnTo>
                    <a:pt x="1800225" y="25717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495800" y="5016500"/>
              <a:ext cx="1800225" cy="504825"/>
            </a:xfrm>
            <a:custGeom>
              <a:avLst/>
              <a:gdLst/>
              <a:ahLst/>
              <a:cxnLst/>
              <a:rect l="l" t="t" r="r" b="b"/>
              <a:pathLst>
                <a:path w="1800225" h="504825">
                  <a:moveTo>
                    <a:pt x="18002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23825" y="476250"/>
                  </a:lnTo>
                  <a:lnTo>
                    <a:pt x="257175" y="495300"/>
                  </a:lnTo>
                  <a:lnTo>
                    <a:pt x="381000" y="504825"/>
                  </a:lnTo>
                  <a:lnTo>
                    <a:pt x="514350" y="504825"/>
                  </a:lnTo>
                  <a:lnTo>
                    <a:pt x="647700" y="495300"/>
                  </a:lnTo>
                  <a:lnTo>
                    <a:pt x="771525" y="476250"/>
                  </a:lnTo>
                  <a:lnTo>
                    <a:pt x="895350" y="447675"/>
                  </a:lnTo>
                  <a:lnTo>
                    <a:pt x="1028700" y="419100"/>
                  </a:lnTo>
                  <a:lnTo>
                    <a:pt x="1152525" y="390525"/>
                  </a:lnTo>
                  <a:lnTo>
                    <a:pt x="1285875" y="381000"/>
                  </a:lnTo>
                  <a:lnTo>
                    <a:pt x="1419225" y="381000"/>
                  </a:lnTo>
                  <a:lnTo>
                    <a:pt x="1552575" y="390525"/>
                  </a:lnTo>
                  <a:lnTo>
                    <a:pt x="1800225" y="44767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495800" y="5016500"/>
              <a:ext cx="1800225" cy="504825"/>
            </a:xfrm>
            <a:custGeom>
              <a:avLst/>
              <a:gdLst/>
              <a:ahLst/>
              <a:cxnLst/>
              <a:rect l="l" t="t" r="r" b="b"/>
              <a:pathLst>
                <a:path w="1800225" h="504825">
                  <a:moveTo>
                    <a:pt x="0" y="447675"/>
                  </a:moveTo>
                  <a:lnTo>
                    <a:pt x="0" y="0"/>
                  </a:lnTo>
                  <a:lnTo>
                    <a:pt x="1800225" y="0"/>
                  </a:lnTo>
                  <a:lnTo>
                    <a:pt x="1800225" y="447675"/>
                  </a:lnTo>
                  <a:lnTo>
                    <a:pt x="1552575" y="390525"/>
                  </a:lnTo>
                  <a:lnTo>
                    <a:pt x="1419225" y="381000"/>
                  </a:lnTo>
                  <a:lnTo>
                    <a:pt x="1285875" y="381000"/>
                  </a:lnTo>
                  <a:lnTo>
                    <a:pt x="1152525" y="390525"/>
                  </a:lnTo>
                  <a:lnTo>
                    <a:pt x="1028700" y="419100"/>
                  </a:lnTo>
                  <a:lnTo>
                    <a:pt x="895350" y="447675"/>
                  </a:lnTo>
                  <a:lnTo>
                    <a:pt x="771525" y="476250"/>
                  </a:lnTo>
                  <a:lnTo>
                    <a:pt x="647700" y="495300"/>
                  </a:lnTo>
                  <a:lnTo>
                    <a:pt x="514350" y="504825"/>
                  </a:lnTo>
                  <a:lnTo>
                    <a:pt x="381000" y="504825"/>
                  </a:lnTo>
                  <a:lnTo>
                    <a:pt x="257175" y="495300"/>
                  </a:lnTo>
                  <a:lnTo>
                    <a:pt x="123825" y="476250"/>
                  </a:lnTo>
                  <a:lnTo>
                    <a:pt x="0" y="447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4514850" y="4794250"/>
            <a:ext cx="1633855" cy="6807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50" spc="40" b="1">
                <a:latin typeface="Arial"/>
                <a:cs typeface="Arial"/>
              </a:rPr>
              <a:t>LFBK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650" spc="114" b="1">
                <a:latin typeface="Arial"/>
                <a:cs typeface="Arial"/>
              </a:rPr>
              <a:t>(Vendor</a:t>
            </a:r>
            <a:r>
              <a:rPr dirty="0" sz="650" spc="85" b="1">
                <a:latin typeface="Arial"/>
                <a:cs typeface="Arial"/>
              </a:rPr>
              <a:t> </a:t>
            </a:r>
            <a:r>
              <a:rPr dirty="0" sz="650" spc="120" b="1">
                <a:latin typeface="Arial"/>
                <a:cs typeface="Arial"/>
              </a:rPr>
              <a:t>master</a:t>
            </a:r>
            <a:r>
              <a:rPr dirty="0" sz="650" spc="90" b="1">
                <a:latin typeface="Arial"/>
                <a:cs typeface="Arial"/>
              </a:rPr>
              <a:t> </a:t>
            </a:r>
            <a:r>
              <a:rPr dirty="0" sz="650" spc="114" b="1">
                <a:latin typeface="Arial"/>
                <a:cs typeface="Arial"/>
              </a:rPr>
              <a:t>(bank</a:t>
            </a:r>
            <a:r>
              <a:rPr dirty="0" sz="650" spc="90" b="1">
                <a:latin typeface="Arial"/>
                <a:cs typeface="Arial"/>
              </a:rPr>
              <a:t> details))</a:t>
            </a:r>
            <a:endParaRPr sz="650">
              <a:latin typeface="Arial"/>
              <a:cs typeface="Arial"/>
            </a:endParaRPr>
          </a:p>
          <a:p>
            <a:pPr marR="683895">
              <a:lnSpc>
                <a:spcPct val="109000"/>
              </a:lnSpc>
              <a:spcBef>
                <a:spcPts val="125"/>
              </a:spcBef>
            </a:pPr>
            <a:r>
              <a:rPr dirty="0" sz="650" spc="70">
                <a:latin typeface="Arial"/>
                <a:cs typeface="Arial"/>
              </a:rPr>
              <a:t>Vendor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95">
                <a:latin typeface="Arial"/>
                <a:cs typeface="Arial"/>
              </a:rPr>
              <a:t>No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50">
                <a:latin typeface="Arial"/>
                <a:cs typeface="Arial"/>
              </a:rPr>
              <a:t>(LIFNR) </a:t>
            </a:r>
            <a:r>
              <a:rPr dirty="0" sz="650" spc="85">
                <a:latin typeface="Arial"/>
                <a:cs typeface="Arial"/>
              </a:rPr>
              <a:t>Bank</a:t>
            </a:r>
            <a:r>
              <a:rPr dirty="0" sz="650" spc="30">
                <a:latin typeface="Arial"/>
                <a:cs typeface="Arial"/>
              </a:rPr>
              <a:t> </a:t>
            </a:r>
            <a:r>
              <a:rPr dirty="0" sz="650" spc="70">
                <a:latin typeface="Arial"/>
                <a:cs typeface="Arial"/>
              </a:rPr>
              <a:t>Cntry</a:t>
            </a:r>
            <a:r>
              <a:rPr dirty="0" sz="650" spc="30">
                <a:latin typeface="Arial"/>
                <a:cs typeface="Arial"/>
              </a:rPr>
              <a:t> </a:t>
            </a:r>
            <a:r>
              <a:rPr dirty="0" sz="650" spc="70">
                <a:latin typeface="Arial"/>
                <a:cs typeface="Arial"/>
              </a:rPr>
              <a:t>(BANKS) </a:t>
            </a:r>
            <a:r>
              <a:rPr dirty="0" sz="650" spc="85">
                <a:latin typeface="Arial"/>
                <a:cs typeface="Arial"/>
              </a:rPr>
              <a:t>Bank</a:t>
            </a:r>
            <a:r>
              <a:rPr dirty="0" sz="650" spc="25">
                <a:latin typeface="Arial"/>
                <a:cs typeface="Arial"/>
              </a:rPr>
              <a:t> </a:t>
            </a:r>
            <a:r>
              <a:rPr dirty="0" sz="650" spc="90">
                <a:latin typeface="Arial"/>
                <a:cs typeface="Arial"/>
              </a:rPr>
              <a:t>Key</a:t>
            </a:r>
            <a:r>
              <a:rPr dirty="0" sz="650" spc="25">
                <a:latin typeface="Arial"/>
                <a:cs typeface="Arial"/>
              </a:rPr>
              <a:t> </a:t>
            </a:r>
            <a:r>
              <a:rPr dirty="0" sz="650" spc="70">
                <a:latin typeface="Arial"/>
                <a:cs typeface="Arial"/>
              </a:rPr>
              <a:t>(BANKL) </a:t>
            </a:r>
            <a:r>
              <a:rPr dirty="0" sz="650" spc="90">
                <a:latin typeface="Arial"/>
                <a:cs typeface="Arial"/>
              </a:rPr>
              <a:t>Bank</a:t>
            </a:r>
            <a:r>
              <a:rPr dirty="0" sz="650" spc="25">
                <a:latin typeface="Arial"/>
                <a:cs typeface="Arial"/>
              </a:rPr>
              <a:t> </a:t>
            </a:r>
            <a:r>
              <a:rPr dirty="0" sz="650" spc="90">
                <a:latin typeface="Arial"/>
                <a:cs typeface="Arial"/>
              </a:rPr>
              <a:t>Acc</a:t>
            </a:r>
            <a:r>
              <a:rPr dirty="0" sz="650" spc="30">
                <a:latin typeface="Arial"/>
                <a:cs typeface="Arial"/>
              </a:rPr>
              <a:t> </a:t>
            </a:r>
            <a:r>
              <a:rPr dirty="0" sz="650" spc="80">
                <a:latin typeface="Arial"/>
                <a:cs typeface="Arial"/>
              </a:rPr>
              <a:t>(BANKN)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7239000" y="4806950"/>
            <a:ext cx="1809750" cy="257175"/>
          </a:xfrm>
          <a:custGeom>
            <a:avLst/>
            <a:gdLst/>
            <a:ahLst/>
            <a:cxnLst/>
            <a:rect l="l" t="t" r="r" b="b"/>
            <a:pathLst>
              <a:path w="1809750" h="257175">
                <a:moveTo>
                  <a:pt x="0" y="257175"/>
                </a:moveTo>
                <a:lnTo>
                  <a:pt x="1809750" y="257175"/>
                </a:lnTo>
                <a:lnTo>
                  <a:pt x="1809750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7243762" y="4822825"/>
            <a:ext cx="1800225" cy="233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25"/>
              </a:spcBef>
            </a:pPr>
            <a:r>
              <a:rPr dirty="0" sz="650" spc="30" b="1">
                <a:latin typeface="Arial"/>
                <a:cs typeface="Arial"/>
              </a:rPr>
              <a:t>LFB5</a:t>
            </a:r>
            <a:endParaRPr sz="65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45"/>
              </a:spcBef>
            </a:pPr>
            <a:r>
              <a:rPr dirty="0" sz="650" spc="110" b="1">
                <a:latin typeface="Arial"/>
                <a:cs typeface="Arial"/>
              </a:rPr>
              <a:t>(Vendor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114" b="1">
                <a:latin typeface="Arial"/>
                <a:cs typeface="Arial"/>
              </a:rPr>
              <a:t>master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110" b="1">
                <a:latin typeface="Arial"/>
                <a:cs typeface="Arial"/>
              </a:rPr>
              <a:t>(dunning</a:t>
            </a:r>
            <a:r>
              <a:rPr dirty="0" sz="650" spc="95" b="1">
                <a:latin typeface="Arial"/>
                <a:cs typeface="Arial"/>
              </a:rPr>
              <a:t> </a:t>
            </a:r>
            <a:r>
              <a:rPr dirty="0" sz="650" spc="90" b="1">
                <a:latin typeface="Arial"/>
                <a:cs typeface="Arial"/>
              </a:rPr>
              <a:t>data))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234237" y="5040312"/>
            <a:ext cx="1819275" cy="514350"/>
            <a:chOff x="7234237" y="5040312"/>
            <a:chExt cx="1819275" cy="514350"/>
          </a:xfrm>
        </p:grpSpPr>
        <p:sp>
          <p:nvSpPr>
            <p:cNvPr id="36" name="object 36" descr=""/>
            <p:cNvSpPr/>
            <p:nvPr/>
          </p:nvSpPr>
          <p:spPr>
            <a:xfrm>
              <a:off x="7239000" y="5045075"/>
              <a:ext cx="1809750" cy="504825"/>
            </a:xfrm>
            <a:custGeom>
              <a:avLst/>
              <a:gdLst/>
              <a:ahLst/>
              <a:cxnLst/>
              <a:rect l="l" t="t" r="r" b="b"/>
              <a:pathLst>
                <a:path w="1809750" h="504825">
                  <a:moveTo>
                    <a:pt x="1809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23825" y="476250"/>
                  </a:lnTo>
                  <a:lnTo>
                    <a:pt x="257175" y="495300"/>
                  </a:lnTo>
                  <a:lnTo>
                    <a:pt x="390525" y="504825"/>
                  </a:lnTo>
                  <a:lnTo>
                    <a:pt x="523875" y="504825"/>
                  </a:lnTo>
                  <a:lnTo>
                    <a:pt x="647700" y="495300"/>
                  </a:lnTo>
                  <a:lnTo>
                    <a:pt x="781050" y="476250"/>
                  </a:lnTo>
                  <a:lnTo>
                    <a:pt x="904875" y="447675"/>
                  </a:lnTo>
                  <a:lnTo>
                    <a:pt x="1028700" y="409575"/>
                  </a:lnTo>
                  <a:lnTo>
                    <a:pt x="1162050" y="390525"/>
                  </a:lnTo>
                  <a:lnTo>
                    <a:pt x="1285875" y="381000"/>
                  </a:lnTo>
                  <a:lnTo>
                    <a:pt x="1419225" y="381000"/>
                  </a:lnTo>
                  <a:lnTo>
                    <a:pt x="1552575" y="390525"/>
                  </a:lnTo>
                  <a:lnTo>
                    <a:pt x="1685925" y="409575"/>
                  </a:lnTo>
                  <a:lnTo>
                    <a:pt x="1809750" y="447675"/>
                  </a:lnTo>
                  <a:lnTo>
                    <a:pt x="1809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239000" y="5045075"/>
              <a:ext cx="1809750" cy="504825"/>
            </a:xfrm>
            <a:custGeom>
              <a:avLst/>
              <a:gdLst/>
              <a:ahLst/>
              <a:cxnLst/>
              <a:rect l="l" t="t" r="r" b="b"/>
              <a:pathLst>
                <a:path w="1809750" h="504825">
                  <a:moveTo>
                    <a:pt x="0" y="447675"/>
                  </a:moveTo>
                  <a:lnTo>
                    <a:pt x="0" y="0"/>
                  </a:lnTo>
                  <a:lnTo>
                    <a:pt x="1809750" y="0"/>
                  </a:lnTo>
                  <a:lnTo>
                    <a:pt x="1809750" y="447675"/>
                  </a:lnTo>
                  <a:lnTo>
                    <a:pt x="1685925" y="409575"/>
                  </a:lnTo>
                  <a:lnTo>
                    <a:pt x="1552575" y="390525"/>
                  </a:lnTo>
                  <a:lnTo>
                    <a:pt x="1419225" y="381000"/>
                  </a:lnTo>
                  <a:lnTo>
                    <a:pt x="1285875" y="381000"/>
                  </a:lnTo>
                  <a:lnTo>
                    <a:pt x="1162050" y="390525"/>
                  </a:lnTo>
                  <a:lnTo>
                    <a:pt x="1028700" y="409575"/>
                  </a:lnTo>
                  <a:lnTo>
                    <a:pt x="904875" y="447675"/>
                  </a:lnTo>
                  <a:lnTo>
                    <a:pt x="781050" y="476250"/>
                  </a:lnTo>
                  <a:lnTo>
                    <a:pt x="647700" y="495300"/>
                  </a:lnTo>
                  <a:lnTo>
                    <a:pt x="523875" y="504825"/>
                  </a:lnTo>
                  <a:lnTo>
                    <a:pt x="390525" y="504825"/>
                  </a:lnTo>
                  <a:lnTo>
                    <a:pt x="257175" y="495300"/>
                  </a:lnTo>
                  <a:lnTo>
                    <a:pt x="123825" y="476250"/>
                  </a:lnTo>
                  <a:lnTo>
                    <a:pt x="0" y="447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7267575" y="5051425"/>
            <a:ext cx="1134745" cy="33782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R="5080">
              <a:lnSpc>
                <a:spcPct val="105800"/>
              </a:lnSpc>
              <a:spcBef>
                <a:spcPts val="80"/>
              </a:spcBef>
            </a:pPr>
            <a:r>
              <a:rPr dirty="0" sz="650" spc="70">
                <a:latin typeface="Arial"/>
                <a:cs typeface="Arial"/>
              </a:rPr>
              <a:t>Vendor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95">
                <a:latin typeface="Arial"/>
                <a:cs typeface="Arial"/>
              </a:rPr>
              <a:t>No</a:t>
            </a:r>
            <a:r>
              <a:rPr dirty="0" sz="650" spc="10">
                <a:latin typeface="Arial"/>
                <a:cs typeface="Arial"/>
              </a:rPr>
              <a:t> </a:t>
            </a:r>
            <a:r>
              <a:rPr dirty="0" sz="650" spc="50">
                <a:latin typeface="Arial"/>
                <a:cs typeface="Arial"/>
              </a:rPr>
              <a:t>(LIFNR) </a:t>
            </a:r>
            <a:r>
              <a:rPr dirty="0" sz="650" spc="80">
                <a:latin typeface="Arial"/>
                <a:cs typeface="Arial"/>
              </a:rPr>
              <a:t>Company</a:t>
            </a:r>
            <a:r>
              <a:rPr dirty="0" sz="650" spc="5">
                <a:latin typeface="Arial"/>
                <a:cs typeface="Arial"/>
              </a:rPr>
              <a:t> </a:t>
            </a:r>
            <a:r>
              <a:rPr dirty="0" sz="650" spc="80">
                <a:latin typeface="Arial"/>
                <a:cs typeface="Arial"/>
              </a:rPr>
              <a:t>Code</a:t>
            </a:r>
            <a:r>
              <a:rPr dirty="0" sz="650" spc="5">
                <a:latin typeface="Arial"/>
                <a:cs typeface="Arial"/>
              </a:rPr>
              <a:t> </a:t>
            </a:r>
            <a:r>
              <a:rPr dirty="0" sz="650" spc="60">
                <a:latin typeface="Arial"/>
                <a:cs typeface="Arial"/>
              </a:rPr>
              <a:t>(BUKRS) </a:t>
            </a:r>
            <a:r>
              <a:rPr dirty="0" sz="650" spc="70">
                <a:latin typeface="Arial"/>
                <a:cs typeface="Arial"/>
              </a:rPr>
              <a:t>Dunning</a:t>
            </a:r>
            <a:r>
              <a:rPr dirty="0" sz="650" spc="15">
                <a:latin typeface="Arial"/>
                <a:cs typeface="Arial"/>
              </a:rPr>
              <a:t> </a:t>
            </a:r>
            <a:r>
              <a:rPr dirty="0" sz="650" spc="75">
                <a:latin typeface="Arial"/>
                <a:cs typeface="Arial"/>
              </a:rPr>
              <a:t>Area</a:t>
            </a:r>
            <a:r>
              <a:rPr dirty="0" sz="650" spc="15">
                <a:latin typeface="Arial"/>
                <a:cs typeface="Arial"/>
              </a:rPr>
              <a:t> </a:t>
            </a:r>
            <a:r>
              <a:rPr dirty="0" sz="650" spc="70">
                <a:latin typeface="Arial"/>
                <a:cs typeface="Arial"/>
              </a:rPr>
              <a:t>(MABER)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4067175" y="1035050"/>
            <a:ext cx="2390775" cy="409575"/>
            <a:chOff x="4067175" y="1035050"/>
            <a:chExt cx="2390775" cy="409575"/>
          </a:xfrm>
        </p:grpSpPr>
        <p:sp>
          <p:nvSpPr>
            <p:cNvPr id="40" name="object 40" descr=""/>
            <p:cNvSpPr/>
            <p:nvPr/>
          </p:nvSpPr>
          <p:spPr>
            <a:xfrm>
              <a:off x="4171950" y="1139825"/>
              <a:ext cx="2286000" cy="304800"/>
            </a:xfrm>
            <a:custGeom>
              <a:avLst/>
              <a:gdLst/>
              <a:ahLst/>
              <a:cxnLst/>
              <a:rect l="l" t="t" r="r" b="b"/>
              <a:pathLst>
                <a:path w="2286000" h="304800">
                  <a:moveTo>
                    <a:pt x="2286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86000" y="3048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067175" y="1035050"/>
              <a:ext cx="2286000" cy="304800"/>
            </a:xfrm>
            <a:custGeom>
              <a:avLst/>
              <a:gdLst/>
              <a:ahLst/>
              <a:cxnLst/>
              <a:rect l="l" t="t" r="r" b="b"/>
              <a:pathLst>
                <a:path w="2286000" h="304800">
                  <a:moveTo>
                    <a:pt x="2286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86000" y="3048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4067175" y="1035050"/>
            <a:ext cx="2286000" cy="304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714375">
              <a:lnSpc>
                <a:spcPct val="100000"/>
              </a:lnSpc>
              <a:spcBef>
                <a:spcPts val="325"/>
              </a:spcBef>
            </a:pPr>
            <a:r>
              <a:rPr dirty="0" sz="1250" spc="114" b="1">
                <a:latin typeface="Arial"/>
                <a:cs typeface="Arial"/>
              </a:rPr>
              <a:t>SAP</a:t>
            </a:r>
            <a:r>
              <a:rPr dirty="0" sz="1250" spc="25" b="1">
                <a:latin typeface="Arial"/>
                <a:cs typeface="Arial"/>
              </a:rPr>
              <a:t> </a:t>
            </a:r>
            <a:r>
              <a:rPr dirty="0" sz="1250" spc="65" b="1">
                <a:latin typeface="Arial"/>
                <a:cs typeface="Arial"/>
              </a:rPr>
              <a:t>FI/CO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14425" y="1368425"/>
            <a:ext cx="8486775" cy="5867400"/>
          </a:xfrm>
          <a:custGeom>
            <a:avLst/>
            <a:gdLst/>
            <a:ahLst/>
            <a:cxnLst/>
            <a:rect l="l" t="t" r="r" b="b"/>
            <a:pathLst>
              <a:path w="8486775" h="5867400">
                <a:moveTo>
                  <a:pt x="0" y="5867400"/>
                </a:moveTo>
                <a:lnTo>
                  <a:pt x="8486775" y="5867400"/>
                </a:lnTo>
                <a:lnTo>
                  <a:pt x="8486775" y="0"/>
                </a:lnTo>
                <a:lnTo>
                  <a:pt x="0" y="0"/>
                </a:lnTo>
                <a:lnTo>
                  <a:pt x="0" y="5867400"/>
                </a:lnTo>
                <a:close/>
              </a:path>
              <a:path w="8486775" h="5867400">
                <a:moveTo>
                  <a:pt x="438150" y="5619750"/>
                </a:moveTo>
                <a:lnTo>
                  <a:pt x="2609850" y="5619750"/>
                </a:lnTo>
                <a:lnTo>
                  <a:pt x="2609850" y="866775"/>
                </a:lnTo>
                <a:lnTo>
                  <a:pt x="438150" y="866775"/>
                </a:lnTo>
                <a:lnTo>
                  <a:pt x="438150" y="5619750"/>
                </a:lnTo>
                <a:close/>
              </a:path>
              <a:path w="8486775" h="5867400">
                <a:moveTo>
                  <a:pt x="3048000" y="5619750"/>
                </a:moveTo>
                <a:lnTo>
                  <a:pt x="5219700" y="5619750"/>
                </a:lnTo>
                <a:lnTo>
                  <a:pt x="5219700" y="866775"/>
                </a:lnTo>
                <a:lnTo>
                  <a:pt x="3048000" y="866775"/>
                </a:lnTo>
                <a:lnTo>
                  <a:pt x="3048000" y="5619750"/>
                </a:lnTo>
                <a:close/>
              </a:path>
              <a:path w="8486775" h="5867400">
                <a:moveTo>
                  <a:pt x="5876925" y="5619750"/>
                </a:moveTo>
                <a:lnTo>
                  <a:pt x="8048625" y="5619750"/>
                </a:lnTo>
                <a:lnTo>
                  <a:pt x="8048625" y="866775"/>
                </a:lnTo>
                <a:lnTo>
                  <a:pt x="5876925" y="866775"/>
                </a:lnTo>
                <a:lnTo>
                  <a:pt x="5876925" y="56197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511675" y="1031875"/>
            <a:ext cx="143573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Accounts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Receivable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45025" y="1708150"/>
            <a:ext cx="13119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 i="1">
                <a:latin typeface="Arial"/>
                <a:cs typeface="Arial"/>
              </a:rPr>
              <a:t>Customer</a:t>
            </a:r>
            <a:r>
              <a:rPr dirty="0" sz="950" spc="-10" b="1" i="1">
                <a:latin typeface="Arial"/>
                <a:cs typeface="Arial"/>
              </a:rPr>
              <a:t> </a:t>
            </a:r>
            <a:r>
              <a:rPr dirty="0" sz="950" b="1" i="1">
                <a:latin typeface="Arial"/>
                <a:cs typeface="Arial"/>
              </a:rPr>
              <a:t>Master</a:t>
            </a:r>
            <a:r>
              <a:rPr dirty="0" sz="950" spc="-10" b="1" i="1">
                <a:latin typeface="Arial"/>
                <a:cs typeface="Arial"/>
              </a:rPr>
              <a:t> </a:t>
            </a:r>
            <a:r>
              <a:rPr dirty="0" sz="950" spc="-20" b="1" i="1">
                <a:latin typeface="Arial"/>
                <a:cs typeface="Arial"/>
              </a:rPr>
              <a:t>Data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543175" y="3321050"/>
            <a:ext cx="5638800" cy="2152650"/>
          </a:xfrm>
          <a:custGeom>
            <a:avLst/>
            <a:gdLst/>
            <a:ahLst/>
            <a:cxnLst/>
            <a:rect l="l" t="t" r="r" b="b"/>
            <a:pathLst>
              <a:path w="5638800" h="2152650">
                <a:moveTo>
                  <a:pt x="5638800" y="1276350"/>
                </a:moveTo>
                <a:lnTo>
                  <a:pt x="5524500" y="1057275"/>
                </a:lnTo>
                <a:lnTo>
                  <a:pt x="5419725" y="1276350"/>
                </a:lnTo>
              </a:path>
              <a:path w="5638800" h="2152650">
                <a:moveTo>
                  <a:pt x="5524500" y="676275"/>
                </a:moveTo>
                <a:lnTo>
                  <a:pt x="5524500" y="1276350"/>
                </a:lnTo>
              </a:path>
              <a:path w="5638800" h="2152650">
                <a:moveTo>
                  <a:pt x="4629150" y="0"/>
                </a:moveTo>
                <a:lnTo>
                  <a:pt x="4410075" y="114300"/>
                </a:lnTo>
                <a:lnTo>
                  <a:pt x="4629150" y="219075"/>
                </a:lnTo>
              </a:path>
              <a:path w="5638800" h="2152650">
                <a:moveTo>
                  <a:pt x="3619500" y="114300"/>
                </a:moveTo>
                <a:lnTo>
                  <a:pt x="4629150" y="114300"/>
                </a:lnTo>
              </a:path>
              <a:path w="5638800" h="2152650">
                <a:moveTo>
                  <a:pt x="0" y="619125"/>
                </a:moveTo>
                <a:lnTo>
                  <a:pt x="114300" y="838200"/>
                </a:lnTo>
                <a:lnTo>
                  <a:pt x="219075" y="619125"/>
                </a:lnTo>
              </a:path>
              <a:path w="5638800" h="2152650">
                <a:moveTo>
                  <a:pt x="114300" y="952500"/>
                </a:moveTo>
                <a:lnTo>
                  <a:pt x="114300" y="619125"/>
                </a:lnTo>
              </a:path>
              <a:path w="5638800" h="2152650">
                <a:moveTo>
                  <a:pt x="828675" y="1514475"/>
                </a:moveTo>
                <a:lnTo>
                  <a:pt x="876300" y="1276350"/>
                </a:lnTo>
                <a:lnTo>
                  <a:pt x="657225" y="1371600"/>
                </a:lnTo>
              </a:path>
              <a:path w="5638800" h="2152650">
                <a:moveTo>
                  <a:pt x="1828800" y="114300"/>
                </a:moveTo>
                <a:lnTo>
                  <a:pt x="742950" y="1438275"/>
                </a:lnTo>
              </a:path>
              <a:path w="5638800" h="2152650">
                <a:moveTo>
                  <a:pt x="219075" y="2152650"/>
                </a:moveTo>
                <a:lnTo>
                  <a:pt x="114300" y="1933575"/>
                </a:lnTo>
                <a:lnTo>
                  <a:pt x="0" y="2152650"/>
                </a:lnTo>
              </a:path>
              <a:path w="5638800" h="2152650">
                <a:moveTo>
                  <a:pt x="114300" y="1752600"/>
                </a:moveTo>
                <a:lnTo>
                  <a:pt x="114300" y="21526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559675" y="2432050"/>
            <a:ext cx="10833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0" b="1">
                <a:latin typeface="Arial"/>
                <a:cs typeface="Arial"/>
              </a:rPr>
              <a:t>Company</a:t>
            </a:r>
            <a:r>
              <a:rPr dirty="0" sz="900" spc="-25" b="1">
                <a:latin typeface="Arial"/>
                <a:cs typeface="Arial"/>
              </a:rPr>
              <a:t> </a:t>
            </a:r>
            <a:r>
              <a:rPr dirty="0" sz="900" spc="-30" b="1">
                <a:latin typeface="Arial"/>
                <a:cs typeface="Arial"/>
              </a:rPr>
              <a:t>Code</a:t>
            </a:r>
            <a:r>
              <a:rPr dirty="0" sz="900" spc="-25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49825" y="2451100"/>
            <a:ext cx="6927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0" b="1">
                <a:latin typeface="Arial"/>
                <a:cs typeface="Arial"/>
              </a:rPr>
              <a:t>General</a:t>
            </a:r>
            <a:r>
              <a:rPr dirty="0" sz="900" spc="-25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78050" y="2451100"/>
            <a:ext cx="8451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latin typeface="Arial"/>
                <a:cs typeface="Arial"/>
              </a:rPr>
              <a:t>Sales Area </a:t>
            </a:r>
            <a:r>
              <a:rPr dirty="0" sz="900" spc="-20" b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048125" y="577850"/>
            <a:ext cx="2381250" cy="438150"/>
            <a:chOff x="4048125" y="577850"/>
            <a:chExt cx="2381250" cy="438150"/>
          </a:xfrm>
        </p:grpSpPr>
        <p:sp>
          <p:nvSpPr>
            <p:cNvPr id="10" name="object 10" descr=""/>
            <p:cNvSpPr/>
            <p:nvPr/>
          </p:nvSpPr>
          <p:spPr>
            <a:xfrm>
              <a:off x="4152900" y="692150"/>
              <a:ext cx="2276475" cy="323850"/>
            </a:xfrm>
            <a:custGeom>
              <a:avLst/>
              <a:gdLst/>
              <a:ahLst/>
              <a:cxnLst/>
              <a:rect l="l" t="t" r="r" b="b"/>
              <a:pathLst>
                <a:path w="2276475" h="323850">
                  <a:moveTo>
                    <a:pt x="2276475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2276475" y="323850"/>
                  </a:lnTo>
                  <a:lnTo>
                    <a:pt x="227647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48125" y="577850"/>
              <a:ext cx="2266950" cy="323850"/>
            </a:xfrm>
            <a:custGeom>
              <a:avLst/>
              <a:gdLst/>
              <a:ahLst/>
              <a:cxnLst/>
              <a:rect l="l" t="t" r="r" b="b"/>
              <a:pathLst>
                <a:path w="2266950" h="323850">
                  <a:moveTo>
                    <a:pt x="226695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2266950" y="323850"/>
                  </a:lnTo>
                  <a:lnTo>
                    <a:pt x="226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048125" y="577850"/>
            <a:ext cx="2266950" cy="323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714375">
              <a:lnSpc>
                <a:spcPct val="100000"/>
              </a:lnSpc>
              <a:spcBef>
                <a:spcPts val="300"/>
              </a:spcBef>
            </a:pPr>
            <a:r>
              <a:rPr dirty="0" sz="1350" b="1">
                <a:latin typeface="Arial"/>
                <a:cs typeface="Arial"/>
              </a:rPr>
              <a:t>SAP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10" b="1">
                <a:latin typeface="Arial"/>
                <a:cs typeface="Arial"/>
              </a:rPr>
              <a:t>FI/CO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371975" y="3292475"/>
            <a:ext cx="1790700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KNA1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(General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Data</a:t>
            </a:r>
            <a:r>
              <a:rPr dirty="0" sz="750" spc="4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</a:t>
            </a:r>
            <a:r>
              <a:rPr dirty="0" sz="750" spc="4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Customer</a:t>
            </a:r>
            <a:r>
              <a:rPr dirty="0" sz="750" spc="4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Master)</a:t>
            </a:r>
            <a:endParaRPr sz="75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371975" y="3568700"/>
            <a:ext cx="1790700" cy="381000"/>
          </a:xfrm>
          <a:custGeom>
            <a:avLst/>
            <a:gdLst/>
            <a:ahLst/>
            <a:cxnLst/>
            <a:rect l="l" t="t" r="r" b="b"/>
            <a:pathLst>
              <a:path w="1790700" h="381000">
                <a:moveTo>
                  <a:pt x="0" y="333375"/>
                </a:moveTo>
                <a:lnTo>
                  <a:pt x="0" y="0"/>
                </a:lnTo>
                <a:lnTo>
                  <a:pt x="1790700" y="0"/>
                </a:lnTo>
                <a:lnTo>
                  <a:pt x="1790700" y="333375"/>
                </a:lnTo>
                <a:lnTo>
                  <a:pt x="1647825" y="304800"/>
                </a:lnTo>
                <a:lnTo>
                  <a:pt x="1495425" y="285750"/>
                </a:lnTo>
                <a:lnTo>
                  <a:pt x="1190625" y="285750"/>
                </a:lnTo>
                <a:lnTo>
                  <a:pt x="1047750" y="304800"/>
                </a:lnTo>
                <a:lnTo>
                  <a:pt x="895350" y="333375"/>
                </a:lnTo>
                <a:lnTo>
                  <a:pt x="752475" y="361950"/>
                </a:lnTo>
                <a:lnTo>
                  <a:pt x="447675" y="381000"/>
                </a:lnTo>
                <a:lnTo>
                  <a:pt x="142875" y="361950"/>
                </a:lnTo>
                <a:lnTo>
                  <a:pt x="0" y="3333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378325" y="3565525"/>
            <a:ext cx="12547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100">
                <a:latin typeface="Arial"/>
                <a:cs typeface="Arial"/>
              </a:rPr>
              <a:t>Customer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20">
                <a:latin typeface="Arial"/>
                <a:cs typeface="Arial"/>
              </a:rPr>
              <a:t>No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100">
                <a:latin typeface="Arial"/>
                <a:cs typeface="Arial"/>
              </a:rPr>
              <a:t>(KUNNR)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172325" y="3292475"/>
            <a:ext cx="1790700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KNB1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(Customer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master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(company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code))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167562" y="3563937"/>
            <a:ext cx="1800225" cy="495300"/>
            <a:chOff x="7167562" y="3563937"/>
            <a:chExt cx="1800225" cy="495300"/>
          </a:xfrm>
        </p:grpSpPr>
        <p:sp>
          <p:nvSpPr>
            <p:cNvPr id="18" name="object 18" descr=""/>
            <p:cNvSpPr/>
            <p:nvPr/>
          </p:nvSpPr>
          <p:spPr>
            <a:xfrm>
              <a:off x="7172325" y="3568700"/>
              <a:ext cx="1790700" cy="485775"/>
            </a:xfrm>
            <a:custGeom>
              <a:avLst/>
              <a:gdLst/>
              <a:ahLst/>
              <a:cxnLst/>
              <a:rect l="l" t="t" r="r" b="b"/>
              <a:pathLst>
                <a:path w="1790700" h="485775">
                  <a:moveTo>
                    <a:pt x="1790700" y="0"/>
                  </a:moveTo>
                  <a:lnTo>
                    <a:pt x="0" y="0"/>
                  </a:lnTo>
                  <a:lnTo>
                    <a:pt x="0" y="428625"/>
                  </a:lnTo>
                  <a:lnTo>
                    <a:pt x="123825" y="457200"/>
                  </a:lnTo>
                  <a:lnTo>
                    <a:pt x="257175" y="476250"/>
                  </a:lnTo>
                  <a:lnTo>
                    <a:pt x="381000" y="485775"/>
                  </a:lnTo>
                  <a:lnTo>
                    <a:pt x="514350" y="485775"/>
                  </a:lnTo>
                  <a:lnTo>
                    <a:pt x="647700" y="476250"/>
                  </a:lnTo>
                  <a:lnTo>
                    <a:pt x="771525" y="457200"/>
                  </a:lnTo>
                  <a:lnTo>
                    <a:pt x="1019175" y="400050"/>
                  </a:lnTo>
                  <a:lnTo>
                    <a:pt x="1152525" y="371475"/>
                  </a:lnTo>
                  <a:lnTo>
                    <a:pt x="1543050" y="371475"/>
                  </a:lnTo>
                  <a:lnTo>
                    <a:pt x="1790700" y="428625"/>
                  </a:lnTo>
                  <a:lnTo>
                    <a:pt x="1790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172325" y="3568700"/>
              <a:ext cx="1790700" cy="485775"/>
            </a:xfrm>
            <a:custGeom>
              <a:avLst/>
              <a:gdLst/>
              <a:ahLst/>
              <a:cxnLst/>
              <a:rect l="l" t="t" r="r" b="b"/>
              <a:pathLst>
                <a:path w="1790700" h="485775">
                  <a:moveTo>
                    <a:pt x="0" y="428625"/>
                  </a:moveTo>
                  <a:lnTo>
                    <a:pt x="0" y="0"/>
                  </a:lnTo>
                  <a:lnTo>
                    <a:pt x="1790700" y="0"/>
                  </a:lnTo>
                  <a:lnTo>
                    <a:pt x="1790700" y="428625"/>
                  </a:lnTo>
                  <a:lnTo>
                    <a:pt x="1543050" y="371475"/>
                  </a:lnTo>
                  <a:lnTo>
                    <a:pt x="1152525" y="371475"/>
                  </a:lnTo>
                  <a:lnTo>
                    <a:pt x="1019175" y="400050"/>
                  </a:lnTo>
                  <a:lnTo>
                    <a:pt x="771525" y="457200"/>
                  </a:lnTo>
                  <a:lnTo>
                    <a:pt x="647700" y="476250"/>
                  </a:lnTo>
                  <a:lnTo>
                    <a:pt x="514350" y="485775"/>
                  </a:lnTo>
                  <a:lnTo>
                    <a:pt x="381000" y="485775"/>
                  </a:lnTo>
                  <a:lnTo>
                    <a:pt x="257175" y="476250"/>
                  </a:lnTo>
                  <a:lnTo>
                    <a:pt x="123825" y="457200"/>
                  </a:lnTo>
                  <a:lnTo>
                    <a:pt x="0" y="4286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178675" y="3556000"/>
            <a:ext cx="1349375" cy="273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dirty="0" sz="750" spc="100">
                <a:latin typeface="Arial"/>
                <a:cs typeface="Arial"/>
              </a:rPr>
              <a:t>Customer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20">
                <a:latin typeface="Arial"/>
                <a:cs typeface="Arial"/>
              </a:rPr>
              <a:t>No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100">
                <a:latin typeface="Arial"/>
                <a:cs typeface="Arial"/>
              </a:rPr>
              <a:t>(KUNNR) </a:t>
            </a:r>
            <a:r>
              <a:rPr dirty="0" sz="750" spc="105">
                <a:latin typeface="Arial"/>
                <a:cs typeface="Arial"/>
              </a:rPr>
              <a:t>Company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105">
                <a:latin typeface="Arial"/>
                <a:cs typeface="Arial"/>
              </a:rPr>
              <a:t>Code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(BUKRS)</a:t>
            </a:r>
            <a:endParaRPr sz="7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172325" y="4597400"/>
            <a:ext cx="1790700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KNB5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(Customer master</a:t>
            </a:r>
            <a:r>
              <a:rPr dirty="0" sz="750" spc="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(dunning</a:t>
            </a:r>
            <a:r>
              <a:rPr dirty="0" sz="750" spc="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data))</a:t>
            </a:r>
            <a:endParaRPr sz="75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172325" y="4873625"/>
            <a:ext cx="1790700" cy="485775"/>
          </a:xfrm>
          <a:custGeom>
            <a:avLst/>
            <a:gdLst/>
            <a:ahLst/>
            <a:cxnLst/>
            <a:rect l="l" t="t" r="r" b="b"/>
            <a:pathLst>
              <a:path w="1790700" h="485775">
                <a:moveTo>
                  <a:pt x="0" y="428625"/>
                </a:moveTo>
                <a:lnTo>
                  <a:pt x="0" y="0"/>
                </a:lnTo>
                <a:lnTo>
                  <a:pt x="1790700" y="0"/>
                </a:lnTo>
                <a:lnTo>
                  <a:pt x="1790700" y="428625"/>
                </a:lnTo>
                <a:lnTo>
                  <a:pt x="1543050" y="371475"/>
                </a:lnTo>
                <a:lnTo>
                  <a:pt x="1409700" y="361950"/>
                </a:lnTo>
                <a:lnTo>
                  <a:pt x="1285875" y="361950"/>
                </a:lnTo>
                <a:lnTo>
                  <a:pt x="1152525" y="371475"/>
                </a:lnTo>
                <a:lnTo>
                  <a:pt x="1019175" y="400050"/>
                </a:lnTo>
                <a:lnTo>
                  <a:pt x="771525" y="457200"/>
                </a:lnTo>
                <a:lnTo>
                  <a:pt x="647700" y="476250"/>
                </a:lnTo>
                <a:lnTo>
                  <a:pt x="514350" y="485775"/>
                </a:lnTo>
                <a:lnTo>
                  <a:pt x="381000" y="485775"/>
                </a:lnTo>
                <a:lnTo>
                  <a:pt x="257175" y="476250"/>
                </a:lnTo>
                <a:lnTo>
                  <a:pt x="123825" y="457200"/>
                </a:lnTo>
                <a:lnTo>
                  <a:pt x="0" y="4286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178675" y="4870450"/>
            <a:ext cx="1349375" cy="3778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60"/>
              </a:spcBef>
            </a:pPr>
            <a:r>
              <a:rPr dirty="0" sz="750" spc="100">
                <a:latin typeface="Arial"/>
                <a:cs typeface="Arial"/>
              </a:rPr>
              <a:t>Customer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20">
                <a:latin typeface="Arial"/>
                <a:cs typeface="Arial"/>
              </a:rPr>
              <a:t>No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100">
                <a:latin typeface="Arial"/>
                <a:cs typeface="Arial"/>
              </a:rPr>
              <a:t>(KUNNR) </a:t>
            </a:r>
            <a:r>
              <a:rPr dirty="0" sz="750" spc="105">
                <a:latin typeface="Arial"/>
                <a:cs typeface="Arial"/>
              </a:rPr>
              <a:t>Company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105">
                <a:latin typeface="Arial"/>
                <a:cs typeface="Arial"/>
              </a:rPr>
              <a:t>Code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(BUKRS) Dunning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Area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(MABER)</a:t>
            </a:r>
            <a:endParaRPr sz="7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62125" y="2863850"/>
            <a:ext cx="1790700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KNVP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750" b="1">
                <a:latin typeface="Arial"/>
                <a:cs typeface="Arial"/>
              </a:rPr>
              <a:t>(Customer</a:t>
            </a:r>
            <a:r>
              <a:rPr dirty="0" sz="750" spc="5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Master</a:t>
            </a:r>
            <a:r>
              <a:rPr dirty="0" sz="750" spc="5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Partner</a:t>
            </a:r>
            <a:r>
              <a:rPr dirty="0" sz="750" spc="6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Functions)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757362" y="3125787"/>
            <a:ext cx="1800225" cy="933450"/>
            <a:chOff x="1757362" y="3125787"/>
            <a:chExt cx="1800225" cy="933450"/>
          </a:xfrm>
        </p:grpSpPr>
        <p:sp>
          <p:nvSpPr>
            <p:cNvPr id="26" name="object 26" descr=""/>
            <p:cNvSpPr/>
            <p:nvPr/>
          </p:nvSpPr>
          <p:spPr>
            <a:xfrm>
              <a:off x="1762125" y="3130550"/>
              <a:ext cx="1790700" cy="923925"/>
            </a:xfrm>
            <a:custGeom>
              <a:avLst/>
              <a:gdLst/>
              <a:ahLst/>
              <a:cxnLst/>
              <a:rect l="l" t="t" r="r" b="b"/>
              <a:pathLst>
                <a:path w="1790700" h="923925">
                  <a:moveTo>
                    <a:pt x="1790700" y="0"/>
                  </a:moveTo>
                  <a:lnTo>
                    <a:pt x="0" y="0"/>
                  </a:lnTo>
                  <a:lnTo>
                    <a:pt x="0" y="809625"/>
                  </a:lnTo>
                  <a:lnTo>
                    <a:pt x="171450" y="885825"/>
                  </a:lnTo>
                  <a:lnTo>
                    <a:pt x="257175" y="904875"/>
                  </a:lnTo>
                  <a:lnTo>
                    <a:pt x="352425" y="923925"/>
                  </a:lnTo>
                  <a:lnTo>
                    <a:pt x="533400" y="923925"/>
                  </a:lnTo>
                  <a:lnTo>
                    <a:pt x="723900" y="885825"/>
                  </a:lnTo>
                  <a:lnTo>
                    <a:pt x="981075" y="771525"/>
                  </a:lnTo>
                  <a:lnTo>
                    <a:pt x="1152525" y="714375"/>
                  </a:lnTo>
                  <a:lnTo>
                    <a:pt x="1343025" y="695325"/>
                  </a:lnTo>
                  <a:lnTo>
                    <a:pt x="1533525" y="714375"/>
                  </a:lnTo>
                  <a:lnTo>
                    <a:pt x="1704975" y="771525"/>
                  </a:lnTo>
                  <a:lnTo>
                    <a:pt x="1790700" y="809625"/>
                  </a:lnTo>
                  <a:lnTo>
                    <a:pt x="1790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762125" y="3130550"/>
              <a:ext cx="1790700" cy="923925"/>
            </a:xfrm>
            <a:custGeom>
              <a:avLst/>
              <a:gdLst/>
              <a:ahLst/>
              <a:cxnLst/>
              <a:rect l="l" t="t" r="r" b="b"/>
              <a:pathLst>
                <a:path w="1790700" h="923925">
                  <a:moveTo>
                    <a:pt x="0" y="809625"/>
                  </a:moveTo>
                  <a:lnTo>
                    <a:pt x="0" y="0"/>
                  </a:lnTo>
                  <a:lnTo>
                    <a:pt x="1790700" y="0"/>
                  </a:lnTo>
                  <a:lnTo>
                    <a:pt x="1790700" y="809625"/>
                  </a:lnTo>
                  <a:lnTo>
                    <a:pt x="1704975" y="771525"/>
                  </a:lnTo>
                  <a:lnTo>
                    <a:pt x="1533525" y="714375"/>
                  </a:lnTo>
                  <a:lnTo>
                    <a:pt x="1343025" y="695325"/>
                  </a:lnTo>
                  <a:lnTo>
                    <a:pt x="1152525" y="714375"/>
                  </a:lnTo>
                  <a:lnTo>
                    <a:pt x="981075" y="771525"/>
                  </a:lnTo>
                  <a:lnTo>
                    <a:pt x="723900" y="885825"/>
                  </a:lnTo>
                  <a:lnTo>
                    <a:pt x="533400" y="923925"/>
                  </a:lnTo>
                  <a:lnTo>
                    <a:pt x="352425" y="923925"/>
                  </a:lnTo>
                  <a:lnTo>
                    <a:pt x="257175" y="904875"/>
                  </a:lnTo>
                  <a:lnTo>
                    <a:pt x="171450" y="885825"/>
                  </a:lnTo>
                  <a:lnTo>
                    <a:pt x="0" y="8096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768475" y="3136900"/>
            <a:ext cx="1376680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0645">
              <a:lnSpc>
                <a:spcPct val="100000"/>
              </a:lnSpc>
              <a:spcBef>
                <a:spcPts val="100"/>
              </a:spcBef>
            </a:pPr>
            <a:r>
              <a:rPr dirty="0" sz="750" spc="100">
                <a:latin typeface="Arial"/>
                <a:cs typeface="Arial"/>
              </a:rPr>
              <a:t>Customer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20">
                <a:latin typeface="Arial"/>
                <a:cs typeface="Arial"/>
              </a:rPr>
              <a:t>No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100">
                <a:latin typeface="Arial"/>
                <a:cs typeface="Arial"/>
              </a:rPr>
              <a:t>(KUNNR) </a:t>
            </a:r>
            <a:r>
              <a:rPr dirty="0" sz="750" spc="70">
                <a:latin typeface="Arial"/>
                <a:cs typeface="Arial"/>
              </a:rPr>
              <a:t>Sales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Org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(VKORG) </a:t>
            </a:r>
            <a:r>
              <a:rPr dirty="0" sz="750" spc="55">
                <a:latin typeface="Arial"/>
                <a:cs typeface="Arial"/>
              </a:rPr>
              <a:t>Distribution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10">
                <a:latin typeface="Arial"/>
                <a:cs typeface="Arial"/>
              </a:rPr>
              <a:t>Ch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(VTWEG) </a:t>
            </a:r>
            <a:r>
              <a:rPr dirty="0" sz="750" spc="70">
                <a:latin typeface="Arial"/>
                <a:cs typeface="Arial"/>
              </a:rPr>
              <a:t>Division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(SPART)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spc="65">
                <a:latin typeface="Arial"/>
                <a:cs typeface="Arial"/>
              </a:rPr>
              <a:t>Partner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65">
                <a:latin typeface="Arial"/>
                <a:cs typeface="Arial"/>
              </a:rPr>
              <a:t>Function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(PARVW)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750" spc="65">
                <a:latin typeface="Arial"/>
                <a:cs typeface="Arial"/>
              </a:rPr>
              <a:t>Partner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Counter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(PARZA)</a:t>
            </a:r>
            <a:endParaRPr sz="750">
              <a:latin typeface="Arial"/>
              <a:cs typeface="Arial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1762125" y="4273550"/>
            <a:ext cx="1790700" cy="266700"/>
          </a:xfrm>
          <a:custGeom>
            <a:avLst/>
            <a:gdLst/>
            <a:ahLst/>
            <a:cxnLst/>
            <a:rect l="l" t="t" r="r" b="b"/>
            <a:pathLst>
              <a:path w="1790700" h="266700">
                <a:moveTo>
                  <a:pt x="1790700" y="0"/>
                </a:moveTo>
                <a:lnTo>
                  <a:pt x="0" y="0"/>
                </a:lnTo>
                <a:lnTo>
                  <a:pt x="0" y="266700"/>
                </a:lnTo>
                <a:lnTo>
                  <a:pt x="1790700" y="266700"/>
                </a:lnTo>
                <a:lnTo>
                  <a:pt x="1790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762125" y="4273550"/>
            <a:ext cx="1790700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KNVV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(Customer</a:t>
            </a:r>
            <a:r>
              <a:rPr dirty="0" sz="750" spc="7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Master</a:t>
            </a:r>
            <a:r>
              <a:rPr dirty="0" sz="750" spc="8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Sales</a:t>
            </a:r>
            <a:r>
              <a:rPr dirty="0" sz="750" spc="9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Data)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757362" y="4535487"/>
            <a:ext cx="1800225" cy="609600"/>
            <a:chOff x="1757362" y="4535487"/>
            <a:chExt cx="1800225" cy="609600"/>
          </a:xfrm>
        </p:grpSpPr>
        <p:sp>
          <p:nvSpPr>
            <p:cNvPr id="32" name="object 32" descr=""/>
            <p:cNvSpPr/>
            <p:nvPr/>
          </p:nvSpPr>
          <p:spPr>
            <a:xfrm>
              <a:off x="1762125" y="4540250"/>
              <a:ext cx="1790700" cy="600075"/>
            </a:xfrm>
            <a:custGeom>
              <a:avLst/>
              <a:gdLst/>
              <a:ahLst/>
              <a:cxnLst/>
              <a:rect l="l" t="t" r="r" b="b"/>
              <a:pathLst>
                <a:path w="1790700" h="600075">
                  <a:moveTo>
                    <a:pt x="17907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04775" y="561975"/>
                  </a:lnTo>
                  <a:lnTo>
                    <a:pt x="333375" y="600075"/>
                  </a:lnTo>
                  <a:lnTo>
                    <a:pt x="561975" y="600075"/>
                  </a:lnTo>
                  <a:lnTo>
                    <a:pt x="676275" y="581025"/>
                  </a:lnTo>
                  <a:lnTo>
                    <a:pt x="781050" y="561975"/>
                  </a:lnTo>
                  <a:lnTo>
                    <a:pt x="895350" y="533400"/>
                  </a:lnTo>
                  <a:lnTo>
                    <a:pt x="1000125" y="495300"/>
                  </a:lnTo>
                  <a:lnTo>
                    <a:pt x="1228725" y="457200"/>
                  </a:lnTo>
                  <a:lnTo>
                    <a:pt x="1457325" y="457200"/>
                  </a:lnTo>
                  <a:lnTo>
                    <a:pt x="1685925" y="495300"/>
                  </a:lnTo>
                  <a:lnTo>
                    <a:pt x="1790700" y="533400"/>
                  </a:lnTo>
                  <a:lnTo>
                    <a:pt x="1790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762125" y="4540250"/>
              <a:ext cx="1790700" cy="600075"/>
            </a:xfrm>
            <a:custGeom>
              <a:avLst/>
              <a:gdLst/>
              <a:ahLst/>
              <a:cxnLst/>
              <a:rect l="l" t="t" r="r" b="b"/>
              <a:pathLst>
                <a:path w="1790700" h="600075">
                  <a:moveTo>
                    <a:pt x="0" y="533400"/>
                  </a:moveTo>
                  <a:lnTo>
                    <a:pt x="0" y="0"/>
                  </a:lnTo>
                  <a:lnTo>
                    <a:pt x="1790700" y="0"/>
                  </a:lnTo>
                  <a:lnTo>
                    <a:pt x="1790700" y="533400"/>
                  </a:lnTo>
                  <a:lnTo>
                    <a:pt x="1685925" y="495300"/>
                  </a:lnTo>
                  <a:lnTo>
                    <a:pt x="1457325" y="457200"/>
                  </a:lnTo>
                  <a:lnTo>
                    <a:pt x="1228725" y="457200"/>
                  </a:lnTo>
                  <a:lnTo>
                    <a:pt x="1000125" y="495300"/>
                  </a:lnTo>
                  <a:lnTo>
                    <a:pt x="895350" y="533400"/>
                  </a:lnTo>
                  <a:lnTo>
                    <a:pt x="781050" y="561975"/>
                  </a:lnTo>
                  <a:lnTo>
                    <a:pt x="676275" y="581025"/>
                  </a:lnTo>
                  <a:lnTo>
                    <a:pt x="561975" y="600075"/>
                  </a:lnTo>
                  <a:lnTo>
                    <a:pt x="333375" y="600075"/>
                  </a:lnTo>
                  <a:lnTo>
                    <a:pt x="104775" y="561975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768475" y="4546600"/>
            <a:ext cx="1301115" cy="4921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75"/>
              </a:spcBef>
            </a:pPr>
            <a:r>
              <a:rPr dirty="0" sz="750" spc="100">
                <a:latin typeface="Arial"/>
                <a:cs typeface="Arial"/>
              </a:rPr>
              <a:t>Customer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20">
                <a:latin typeface="Arial"/>
                <a:cs typeface="Arial"/>
              </a:rPr>
              <a:t>No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100">
                <a:latin typeface="Arial"/>
                <a:cs typeface="Arial"/>
              </a:rPr>
              <a:t>(KUNNR) </a:t>
            </a:r>
            <a:r>
              <a:rPr dirty="0" sz="750" spc="70">
                <a:latin typeface="Arial"/>
                <a:cs typeface="Arial"/>
              </a:rPr>
              <a:t>Sales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Org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(VKORG) </a:t>
            </a:r>
            <a:r>
              <a:rPr dirty="0" sz="750" spc="55">
                <a:latin typeface="Arial"/>
                <a:cs typeface="Arial"/>
              </a:rPr>
              <a:t>Distribution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10">
                <a:latin typeface="Arial"/>
                <a:cs typeface="Arial"/>
              </a:rPr>
              <a:t>Ch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(VTWEG) </a:t>
            </a:r>
            <a:r>
              <a:rPr dirty="0" sz="750" spc="70">
                <a:latin typeface="Arial"/>
                <a:cs typeface="Arial"/>
              </a:rPr>
              <a:t>Division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(SPART)</a:t>
            </a:r>
            <a:endParaRPr sz="75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762125" y="5473700"/>
            <a:ext cx="1790700" cy="3714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KNVD</a:t>
            </a:r>
            <a:endParaRPr sz="750">
              <a:latin typeface="Arial"/>
              <a:cs typeface="Arial"/>
            </a:endParaRPr>
          </a:p>
          <a:p>
            <a:pPr marL="19050" marR="315595">
              <a:lnSpc>
                <a:spcPct val="100000"/>
              </a:lnSpc>
              <a:spcBef>
                <a:spcPts val="75"/>
              </a:spcBef>
            </a:pPr>
            <a:r>
              <a:rPr dirty="0" sz="750" b="1">
                <a:latin typeface="Arial"/>
                <a:cs typeface="Arial"/>
              </a:rPr>
              <a:t>(Customer</a:t>
            </a:r>
            <a:r>
              <a:rPr dirty="0" sz="750" spc="8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master</a:t>
            </a:r>
            <a:r>
              <a:rPr dirty="0" sz="750" spc="8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record</a:t>
            </a:r>
            <a:r>
              <a:rPr dirty="0" sz="750" spc="8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sales </a:t>
            </a:r>
            <a:r>
              <a:rPr dirty="0" sz="750" b="1">
                <a:latin typeface="Arial"/>
                <a:cs typeface="Arial"/>
              </a:rPr>
              <a:t>request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spc="-20" b="1">
                <a:latin typeface="Arial"/>
                <a:cs typeface="Arial"/>
              </a:rPr>
              <a:t>form)</a:t>
            </a:r>
            <a:endParaRPr sz="750">
              <a:latin typeface="Arial"/>
              <a:cs typeface="Arial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1762125" y="5845175"/>
            <a:ext cx="1790700" cy="981075"/>
          </a:xfrm>
          <a:custGeom>
            <a:avLst/>
            <a:gdLst/>
            <a:ahLst/>
            <a:cxnLst/>
            <a:rect l="l" t="t" r="r" b="b"/>
            <a:pathLst>
              <a:path w="1790700" h="981075">
                <a:moveTo>
                  <a:pt x="0" y="857250"/>
                </a:moveTo>
                <a:lnTo>
                  <a:pt x="0" y="0"/>
                </a:lnTo>
                <a:lnTo>
                  <a:pt x="1790700" y="0"/>
                </a:lnTo>
                <a:lnTo>
                  <a:pt x="1790700" y="857250"/>
                </a:lnTo>
                <a:lnTo>
                  <a:pt x="1619250" y="781050"/>
                </a:lnTo>
                <a:lnTo>
                  <a:pt x="1533525" y="762000"/>
                </a:lnTo>
                <a:lnTo>
                  <a:pt x="1438275" y="742950"/>
                </a:lnTo>
                <a:lnTo>
                  <a:pt x="1247775" y="742950"/>
                </a:lnTo>
                <a:lnTo>
                  <a:pt x="1152525" y="762000"/>
                </a:lnTo>
                <a:lnTo>
                  <a:pt x="1066800" y="781050"/>
                </a:lnTo>
                <a:lnTo>
                  <a:pt x="895350" y="857250"/>
                </a:lnTo>
                <a:lnTo>
                  <a:pt x="809625" y="904875"/>
                </a:lnTo>
                <a:lnTo>
                  <a:pt x="723900" y="942975"/>
                </a:lnTo>
                <a:lnTo>
                  <a:pt x="628650" y="962025"/>
                </a:lnTo>
                <a:lnTo>
                  <a:pt x="542925" y="981075"/>
                </a:lnTo>
                <a:lnTo>
                  <a:pt x="352425" y="981075"/>
                </a:lnTo>
                <a:lnTo>
                  <a:pt x="257175" y="962025"/>
                </a:lnTo>
                <a:lnTo>
                  <a:pt x="171450" y="942975"/>
                </a:lnTo>
                <a:lnTo>
                  <a:pt x="76200" y="904875"/>
                </a:lnTo>
                <a:lnTo>
                  <a:pt x="0" y="857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1768475" y="5851525"/>
            <a:ext cx="1358900" cy="7207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62230">
              <a:lnSpc>
                <a:spcPct val="102800"/>
              </a:lnSpc>
              <a:spcBef>
                <a:spcPts val="75"/>
              </a:spcBef>
            </a:pPr>
            <a:r>
              <a:rPr dirty="0" sz="750" spc="100">
                <a:latin typeface="Arial"/>
                <a:cs typeface="Arial"/>
              </a:rPr>
              <a:t>Customer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20">
                <a:latin typeface="Arial"/>
                <a:cs typeface="Arial"/>
              </a:rPr>
              <a:t>No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100">
                <a:latin typeface="Arial"/>
                <a:cs typeface="Arial"/>
              </a:rPr>
              <a:t>(KUNNR) </a:t>
            </a:r>
            <a:r>
              <a:rPr dirty="0" sz="750" spc="70">
                <a:latin typeface="Arial"/>
                <a:cs typeface="Arial"/>
              </a:rPr>
              <a:t>Sales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Org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(VKORG) </a:t>
            </a:r>
            <a:r>
              <a:rPr dirty="0" sz="750" spc="55">
                <a:latin typeface="Arial"/>
                <a:cs typeface="Arial"/>
              </a:rPr>
              <a:t>Distribution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10">
                <a:latin typeface="Arial"/>
                <a:cs typeface="Arial"/>
              </a:rPr>
              <a:t>Ch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(VTWEG) </a:t>
            </a:r>
            <a:r>
              <a:rPr dirty="0" sz="750" spc="70">
                <a:latin typeface="Arial"/>
                <a:cs typeface="Arial"/>
              </a:rPr>
              <a:t>Division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(SPART)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 spc="70">
                <a:latin typeface="Arial"/>
                <a:cs typeface="Arial"/>
              </a:rPr>
              <a:t>Output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Type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(NA_KSCHL) </a:t>
            </a:r>
            <a:r>
              <a:rPr dirty="0" sz="750" spc="100">
                <a:latin typeface="Arial"/>
                <a:cs typeface="Arial"/>
              </a:rPr>
              <a:t>Mess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95">
                <a:latin typeface="Arial"/>
                <a:cs typeface="Arial"/>
              </a:rPr>
              <a:t>Language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(SPRAS)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71675" y="5064125"/>
            <a:ext cx="6667500" cy="2085975"/>
          </a:xfrm>
          <a:custGeom>
            <a:avLst/>
            <a:gdLst/>
            <a:ahLst/>
            <a:cxnLst/>
            <a:rect l="l" t="t" r="r" b="b"/>
            <a:pathLst>
              <a:path w="6667500" h="2085975">
                <a:moveTo>
                  <a:pt x="0" y="2085975"/>
                </a:moveTo>
                <a:lnTo>
                  <a:pt x="6667500" y="2085975"/>
                </a:lnTo>
                <a:lnTo>
                  <a:pt x="6667500" y="0"/>
                </a:lnTo>
                <a:lnTo>
                  <a:pt x="0" y="0"/>
                </a:lnTo>
                <a:lnTo>
                  <a:pt x="0" y="2085975"/>
                </a:lnTo>
                <a:close/>
              </a:path>
              <a:path w="6667500" h="2085975">
                <a:moveTo>
                  <a:pt x="1819275" y="962025"/>
                </a:moveTo>
                <a:lnTo>
                  <a:pt x="2028825" y="876300"/>
                </a:lnTo>
                <a:lnTo>
                  <a:pt x="1838325" y="762000"/>
                </a:lnTo>
              </a:path>
              <a:path w="6667500" h="2085975">
                <a:moveTo>
                  <a:pt x="2400300" y="914400"/>
                </a:moveTo>
                <a:lnTo>
                  <a:pt x="1828800" y="8572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559300" y="1003300"/>
            <a:ext cx="83566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Master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553200" y="58737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0" y="104775"/>
                </a:lnTo>
                <a:lnTo>
                  <a:pt x="209550" y="2095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00150" y="1901825"/>
            <a:ext cx="1714500" cy="1704975"/>
          </a:xfrm>
          <a:custGeom>
            <a:avLst/>
            <a:gdLst/>
            <a:ahLst/>
            <a:cxnLst/>
            <a:rect l="l" t="t" r="r" b="b"/>
            <a:pathLst>
              <a:path w="1714500" h="1704975">
                <a:moveTo>
                  <a:pt x="962025" y="1704975"/>
                </a:moveTo>
                <a:lnTo>
                  <a:pt x="857250" y="1495425"/>
                </a:lnTo>
                <a:lnTo>
                  <a:pt x="752475" y="1704975"/>
                </a:lnTo>
              </a:path>
              <a:path w="1714500" h="1704975">
                <a:moveTo>
                  <a:pt x="857250" y="647700"/>
                </a:moveTo>
                <a:lnTo>
                  <a:pt x="857250" y="1704975"/>
                </a:lnTo>
              </a:path>
              <a:path w="1714500" h="1704975">
                <a:moveTo>
                  <a:pt x="0" y="257175"/>
                </a:moveTo>
                <a:lnTo>
                  <a:pt x="1714500" y="257175"/>
                </a:lnTo>
                <a:lnTo>
                  <a:pt x="1714500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206625" y="5299075"/>
            <a:ext cx="8445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latin typeface="Arial"/>
                <a:cs typeface="Arial"/>
              </a:rPr>
              <a:t>General</a:t>
            </a:r>
            <a:r>
              <a:rPr dirty="0" sz="800" spc="26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Ledger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838950" y="1682750"/>
            <a:ext cx="1714500" cy="2200275"/>
          </a:xfrm>
          <a:custGeom>
            <a:avLst/>
            <a:gdLst/>
            <a:ahLst/>
            <a:cxnLst/>
            <a:rect l="l" t="t" r="r" b="b"/>
            <a:pathLst>
              <a:path w="1714500" h="2200275">
                <a:moveTo>
                  <a:pt x="1666875" y="1000125"/>
                </a:moveTo>
                <a:lnTo>
                  <a:pt x="1438275" y="981075"/>
                </a:lnTo>
                <a:lnTo>
                  <a:pt x="1562100" y="1181100"/>
                </a:lnTo>
              </a:path>
              <a:path w="1714500" h="2200275">
                <a:moveTo>
                  <a:pt x="857250" y="638175"/>
                </a:moveTo>
                <a:lnTo>
                  <a:pt x="1619250" y="1095375"/>
                </a:lnTo>
              </a:path>
              <a:path w="1714500" h="2200275">
                <a:moveTo>
                  <a:pt x="257175" y="2200275"/>
                </a:moveTo>
                <a:lnTo>
                  <a:pt x="247650" y="1971675"/>
                </a:lnTo>
                <a:lnTo>
                  <a:pt x="66675" y="2114550"/>
                </a:lnTo>
              </a:path>
              <a:path w="1714500" h="2200275">
                <a:moveTo>
                  <a:pt x="857250" y="638175"/>
                </a:moveTo>
                <a:lnTo>
                  <a:pt x="161925" y="2162175"/>
                </a:lnTo>
              </a:path>
              <a:path w="1714500" h="2200275">
                <a:moveTo>
                  <a:pt x="0" y="361950"/>
                </a:moveTo>
                <a:lnTo>
                  <a:pt x="1714500" y="361950"/>
                </a:lnTo>
                <a:lnTo>
                  <a:pt x="1714500" y="0"/>
                </a:lnTo>
                <a:lnTo>
                  <a:pt x="0" y="0"/>
                </a:lnTo>
                <a:lnTo>
                  <a:pt x="0" y="3619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3709987" y="1906587"/>
            <a:ext cx="1733550" cy="1962150"/>
            <a:chOff x="3709987" y="1906587"/>
            <a:chExt cx="1733550" cy="1962150"/>
          </a:xfrm>
        </p:grpSpPr>
        <p:sp>
          <p:nvSpPr>
            <p:cNvPr id="9" name="object 9" descr=""/>
            <p:cNvSpPr/>
            <p:nvPr/>
          </p:nvSpPr>
          <p:spPr>
            <a:xfrm>
              <a:off x="3714750" y="1911350"/>
              <a:ext cx="1724025" cy="1695450"/>
            </a:xfrm>
            <a:custGeom>
              <a:avLst/>
              <a:gdLst/>
              <a:ahLst/>
              <a:cxnLst/>
              <a:rect l="l" t="t" r="r" b="b"/>
              <a:pathLst>
                <a:path w="1724025" h="1695450">
                  <a:moveTo>
                    <a:pt x="962025" y="1695450"/>
                  </a:moveTo>
                  <a:lnTo>
                    <a:pt x="866775" y="1485900"/>
                  </a:lnTo>
                  <a:lnTo>
                    <a:pt x="762000" y="1695450"/>
                  </a:lnTo>
                </a:path>
                <a:path w="1724025" h="1695450">
                  <a:moveTo>
                    <a:pt x="866775" y="628650"/>
                  </a:moveTo>
                  <a:lnTo>
                    <a:pt x="866775" y="1695450"/>
                  </a:lnTo>
                </a:path>
                <a:path w="1724025" h="1695450">
                  <a:moveTo>
                    <a:pt x="0" y="266700"/>
                  </a:moveTo>
                  <a:lnTo>
                    <a:pt x="1724025" y="266700"/>
                  </a:lnTo>
                  <a:lnTo>
                    <a:pt x="172402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714750" y="2149475"/>
              <a:ext cx="1724025" cy="438150"/>
            </a:xfrm>
            <a:custGeom>
              <a:avLst/>
              <a:gdLst/>
              <a:ahLst/>
              <a:cxnLst/>
              <a:rect l="l" t="t" r="r" b="b"/>
              <a:pathLst>
                <a:path w="1724025" h="438150">
                  <a:moveTo>
                    <a:pt x="1724025" y="0"/>
                  </a:moveTo>
                  <a:lnTo>
                    <a:pt x="0" y="0"/>
                  </a:lnTo>
                  <a:lnTo>
                    <a:pt x="0" y="390525"/>
                  </a:lnTo>
                  <a:lnTo>
                    <a:pt x="123825" y="419100"/>
                  </a:lnTo>
                  <a:lnTo>
                    <a:pt x="371475" y="438150"/>
                  </a:lnTo>
                  <a:lnTo>
                    <a:pt x="495300" y="438150"/>
                  </a:lnTo>
                  <a:lnTo>
                    <a:pt x="742950" y="419100"/>
                  </a:lnTo>
                  <a:lnTo>
                    <a:pt x="866775" y="390525"/>
                  </a:lnTo>
                  <a:lnTo>
                    <a:pt x="981075" y="361950"/>
                  </a:lnTo>
                  <a:lnTo>
                    <a:pt x="1104900" y="342900"/>
                  </a:lnTo>
                  <a:lnTo>
                    <a:pt x="1228725" y="333375"/>
                  </a:lnTo>
                  <a:lnTo>
                    <a:pt x="1352550" y="333375"/>
                  </a:lnTo>
                  <a:lnTo>
                    <a:pt x="1476375" y="342900"/>
                  </a:lnTo>
                  <a:lnTo>
                    <a:pt x="1600200" y="361950"/>
                  </a:lnTo>
                  <a:lnTo>
                    <a:pt x="1724025" y="390525"/>
                  </a:lnTo>
                  <a:lnTo>
                    <a:pt x="172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14750" y="2149475"/>
              <a:ext cx="1724025" cy="1714500"/>
            </a:xfrm>
            <a:custGeom>
              <a:avLst/>
              <a:gdLst/>
              <a:ahLst/>
              <a:cxnLst/>
              <a:rect l="l" t="t" r="r" b="b"/>
              <a:pathLst>
                <a:path w="1724025" h="1714500">
                  <a:moveTo>
                    <a:pt x="0" y="390525"/>
                  </a:moveTo>
                  <a:lnTo>
                    <a:pt x="0" y="0"/>
                  </a:lnTo>
                  <a:lnTo>
                    <a:pt x="1724025" y="0"/>
                  </a:lnTo>
                  <a:lnTo>
                    <a:pt x="1724025" y="390525"/>
                  </a:lnTo>
                  <a:lnTo>
                    <a:pt x="1600200" y="361950"/>
                  </a:lnTo>
                  <a:lnTo>
                    <a:pt x="1476375" y="342900"/>
                  </a:lnTo>
                  <a:lnTo>
                    <a:pt x="1352550" y="333375"/>
                  </a:lnTo>
                  <a:lnTo>
                    <a:pt x="1228725" y="333375"/>
                  </a:lnTo>
                  <a:lnTo>
                    <a:pt x="1104900" y="342900"/>
                  </a:lnTo>
                  <a:lnTo>
                    <a:pt x="981075" y="361950"/>
                  </a:lnTo>
                  <a:lnTo>
                    <a:pt x="866775" y="390525"/>
                  </a:lnTo>
                  <a:lnTo>
                    <a:pt x="742950" y="419100"/>
                  </a:lnTo>
                  <a:lnTo>
                    <a:pt x="495300" y="438150"/>
                  </a:lnTo>
                  <a:lnTo>
                    <a:pt x="371475" y="438150"/>
                  </a:lnTo>
                  <a:lnTo>
                    <a:pt x="123825" y="419100"/>
                  </a:lnTo>
                  <a:lnTo>
                    <a:pt x="0" y="390525"/>
                  </a:lnTo>
                  <a:close/>
                </a:path>
                <a:path w="1724025" h="1714500">
                  <a:moveTo>
                    <a:pt x="0" y="1714500"/>
                  </a:moveTo>
                  <a:lnTo>
                    <a:pt x="1724025" y="1714500"/>
                  </a:lnTo>
                  <a:lnTo>
                    <a:pt x="1724025" y="1457325"/>
                  </a:lnTo>
                  <a:lnTo>
                    <a:pt x="0" y="1457325"/>
                  </a:lnTo>
                  <a:lnTo>
                    <a:pt x="0" y="1714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3952875" y="482600"/>
            <a:ext cx="2276475" cy="419100"/>
            <a:chOff x="3952875" y="482600"/>
            <a:chExt cx="2276475" cy="419100"/>
          </a:xfrm>
        </p:grpSpPr>
        <p:sp>
          <p:nvSpPr>
            <p:cNvPr id="13" name="object 13" descr=""/>
            <p:cNvSpPr/>
            <p:nvPr/>
          </p:nvSpPr>
          <p:spPr>
            <a:xfrm>
              <a:off x="4057650" y="587375"/>
              <a:ext cx="2171700" cy="314325"/>
            </a:xfrm>
            <a:custGeom>
              <a:avLst/>
              <a:gdLst/>
              <a:ahLst/>
              <a:cxnLst/>
              <a:rect l="l" t="t" r="r" b="b"/>
              <a:pathLst>
                <a:path w="2171700" h="314325">
                  <a:moveTo>
                    <a:pt x="217170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2171700" y="314325"/>
                  </a:lnTo>
                  <a:lnTo>
                    <a:pt x="217170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952875" y="482600"/>
              <a:ext cx="2171700" cy="314325"/>
            </a:xfrm>
            <a:custGeom>
              <a:avLst/>
              <a:gdLst/>
              <a:ahLst/>
              <a:cxnLst/>
              <a:rect l="l" t="t" r="r" b="b"/>
              <a:pathLst>
                <a:path w="2171700" h="314325">
                  <a:moveTo>
                    <a:pt x="217170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2171700" y="314325"/>
                  </a:lnTo>
                  <a:lnTo>
                    <a:pt x="2171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952875" y="482600"/>
            <a:ext cx="2171700" cy="3143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685800">
              <a:lnSpc>
                <a:spcPct val="100000"/>
              </a:lnSpc>
              <a:spcBef>
                <a:spcPts val="325"/>
              </a:spcBef>
            </a:pPr>
            <a:r>
              <a:rPr dirty="0" sz="1250" spc="-30" b="1">
                <a:latin typeface="Arial"/>
                <a:cs typeface="Arial"/>
              </a:rPr>
              <a:t>SAP</a:t>
            </a:r>
            <a:r>
              <a:rPr dirty="0" sz="1250" spc="-65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FI/CO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04912" y="1898650"/>
            <a:ext cx="1704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CEPC</a:t>
            </a:r>
            <a:endParaRPr sz="7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(Profit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center</a:t>
            </a:r>
            <a:r>
              <a:rPr dirty="0" sz="750" spc="4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master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data</a:t>
            </a:r>
            <a:r>
              <a:rPr dirty="0" sz="750" spc="4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table)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195387" y="2135187"/>
            <a:ext cx="1724025" cy="1733550"/>
            <a:chOff x="1195387" y="2135187"/>
            <a:chExt cx="1724025" cy="1733550"/>
          </a:xfrm>
        </p:grpSpPr>
        <p:sp>
          <p:nvSpPr>
            <p:cNvPr id="18" name="object 18" descr=""/>
            <p:cNvSpPr/>
            <p:nvPr/>
          </p:nvSpPr>
          <p:spPr>
            <a:xfrm>
              <a:off x="1200150" y="2139950"/>
              <a:ext cx="1714500" cy="466725"/>
            </a:xfrm>
            <a:custGeom>
              <a:avLst/>
              <a:gdLst/>
              <a:ahLst/>
              <a:cxnLst/>
              <a:rect l="l" t="t" r="r" b="b"/>
              <a:pathLst>
                <a:path w="1714500" h="466725">
                  <a:moveTo>
                    <a:pt x="1714500" y="0"/>
                  </a:moveTo>
                  <a:lnTo>
                    <a:pt x="0" y="0"/>
                  </a:lnTo>
                  <a:lnTo>
                    <a:pt x="0" y="409575"/>
                  </a:lnTo>
                  <a:lnTo>
                    <a:pt x="114300" y="438150"/>
                  </a:lnTo>
                  <a:lnTo>
                    <a:pt x="238125" y="457200"/>
                  </a:lnTo>
                  <a:lnTo>
                    <a:pt x="361950" y="466725"/>
                  </a:lnTo>
                  <a:lnTo>
                    <a:pt x="485775" y="466725"/>
                  </a:lnTo>
                  <a:lnTo>
                    <a:pt x="609600" y="457200"/>
                  </a:lnTo>
                  <a:lnTo>
                    <a:pt x="733425" y="438150"/>
                  </a:lnTo>
                  <a:lnTo>
                    <a:pt x="857250" y="409575"/>
                  </a:lnTo>
                  <a:lnTo>
                    <a:pt x="971550" y="381000"/>
                  </a:lnTo>
                  <a:lnTo>
                    <a:pt x="1095375" y="361950"/>
                  </a:lnTo>
                  <a:lnTo>
                    <a:pt x="1219200" y="352425"/>
                  </a:lnTo>
                  <a:lnTo>
                    <a:pt x="1343025" y="352425"/>
                  </a:lnTo>
                  <a:lnTo>
                    <a:pt x="1466850" y="361950"/>
                  </a:lnTo>
                  <a:lnTo>
                    <a:pt x="1590675" y="381000"/>
                  </a:lnTo>
                  <a:lnTo>
                    <a:pt x="1714500" y="409575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200150" y="2139950"/>
              <a:ext cx="1714500" cy="1724025"/>
            </a:xfrm>
            <a:custGeom>
              <a:avLst/>
              <a:gdLst/>
              <a:ahLst/>
              <a:cxnLst/>
              <a:rect l="l" t="t" r="r" b="b"/>
              <a:pathLst>
                <a:path w="1714500" h="1724025">
                  <a:moveTo>
                    <a:pt x="0" y="409575"/>
                  </a:moveTo>
                  <a:lnTo>
                    <a:pt x="0" y="0"/>
                  </a:lnTo>
                  <a:lnTo>
                    <a:pt x="1714500" y="0"/>
                  </a:lnTo>
                  <a:lnTo>
                    <a:pt x="1714500" y="409575"/>
                  </a:lnTo>
                  <a:lnTo>
                    <a:pt x="1590675" y="381000"/>
                  </a:lnTo>
                  <a:lnTo>
                    <a:pt x="1466850" y="361950"/>
                  </a:lnTo>
                  <a:lnTo>
                    <a:pt x="1343025" y="352425"/>
                  </a:lnTo>
                  <a:lnTo>
                    <a:pt x="1219200" y="352425"/>
                  </a:lnTo>
                  <a:lnTo>
                    <a:pt x="1095375" y="361950"/>
                  </a:lnTo>
                  <a:lnTo>
                    <a:pt x="971550" y="381000"/>
                  </a:lnTo>
                  <a:lnTo>
                    <a:pt x="857250" y="409575"/>
                  </a:lnTo>
                  <a:lnTo>
                    <a:pt x="733425" y="438150"/>
                  </a:lnTo>
                  <a:lnTo>
                    <a:pt x="609600" y="457200"/>
                  </a:lnTo>
                  <a:lnTo>
                    <a:pt x="485775" y="466725"/>
                  </a:lnTo>
                  <a:lnTo>
                    <a:pt x="361950" y="466725"/>
                  </a:lnTo>
                  <a:lnTo>
                    <a:pt x="238125" y="457200"/>
                  </a:lnTo>
                  <a:lnTo>
                    <a:pt x="114300" y="438150"/>
                  </a:lnTo>
                  <a:lnTo>
                    <a:pt x="0" y="409575"/>
                  </a:lnTo>
                  <a:close/>
                </a:path>
                <a:path w="1714500" h="1724025">
                  <a:moveTo>
                    <a:pt x="0" y="1724025"/>
                  </a:moveTo>
                  <a:lnTo>
                    <a:pt x="1714500" y="1724025"/>
                  </a:lnTo>
                  <a:lnTo>
                    <a:pt x="1714500" y="1466850"/>
                  </a:lnTo>
                  <a:lnTo>
                    <a:pt x="0" y="1466850"/>
                  </a:lnTo>
                  <a:lnTo>
                    <a:pt x="0" y="17240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04912" y="3603625"/>
            <a:ext cx="1704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750" spc="-10" b="1">
                <a:latin typeface="Arial"/>
                <a:cs typeface="Arial"/>
              </a:rPr>
              <a:t>CEPCT</a:t>
            </a:r>
            <a:endParaRPr sz="7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(Texts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for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Profit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Center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Master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Data)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195387" y="3840162"/>
            <a:ext cx="1724025" cy="609600"/>
            <a:chOff x="1195387" y="3840162"/>
            <a:chExt cx="1724025" cy="609600"/>
          </a:xfrm>
        </p:grpSpPr>
        <p:sp>
          <p:nvSpPr>
            <p:cNvPr id="22" name="object 22" descr=""/>
            <p:cNvSpPr/>
            <p:nvPr/>
          </p:nvSpPr>
          <p:spPr>
            <a:xfrm>
              <a:off x="1200150" y="3844925"/>
              <a:ext cx="1714500" cy="600075"/>
            </a:xfrm>
            <a:custGeom>
              <a:avLst/>
              <a:gdLst/>
              <a:ahLst/>
              <a:cxnLst/>
              <a:rect l="l" t="t" r="r" b="b"/>
              <a:pathLst>
                <a:path w="1714500" h="600075">
                  <a:moveTo>
                    <a:pt x="171450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209550" y="581025"/>
                  </a:lnTo>
                  <a:lnTo>
                    <a:pt x="314325" y="590550"/>
                  </a:lnTo>
                  <a:lnTo>
                    <a:pt x="428625" y="600075"/>
                  </a:lnTo>
                  <a:lnTo>
                    <a:pt x="638175" y="581025"/>
                  </a:lnTo>
                  <a:lnTo>
                    <a:pt x="752475" y="552450"/>
                  </a:lnTo>
                  <a:lnTo>
                    <a:pt x="857250" y="523875"/>
                  </a:lnTo>
                  <a:lnTo>
                    <a:pt x="962025" y="485775"/>
                  </a:lnTo>
                  <a:lnTo>
                    <a:pt x="1066800" y="466725"/>
                  </a:lnTo>
                  <a:lnTo>
                    <a:pt x="1171575" y="457200"/>
                  </a:lnTo>
                  <a:lnTo>
                    <a:pt x="1285875" y="447675"/>
                  </a:lnTo>
                  <a:lnTo>
                    <a:pt x="1495425" y="466725"/>
                  </a:lnTo>
                  <a:lnTo>
                    <a:pt x="1609725" y="485775"/>
                  </a:lnTo>
                  <a:lnTo>
                    <a:pt x="1714500" y="523875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200150" y="3844925"/>
              <a:ext cx="1714500" cy="600075"/>
            </a:xfrm>
            <a:custGeom>
              <a:avLst/>
              <a:gdLst/>
              <a:ahLst/>
              <a:cxnLst/>
              <a:rect l="l" t="t" r="r" b="b"/>
              <a:pathLst>
                <a:path w="1714500" h="600075">
                  <a:moveTo>
                    <a:pt x="0" y="523875"/>
                  </a:moveTo>
                  <a:lnTo>
                    <a:pt x="0" y="0"/>
                  </a:lnTo>
                  <a:lnTo>
                    <a:pt x="1714500" y="0"/>
                  </a:lnTo>
                  <a:lnTo>
                    <a:pt x="1714500" y="523875"/>
                  </a:lnTo>
                  <a:lnTo>
                    <a:pt x="1609725" y="485775"/>
                  </a:lnTo>
                  <a:lnTo>
                    <a:pt x="1495425" y="466725"/>
                  </a:lnTo>
                  <a:lnTo>
                    <a:pt x="1285875" y="447675"/>
                  </a:lnTo>
                  <a:lnTo>
                    <a:pt x="1171575" y="457200"/>
                  </a:lnTo>
                  <a:lnTo>
                    <a:pt x="1066800" y="466725"/>
                  </a:lnTo>
                  <a:lnTo>
                    <a:pt x="962025" y="485775"/>
                  </a:lnTo>
                  <a:lnTo>
                    <a:pt x="857250" y="523875"/>
                  </a:lnTo>
                  <a:lnTo>
                    <a:pt x="752475" y="552450"/>
                  </a:lnTo>
                  <a:lnTo>
                    <a:pt x="638175" y="581025"/>
                  </a:lnTo>
                  <a:lnTo>
                    <a:pt x="428625" y="600075"/>
                  </a:lnTo>
                  <a:lnTo>
                    <a:pt x="314325" y="590550"/>
                  </a:lnTo>
                  <a:lnTo>
                    <a:pt x="209550" y="581025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038225" y="1320800"/>
            <a:ext cx="2085975" cy="35337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054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30"/>
              </a:spcBef>
            </a:pPr>
            <a:endParaRPr sz="800">
              <a:latin typeface="Times New Roman"/>
              <a:cs typeface="Times New Roman"/>
            </a:endParaRPr>
          </a:p>
          <a:p>
            <a:pPr marL="257175">
              <a:lnSpc>
                <a:spcPct val="100000"/>
              </a:lnSpc>
            </a:pPr>
            <a:r>
              <a:rPr dirty="0" sz="800" b="1">
                <a:latin typeface="Arial"/>
                <a:cs typeface="Arial"/>
              </a:rPr>
              <a:t>Profit</a:t>
            </a:r>
            <a:r>
              <a:rPr dirty="0" sz="800" spc="21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Center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00">
              <a:latin typeface="Arial"/>
              <a:cs typeface="Arial"/>
            </a:endParaRPr>
          </a:p>
          <a:p>
            <a:pPr marL="180975" marR="72580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Profit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Center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(PRCTR)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Valid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to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(DATBI) </a:t>
            </a:r>
            <a:r>
              <a:rPr dirty="0" sz="750">
                <a:latin typeface="Arial"/>
                <a:cs typeface="Arial"/>
              </a:rPr>
              <a:t>Controlling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Area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(KOKRS)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750">
              <a:latin typeface="Arial"/>
              <a:cs typeface="Arial"/>
            </a:endParaRPr>
          </a:p>
          <a:p>
            <a:pPr marL="180975" marR="915669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Language</a:t>
            </a:r>
            <a:r>
              <a:rPr dirty="0" sz="750" spc="2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(SPRAS) </a:t>
            </a:r>
            <a:r>
              <a:rPr dirty="0" sz="750">
                <a:latin typeface="Arial"/>
                <a:cs typeface="Arial"/>
              </a:rPr>
              <a:t>Profit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Center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(PRCTR) </a:t>
            </a:r>
            <a:r>
              <a:rPr dirty="0" sz="750">
                <a:latin typeface="Arial"/>
                <a:cs typeface="Arial"/>
              </a:rPr>
              <a:t>Valid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to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(DATBI)</a:t>
            </a:r>
            <a:endParaRPr sz="750">
              <a:latin typeface="Arial"/>
              <a:cs typeface="Arial"/>
            </a:endParaRPr>
          </a:p>
          <a:p>
            <a:pPr marL="180975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Controlling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Area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(KOKRS)</a:t>
            </a:r>
            <a:endParaRPr sz="7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843712" y="1679575"/>
            <a:ext cx="1704975" cy="358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CSKA</a:t>
            </a:r>
            <a:endParaRPr sz="750">
              <a:latin typeface="Arial"/>
              <a:cs typeface="Arial"/>
            </a:endParaRPr>
          </a:p>
          <a:p>
            <a:pPr marL="13970" marR="73025">
              <a:lnSpc>
                <a:spcPts val="830"/>
              </a:lnSpc>
              <a:spcBef>
                <a:spcPts val="85"/>
              </a:spcBef>
            </a:pPr>
            <a:r>
              <a:rPr dirty="0" sz="750" b="1">
                <a:latin typeface="Arial"/>
                <a:cs typeface="Arial"/>
              </a:rPr>
              <a:t>(Cost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elements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(data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dependent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spc="-35" b="1">
                <a:latin typeface="Arial"/>
                <a:cs typeface="Arial"/>
              </a:rPr>
              <a:t>on</a:t>
            </a:r>
            <a:r>
              <a:rPr dirty="0" sz="750" b="1">
                <a:latin typeface="Arial"/>
                <a:cs typeface="Arial"/>
              </a:rPr>
              <a:t> chart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of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accounts))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129337" y="2020887"/>
            <a:ext cx="3190875" cy="2085975"/>
            <a:chOff x="6129337" y="2020887"/>
            <a:chExt cx="3190875" cy="2085975"/>
          </a:xfrm>
        </p:grpSpPr>
        <p:sp>
          <p:nvSpPr>
            <p:cNvPr id="27" name="object 27" descr=""/>
            <p:cNvSpPr/>
            <p:nvPr/>
          </p:nvSpPr>
          <p:spPr>
            <a:xfrm>
              <a:off x="6838950" y="2025650"/>
              <a:ext cx="1714500" cy="333375"/>
            </a:xfrm>
            <a:custGeom>
              <a:avLst/>
              <a:gdLst/>
              <a:ahLst/>
              <a:cxnLst/>
              <a:rect l="l" t="t" r="r" b="b"/>
              <a:pathLst>
                <a:path w="1714500" h="333375">
                  <a:moveTo>
                    <a:pt x="17145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142875" y="314325"/>
                  </a:lnTo>
                  <a:lnTo>
                    <a:pt x="428625" y="333375"/>
                  </a:lnTo>
                  <a:lnTo>
                    <a:pt x="714375" y="314325"/>
                  </a:lnTo>
                  <a:lnTo>
                    <a:pt x="857250" y="295275"/>
                  </a:lnTo>
                  <a:lnTo>
                    <a:pt x="1000125" y="266700"/>
                  </a:lnTo>
                  <a:lnTo>
                    <a:pt x="1143000" y="247650"/>
                  </a:lnTo>
                  <a:lnTo>
                    <a:pt x="1428750" y="247650"/>
                  </a:lnTo>
                  <a:lnTo>
                    <a:pt x="1581150" y="266700"/>
                  </a:lnTo>
                  <a:lnTo>
                    <a:pt x="1714500" y="295275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838950" y="2025650"/>
              <a:ext cx="1714500" cy="333375"/>
            </a:xfrm>
            <a:custGeom>
              <a:avLst/>
              <a:gdLst/>
              <a:ahLst/>
              <a:cxnLst/>
              <a:rect l="l" t="t" r="r" b="b"/>
              <a:pathLst>
                <a:path w="1714500" h="333375">
                  <a:moveTo>
                    <a:pt x="0" y="295275"/>
                  </a:moveTo>
                  <a:lnTo>
                    <a:pt x="0" y="0"/>
                  </a:lnTo>
                  <a:lnTo>
                    <a:pt x="1714500" y="0"/>
                  </a:lnTo>
                  <a:lnTo>
                    <a:pt x="1714500" y="295275"/>
                  </a:lnTo>
                  <a:lnTo>
                    <a:pt x="1581150" y="266700"/>
                  </a:lnTo>
                  <a:lnTo>
                    <a:pt x="1428750" y="247650"/>
                  </a:lnTo>
                  <a:lnTo>
                    <a:pt x="1143000" y="247650"/>
                  </a:lnTo>
                  <a:lnTo>
                    <a:pt x="1000125" y="266700"/>
                  </a:lnTo>
                  <a:lnTo>
                    <a:pt x="857250" y="295275"/>
                  </a:lnTo>
                  <a:lnTo>
                    <a:pt x="714375" y="314325"/>
                  </a:lnTo>
                  <a:lnTo>
                    <a:pt x="428625" y="333375"/>
                  </a:lnTo>
                  <a:lnTo>
                    <a:pt x="142875" y="314325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591425" y="2778125"/>
              <a:ext cx="1724025" cy="400050"/>
            </a:xfrm>
            <a:custGeom>
              <a:avLst/>
              <a:gdLst/>
              <a:ahLst/>
              <a:cxnLst/>
              <a:rect l="l" t="t" r="r" b="b"/>
              <a:pathLst>
                <a:path w="1724025" h="400050">
                  <a:moveTo>
                    <a:pt x="1724025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1724025" y="400050"/>
                  </a:lnTo>
                  <a:lnTo>
                    <a:pt x="172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591425" y="2778125"/>
              <a:ext cx="1724025" cy="400050"/>
            </a:xfrm>
            <a:custGeom>
              <a:avLst/>
              <a:gdLst/>
              <a:ahLst/>
              <a:cxnLst/>
              <a:rect l="l" t="t" r="r" b="b"/>
              <a:pathLst>
                <a:path w="1724025" h="400050">
                  <a:moveTo>
                    <a:pt x="0" y="400050"/>
                  </a:moveTo>
                  <a:lnTo>
                    <a:pt x="1724025" y="400050"/>
                  </a:lnTo>
                  <a:lnTo>
                    <a:pt x="1724025" y="0"/>
                  </a:lnTo>
                  <a:lnTo>
                    <a:pt x="0" y="0"/>
                  </a:lnTo>
                  <a:lnTo>
                    <a:pt x="0" y="4000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591425" y="3130550"/>
              <a:ext cx="1724025" cy="542925"/>
            </a:xfrm>
            <a:custGeom>
              <a:avLst/>
              <a:gdLst/>
              <a:ahLst/>
              <a:cxnLst/>
              <a:rect l="l" t="t" r="r" b="b"/>
              <a:pathLst>
                <a:path w="1724025" h="542925">
                  <a:moveTo>
                    <a:pt x="172402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104775" y="504825"/>
                  </a:lnTo>
                  <a:lnTo>
                    <a:pt x="219075" y="523875"/>
                  </a:lnTo>
                  <a:lnTo>
                    <a:pt x="323850" y="542925"/>
                  </a:lnTo>
                  <a:lnTo>
                    <a:pt x="542925" y="542925"/>
                  </a:lnTo>
                  <a:lnTo>
                    <a:pt x="647700" y="523875"/>
                  </a:lnTo>
                  <a:lnTo>
                    <a:pt x="762000" y="504825"/>
                  </a:lnTo>
                  <a:lnTo>
                    <a:pt x="866775" y="476250"/>
                  </a:lnTo>
                  <a:lnTo>
                    <a:pt x="962025" y="447675"/>
                  </a:lnTo>
                  <a:lnTo>
                    <a:pt x="1076325" y="419100"/>
                  </a:lnTo>
                  <a:lnTo>
                    <a:pt x="1181100" y="409575"/>
                  </a:lnTo>
                  <a:lnTo>
                    <a:pt x="1400175" y="409575"/>
                  </a:lnTo>
                  <a:lnTo>
                    <a:pt x="1514475" y="419100"/>
                  </a:lnTo>
                  <a:lnTo>
                    <a:pt x="1724025" y="476250"/>
                  </a:lnTo>
                  <a:lnTo>
                    <a:pt x="172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591425" y="3130550"/>
              <a:ext cx="1724025" cy="542925"/>
            </a:xfrm>
            <a:custGeom>
              <a:avLst/>
              <a:gdLst/>
              <a:ahLst/>
              <a:cxnLst/>
              <a:rect l="l" t="t" r="r" b="b"/>
              <a:pathLst>
                <a:path w="1724025" h="542925">
                  <a:moveTo>
                    <a:pt x="0" y="476250"/>
                  </a:moveTo>
                  <a:lnTo>
                    <a:pt x="0" y="0"/>
                  </a:lnTo>
                  <a:lnTo>
                    <a:pt x="1724025" y="0"/>
                  </a:lnTo>
                  <a:lnTo>
                    <a:pt x="1724025" y="476250"/>
                  </a:lnTo>
                  <a:lnTo>
                    <a:pt x="1514475" y="419100"/>
                  </a:lnTo>
                  <a:lnTo>
                    <a:pt x="1400175" y="409575"/>
                  </a:lnTo>
                  <a:lnTo>
                    <a:pt x="1181100" y="409575"/>
                  </a:lnTo>
                  <a:lnTo>
                    <a:pt x="1076325" y="419100"/>
                  </a:lnTo>
                  <a:lnTo>
                    <a:pt x="962025" y="447675"/>
                  </a:lnTo>
                  <a:lnTo>
                    <a:pt x="866775" y="476250"/>
                  </a:lnTo>
                  <a:lnTo>
                    <a:pt x="762000" y="504825"/>
                  </a:lnTo>
                  <a:lnTo>
                    <a:pt x="647700" y="523875"/>
                  </a:lnTo>
                  <a:lnTo>
                    <a:pt x="542925" y="542925"/>
                  </a:lnTo>
                  <a:lnTo>
                    <a:pt x="323850" y="542925"/>
                  </a:lnTo>
                  <a:lnTo>
                    <a:pt x="219075" y="523875"/>
                  </a:lnTo>
                  <a:lnTo>
                    <a:pt x="104775" y="504825"/>
                  </a:lnTo>
                  <a:lnTo>
                    <a:pt x="0" y="4762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134100" y="3844925"/>
              <a:ext cx="1724025" cy="257175"/>
            </a:xfrm>
            <a:custGeom>
              <a:avLst/>
              <a:gdLst/>
              <a:ahLst/>
              <a:cxnLst/>
              <a:rect l="l" t="t" r="r" b="b"/>
              <a:pathLst>
                <a:path w="1724025" h="257175">
                  <a:moveTo>
                    <a:pt x="172402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1724025" y="257175"/>
                  </a:lnTo>
                  <a:lnTo>
                    <a:pt x="172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134100" y="3844925"/>
              <a:ext cx="1724025" cy="257175"/>
            </a:xfrm>
            <a:custGeom>
              <a:avLst/>
              <a:gdLst/>
              <a:ahLst/>
              <a:cxnLst/>
              <a:rect l="l" t="t" r="r" b="b"/>
              <a:pathLst>
                <a:path w="1724025" h="257175">
                  <a:moveTo>
                    <a:pt x="0" y="257175"/>
                  </a:moveTo>
                  <a:lnTo>
                    <a:pt x="1724025" y="257175"/>
                  </a:lnTo>
                  <a:lnTo>
                    <a:pt x="172402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3719512" y="3603625"/>
            <a:ext cx="17145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CSKT</a:t>
            </a:r>
            <a:endParaRPr sz="75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(Cost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Center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Texts)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3709987" y="3840162"/>
            <a:ext cx="1733550" cy="609600"/>
            <a:chOff x="3709987" y="3840162"/>
            <a:chExt cx="1733550" cy="609600"/>
          </a:xfrm>
        </p:grpSpPr>
        <p:sp>
          <p:nvSpPr>
            <p:cNvPr id="37" name="object 37" descr=""/>
            <p:cNvSpPr/>
            <p:nvPr/>
          </p:nvSpPr>
          <p:spPr>
            <a:xfrm>
              <a:off x="3714750" y="3844925"/>
              <a:ext cx="1724025" cy="600075"/>
            </a:xfrm>
            <a:custGeom>
              <a:avLst/>
              <a:gdLst/>
              <a:ahLst/>
              <a:cxnLst/>
              <a:rect l="l" t="t" r="r" b="b"/>
              <a:pathLst>
                <a:path w="1724025" h="600075">
                  <a:moveTo>
                    <a:pt x="1724025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04775" y="552450"/>
                  </a:lnTo>
                  <a:lnTo>
                    <a:pt x="219075" y="581025"/>
                  </a:lnTo>
                  <a:lnTo>
                    <a:pt x="323850" y="590550"/>
                  </a:lnTo>
                  <a:lnTo>
                    <a:pt x="438150" y="600075"/>
                  </a:lnTo>
                  <a:lnTo>
                    <a:pt x="647700" y="581025"/>
                  </a:lnTo>
                  <a:lnTo>
                    <a:pt x="762000" y="552450"/>
                  </a:lnTo>
                  <a:lnTo>
                    <a:pt x="866775" y="523875"/>
                  </a:lnTo>
                  <a:lnTo>
                    <a:pt x="962025" y="485775"/>
                  </a:lnTo>
                  <a:lnTo>
                    <a:pt x="1076325" y="466725"/>
                  </a:lnTo>
                  <a:lnTo>
                    <a:pt x="1181100" y="457200"/>
                  </a:lnTo>
                  <a:lnTo>
                    <a:pt x="1295400" y="447675"/>
                  </a:lnTo>
                  <a:lnTo>
                    <a:pt x="1400175" y="457200"/>
                  </a:lnTo>
                  <a:lnTo>
                    <a:pt x="1514475" y="466725"/>
                  </a:lnTo>
                  <a:lnTo>
                    <a:pt x="1619250" y="485775"/>
                  </a:lnTo>
                  <a:lnTo>
                    <a:pt x="1724025" y="523875"/>
                  </a:lnTo>
                  <a:lnTo>
                    <a:pt x="172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714750" y="3844925"/>
              <a:ext cx="1724025" cy="600075"/>
            </a:xfrm>
            <a:custGeom>
              <a:avLst/>
              <a:gdLst/>
              <a:ahLst/>
              <a:cxnLst/>
              <a:rect l="l" t="t" r="r" b="b"/>
              <a:pathLst>
                <a:path w="1724025" h="600075">
                  <a:moveTo>
                    <a:pt x="0" y="523875"/>
                  </a:moveTo>
                  <a:lnTo>
                    <a:pt x="0" y="0"/>
                  </a:lnTo>
                  <a:lnTo>
                    <a:pt x="1724025" y="0"/>
                  </a:lnTo>
                  <a:lnTo>
                    <a:pt x="1724025" y="523875"/>
                  </a:lnTo>
                  <a:lnTo>
                    <a:pt x="1619250" y="485775"/>
                  </a:lnTo>
                  <a:lnTo>
                    <a:pt x="1514475" y="466725"/>
                  </a:lnTo>
                  <a:lnTo>
                    <a:pt x="1400175" y="457200"/>
                  </a:lnTo>
                  <a:lnTo>
                    <a:pt x="1295400" y="447675"/>
                  </a:lnTo>
                  <a:lnTo>
                    <a:pt x="1181100" y="457200"/>
                  </a:lnTo>
                  <a:lnTo>
                    <a:pt x="1076325" y="466725"/>
                  </a:lnTo>
                  <a:lnTo>
                    <a:pt x="962025" y="485775"/>
                  </a:lnTo>
                  <a:lnTo>
                    <a:pt x="866775" y="523875"/>
                  </a:lnTo>
                  <a:lnTo>
                    <a:pt x="762000" y="552450"/>
                  </a:lnTo>
                  <a:lnTo>
                    <a:pt x="647700" y="581025"/>
                  </a:lnTo>
                  <a:lnTo>
                    <a:pt x="438150" y="600075"/>
                  </a:lnTo>
                  <a:lnTo>
                    <a:pt x="323850" y="590550"/>
                  </a:lnTo>
                  <a:lnTo>
                    <a:pt x="219075" y="581025"/>
                  </a:lnTo>
                  <a:lnTo>
                    <a:pt x="104775" y="55245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3533775" y="1320800"/>
            <a:ext cx="2085975" cy="35337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800">
              <a:latin typeface="Times New Roman"/>
              <a:cs typeface="Times New Roman"/>
            </a:endParaRPr>
          </a:p>
          <a:p>
            <a:pPr marL="257175">
              <a:lnSpc>
                <a:spcPct val="100000"/>
              </a:lnSpc>
            </a:pPr>
            <a:r>
              <a:rPr dirty="0" sz="800" b="1">
                <a:latin typeface="Arial"/>
                <a:cs typeface="Arial"/>
              </a:rPr>
              <a:t>Cost</a:t>
            </a:r>
            <a:r>
              <a:rPr dirty="0" sz="800" spc="19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Center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800">
              <a:latin typeface="Arial"/>
              <a:cs typeface="Arial"/>
            </a:endParaRPr>
          </a:p>
          <a:p>
            <a:pPr marL="209550">
              <a:lnSpc>
                <a:spcPts val="865"/>
              </a:lnSpc>
            </a:pPr>
            <a:r>
              <a:rPr dirty="0" sz="750" spc="-20" b="1">
                <a:latin typeface="Arial"/>
                <a:cs typeface="Arial"/>
              </a:rPr>
              <a:t>CSKS</a:t>
            </a:r>
            <a:endParaRPr sz="750">
              <a:latin typeface="Arial"/>
              <a:cs typeface="Arial"/>
            </a:endParaRPr>
          </a:p>
          <a:p>
            <a:pPr marL="209550">
              <a:lnSpc>
                <a:spcPts val="865"/>
              </a:lnSpc>
            </a:pPr>
            <a:r>
              <a:rPr dirty="0" sz="750" b="1">
                <a:latin typeface="Arial"/>
                <a:cs typeface="Arial"/>
              </a:rPr>
              <a:t>(Cost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center</a:t>
            </a:r>
            <a:r>
              <a:rPr dirty="0" sz="750" spc="4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master)</a:t>
            </a:r>
            <a:endParaRPr sz="750">
              <a:latin typeface="Arial"/>
              <a:cs typeface="Arial"/>
            </a:endParaRPr>
          </a:p>
          <a:p>
            <a:pPr marL="209550" marR="697230">
              <a:lnSpc>
                <a:spcPct val="95800"/>
              </a:lnSpc>
              <a:spcBef>
                <a:spcPts val="185"/>
              </a:spcBef>
            </a:pPr>
            <a:r>
              <a:rPr dirty="0" sz="750">
                <a:latin typeface="Arial"/>
                <a:cs typeface="Arial"/>
              </a:rPr>
              <a:t>Controlling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Area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(KOKRS) </a:t>
            </a:r>
            <a:r>
              <a:rPr dirty="0" sz="750">
                <a:latin typeface="Arial"/>
                <a:cs typeface="Arial"/>
              </a:rPr>
              <a:t>Cost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Center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(KOSTL)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Valid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to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(DATBI)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750">
              <a:latin typeface="Arial"/>
              <a:cs typeface="Arial"/>
            </a:endParaRPr>
          </a:p>
          <a:p>
            <a:pPr marL="209550" marR="697230">
              <a:lnSpc>
                <a:spcPct val="97200"/>
              </a:lnSpc>
              <a:spcBef>
                <a:spcPts val="5"/>
              </a:spcBef>
            </a:pPr>
            <a:r>
              <a:rPr dirty="0" sz="750">
                <a:latin typeface="Arial"/>
                <a:cs typeface="Arial"/>
              </a:rPr>
              <a:t>Language</a:t>
            </a:r>
            <a:r>
              <a:rPr dirty="0" sz="750" spc="2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(SPRAS) </a:t>
            </a:r>
            <a:r>
              <a:rPr dirty="0" sz="750">
                <a:latin typeface="Arial"/>
                <a:cs typeface="Arial"/>
              </a:rPr>
              <a:t>Controlling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Area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(KOKRS) </a:t>
            </a:r>
            <a:r>
              <a:rPr dirty="0" sz="750">
                <a:latin typeface="Arial"/>
                <a:cs typeface="Arial"/>
              </a:rPr>
              <a:t>Cost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Center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(KOSTL)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Valid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to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(DATBI)</a:t>
            </a:r>
            <a:endParaRPr sz="75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138862" y="3841750"/>
            <a:ext cx="17145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CSKU</a:t>
            </a:r>
            <a:endParaRPr sz="75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(Cost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Element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Texts)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129337" y="4078287"/>
            <a:ext cx="1733550" cy="523875"/>
            <a:chOff x="6129337" y="4078287"/>
            <a:chExt cx="1733550" cy="523875"/>
          </a:xfrm>
        </p:grpSpPr>
        <p:sp>
          <p:nvSpPr>
            <p:cNvPr id="42" name="object 42" descr=""/>
            <p:cNvSpPr/>
            <p:nvPr/>
          </p:nvSpPr>
          <p:spPr>
            <a:xfrm>
              <a:off x="6134100" y="4083050"/>
              <a:ext cx="1724025" cy="514350"/>
            </a:xfrm>
            <a:custGeom>
              <a:avLst/>
              <a:gdLst/>
              <a:ahLst/>
              <a:cxnLst/>
              <a:rect l="l" t="t" r="r" b="b"/>
              <a:pathLst>
                <a:path w="1724025" h="514350">
                  <a:moveTo>
                    <a:pt x="17240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23825" y="485775"/>
                  </a:lnTo>
                  <a:lnTo>
                    <a:pt x="247650" y="504825"/>
                  </a:lnTo>
                  <a:lnTo>
                    <a:pt x="371475" y="514350"/>
                  </a:lnTo>
                  <a:lnTo>
                    <a:pt x="495300" y="514350"/>
                  </a:lnTo>
                  <a:lnTo>
                    <a:pt x="619125" y="504825"/>
                  </a:lnTo>
                  <a:lnTo>
                    <a:pt x="742950" y="485775"/>
                  </a:lnTo>
                  <a:lnTo>
                    <a:pt x="866775" y="447675"/>
                  </a:lnTo>
                  <a:lnTo>
                    <a:pt x="981075" y="419100"/>
                  </a:lnTo>
                  <a:lnTo>
                    <a:pt x="1104900" y="400050"/>
                  </a:lnTo>
                  <a:lnTo>
                    <a:pt x="1228725" y="390525"/>
                  </a:lnTo>
                  <a:lnTo>
                    <a:pt x="1352550" y="390525"/>
                  </a:lnTo>
                  <a:lnTo>
                    <a:pt x="1476375" y="400050"/>
                  </a:lnTo>
                  <a:lnTo>
                    <a:pt x="1600200" y="419100"/>
                  </a:lnTo>
                  <a:lnTo>
                    <a:pt x="1724025" y="447675"/>
                  </a:lnTo>
                  <a:lnTo>
                    <a:pt x="172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134100" y="4083050"/>
              <a:ext cx="1724025" cy="514350"/>
            </a:xfrm>
            <a:custGeom>
              <a:avLst/>
              <a:gdLst/>
              <a:ahLst/>
              <a:cxnLst/>
              <a:rect l="l" t="t" r="r" b="b"/>
              <a:pathLst>
                <a:path w="1724025" h="514350">
                  <a:moveTo>
                    <a:pt x="0" y="447675"/>
                  </a:moveTo>
                  <a:lnTo>
                    <a:pt x="0" y="0"/>
                  </a:lnTo>
                  <a:lnTo>
                    <a:pt x="1724025" y="0"/>
                  </a:lnTo>
                  <a:lnTo>
                    <a:pt x="1724025" y="447675"/>
                  </a:lnTo>
                  <a:lnTo>
                    <a:pt x="1600200" y="419100"/>
                  </a:lnTo>
                  <a:lnTo>
                    <a:pt x="1476375" y="400050"/>
                  </a:lnTo>
                  <a:lnTo>
                    <a:pt x="1352550" y="390525"/>
                  </a:lnTo>
                  <a:lnTo>
                    <a:pt x="1228725" y="390525"/>
                  </a:lnTo>
                  <a:lnTo>
                    <a:pt x="1104900" y="400050"/>
                  </a:lnTo>
                  <a:lnTo>
                    <a:pt x="981075" y="419100"/>
                  </a:lnTo>
                  <a:lnTo>
                    <a:pt x="866775" y="447675"/>
                  </a:lnTo>
                  <a:lnTo>
                    <a:pt x="742950" y="485775"/>
                  </a:lnTo>
                  <a:lnTo>
                    <a:pt x="619125" y="504825"/>
                  </a:lnTo>
                  <a:lnTo>
                    <a:pt x="495300" y="514350"/>
                  </a:lnTo>
                  <a:lnTo>
                    <a:pt x="371475" y="514350"/>
                  </a:lnTo>
                  <a:lnTo>
                    <a:pt x="247650" y="504825"/>
                  </a:lnTo>
                  <a:lnTo>
                    <a:pt x="123825" y="485775"/>
                  </a:lnTo>
                  <a:lnTo>
                    <a:pt x="0" y="447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6038850" y="1320800"/>
            <a:ext cx="3533775" cy="35337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endParaRPr sz="800">
              <a:latin typeface="Times New Roman"/>
              <a:cs typeface="Times New Roman"/>
            </a:endParaRPr>
          </a:p>
          <a:p>
            <a:pPr marL="142875">
              <a:lnSpc>
                <a:spcPct val="100000"/>
              </a:lnSpc>
            </a:pPr>
            <a:r>
              <a:rPr dirty="0" sz="800" b="1">
                <a:latin typeface="Arial"/>
                <a:cs typeface="Arial"/>
              </a:rPr>
              <a:t>Cost</a:t>
            </a:r>
            <a:r>
              <a:rPr dirty="0" sz="800" spc="17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Elemet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800">
              <a:latin typeface="Arial"/>
              <a:cs typeface="Arial"/>
            </a:endParaRPr>
          </a:p>
          <a:p>
            <a:pPr marL="81915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COA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(KTOPL)</a:t>
            </a:r>
            <a:endParaRPr sz="750">
              <a:latin typeface="Arial"/>
              <a:cs typeface="Arial"/>
            </a:endParaRPr>
          </a:p>
          <a:p>
            <a:pPr marL="81915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Cost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Element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(KSTAR)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750">
              <a:latin typeface="Arial"/>
              <a:cs typeface="Arial"/>
            </a:endParaRPr>
          </a:p>
          <a:p>
            <a:pPr marL="1581150">
              <a:lnSpc>
                <a:spcPct val="100000"/>
              </a:lnSpc>
            </a:pPr>
            <a:r>
              <a:rPr dirty="0" sz="750" spc="-20" b="1">
                <a:latin typeface="Arial"/>
                <a:cs typeface="Arial"/>
              </a:rPr>
              <a:t>CSKB</a:t>
            </a:r>
            <a:endParaRPr sz="750">
              <a:latin typeface="Arial"/>
              <a:cs typeface="Arial"/>
            </a:endParaRPr>
          </a:p>
          <a:p>
            <a:pPr marL="1581150" marR="334645">
              <a:lnSpc>
                <a:spcPts val="830"/>
              </a:lnSpc>
              <a:spcBef>
                <a:spcPts val="85"/>
              </a:spcBef>
            </a:pPr>
            <a:r>
              <a:rPr dirty="0" sz="750" b="1">
                <a:latin typeface="Arial"/>
                <a:cs typeface="Arial"/>
              </a:rPr>
              <a:t>(Cost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elements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(data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dependent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spc="-35" b="1">
                <a:latin typeface="Arial"/>
                <a:cs typeface="Arial"/>
              </a:rPr>
              <a:t>on</a:t>
            </a:r>
            <a:r>
              <a:rPr dirty="0" sz="750" b="1">
                <a:latin typeface="Arial"/>
                <a:cs typeface="Arial"/>
              </a:rPr>
              <a:t> controlling</a:t>
            </a:r>
            <a:r>
              <a:rPr dirty="0" sz="750" spc="-2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area))</a:t>
            </a:r>
            <a:endParaRPr sz="750">
              <a:latin typeface="Arial"/>
              <a:cs typeface="Arial"/>
            </a:endParaRPr>
          </a:p>
          <a:p>
            <a:pPr marL="1581150" marR="773430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latin typeface="Arial"/>
                <a:cs typeface="Arial"/>
              </a:rPr>
              <a:t>Controlling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Area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(KOKRS) </a:t>
            </a:r>
            <a:r>
              <a:rPr dirty="0" sz="750">
                <a:latin typeface="Arial"/>
                <a:cs typeface="Arial"/>
              </a:rPr>
              <a:t>COA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(KTOPL)</a:t>
            </a:r>
            <a:endParaRPr sz="750">
              <a:latin typeface="Arial"/>
              <a:cs typeface="Arial"/>
            </a:endParaRPr>
          </a:p>
          <a:p>
            <a:pPr marL="1581150" marR="925194">
              <a:lnSpc>
                <a:spcPts val="830"/>
              </a:lnSpc>
              <a:spcBef>
                <a:spcPts val="85"/>
              </a:spcBef>
            </a:pPr>
            <a:r>
              <a:rPr dirty="0" sz="750">
                <a:latin typeface="Arial"/>
                <a:cs typeface="Arial"/>
              </a:rPr>
              <a:t>Cost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Element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(KSTAR) </a:t>
            </a:r>
            <a:r>
              <a:rPr dirty="0" sz="750">
                <a:latin typeface="Arial"/>
                <a:cs typeface="Arial"/>
              </a:rPr>
              <a:t>Valid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to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37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(DATBI)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750">
              <a:latin typeface="Arial"/>
              <a:cs typeface="Arial"/>
            </a:endParaRPr>
          </a:p>
          <a:p>
            <a:pPr marL="123825" marR="251650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Language</a:t>
            </a:r>
            <a:r>
              <a:rPr dirty="0" sz="750" spc="2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(SPRAS) </a:t>
            </a:r>
            <a:r>
              <a:rPr dirty="0" sz="750">
                <a:latin typeface="Arial"/>
                <a:cs typeface="Arial"/>
              </a:rPr>
              <a:t>COA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(KTOPL)</a:t>
            </a:r>
            <a:endParaRPr sz="750">
              <a:latin typeface="Arial"/>
              <a:cs typeface="Arial"/>
            </a:endParaRPr>
          </a:p>
          <a:p>
            <a:pPr marL="123825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Cost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Element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(KSTAR)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2071687" y="5792787"/>
            <a:ext cx="1733550" cy="266700"/>
            <a:chOff x="2071687" y="5792787"/>
            <a:chExt cx="1733550" cy="266700"/>
          </a:xfrm>
        </p:grpSpPr>
        <p:sp>
          <p:nvSpPr>
            <p:cNvPr id="46" name="object 46" descr=""/>
            <p:cNvSpPr/>
            <p:nvPr/>
          </p:nvSpPr>
          <p:spPr>
            <a:xfrm>
              <a:off x="2076450" y="5797550"/>
              <a:ext cx="1724025" cy="257175"/>
            </a:xfrm>
            <a:custGeom>
              <a:avLst/>
              <a:gdLst/>
              <a:ahLst/>
              <a:cxnLst/>
              <a:rect l="l" t="t" r="r" b="b"/>
              <a:pathLst>
                <a:path w="1724025" h="257175">
                  <a:moveTo>
                    <a:pt x="172402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1724025" y="257175"/>
                  </a:lnTo>
                  <a:lnTo>
                    <a:pt x="172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076450" y="5797550"/>
              <a:ext cx="1724025" cy="257175"/>
            </a:xfrm>
            <a:custGeom>
              <a:avLst/>
              <a:gdLst/>
              <a:ahLst/>
              <a:cxnLst/>
              <a:rect l="l" t="t" r="r" b="b"/>
              <a:pathLst>
                <a:path w="1724025" h="257175">
                  <a:moveTo>
                    <a:pt x="0" y="257175"/>
                  </a:moveTo>
                  <a:lnTo>
                    <a:pt x="1724025" y="257175"/>
                  </a:lnTo>
                  <a:lnTo>
                    <a:pt x="172402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2092325" y="5794375"/>
            <a:ext cx="17595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SKB1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(G/L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account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master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(company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code))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2071687" y="6030912"/>
            <a:ext cx="1733550" cy="600075"/>
            <a:chOff x="2071687" y="6030912"/>
            <a:chExt cx="1733550" cy="600075"/>
          </a:xfrm>
        </p:grpSpPr>
        <p:sp>
          <p:nvSpPr>
            <p:cNvPr id="50" name="object 50" descr=""/>
            <p:cNvSpPr/>
            <p:nvPr/>
          </p:nvSpPr>
          <p:spPr>
            <a:xfrm>
              <a:off x="2076450" y="6035675"/>
              <a:ext cx="1724025" cy="590550"/>
            </a:xfrm>
            <a:custGeom>
              <a:avLst/>
              <a:gdLst/>
              <a:ahLst/>
              <a:cxnLst/>
              <a:rect l="l" t="t" r="r" b="b"/>
              <a:pathLst>
                <a:path w="1724025" h="590550">
                  <a:moveTo>
                    <a:pt x="1724025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104775" y="552450"/>
                  </a:lnTo>
                  <a:lnTo>
                    <a:pt x="219075" y="571500"/>
                  </a:lnTo>
                  <a:lnTo>
                    <a:pt x="323850" y="590550"/>
                  </a:lnTo>
                  <a:lnTo>
                    <a:pt x="542925" y="590550"/>
                  </a:lnTo>
                  <a:lnTo>
                    <a:pt x="752475" y="552450"/>
                  </a:lnTo>
                  <a:lnTo>
                    <a:pt x="857250" y="514350"/>
                  </a:lnTo>
                  <a:lnTo>
                    <a:pt x="971550" y="485775"/>
                  </a:lnTo>
                  <a:lnTo>
                    <a:pt x="1181100" y="447675"/>
                  </a:lnTo>
                  <a:lnTo>
                    <a:pt x="1400175" y="447675"/>
                  </a:lnTo>
                  <a:lnTo>
                    <a:pt x="1504950" y="466725"/>
                  </a:lnTo>
                  <a:lnTo>
                    <a:pt x="1619250" y="485775"/>
                  </a:lnTo>
                  <a:lnTo>
                    <a:pt x="1724025" y="514350"/>
                  </a:lnTo>
                  <a:lnTo>
                    <a:pt x="172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076450" y="6035675"/>
              <a:ext cx="1724025" cy="590550"/>
            </a:xfrm>
            <a:custGeom>
              <a:avLst/>
              <a:gdLst/>
              <a:ahLst/>
              <a:cxnLst/>
              <a:rect l="l" t="t" r="r" b="b"/>
              <a:pathLst>
                <a:path w="1724025" h="590550">
                  <a:moveTo>
                    <a:pt x="0" y="514350"/>
                  </a:moveTo>
                  <a:lnTo>
                    <a:pt x="0" y="0"/>
                  </a:lnTo>
                  <a:lnTo>
                    <a:pt x="1724025" y="0"/>
                  </a:lnTo>
                  <a:lnTo>
                    <a:pt x="1724025" y="514350"/>
                  </a:lnTo>
                  <a:lnTo>
                    <a:pt x="1619250" y="485775"/>
                  </a:lnTo>
                  <a:lnTo>
                    <a:pt x="1504950" y="466725"/>
                  </a:lnTo>
                  <a:lnTo>
                    <a:pt x="1400175" y="447675"/>
                  </a:lnTo>
                  <a:lnTo>
                    <a:pt x="1181100" y="447675"/>
                  </a:lnTo>
                  <a:lnTo>
                    <a:pt x="971550" y="485775"/>
                  </a:lnTo>
                  <a:lnTo>
                    <a:pt x="857250" y="514350"/>
                  </a:lnTo>
                  <a:lnTo>
                    <a:pt x="752475" y="552450"/>
                  </a:lnTo>
                  <a:lnTo>
                    <a:pt x="542925" y="590550"/>
                  </a:lnTo>
                  <a:lnTo>
                    <a:pt x="323850" y="590550"/>
                  </a:lnTo>
                  <a:lnTo>
                    <a:pt x="219075" y="571500"/>
                  </a:lnTo>
                  <a:lnTo>
                    <a:pt x="104775" y="552450"/>
                  </a:lnTo>
                  <a:lnTo>
                    <a:pt x="0" y="514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2092325" y="6032500"/>
            <a:ext cx="11499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Company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Code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(BUKRS) </a:t>
            </a: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Account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(SAKNR)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4367212" y="6116637"/>
            <a:ext cx="1724025" cy="609600"/>
            <a:chOff x="4367212" y="6116637"/>
            <a:chExt cx="1724025" cy="609600"/>
          </a:xfrm>
        </p:grpSpPr>
        <p:sp>
          <p:nvSpPr>
            <p:cNvPr id="54" name="object 54" descr=""/>
            <p:cNvSpPr/>
            <p:nvPr/>
          </p:nvSpPr>
          <p:spPr>
            <a:xfrm>
              <a:off x="4371975" y="6121400"/>
              <a:ext cx="1714500" cy="600075"/>
            </a:xfrm>
            <a:custGeom>
              <a:avLst/>
              <a:gdLst/>
              <a:ahLst/>
              <a:cxnLst/>
              <a:rect l="l" t="t" r="r" b="b"/>
              <a:pathLst>
                <a:path w="1714500" h="600075">
                  <a:moveTo>
                    <a:pt x="171450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209550" y="581025"/>
                  </a:lnTo>
                  <a:lnTo>
                    <a:pt x="314325" y="590550"/>
                  </a:lnTo>
                  <a:lnTo>
                    <a:pt x="428625" y="600075"/>
                  </a:lnTo>
                  <a:lnTo>
                    <a:pt x="533400" y="590550"/>
                  </a:lnTo>
                  <a:lnTo>
                    <a:pt x="647700" y="581025"/>
                  </a:lnTo>
                  <a:lnTo>
                    <a:pt x="857250" y="523875"/>
                  </a:lnTo>
                  <a:lnTo>
                    <a:pt x="962025" y="485775"/>
                  </a:lnTo>
                  <a:lnTo>
                    <a:pt x="1171575" y="447675"/>
                  </a:lnTo>
                  <a:lnTo>
                    <a:pt x="1390650" y="447675"/>
                  </a:lnTo>
                  <a:lnTo>
                    <a:pt x="1504950" y="466725"/>
                  </a:lnTo>
                  <a:lnTo>
                    <a:pt x="1609725" y="485775"/>
                  </a:lnTo>
                  <a:lnTo>
                    <a:pt x="1714500" y="523875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371975" y="6121400"/>
              <a:ext cx="1714500" cy="600075"/>
            </a:xfrm>
            <a:custGeom>
              <a:avLst/>
              <a:gdLst/>
              <a:ahLst/>
              <a:cxnLst/>
              <a:rect l="l" t="t" r="r" b="b"/>
              <a:pathLst>
                <a:path w="1714500" h="600075">
                  <a:moveTo>
                    <a:pt x="0" y="523875"/>
                  </a:moveTo>
                  <a:lnTo>
                    <a:pt x="0" y="0"/>
                  </a:lnTo>
                  <a:lnTo>
                    <a:pt x="1714500" y="0"/>
                  </a:lnTo>
                  <a:lnTo>
                    <a:pt x="1714500" y="523875"/>
                  </a:lnTo>
                  <a:lnTo>
                    <a:pt x="1609725" y="485775"/>
                  </a:lnTo>
                  <a:lnTo>
                    <a:pt x="1504950" y="466725"/>
                  </a:lnTo>
                  <a:lnTo>
                    <a:pt x="1390650" y="447675"/>
                  </a:lnTo>
                  <a:lnTo>
                    <a:pt x="1171575" y="447675"/>
                  </a:lnTo>
                  <a:lnTo>
                    <a:pt x="962025" y="485775"/>
                  </a:lnTo>
                  <a:lnTo>
                    <a:pt x="857250" y="523875"/>
                  </a:lnTo>
                  <a:lnTo>
                    <a:pt x="647700" y="581025"/>
                  </a:lnTo>
                  <a:lnTo>
                    <a:pt x="533400" y="590550"/>
                  </a:lnTo>
                  <a:lnTo>
                    <a:pt x="428625" y="600075"/>
                  </a:lnTo>
                  <a:lnTo>
                    <a:pt x="314325" y="590550"/>
                  </a:lnTo>
                  <a:lnTo>
                    <a:pt x="209550" y="581025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4378325" y="6118225"/>
            <a:ext cx="9975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COA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(KTOPL)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Account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(SAKNR)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57" name="object 57" descr=""/>
          <p:cNvGraphicFramePr>
            <a:graphicFrameLocks noGrp="1"/>
          </p:cNvGraphicFramePr>
          <p:nvPr/>
        </p:nvGraphicFramePr>
        <p:xfrm>
          <a:off x="4367212" y="5792787"/>
          <a:ext cx="4191000" cy="361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4500"/>
                <a:gridCol w="676275"/>
                <a:gridCol w="1714500"/>
              </a:tblGrid>
              <a:tr h="180975">
                <a:tc rowSpan="2"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SKA1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9050" marR="277495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(G/L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accounts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master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(chart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 accounts))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SKAT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9050" marR="1270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(G/L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account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master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record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(chart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 accounts:</a:t>
                      </a:r>
                      <a:r>
                        <a:rPr dirty="0" sz="75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description))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09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58" name="object 58" descr=""/>
          <p:cNvGrpSpPr/>
          <p:nvPr/>
        </p:nvGrpSpPr>
        <p:grpSpPr>
          <a:xfrm>
            <a:off x="6757987" y="6135687"/>
            <a:ext cx="1724025" cy="600075"/>
            <a:chOff x="6757987" y="6135687"/>
            <a:chExt cx="1724025" cy="600075"/>
          </a:xfrm>
        </p:grpSpPr>
        <p:sp>
          <p:nvSpPr>
            <p:cNvPr id="59" name="object 59" descr=""/>
            <p:cNvSpPr/>
            <p:nvPr/>
          </p:nvSpPr>
          <p:spPr>
            <a:xfrm>
              <a:off x="6762750" y="6140450"/>
              <a:ext cx="1714500" cy="590550"/>
            </a:xfrm>
            <a:custGeom>
              <a:avLst/>
              <a:gdLst/>
              <a:ahLst/>
              <a:cxnLst/>
              <a:rect l="l" t="t" r="r" b="b"/>
              <a:pathLst>
                <a:path w="1714500" h="590550">
                  <a:moveTo>
                    <a:pt x="1714500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104775" y="552450"/>
                  </a:lnTo>
                  <a:lnTo>
                    <a:pt x="314325" y="590550"/>
                  </a:lnTo>
                  <a:lnTo>
                    <a:pt x="533400" y="590550"/>
                  </a:lnTo>
                  <a:lnTo>
                    <a:pt x="647700" y="571500"/>
                  </a:lnTo>
                  <a:lnTo>
                    <a:pt x="752475" y="552450"/>
                  </a:lnTo>
                  <a:lnTo>
                    <a:pt x="857250" y="514350"/>
                  </a:lnTo>
                  <a:lnTo>
                    <a:pt x="962025" y="485775"/>
                  </a:lnTo>
                  <a:lnTo>
                    <a:pt x="1066800" y="466725"/>
                  </a:lnTo>
                  <a:lnTo>
                    <a:pt x="1181100" y="447675"/>
                  </a:lnTo>
                  <a:lnTo>
                    <a:pt x="1400175" y="447675"/>
                  </a:lnTo>
                  <a:lnTo>
                    <a:pt x="1609725" y="485775"/>
                  </a:lnTo>
                  <a:lnTo>
                    <a:pt x="1714500" y="51435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762750" y="6140450"/>
              <a:ext cx="1714500" cy="590550"/>
            </a:xfrm>
            <a:custGeom>
              <a:avLst/>
              <a:gdLst/>
              <a:ahLst/>
              <a:cxnLst/>
              <a:rect l="l" t="t" r="r" b="b"/>
              <a:pathLst>
                <a:path w="1714500" h="590550">
                  <a:moveTo>
                    <a:pt x="0" y="514350"/>
                  </a:moveTo>
                  <a:lnTo>
                    <a:pt x="0" y="0"/>
                  </a:lnTo>
                  <a:lnTo>
                    <a:pt x="1714500" y="0"/>
                  </a:lnTo>
                  <a:lnTo>
                    <a:pt x="1714500" y="514350"/>
                  </a:lnTo>
                  <a:lnTo>
                    <a:pt x="1609725" y="485775"/>
                  </a:lnTo>
                  <a:lnTo>
                    <a:pt x="1400175" y="447675"/>
                  </a:lnTo>
                  <a:lnTo>
                    <a:pt x="1181100" y="447675"/>
                  </a:lnTo>
                  <a:lnTo>
                    <a:pt x="1066800" y="466725"/>
                  </a:lnTo>
                  <a:lnTo>
                    <a:pt x="962025" y="485775"/>
                  </a:lnTo>
                  <a:lnTo>
                    <a:pt x="857250" y="514350"/>
                  </a:lnTo>
                  <a:lnTo>
                    <a:pt x="752475" y="552450"/>
                  </a:lnTo>
                  <a:lnTo>
                    <a:pt x="647700" y="571500"/>
                  </a:lnTo>
                  <a:lnTo>
                    <a:pt x="533400" y="590550"/>
                  </a:lnTo>
                  <a:lnTo>
                    <a:pt x="314325" y="590550"/>
                  </a:lnTo>
                  <a:lnTo>
                    <a:pt x="104775" y="552450"/>
                  </a:lnTo>
                  <a:lnTo>
                    <a:pt x="0" y="514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6769100" y="6137275"/>
            <a:ext cx="997585" cy="358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080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Language</a:t>
            </a:r>
            <a:r>
              <a:rPr dirty="0" sz="750" spc="2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(SPRAS) </a:t>
            </a:r>
            <a:r>
              <a:rPr dirty="0" sz="750">
                <a:latin typeface="Arial"/>
                <a:cs typeface="Arial"/>
              </a:rPr>
              <a:t>COA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(KTOPL)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G/L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Account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(SAKNR)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02150" y="603250"/>
            <a:ext cx="195008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SAP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-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Materials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Management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281362" y="2640012"/>
            <a:ext cx="1390650" cy="962025"/>
            <a:chOff x="3281362" y="2640012"/>
            <a:chExt cx="1390650" cy="962025"/>
          </a:xfrm>
        </p:grpSpPr>
        <p:sp>
          <p:nvSpPr>
            <p:cNvPr id="4" name="object 4" descr=""/>
            <p:cNvSpPr/>
            <p:nvPr/>
          </p:nvSpPr>
          <p:spPr>
            <a:xfrm>
              <a:off x="3286125" y="3492500"/>
              <a:ext cx="1381125" cy="104775"/>
            </a:xfrm>
            <a:custGeom>
              <a:avLst/>
              <a:gdLst/>
              <a:ahLst/>
              <a:cxnLst/>
              <a:rect l="l" t="t" r="r" b="b"/>
              <a:pathLst>
                <a:path w="1381125" h="104775">
                  <a:moveTo>
                    <a:pt x="1276350" y="0"/>
                  </a:moveTo>
                  <a:lnTo>
                    <a:pt x="0" y="0"/>
                  </a:lnTo>
                  <a:lnTo>
                    <a:pt x="114300" y="104775"/>
                  </a:lnTo>
                  <a:lnTo>
                    <a:pt x="1381125" y="104775"/>
                  </a:lnTo>
                  <a:lnTo>
                    <a:pt x="127635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286125" y="3492500"/>
              <a:ext cx="1381125" cy="104775"/>
            </a:xfrm>
            <a:custGeom>
              <a:avLst/>
              <a:gdLst/>
              <a:ahLst/>
              <a:cxnLst/>
              <a:rect l="l" t="t" r="r" b="b"/>
              <a:pathLst>
                <a:path w="1381125" h="104775">
                  <a:moveTo>
                    <a:pt x="1276350" y="0"/>
                  </a:moveTo>
                  <a:lnTo>
                    <a:pt x="0" y="0"/>
                  </a:lnTo>
                  <a:lnTo>
                    <a:pt x="114300" y="104775"/>
                  </a:lnTo>
                  <a:lnTo>
                    <a:pt x="1381125" y="104775"/>
                  </a:lnTo>
                  <a:lnTo>
                    <a:pt x="127635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562475" y="2644775"/>
              <a:ext cx="104775" cy="952500"/>
            </a:xfrm>
            <a:custGeom>
              <a:avLst/>
              <a:gdLst/>
              <a:ahLst/>
              <a:cxnLst/>
              <a:rect l="l" t="t" r="r" b="b"/>
              <a:pathLst>
                <a:path w="104775" h="952500">
                  <a:moveTo>
                    <a:pt x="0" y="0"/>
                  </a:moveTo>
                  <a:lnTo>
                    <a:pt x="0" y="847725"/>
                  </a:lnTo>
                  <a:lnTo>
                    <a:pt x="104775" y="952500"/>
                  </a:lnTo>
                  <a:lnTo>
                    <a:pt x="104775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562475" y="2644775"/>
              <a:ext cx="104775" cy="952500"/>
            </a:xfrm>
            <a:custGeom>
              <a:avLst/>
              <a:gdLst/>
              <a:ahLst/>
              <a:cxnLst/>
              <a:rect l="l" t="t" r="r" b="b"/>
              <a:pathLst>
                <a:path w="104775" h="952500">
                  <a:moveTo>
                    <a:pt x="104775" y="952500"/>
                  </a:moveTo>
                  <a:lnTo>
                    <a:pt x="0" y="847725"/>
                  </a:lnTo>
                  <a:lnTo>
                    <a:pt x="0" y="0"/>
                  </a:lnTo>
                  <a:lnTo>
                    <a:pt x="104775" y="104775"/>
                  </a:lnTo>
                  <a:lnTo>
                    <a:pt x="104775" y="952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286125" y="2644775"/>
            <a:ext cx="1276350" cy="8477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75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Materials</a:t>
            </a:r>
            <a:r>
              <a:rPr dirty="0" sz="750" spc="229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Management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243637" y="2640012"/>
            <a:ext cx="1381125" cy="962025"/>
            <a:chOff x="6243637" y="2640012"/>
            <a:chExt cx="1381125" cy="962025"/>
          </a:xfrm>
        </p:grpSpPr>
        <p:sp>
          <p:nvSpPr>
            <p:cNvPr id="10" name="object 10" descr=""/>
            <p:cNvSpPr/>
            <p:nvPr/>
          </p:nvSpPr>
          <p:spPr>
            <a:xfrm>
              <a:off x="6248400" y="3492500"/>
              <a:ext cx="1371600" cy="104775"/>
            </a:xfrm>
            <a:custGeom>
              <a:avLst/>
              <a:gdLst/>
              <a:ahLst/>
              <a:cxnLst/>
              <a:rect l="l" t="t" r="r" b="b"/>
              <a:pathLst>
                <a:path w="1371600" h="104775">
                  <a:moveTo>
                    <a:pt x="1266825" y="0"/>
                  </a:moveTo>
                  <a:lnTo>
                    <a:pt x="0" y="0"/>
                  </a:lnTo>
                  <a:lnTo>
                    <a:pt x="104775" y="104775"/>
                  </a:lnTo>
                  <a:lnTo>
                    <a:pt x="1371600" y="104775"/>
                  </a:lnTo>
                  <a:lnTo>
                    <a:pt x="12668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48400" y="3492500"/>
              <a:ext cx="1371600" cy="104775"/>
            </a:xfrm>
            <a:custGeom>
              <a:avLst/>
              <a:gdLst/>
              <a:ahLst/>
              <a:cxnLst/>
              <a:rect l="l" t="t" r="r" b="b"/>
              <a:pathLst>
                <a:path w="1371600" h="104775">
                  <a:moveTo>
                    <a:pt x="1266825" y="0"/>
                  </a:moveTo>
                  <a:lnTo>
                    <a:pt x="0" y="0"/>
                  </a:lnTo>
                  <a:lnTo>
                    <a:pt x="104775" y="104775"/>
                  </a:lnTo>
                  <a:lnTo>
                    <a:pt x="1371600" y="104775"/>
                  </a:lnTo>
                  <a:lnTo>
                    <a:pt x="126682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15225" y="2644775"/>
              <a:ext cx="104775" cy="952500"/>
            </a:xfrm>
            <a:custGeom>
              <a:avLst/>
              <a:gdLst/>
              <a:ahLst/>
              <a:cxnLst/>
              <a:rect l="l" t="t" r="r" b="b"/>
              <a:pathLst>
                <a:path w="104775" h="952500">
                  <a:moveTo>
                    <a:pt x="0" y="0"/>
                  </a:moveTo>
                  <a:lnTo>
                    <a:pt x="0" y="847725"/>
                  </a:lnTo>
                  <a:lnTo>
                    <a:pt x="104775" y="952500"/>
                  </a:lnTo>
                  <a:lnTo>
                    <a:pt x="104775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515225" y="2644775"/>
              <a:ext cx="104775" cy="952500"/>
            </a:xfrm>
            <a:custGeom>
              <a:avLst/>
              <a:gdLst/>
              <a:ahLst/>
              <a:cxnLst/>
              <a:rect l="l" t="t" r="r" b="b"/>
              <a:pathLst>
                <a:path w="104775" h="952500">
                  <a:moveTo>
                    <a:pt x="104775" y="952500"/>
                  </a:moveTo>
                  <a:lnTo>
                    <a:pt x="0" y="847725"/>
                  </a:lnTo>
                  <a:lnTo>
                    <a:pt x="0" y="0"/>
                  </a:lnTo>
                  <a:lnTo>
                    <a:pt x="104775" y="104775"/>
                  </a:lnTo>
                  <a:lnTo>
                    <a:pt x="104775" y="952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248400" y="2644775"/>
            <a:ext cx="1266825" cy="8477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750">
              <a:latin typeface="Times New Roman"/>
              <a:cs typeface="Times New Roman"/>
            </a:endParaRPr>
          </a:p>
          <a:p>
            <a:pPr marL="20955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Financial</a:t>
            </a:r>
            <a:r>
              <a:rPr dirty="0" sz="750" spc="2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Accounting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490662" y="2744787"/>
            <a:ext cx="1276350" cy="638175"/>
            <a:chOff x="1490662" y="2744787"/>
            <a:chExt cx="1276350" cy="638175"/>
          </a:xfrm>
        </p:grpSpPr>
        <p:sp>
          <p:nvSpPr>
            <p:cNvPr id="16" name="object 16" descr=""/>
            <p:cNvSpPr/>
            <p:nvPr/>
          </p:nvSpPr>
          <p:spPr>
            <a:xfrm>
              <a:off x="1495425" y="2749550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1266825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104775" y="523875"/>
                  </a:lnTo>
                  <a:lnTo>
                    <a:pt x="1162050" y="104775"/>
                  </a:lnTo>
                  <a:lnTo>
                    <a:pt x="12668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95425" y="2749550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0" y="628650"/>
                  </a:moveTo>
                  <a:lnTo>
                    <a:pt x="104775" y="523875"/>
                  </a:lnTo>
                  <a:lnTo>
                    <a:pt x="1162050" y="104775"/>
                  </a:lnTo>
                  <a:lnTo>
                    <a:pt x="1266825" y="0"/>
                  </a:lnTo>
                  <a:lnTo>
                    <a:pt x="0" y="0"/>
                  </a:lnTo>
                  <a:lnTo>
                    <a:pt x="0" y="628650"/>
                  </a:lnTo>
                  <a:close/>
                </a:path>
                <a:path w="1266825" h="628650">
                  <a:moveTo>
                    <a:pt x="0" y="0"/>
                  </a:moveTo>
                  <a:lnTo>
                    <a:pt x="1047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95425" y="2749550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1266825" y="0"/>
                  </a:moveTo>
                  <a:lnTo>
                    <a:pt x="1162050" y="104775"/>
                  </a:lnTo>
                  <a:lnTo>
                    <a:pt x="104775" y="523875"/>
                  </a:lnTo>
                  <a:lnTo>
                    <a:pt x="0" y="628650"/>
                  </a:lnTo>
                  <a:lnTo>
                    <a:pt x="1266825" y="628650"/>
                  </a:lnTo>
                  <a:lnTo>
                    <a:pt x="12668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95425" y="2749550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104775" y="523875"/>
                  </a:moveTo>
                  <a:lnTo>
                    <a:pt x="0" y="628650"/>
                  </a:lnTo>
                  <a:lnTo>
                    <a:pt x="1266825" y="628650"/>
                  </a:lnTo>
                  <a:lnTo>
                    <a:pt x="1266825" y="0"/>
                  </a:lnTo>
                  <a:lnTo>
                    <a:pt x="1162050" y="104775"/>
                  </a:lnTo>
                  <a:lnTo>
                    <a:pt x="104775" y="523875"/>
                  </a:lnTo>
                  <a:close/>
                </a:path>
                <a:path w="1266825" h="628650">
                  <a:moveTo>
                    <a:pt x="1266825" y="628650"/>
                  </a:moveTo>
                  <a:lnTo>
                    <a:pt x="1162050" y="5238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600200" y="2854325"/>
              <a:ext cx="1057275" cy="419100"/>
            </a:xfrm>
            <a:custGeom>
              <a:avLst/>
              <a:gdLst/>
              <a:ahLst/>
              <a:cxnLst/>
              <a:rect l="l" t="t" r="r" b="b"/>
              <a:pathLst>
                <a:path w="1057275" h="419100">
                  <a:moveTo>
                    <a:pt x="10572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1057275" y="41910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00200" y="2854325"/>
              <a:ext cx="1057275" cy="419100"/>
            </a:xfrm>
            <a:custGeom>
              <a:avLst/>
              <a:gdLst/>
              <a:ahLst/>
              <a:cxnLst/>
              <a:rect l="l" t="t" r="r" b="b"/>
              <a:pathLst>
                <a:path w="1057275" h="419100">
                  <a:moveTo>
                    <a:pt x="0" y="419100"/>
                  </a:moveTo>
                  <a:lnTo>
                    <a:pt x="1057275" y="419100"/>
                  </a:lnTo>
                  <a:lnTo>
                    <a:pt x="10572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663700" y="2984500"/>
            <a:ext cx="10642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Materials</a:t>
            </a:r>
            <a:r>
              <a:rPr dirty="0" sz="750" spc="229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Management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8139112" y="2744787"/>
            <a:ext cx="1276350" cy="638175"/>
            <a:chOff x="8139112" y="2744787"/>
            <a:chExt cx="1276350" cy="638175"/>
          </a:xfrm>
        </p:grpSpPr>
        <p:sp>
          <p:nvSpPr>
            <p:cNvPr id="24" name="object 24" descr=""/>
            <p:cNvSpPr/>
            <p:nvPr/>
          </p:nvSpPr>
          <p:spPr>
            <a:xfrm>
              <a:off x="8143875" y="2749550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1266825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104775" y="523875"/>
                  </a:lnTo>
                  <a:lnTo>
                    <a:pt x="1162050" y="104775"/>
                  </a:lnTo>
                  <a:lnTo>
                    <a:pt x="12668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143875" y="2749550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0" y="628650"/>
                  </a:moveTo>
                  <a:lnTo>
                    <a:pt x="104775" y="523875"/>
                  </a:lnTo>
                  <a:lnTo>
                    <a:pt x="1162050" y="104775"/>
                  </a:lnTo>
                  <a:lnTo>
                    <a:pt x="1266825" y="0"/>
                  </a:lnTo>
                  <a:lnTo>
                    <a:pt x="0" y="0"/>
                  </a:lnTo>
                  <a:lnTo>
                    <a:pt x="0" y="628650"/>
                  </a:lnTo>
                  <a:close/>
                </a:path>
                <a:path w="1266825" h="628650">
                  <a:moveTo>
                    <a:pt x="0" y="0"/>
                  </a:moveTo>
                  <a:lnTo>
                    <a:pt x="1047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143875" y="2749550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1266825" y="0"/>
                  </a:moveTo>
                  <a:lnTo>
                    <a:pt x="1162050" y="104775"/>
                  </a:lnTo>
                  <a:lnTo>
                    <a:pt x="104775" y="523875"/>
                  </a:lnTo>
                  <a:lnTo>
                    <a:pt x="0" y="628650"/>
                  </a:lnTo>
                  <a:lnTo>
                    <a:pt x="1266825" y="628650"/>
                  </a:lnTo>
                  <a:lnTo>
                    <a:pt x="12668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143875" y="2749550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104775" y="523875"/>
                  </a:moveTo>
                  <a:lnTo>
                    <a:pt x="0" y="628650"/>
                  </a:lnTo>
                  <a:lnTo>
                    <a:pt x="1266825" y="628650"/>
                  </a:lnTo>
                  <a:lnTo>
                    <a:pt x="1266825" y="0"/>
                  </a:lnTo>
                  <a:lnTo>
                    <a:pt x="1162050" y="104775"/>
                  </a:lnTo>
                  <a:lnTo>
                    <a:pt x="104775" y="523875"/>
                  </a:lnTo>
                  <a:close/>
                </a:path>
                <a:path w="1266825" h="628650">
                  <a:moveTo>
                    <a:pt x="1266825" y="628650"/>
                  </a:moveTo>
                  <a:lnTo>
                    <a:pt x="1162050" y="5238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248650" y="2854325"/>
            <a:ext cx="1057275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750"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Accounts</a:t>
            </a:r>
            <a:r>
              <a:rPr dirty="0" sz="750" spc="1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Payable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481137" y="1687512"/>
            <a:ext cx="1276350" cy="638175"/>
            <a:chOff x="1481137" y="1687512"/>
            <a:chExt cx="1276350" cy="638175"/>
          </a:xfrm>
        </p:grpSpPr>
        <p:sp>
          <p:nvSpPr>
            <p:cNvPr id="30" name="object 30" descr=""/>
            <p:cNvSpPr/>
            <p:nvPr/>
          </p:nvSpPr>
          <p:spPr>
            <a:xfrm>
              <a:off x="1485900" y="1692275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1266825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104775" y="523875"/>
                  </a:lnTo>
                  <a:lnTo>
                    <a:pt x="1162050" y="104775"/>
                  </a:lnTo>
                  <a:lnTo>
                    <a:pt x="12668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485900" y="1692275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0" y="628650"/>
                  </a:moveTo>
                  <a:lnTo>
                    <a:pt x="104775" y="523875"/>
                  </a:lnTo>
                  <a:lnTo>
                    <a:pt x="1162050" y="104775"/>
                  </a:lnTo>
                  <a:lnTo>
                    <a:pt x="1266825" y="0"/>
                  </a:lnTo>
                  <a:lnTo>
                    <a:pt x="0" y="0"/>
                  </a:lnTo>
                  <a:lnTo>
                    <a:pt x="0" y="628650"/>
                  </a:lnTo>
                  <a:close/>
                </a:path>
                <a:path w="1266825" h="628650">
                  <a:moveTo>
                    <a:pt x="0" y="0"/>
                  </a:moveTo>
                  <a:lnTo>
                    <a:pt x="1047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485900" y="1692275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1266825" y="0"/>
                  </a:moveTo>
                  <a:lnTo>
                    <a:pt x="1162050" y="104775"/>
                  </a:lnTo>
                  <a:lnTo>
                    <a:pt x="104775" y="523875"/>
                  </a:lnTo>
                  <a:lnTo>
                    <a:pt x="0" y="628650"/>
                  </a:lnTo>
                  <a:lnTo>
                    <a:pt x="1266825" y="628650"/>
                  </a:lnTo>
                  <a:lnTo>
                    <a:pt x="12668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485900" y="1692275"/>
              <a:ext cx="1266825" cy="628650"/>
            </a:xfrm>
            <a:custGeom>
              <a:avLst/>
              <a:gdLst/>
              <a:ahLst/>
              <a:cxnLst/>
              <a:rect l="l" t="t" r="r" b="b"/>
              <a:pathLst>
                <a:path w="1266825" h="628650">
                  <a:moveTo>
                    <a:pt x="104775" y="523875"/>
                  </a:moveTo>
                  <a:lnTo>
                    <a:pt x="0" y="628650"/>
                  </a:lnTo>
                  <a:lnTo>
                    <a:pt x="1266825" y="628650"/>
                  </a:lnTo>
                  <a:lnTo>
                    <a:pt x="1266825" y="0"/>
                  </a:lnTo>
                  <a:lnTo>
                    <a:pt x="1162050" y="104775"/>
                  </a:lnTo>
                  <a:lnTo>
                    <a:pt x="104775" y="523875"/>
                  </a:lnTo>
                  <a:close/>
                </a:path>
                <a:path w="1266825" h="628650">
                  <a:moveTo>
                    <a:pt x="1266825" y="628650"/>
                  </a:moveTo>
                  <a:lnTo>
                    <a:pt x="1162050" y="5238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590675" y="1797050"/>
            <a:ext cx="1057275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750">
              <a:latin typeface="Times New Roman"/>
              <a:cs typeface="Times New Roman"/>
            </a:endParaRPr>
          </a:p>
          <a:p>
            <a:pPr marL="295275">
              <a:lnSpc>
                <a:spcPct val="100000"/>
              </a:lnSpc>
            </a:pPr>
            <a:r>
              <a:rPr dirty="0" sz="750" spc="-10">
                <a:latin typeface="Arial"/>
                <a:cs typeface="Arial"/>
              </a:rPr>
              <a:t>Purchasing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490662" y="3906837"/>
            <a:ext cx="1276350" cy="647700"/>
            <a:chOff x="1490662" y="3906837"/>
            <a:chExt cx="1276350" cy="647700"/>
          </a:xfrm>
        </p:grpSpPr>
        <p:sp>
          <p:nvSpPr>
            <p:cNvPr id="36" name="object 36" descr=""/>
            <p:cNvSpPr/>
            <p:nvPr/>
          </p:nvSpPr>
          <p:spPr>
            <a:xfrm>
              <a:off x="1495425" y="3911600"/>
              <a:ext cx="1266825" cy="638175"/>
            </a:xfrm>
            <a:custGeom>
              <a:avLst/>
              <a:gdLst/>
              <a:ahLst/>
              <a:cxnLst/>
              <a:rect l="l" t="t" r="r" b="b"/>
              <a:pathLst>
                <a:path w="1266825" h="638175">
                  <a:moveTo>
                    <a:pt x="1266825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104775" y="523875"/>
                  </a:lnTo>
                  <a:lnTo>
                    <a:pt x="1162050" y="104775"/>
                  </a:lnTo>
                  <a:lnTo>
                    <a:pt x="12668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95425" y="3911600"/>
              <a:ext cx="1266825" cy="638175"/>
            </a:xfrm>
            <a:custGeom>
              <a:avLst/>
              <a:gdLst/>
              <a:ahLst/>
              <a:cxnLst/>
              <a:rect l="l" t="t" r="r" b="b"/>
              <a:pathLst>
                <a:path w="1266825" h="638175">
                  <a:moveTo>
                    <a:pt x="0" y="638175"/>
                  </a:moveTo>
                  <a:lnTo>
                    <a:pt x="104775" y="523875"/>
                  </a:lnTo>
                  <a:lnTo>
                    <a:pt x="1162050" y="104775"/>
                  </a:lnTo>
                  <a:lnTo>
                    <a:pt x="1266825" y="0"/>
                  </a:lnTo>
                  <a:lnTo>
                    <a:pt x="0" y="0"/>
                  </a:lnTo>
                  <a:lnTo>
                    <a:pt x="0" y="638175"/>
                  </a:lnTo>
                  <a:close/>
                </a:path>
                <a:path w="1266825" h="638175">
                  <a:moveTo>
                    <a:pt x="0" y="0"/>
                  </a:moveTo>
                  <a:lnTo>
                    <a:pt x="1047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495425" y="3911600"/>
              <a:ext cx="1266825" cy="638175"/>
            </a:xfrm>
            <a:custGeom>
              <a:avLst/>
              <a:gdLst/>
              <a:ahLst/>
              <a:cxnLst/>
              <a:rect l="l" t="t" r="r" b="b"/>
              <a:pathLst>
                <a:path w="1266825" h="638175">
                  <a:moveTo>
                    <a:pt x="1266825" y="0"/>
                  </a:moveTo>
                  <a:lnTo>
                    <a:pt x="1162050" y="104775"/>
                  </a:lnTo>
                  <a:lnTo>
                    <a:pt x="104775" y="523875"/>
                  </a:lnTo>
                  <a:lnTo>
                    <a:pt x="0" y="638175"/>
                  </a:lnTo>
                  <a:lnTo>
                    <a:pt x="1266825" y="638175"/>
                  </a:lnTo>
                  <a:lnTo>
                    <a:pt x="12668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495425" y="3911600"/>
              <a:ext cx="1266825" cy="638175"/>
            </a:xfrm>
            <a:custGeom>
              <a:avLst/>
              <a:gdLst/>
              <a:ahLst/>
              <a:cxnLst/>
              <a:rect l="l" t="t" r="r" b="b"/>
              <a:pathLst>
                <a:path w="1266825" h="638175">
                  <a:moveTo>
                    <a:pt x="104775" y="523875"/>
                  </a:moveTo>
                  <a:lnTo>
                    <a:pt x="0" y="638175"/>
                  </a:lnTo>
                  <a:lnTo>
                    <a:pt x="1266825" y="638175"/>
                  </a:lnTo>
                  <a:lnTo>
                    <a:pt x="1266825" y="0"/>
                  </a:lnTo>
                  <a:lnTo>
                    <a:pt x="1162050" y="104775"/>
                  </a:lnTo>
                  <a:lnTo>
                    <a:pt x="104775" y="523875"/>
                  </a:lnTo>
                  <a:close/>
                </a:path>
                <a:path w="1266825" h="638175">
                  <a:moveTo>
                    <a:pt x="1266825" y="638175"/>
                  </a:moveTo>
                  <a:lnTo>
                    <a:pt x="1162050" y="5238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600200" y="4016375"/>
            <a:ext cx="1057275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304800" marR="230504" indent="85725">
              <a:lnSpc>
                <a:spcPct val="100000"/>
              </a:lnSpc>
              <a:spcBef>
                <a:spcPts val="675"/>
              </a:spcBef>
            </a:pPr>
            <a:r>
              <a:rPr dirty="0" sz="750" spc="-10">
                <a:latin typeface="Arial"/>
                <a:cs typeface="Arial"/>
              </a:rPr>
              <a:t>Invoice Verification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2747962" y="2001837"/>
            <a:ext cx="5396230" cy="2228850"/>
            <a:chOff x="2747962" y="2001837"/>
            <a:chExt cx="5396230" cy="2228850"/>
          </a:xfrm>
        </p:grpSpPr>
        <p:sp>
          <p:nvSpPr>
            <p:cNvPr id="42" name="object 42" descr=""/>
            <p:cNvSpPr/>
            <p:nvPr/>
          </p:nvSpPr>
          <p:spPr>
            <a:xfrm>
              <a:off x="2752725" y="2006600"/>
              <a:ext cx="514350" cy="1009650"/>
            </a:xfrm>
            <a:custGeom>
              <a:avLst/>
              <a:gdLst/>
              <a:ahLst/>
              <a:cxnLst/>
              <a:rect l="l" t="t" r="r" b="b"/>
              <a:pathLst>
                <a:path w="514350" h="1009650">
                  <a:moveTo>
                    <a:pt x="0" y="0"/>
                  </a:moveTo>
                  <a:lnTo>
                    <a:pt x="514350" y="10096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228975" y="2987675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0"/>
                  </a:moveTo>
                  <a:lnTo>
                    <a:pt x="0" y="38100"/>
                  </a:lnTo>
                  <a:lnTo>
                    <a:pt x="5715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762250" y="3063875"/>
              <a:ext cx="466725" cy="0"/>
            </a:xfrm>
            <a:custGeom>
              <a:avLst/>
              <a:gdLst/>
              <a:ahLst/>
              <a:cxnLst/>
              <a:rect l="l" t="t" r="r" b="b"/>
              <a:pathLst>
                <a:path w="466725" h="0">
                  <a:moveTo>
                    <a:pt x="0" y="0"/>
                  </a:moveTo>
                  <a:lnTo>
                    <a:pt x="46672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228975" y="30353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0" y="57150"/>
                  </a:lnTo>
                  <a:lnTo>
                    <a:pt x="57150" y="28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762250" y="3111500"/>
              <a:ext cx="504825" cy="1114425"/>
            </a:xfrm>
            <a:custGeom>
              <a:avLst/>
              <a:gdLst/>
              <a:ahLst/>
              <a:cxnLst/>
              <a:rect l="l" t="t" r="r" b="b"/>
              <a:pathLst>
                <a:path w="504825" h="1114425">
                  <a:moveTo>
                    <a:pt x="0" y="1114425"/>
                  </a:moveTo>
                  <a:lnTo>
                    <a:pt x="50482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228975" y="3063875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57150" y="0"/>
                  </a:moveTo>
                  <a:lnTo>
                    <a:pt x="0" y="47625"/>
                  </a:lnTo>
                  <a:lnTo>
                    <a:pt x="66675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572375" y="3063875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 h="0"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515225" y="3035300"/>
              <a:ext cx="66675" cy="57150"/>
            </a:xfrm>
            <a:custGeom>
              <a:avLst/>
              <a:gdLst/>
              <a:ahLst/>
              <a:cxnLst/>
              <a:rect l="l" t="t" r="r" b="b"/>
              <a:pathLst>
                <a:path w="66675" h="57150">
                  <a:moveTo>
                    <a:pt x="66675" y="0"/>
                  </a:moveTo>
                  <a:lnTo>
                    <a:pt x="0" y="28575"/>
                  </a:lnTo>
                  <a:lnTo>
                    <a:pt x="66675" y="571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2475" y="3044825"/>
              <a:ext cx="1695450" cy="47625"/>
            </a:xfrm>
            <a:prstGeom prst="rect">
              <a:avLst/>
            </a:prstGeom>
          </p:spPr>
        </p:pic>
      </p:grpSp>
      <p:grpSp>
        <p:nvGrpSpPr>
          <p:cNvPr id="51" name="object 51" descr=""/>
          <p:cNvGrpSpPr/>
          <p:nvPr/>
        </p:nvGrpSpPr>
        <p:grpSpPr>
          <a:xfrm>
            <a:off x="1585912" y="4849812"/>
            <a:ext cx="957580" cy="2338705"/>
            <a:chOff x="1585912" y="4849812"/>
            <a:chExt cx="957580" cy="2338705"/>
          </a:xfrm>
        </p:grpSpPr>
        <p:sp>
          <p:nvSpPr>
            <p:cNvPr id="52" name="object 52" descr=""/>
            <p:cNvSpPr/>
            <p:nvPr/>
          </p:nvSpPr>
          <p:spPr>
            <a:xfrm>
              <a:off x="1695450" y="4959350"/>
              <a:ext cx="847725" cy="2228850"/>
            </a:xfrm>
            <a:custGeom>
              <a:avLst/>
              <a:gdLst/>
              <a:ahLst/>
              <a:cxnLst/>
              <a:rect l="l" t="t" r="r" b="b"/>
              <a:pathLst>
                <a:path w="847725" h="2228850">
                  <a:moveTo>
                    <a:pt x="847725" y="0"/>
                  </a:moveTo>
                  <a:lnTo>
                    <a:pt x="0" y="0"/>
                  </a:lnTo>
                  <a:lnTo>
                    <a:pt x="0" y="2228850"/>
                  </a:lnTo>
                  <a:lnTo>
                    <a:pt x="847725" y="2228850"/>
                  </a:lnTo>
                  <a:lnTo>
                    <a:pt x="84772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590675" y="4854575"/>
              <a:ext cx="847725" cy="2228850"/>
            </a:xfrm>
            <a:custGeom>
              <a:avLst/>
              <a:gdLst/>
              <a:ahLst/>
              <a:cxnLst/>
              <a:rect l="l" t="t" r="r" b="b"/>
              <a:pathLst>
                <a:path w="847725" h="2228850">
                  <a:moveTo>
                    <a:pt x="847725" y="0"/>
                  </a:moveTo>
                  <a:lnTo>
                    <a:pt x="0" y="0"/>
                  </a:lnTo>
                  <a:lnTo>
                    <a:pt x="0" y="2228850"/>
                  </a:lnTo>
                  <a:lnTo>
                    <a:pt x="847725" y="2228850"/>
                  </a:lnTo>
                  <a:lnTo>
                    <a:pt x="847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590675" y="4854575"/>
              <a:ext cx="847725" cy="2228850"/>
            </a:xfrm>
            <a:custGeom>
              <a:avLst/>
              <a:gdLst/>
              <a:ahLst/>
              <a:cxnLst/>
              <a:rect l="l" t="t" r="r" b="b"/>
              <a:pathLst>
                <a:path w="847725" h="2228850">
                  <a:moveTo>
                    <a:pt x="0" y="2228850"/>
                  </a:moveTo>
                  <a:lnTo>
                    <a:pt x="847725" y="2228850"/>
                  </a:lnTo>
                  <a:lnTo>
                    <a:pt x="847725" y="0"/>
                  </a:lnTo>
                  <a:lnTo>
                    <a:pt x="0" y="0"/>
                  </a:lnTo>
                  <a:lnTo>
                    <a:pt x="0" y="22288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609725" y="5730875"/>
              <a:ext cx="400050" cy="0"/>
            </a:xfrm>
            <a:custGeom>
              <a:avLst/>
              <a:gdLst/>
              <a:ahLst/>
              <a:cxnLst/>
              <a:rect l="l" t="t" r="r" b="b"/>
              <a:pathLst>
                <a:path w="400050" h="0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1597025" y="5594350"/>
            <a:ext cx="425450" cy="7245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75"/>
              </a:spcBef>
            </a:pPr>
            <a:r>
              <a:rPr dirty="0" sz="900" spc="-10" b="1">
                <a:latin typeface="Arial"/>
                <a:cs typeface="Arial"/>
              </a:rPr>
              <a:t>Tables: </a:t>
            </a:r>
            <a:r>
              <a:rPr dirty="0" sz="900" spc="65">
                <a:latin typeface="Arial"/>
                <a:cs typeface="Arial"/>
              </a:rPr>
              <a:t>EKKO EKPO </a:t>
            </a:r>
            <a:r>
              <a:rPr dirty="0" sz="900" spc="-20">
                <a:latin typeface="Arial"/>
                <a:cs typeface="Arial"/>
              </a:rPr>
              <a:t>KNMT </a:t>
            </a:r>
            <a:r>
              <a:rPr dirty="0" sz="900" spc="45">
                <a:latin typeface="Arial"/>
                <a:cs typeface="Arial"/>
              </a:rPr>
              <a:t>MAKT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01000" y="6083300"/>
            <a:ext cx="1419225" cy="1257300"/>
            <a:chOff x="8001000" y="6083300"/>
            <a:chExt cx="1419225" cy="1257300"/>
          </a:xfrm>
        </p:grpSpPr>
        <p:sp>
          <p:nvSpPr>
            <p:cNvPr id="3" name="object 3" descr=""/>
            <p:cNvSpPr/>
            <p:nvPr/>
          </p:nvSpPr>
          <p:spPr>
            <a:xfrm>
              <a:off x="8105775" y="6197600"/>
              <a:ext cx="1314450" cy="1143000"/>
            </a:xfrm>
            <a:custGeom>
              <a:avLst/>
              <a:gdLst/>
              <a:ahLst/>
              <a:cxnLst/>
              <a:rect l="l" t="t" r="r" b="b"/>
              <a:pathLst>
                <a:path w="1314450" h="1143000">
                  <a:moveTo>
                    <a:pt x="131445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314450" y="1143000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001000" y="6083300"/>
              <a:ext cx="1314450" cy="1181100"/>
            </a:xfrm>
            <a:custGeom>
              <a:avLst/>
              <a:gdLst/>
              <a:ahLst/>
              <a:cxnLst/>
              <a:rect l="l" t="t" r="r" b="b"/>
              <a:pathLst>
                <a:path w="1314450" h="1181100">
                  <a:moveTo>
                    <a:pt x="1314450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314450" y="1181100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8001000" y="6083300"/>
            <a:ext cx="1314450" cy="11811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98450" rIns="0" bIns="0" rtlCol="0" vert="horz">
            <a:spAutoFit/>
          </a:bodyPr>
          <a:lstStyle/>
          <a:p>
            <a:pPr algn="ctr" marR="12065">
              <a:lnSpc>
                <a:spcPct val="100000"/>
              </a:lnSpc>
              <a:spcBef>
                <a:spcPts val="2350"/>
              </a:spcBef>
            </a:pPr>
            <a:r>
              <a:rPr dirty="0" sz="2300" spc="-25" b="1">
                <a:latin typeface="Arial"/>
                <a:cs typeface="Arial"/>
              </a:rPr>
              <a:t>MM</a:t>
            </a:r>
            <a:endParaRPr sz="2300">
              <a:latin typeface="Arial"/>
              <a:cs typeface="Arial"/>
            </a:endParaRPr>
          </a:p>
          <a:p>
            <a:pPr algn="ctr" marR="68580">
              <a:lnSpc>
                <a:spcPct val="100000"/>
              </a:lnSpc>
              <a:spcBef>
                <a:spcPts val="165"/>
              </a:spcBef>
            </a:pPr>
            <a:r>
              <a:rPr dirty="0" sz="1100" spc="-25">
                <a:latin typeface="Arial"/>
                <a:cs typeface="Arial"/>
              </a:rPr>
              <a:t>Table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Mapping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109662" y="477837"/>
            <a:ext cx="3067050" cy="1981200"/>
            <a:chOff x="1109662" y="477837"/>
            <a:chExt cx="3067050" cy="1981200"/>
          </a:xfrm>
        </p:grpSpPr>
        <p:sp>
          <p:nvSpPr>
            <p:cNvPr id="7" name="object 7" descr=""/>
            <p:cNvSpPr/>
            <p:nvPr/>
          </p:nvSpPr>
          <p:spPr>
            <a:xfrm>
              <a:off x="1114425" y="482600"/>
              <a:ext cx="3057525" cy="1971675"/>
            </a:xfrm>
            <a:custGeom>
              <a:avLst/>
              <a:gdLst/>
              <a:ahLst/>
              <a:cxnLst/>
              <a:rect l="l" t="t" r="r" b="b"/>
              <a:pathLst>
                <a:path w="3057525" h="1971675">
                  <a:moveTo>
                    <a:pt x="276225" y="1971675"/>
                  </a:moveTo>
                  <a:lnTo>
                    <a:pt x="819150" y="1971675"/>
                  </a:lnTo>
                  <a:lnTo>
                    <a:pt x="876300" y="1962150"/>
                  </a:lnTo>
                  <a:lnTo>
                    <a:pt x="923925" y="1952625"/>
                  </a:lnTo>
                  <a:lnTo>
                    <a:pt x="971550" y="1924050"/>
                  </a:lnTo>
                  <a:lnTo>
                    <a:pt x="1047750" y="1847850"/>
                  </a:lnTo>
                  <a:lnTo>
                    <a:pt x="1076325" y="1800225"/>
                  </a:lnTo>
                  <a:lnTo>
                    <a:pt x="1085850" y="1743075"/>
                  </a:lnTo>
                  <a:lnTo>
                    <a:pt x="1095375" y="1695450"/>
                  </a:lnTo>
                  <a:lnTo>
                    <a:pt x="1085850" y="1638300"/>
                  </a:lnTo>
                  <a:lnTo>
                    <a:pt x="1076325" y="1590675"/>
                  </a:lnTo>
                  <a:lnTo>
                    <a:pt x="1047750" y="1543050"/>
                  </a:lnTo>
                  <a:lnTo>
                    <a:pt x="971550" y="1466850"/>
                  </a:lnTo>
                  <a:lnTo>
                    <a:pt x="923925" y="1438275"/>
                  </a:lnTo>
                  <a:lnTo>
                    <a:pt x="876300" y="1428750"/>
                  </a:lnTo>
                  <a:lnTo>
                    <a:pt x="819150" y="1419225"/>
                  </a:lnTo>
                  <a:lnTo>
                    <a:pt x="276225" y="1419225"/>
                  </a:lnTo>
                  <a:lnTo>
                    <a:pt x="219075" y="1428750"/>
                  </a:lnTo>
                  <a:lnTo>
                    <a:pt x="171450" y="1438275"/>
                  </a:lnTo>
                  <a:lnTo>
                    <a:pt x="123825" y="1466850"/>
                  </a:lnTo>
                  <a:lnTo>
                    <a:pt x="76200" y="1504950"/>
                  </a:lnTo>
                  <a:lnTo>
                    <a:pt x="47625" y="1543050"/>
                  </a:lnTo>
                  <a:lnTo>
                    <a:pt x="19050" y="1590675"/>
                  </a:lnTo>
                  <a:lnTo>
                    <a:pt x="0" y="1638300"/>
                  </a:lnTo>
                  <a:lnTo>
                    <a:pt x="0" y="1743075"/>
                  </a:lnTo>
                  <a:lnTo>
                    <a:pt x="19050" y="1800225"/>
                  </a:lnTo>
                  <a:lnTo>
                    <a:pt x="47625" y="1847850"/>
                  </a:lnTo>
                  <a:lnTo>
                    <a:pt x="76200" y="1885950"/>
                  </a:lnTo>
                  <a:lnTo>
                    <a:pt x="123825" y="1924050"/>
                  </a:lnTo>
                  <a:lnTo>
                    <a:pt x="171450" y="1952625"/>
                  </a:lnTo>
                  <a:lnTo>
                    <a:pt x="219075" y="1962150"/>
                  </a:lnTo>
                  <a:lnTo>
                    <a:pt x="276225" y="1971675"/>
                  </a:lnTo>
                  <a:close/>
                </a:path>
                <a:path w="3057525" h="1971675">
                  <a:moveTo>
                    <a:pt x="2238375" y="666750"/>
                  </a:moveTo>
                  <a:lnTo>
                    <a:pt x="2790825" y="666750"/>
                  </a:lnTo>
                  <a:lnTo>
                    <a:pt x="2838450" y="657225"/>
                  </a:lnTo>
                  <a:lnTo>
                    <a:pt x="2933700" y="619125"/>
                  </a:lnTo>
                  <a:lnTo>
                    <a:pt x="2971800" y="581025"/>
                  </a:lnTo>
                  <a:lnTo>
                    <a:pt x="3009900" y="533400"/>
                  </a:lnTo>
                  <a:lnTo>
                    <a:pt x="3028950" y="485775"/>
                  </a:lnTo>
                  <a:lnTo>
                    <a:pt x="3048000" y="428625"/>
                  </a:lnTo>
                  <a:lnTo>
                    <a:pt x="3057525" y="361950"/>
                  </a:lnTo>
                  <a:lnTo>
                    <a:pt x="3057525" y="304800"/>
                  </a:lnTo>
                  <a:lnTo>
                    <a:pt x="3048000" y="247650"/>
                  </a:lnTo>
                  <a:lnTo>
                    <a:pt x="3028950" y="180975"/>
                  </a:lnTo>
                  <a:lnTo>
                    <a:pt x="3009900" y="133350"/>
                  </a:lnTo>
                  <a:lnTo>
                    <a:pt x="2971800" y="85725"/>
                  </a:lnTo>
                  <a:lnTo>
                    <a:pt x="2933700" y="47625"/>
                  </a:lnTo>
                  <a:lnTo>
                    <a:pt x="2886075" y="19050"/>
                  </a:lnTo>
                  <a:lnTo>
                    <a:pt x="2790825" y="0"/>
                  </a:lnTo>
                  <a:lnTo>
                    <a:pt x="2238375" y="0"/>
                  </a:lnTo>
                  <a:lnTo>
                    <a:pt x="2143125" y="19050"/>
                  </a:lnTo>
                  <a:lnTo>
                    <a:pt x="2095500" y="47625"/>
                  </a:lnTo>
                  <a:lnTo>
                    <a:pt x="2057400" y="85725"/>
                  </a:lnTo>
                  <a:lnTo>
                    <a:pt x="2019300" y="133350"/>
                  </a:lnTo>
                  <a:lnTo>
                    <a:pt x="2000250" y="180975"/>
                  </a:lnTo>
                  <a:lnTo>
                    <a:pt x="1981200" y="247650"/>
                  </a:lnTo>
                  <a:lnTo>
                    <a:pt x="1971675" y="304800"/>
                  </a:lnTo>
                  <a:lnTo>
                    <a:pt x="1971675" y="361950"/>
                  </a:lnTo>
                  <a:lnTo>
                    <a:pt x="1981200" y="428625"/>
                  </a:lnTo>
                  <a:lnTo>
                    <a:pt x="2000250" y="485775"/>
                  </a:lnTo>
                  <a:lnTo>
                    <a:pt x="2019300" y="533400"/>
                  </a:lnTo>
                  <a:lnTo>
                    <a:pt x="2057400" y="581025"/>
                  </a:lnTo>
                  <a:lnTo>
                    <a:pt x="2095500" y="619125"/>
                  </a:lnTo>
                  <a:lnTo>
                    <a:pt x="2190750" y="657225"/>
                  </a:lnTo>
                  <a:lnTo>
                    <a:pt x="2238375" y="666750"/>
                  </a:lnTo>
                  <a:close/>
                </a:path>
                <a:path w="3057525" h="1971675">
                  <a:moveTo>
                    <a:pt x="1933575" y="381000"/>
                  </a:moveTo>
                  <a:lnTo>
                    <a:pt x="1123950" y="16478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9425" y="825500"/>
              <a:ext cx="76200" cy="6667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9800" y="2111375"/>
              <a:ext cx="76200" cy="6667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105025" y="1311275"/>
              <a:ext cx="1076325" cy="371475"/>
            </a:xfrm>
            <a:custGeom>
              <a:avLst/>
              <a:gdLst/>
              <a:ahLst/>
              <a:cxnLst/>
              <a:rect l="l" t="t" r="r" b="b"/>
              <a:pathLst>
                <a:path w="1076325" h="371475">
                  <a:moveTo>
                    <a:pt x="10763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076325" y="371475"/>
                  </a:lnTo>
                  <a:lnTo>
                    <a:pt x="1076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320800" y="498475"/>
            <a:ext cx="2844800" cy="189801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762125">
              <a:lnSpc>
                <a:spcPts val="1135"/>
              </a:lnSpc>
              <a:spcBef>
                <a:spcPts val="125"/>
              </a:spcBef>
            </a:pPr>
            <a:r>
              <a:rPr dirty="0" sz="950" spc="-20" b="1">
                <a:latin typeface="Arial"/>
                <a:cs typeface="Arial"/>
              </a:rPr>
              <a:t>KNMT</a:t>
            </a:r>
            <a:endParaRPr sz="950">
              <a:latin typeface="Arial"/>
              <a:cs typeface="Arial"/>
            </a:endParaRPr>
          </a:p>
          <a:p>
            <a:pPr algn="ctr" marL="1784350" marR="5080">
              <a:lnSpc>
                <a:spcPts val="1130"/>
              </a:lnSpc>
              <a:spcBef>
                <a:spcPts val="35"/>
              </a:spcBef>
            </a:pPr>
            <a:r>
              <a:rPr dirty="0" sz="950">
                <a:latin typeface="Arial"/>
                <a:cs typeface="Arial"/>
              </a:rPr>
              <a:t>(Customer-</a:t>
            </a:r>
            <a:r>
              <a:rPr dirty="0" sz="950" spc="-10">
                <a:latin typeface="Arial"/>
                <a:cs typeface="Arial"/>
              </a:rPr>
              <a:t>Material </a:t>
            </a:r>
            <a:r>
              <a:rPr dirty="0" sz="950">
                <a:latin typeface="Arial"/>
                <a:cs typeface="Arial"/>
              </a:rPr>
              <a:t>Info</a:t>
            </a:r>
            <a:r>
              <a:rPr dirty="0" sz="950" spc="3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Record</a:t>
            </a:r>
            <a:r>
              <a:rPr dirty="0" sz="950" spc="35">
                <a:latin typeface="Arial"/>
                <a:cs typeface="Arial"/>
              </a:rPr>
              <a:t> </a:t>
            </a:r>
            <a:r>
              <a:rPr dirty="0" sz="950" spc="-20">
                <a:latin typeface="Arial"/>
                <a:cs typeface="Arial"/>
              </a:rPr>
              <a:t>Data</a:t>
            </a:r>
            <a:endParaRPr sz="950">
              <a:latin typeface="Arial"/>
              <a:cs typeface="Arial"/>
            </a:endParaRPr>
          </a:p>
          <a:p>
            <a:pPr algn="ctr" marL="1762125">
              <a:lnSpc>
                <a:spcPct val="100000"/>
              </a:lnSpc>
              <a:spcBef>
                <a:spcPts val="20"/>
              </a:spcBef>
            </a:pPr>
            <a:r>
              <a:rPr dirty="0" sz="950" spc="-10">
                <a:latin typeface="Arial"/>
                <a:cs typeface="Arial"/>
              </a:rPr>
              <a:t>Table)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950">
              <a:latin typeface="Arial"/>
              <a:cs typeface="Arial"/>
            </a:endParaRPr>
          </a:p>
          <a:p>
            <a:pPr algn="ctr" marL="66675">
              <a:lnSpc>
                <a:spcPct val="100000"/>
              </a:lnSpc>
            </a:pPr>
            <a:r>
              <a:rPr dirty="0" sz="750" spc="85">
                <a:latin typeface="Arial"/>
                <a:cs typeface="Arial"/>
              </a:rPr>
              <a:t>makt-</a:t>
            </a:r>
            <a:r>
              <a:rPr dirty="0" sz="750" spc="90">
                <a:latin typeface="Arial"/>
                <a:cs typeface="Arial"/>
              </a:rPr>
              <a:t>matnr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105">
                <a:latin typeface="Arial"/>
                <a:cs typeface="Arial"/>
              </a:rPr>
              <a:t>=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knmt-</a:t>
            </a:r>
            <a:r>
              <a:rPr dirty="0" sz="750" spc="80">
                <a:latin typeface="Arial"/>
                <a:cs typeface="Arial"/>
              </a:rPr>
              <a:t>matnr</a:t>
            </a:r>
            <a:endParaRPr sz="750">
              <a:latin typeface="Arial"/>
              <a:cs typeface="Arial"/>
            </a:endParaRPr>
          </a:p>
          <a:p>
            <a:pPr algn="ctr" marR="115570">
              <a:lnSpc>
                <a:spcPct val="100000"/>
              </a:lnSpc>
              <a:spcBef>
                <a:spcPts val="75"/>
              </a:spcBef>
            </a:pPr>
            <a:r>
              <a:rPr dirty="0" sz="750" spc="80">
                <a:latin typeface="Arial"/>
                <a:cs typeface="Arial"/>
              </a:rPr>
              <a:t>and</a:t>
            </a:r>
            <a:endParaRPr sz="750">
              <a:latin typeface="Arial"/>
              <a:cs typeface="Arial"/>
            </a:endParaRPr>
          </a:p>
          <a:p>
            <a:pPr algn="ctr" marL="47625">
              <a:lnSpc>
                <a:spcPct val="100000"/>
              </a:lnSpc>
            </a:pPr>
            <a:r>
              <a:rPr dirty="0" sz="750" spc="90">
                <a:latin typeface="Arial"/>
                <a:cs typeface="Arial"/>
              </a:rPr>
              <a:t>makt-spras</a:t>
            </a:r>
            <a:r>
              <a:rPr dirty="0" sz="750" spc="30">
                <a:latin typeface="Arial"/>
                <a:cs typeface="Arial"/>
              </a:rPr>
              <a:t> </a:t>
            </a:r>
            <a:r>
              <a:rPr dirty="0" sz="750" spc="105">
                <a:latin typeface="Arial"/>
                <a:cs typeface="Arial"/>
              </a:rPr>
              <a:t>=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sy-langu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750">
              <a:latin typeface="Arial"/>
              <a:cs typeface="Arial"/>
            </a:endParaRPr>
          </a:p>
          <a:p>
            <a:pPr algn="ctr" marR="2153920">
              <a:lnSpc>
                <a:spcPct val="100000"/>
              </a:lnSpc>
            </a:pPr>
            <a:r>
              <a:rPr dirty="0" sz="950" spc="-20" b="1">
                <a:latin typeface="Arial"/>
                <a:cs typeface="Arial"/>
              </a:rPr>
              <a:t>MAKT</a:t>
            </a:r>
            <a:endParaRPr sz="950">
              <a:latin typeface="Arial"/>
              <a:cs typeface="Arial"/>
            </a:endParaRPr>
          </a:p>
          <a:p>
            <a:pPr algn="ctr" marL="12700" marR="2166620" indent="-10160">
              <a:lnSpc>
                <a:spcPts val="1130"/>
              </a:lnSpc>
              <a:spcBef>
                <a:spcPts val="105"/>
              </a:spcBef>
            </a:pPr>
            <a:r>
              <a:rPr dirty="0" sz="950" spc="-10">
                <a:latin typeface="Arial"/>
                <a:cs typeface="Arial"/>
              </a:rPr>
              <a:t>(Material Description)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524250" y="2835275"/>
            <a:ext cx="1085850" cy="542925"/>
          </a:xfrm>
          <a:custGeom>
            <a:avLst/>
            <a:gdLst/>
            <a:ahLst/>
            <a:cxnLst/>
            <a:rect l="l" t="t" r="r" b="b"/>
            <a:pathLst>
              <a:path w="1085850" h="542925">
                <a:moveTo>
                  <a:pt x="266700" y="542925"/>
                </a:moveTo>
                <a:lnTo>
                  <a:pt x="866775" y="542925"/>
                </a:lnTo>
                <a:lnTo>
                  <a:pt x="923925" y="523875"/>
                </a:lnTo>
                <a:lnTo>
                  <a:pt x="962025" y="495300"/>
                </a:lnTo>
                <a:lnTo>
                  <a:pt x="1009650" y="466725"/>
                </a:lnTo>
                <a:lnTo>
                  <a:pt x="1038225" y="419100"/>
                </a:lnTo>
                <a:lnTo>
                  <a:pt x="1066800" y="381000"/>
                </a:lnTo>
                <a:lnTo>
                  <a:pt x="1085850" y="323850"/>
                </a:lnTo>
                <a:lnTo>
                  <a:pt x="1085850" y="219075"/>
                </a:lnTo>
                <a:lnTo>
                  <a:pt x="1066800" y="171450"/>
                </a:lnTo>
                <a:lnTo>
                  <a:pt x="1009650" y="76200"/>
                </a:lnTo>
                <a:lnTo>
                  <a:pt x="962025" y="47625"/>
                </a:lnTo>
                <a:lnTo>
                  <a:pt x="923925" y="19050"/>
                </a:lnTo>
                <a:lnTo>
                  <a:pt x="866775" y="0"/>
                </a:lnTo>
                <a:lnTo>
                  <a:pt x="219075" y="0"/>
                </a:lnTo>
                <a:lnTo>
                  <a:pt x="161925" y="19050"/>
                </a:lnTo>
                <a:lnTo>
                  <a:pt x="114300" y="47625"/>
                </a:lnTo>
                <a:lnTo>
                  <a:pt x="76200" y="76200"/>
                </a:lnTo>
                <a:lnTo>
                  <a:pt x="38100" y="123825"/>
                </a:lnTo>
                <a:lnTo>
                  <a:pt x="0" y="219075"/>
                </a:lnTo>
                <a:lnTo>
                  <a:pt x="0" y="323850"/>
                </a:lnTo>
                <a:lnTo>
                  <a:pt x="19050" y="381000"/>
                </a:lnTo>
                <a:lnTo>
                  <a:pt x="38100" y="419100"/>
                </a:lnTo>
                <a:lnTo>
                  <a:pt x="76200" y="466725"/>
                </a:lnTo>
                <a:lnTo>
                  <a:pt x="114300" y="495300"/>
                </a:lnTo>
                <a:lnTo>
                  <a:pt x="161925" y="523875"/>
                </a:lnTo>
                <a:lnTo>
                  <a:pt x="219075" y="542925"/>
                </a:lnTo>
                <a:lnTo>
                  <a:pt x="266700" y="5429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606800" y="2860675"/>
            <a:ext cx="930275" cy="469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20320">
              <a:lnSpc>
                <a:spcPts val="1130"/>
              </a:lnSpc>
              <a:spcBef>
                <a:spcPts val="125"/>
              </a:spcBef>
            </a:pPr>
            <a:r>
              <a:rPr dirty="0" sz="950" spc="-20" b="1">
                <a:latin typeface="Arial"/>
                <a:cs typeface="Arial"/>
              </a:rPr>
              <a:t>EKKO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ts val="1130"/>
              </a:lnSpc>
            </a:pPr>
            <a:r>
              <a:rPr dirty="0" sz="950">
                <a:latin typeface="Arial"/>
                <a:cs typeface="Arial"/>
              </a:rPr>
              <a:t>(Purchasing</a:t>
            </a:r>
            <a:r>
              <a:rPr dirty="0" sz="950" spc="75">
                <a:latin typeface="Arial"/>
                <a:cs typeface="Arial"/>
              </a:rPr>
              <a:t> </a:t>
            </a:r>
            <a:r>
              <a:rPr dirty="0" sz="950" spc="-25">
                <a:latin typeface="Arial"/>
                <a:cs typeface="Arial"/>
              </a:rPr>
              <a:t>Doc</a:t>
            </a:r>
            <a:endParaRPr sz="950">
              <a:latin typeface="Arial"/>
              <a:cs typeface="Arial"/>
            </a:endParaRPr>
          </a:p>
          <a:p>
            <a:pPr algn="ctr" marR="10795">
              <a:lnSpc>
                <a:spcPct val="100000"/>
              </a:lnSpc>
              <a:spcBef>
                <a:spcPts val="60"/>
              </a:spcBef>
            </a:pPr>
            <a:r>
              <a:rPr dirty="0" sz="950" spc="-10">
                <a:latin typeface="Arial"/>
                <a:cs typeface="Arial"/>
              </a:rPr>
              <a:t>Header)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914650" y="4635500"/>
            <a:ext cx="1095375" cy="542925"/>
          </a:xfrm>
          <a:custGeom>
            <a:avLst/>
            <a:gdLst/>
            <a:ahLst/>
            <a:cxnLst/>
            <a:rect l="l" t="t" r="r" b="b"/>
            <a:pathLst>
              <a:path w="1095375" h="542925">
                <a:moveTo>
                  <a:pt x="276225" y="542925"/>
                </a:moveTo>
                <a:lnTo>
                  <a:pt x="876300" y="542925"/>
                </a:lnTo>
                <a:lnTo>
                  <a:pt x="933450" y="523875"/>
                </a:lnTo>
                <a:lnTo>
                  <a:pt x="971550" y="495300"/>
                </a:lnTo>
                <a:lnTo>
                  <a:pt x="1019175" y="466725"/>
                </a:lnTo>
                <a:lnTo>
                  <a:pt x="1047750" y="428625"/>
                </a:lnTo>
                <a:lnTo>
                  <a:pt x="1076325" y="381000"/>
                </a:lnTo>
                <a:lnTo>
                  <a:pt x="1095375" y="323850"/>
                </a:lnTo>
                <a:lnTo>
                  <a:pt x="1095375" y="219075"/>
                </a:lnTo>
                <a:lnTo>
                  <a:pt x="1076325" y="171450"/>
                </a:lnTo>
                <a:lnTo>
                  <a:pt x="1019175" y="76200"/>
                </a:lnTo>
                <a:lnTo>
                  <a:pt x="971550" y="47625"/>
                </a:lnTo>
                <a:lnTo>
                  <a:pt x="933450" y="19050"/>
                </a:lnTo>
                <a:lnTo>
                  <a:pt x="876300" y="0"/>
                </a:lnTo>
                <a:lnTo>
                  <a:pt x="219075" y="0"/>
                </a:lnTo>
                <a:lnTo>
                  <a:pt x="171450" y="19050"/>
                </a:lnTo>
                <a:lnTo>
                  <a:pt x="123825" y="47625"/>
                </a:lnTo>
                <a:lnTo>
                  <a:pt x="85725" y="76200"/>
                </a:lnTo>
                <a:lnTo>
                  <a:pt x="47625" y="123825"/>
                </a:lnTo>
                <a:lnTo>
                  <a:pt x="9525" y="219075"/>
                </a:lnTo>
                <a:lnTo>
                  <a:pt x="0" y="276225"/>
                </a:lnTo>
                <a:lnTo>
                  <a:pt x="9525" y="323850"/>
                </a:lnTo>
                <a:lnTo>
                  <a:pt x="28575" y="381000"/>
                </a:lnTo>
                <a:lnTo>
                  <a:pt x="47625" y="428625"/>
                </a:lnTo>
                <a:lnTo>
                  <a:pt x="85725" y="466725"/>
                </a:lnTo>
                <a:lnTo>
                  <a:pt x="123825" y="495300"/>
                </a:lnTo>
                <a:lnTo>
                  <a:pt x="171450" y="523875"/>
                </a:lnTo>
                <a:lnTo>
                  <a:pt x="219075" y="542925"/>
                </a:lnTo>
                <a:lnTo>
                  <a:pt x="276225" y="5429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006725" y="4660900"/>
            <a:ext cx="930275" cy="469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20320">
              <a:lnSpc>
                <a:spcPct val="100000"/>
              </a:lnSpc>
              <a:spcBef>
                <a:spcPts val="125"/>
              </a:spcBef>
            </a:pPr>
            <a:r>
              <a:rPr dirty="0" sz="950" spc="-20" b="1">
                <a:latin typeface="Arial"/>
                <a:cs typeface="Arial"/>
              </a:rPr>
              <a:t>EKPO</a:t>
            </a:r>
            <a:endParaRPr sz="950">
              <a:latin typeface="Arial"/>
              <a:cs typeface="Arial"/>
            </a:endParaRPr>
          </a:p>
          <a:p>
            <a:pPr algn="ctr" marL="12700" marR="5080">
              <a:lnSpc>
                <a:spcPts val="1130"/>
              </a:lnSpc>
              <a:spcBef>
                <a:spcPts val="105"/>
              </a:spcBef>
            </a:pPr>
            <a:r>
              <a:rPr dirty="0" sz="950">
                <a:latin typeface="Arial"/>
                <a:cs typeface="Arial"/>
              </a:rPr>
              <a:t>(Purchasing</a:t>
            </a:r>
            <a:r>
              <a:rPr dirty="0" sz="950" spc="75">
                <a:latin typeface="Arial"/>
                <a:cs typeface="Arial"/>
              </a:rPr>
              <a:t> </a:t>
            </a:r>
            <a:r>
              <a:rPr dirty="0" sz="950" spc="-25">
                <a:latin typeface="Arial"/>
                <a:cs typeface="Arial"/>
              </a:rPr>
              <a:t>Doc </a:t>
            </a:r>
            <a:r>
              <a:rPr dirty="0" sz="950" spc="-10">
                <a:latin typeface="Arial"/>
                <a:cs typeface="Arial"/>
              </a:rPr>
              <a:t>Item)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409950" y="3387725"/>
            <a:ext cx="714375" cy="1247775"/>
            <a:chOff x="3409950" y="3387725"/>
            <a:chExt cx="714375" cy="1247775"/>
          </a:xfrm>
        </p:grpSpPr>
        <p:sp>
          <p:nvSpPr>
            <p:cNvPr id="17" name="object 17" descr=""/>
            <p:cNvSpPr/>
            <p:nvPr/>
          </p:nvSpPr>
          <p:spPr>
            <a:xfrm>
              <a:off x="3495675" y="3435350"/>
              <a:ext cx="542925" cy="1152525"/>
            </a:xfrm>
            <a:custGeom>
              <a:avLst/>
              <a:gdLst/>
              <a:ahLst/>
              <a:cxnLst/>
              <a:rect l="l" t="t" r="r" b="b"/>
              <a:pathLst>
                <a:path w="542925" h="1152525">
                  <a:moveTo>
                    <a:pt x="542925" y="0"/>
                  </a:moveTo>
                  <a:lnTo>
                    <a:pt x="0" y="11525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0025" y="3387725"/>
              <a:ext cx="66675" cy="6667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7575" y="4568825"/>
              <a:ext cx="76200" cy="6667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409950" y="3883025"/>
              <a:ext cx="714375" cy="247650"/>
            </a:xfrm>
            <a:custGeom>
              <a:avLst/>
              <a:gdLst/>
              <a:ahLst/>
              <a:cxnLst/>
              <a:rect l="l" t="t" r="r" b="b"/>
              <a:pathLst>
                <a:path w="714375" h="247650">
                  <a:moveTo>
                    <a:pt x="714375" y="0"/>
                  </a:moveTo>
                  <a:lnTo>
                    <a:pt x="0" y="0"/>
                  </a:lnTo>
                  <a:lnTo>
                    <a:pt x="0" y="247650"/>
                  </a:lnTo>
                  <a:lnTo>
                    <a:pt x="714375" y="247650"/>
                  </a:lnTo>
                  <a:lnTo>
                    <a:pt x="714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406775" y="3870325"/>
            <a:ext cx="8566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5080" indent="-38100">
              <a:lnSpc>
                <a:spcPct val="100000"/>
              </a:lnSpc>
              <a:spcBef>
                <a:spcPts val="100"/>
              </a:spcBef>
            </a:pPr>
            <a:r>
              <a:rPr dirty="0" sz="750" spc="90">
                <a:latin typeface="Arial"/>
                <a:cs typeface="Arial"/>
              </a:rPr>
              <a:t>EKPO-</a:t>
            </a:r>
            <a:r>
              <a:rPr dirty="0" sz="750" spc="100">
                <a:latin typeface="Arial"/>
                <a:cs typeface="Arial"/>
              </a:rPr>
              <a:t>EBELN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55">
                <a:latin typeface="Arial"/>
                <a:cs typeface="Arial"/>
              </a:rPr>
              <a:t>= </a:t>
            </a:r>
            <a:r>
              <a:rPr dirty="0" sz="750" spc="90">
                <a:latin typeface="Arial"/>
                <a:cs typeface="Arial"/>
              </a:rPr>
              <a:t>EKKO-</a:t>
            </a:r>
            <a:r>
              <a:rPr dirty="0" sz="750" spc="85">
                <a:latin typeface="Arial"/>
                <a:cs typeface="Arial"/>
              </a:rPr>
              <a:t>EBELN</a:t>
            </a:r>
            <a:endParaRPr sz="75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086475" y="2501900"/>
            <a:ext cx="1095375" cy="552450"/>
          </a:xfrm>
          <a:custGeom>
            <a:avLst/>
            <a:gdLst/>
            <a:ahLst/>
            <a:cxnLst/>
            <a:rect l="l" t="t" r="r" b="b"/>
            <a:pathLst>
              <a:path w="1095375" h="552450">
                <a:moveTo>
                  <a:pt x="276225" y="552450"/>
                </a:moveTo>
                <a:lnTo>
                  <a:pt x="819150" y="552450"/>
                </a:lnTo>
                <a:lnTo>
                  <a:pt x="876300" y="542925"/>
                </a:lnTo>
                <a:lnTo>
                  <a:pt x="923925" y="533400"/>
                </a:lnTo>
                <a:lnTo>
                  <a:pt x="971550" y="504825"/>
                </a:lnTo>
                <a:lnTo>
                  <a:pt x="1047750" y="428625"/>
                </a:lnTo>
                <a:lnTo>
                  <a:pt x="1076325" y="381000"/>
                </a:lnTo>
                <a:lnTo>
                  <a:pt x="1085850" y="323850"/>
                </a:lnTo>
                <a:lnTo>
                  <a:pt x="1095375" y="276225"/>
                </a:lnTo>
                <a:lnTo>
                  <a:pt x="1085850" y="219075"/>
                </a:lnTo>
                <a:lnTo>
                  <a:pt x="1076325" y="171450"/>
                </a:lnTo>
                <a:lnTo>
                  <a:pt x="1047750" y="123825"/>
                </a:lnTo>
                <a:lnTo>
                  <a:pt x="971550" y="47625"/>
                </a:lnTo>
                <a:lnTo>
                  <a:pt x="876300" y="9525"/>
                </a:lnTo>
                <a:lnTo>
                  <a:pt x="819150" y="0"/>
                </a:lnTo>
                <a:lnTo>
                  <a:pt x="276225" y="0"/>
                </a:lnTo>
                <a:lnTo>
                  <a:pt x="219075" y="9525"/>
                </a:lnTo>
                <a:lnTo>
                  <a:pt x="123825" y="47625"/>
                </a:lnTo>
                <a:lnTo>
                  <a:pt x="76200" y="85725"/>
                </a:lnTo>
                <a:lnTo>
                  <a:pt x="47625" y="123825"/>
                </a:lnTo>
                <a:lnTo>
                  <a:pt x="19050" y="171450"/>
                </a:lnTo>
                <a:lnTo>
                  <a:pt x="9525" y="219075"/>
                </a:lnTo>
                <a:lnTo>
                  <a:pt x="0" y="276225"/>
                </a:lnTo>
                <a:lnTo>
                  <a:pt x="9525" y="323850"/>
                </a:lnTo>
                <a:lnTo>
                  <a:pt x="19050" y="381000"/>
                </a:lnTo>
                <a:lnTo>
                  <a:pt x="47625" y="428625"/>
                </a:lnTo>
                <a:lnTo>
                  <a:pt x="76200" y="466725"/>
                </a:lnTo>
                <a:lnTo>
                  <a:pt x="123825" y="504825"/>
                </a:lnTo>
                <a:lnTo>
                  <a:pt x="171450" y="533400"/>
                </a:lnTo>
                <a:lnTo>
                  <a:pt x="219075" y="542925"/>
                </a:lnTo>
                <a:lnTo>
                  <a:pt x="276225" y="5524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226175" y="2603500"/>
            <a:ext cx="807085" cy="3263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8890">
              <a:lnSpc>
                <a:spcPct val="100000"/>
              </a:lnSpc>
              <a:spcBef>
                <a:spcPts val="125"/>
              </a:spcBef>
            </a:pPr>
            <a:r>
              <a:rPr dirty="0" sz="950" spc="-20" b="1">
                <a:latin typeface="Arial"/>
                <a:cs typeface="Arial"/>
              </a:rPr>
              <a:t>MDKP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 sz="950">
                <a:latin typeface="Arial"/>
                <a:cs typeface="Arial"/>
              </a:rPr>
              <a:t>(MRP</a:t>
            </a:r>
            <a:r>
              <a:rPr dirty="0" sz="950" spc="20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Header)</a:t>
            </a:r>
            <a:endParaRPr sz="950">
              <a:latin typeface="Arial"/>
              <a:cs typeface="Aria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6086475" y="4311650"/>
            <a:ext cx="1095375" cy="542925"/>
          </a:xfrm>
          <a:custGeom>
            <a:avLst/>
            <a:gdLst/>
            <a:ahLst/>
            <a:cxnLst/>
            <a:rect l="l" t="t" r="r" b="b"/>
            <a:pathLst>
              <a:path w="1095375" h="542925">
                <a:moveTo>
                  <a:pt x="276225" y="542925"/>
                </a:moveTo>
                <a:lnTo>
                  <a:pt x="819150" y="542925"/>
                </a:lnTo>
                <a:lnTo>
                  <a:pt x="876300" y="533400"/>
                </a:lnTo>
                <a:lnTo>
                  <a:pt x="923925" y="523875"/>
                </a:lnTo>
                <a:lnTo>
                  <a:pt x="971550" y="495300"/>
                </a:lnTo>
                <a:lnTo>
                  <a:pt x="1009650" y="466725"/>
                </a:lnTo>
                <a:lnTo>
                  <a:pt x="1047750" y="419100"/>
                </a:lnTo>
                <a:lnTo>
                  <a:pt x="1076325" y="371475"/>
                </a:lnTo>
                <a:lnTo>
                  <a:pt x="1085850" y="323850"/>
                </a:lnTo>
                <a:lnTo>
                  <a:pt x="1095375" y="266700"/>
                </a:lnTo>
                <a:lnTo>
                  <a:pt x="1085850" y="219075"/>
                </a:lnTo>
                <a:lnTo>
                  <a:pt x="1076325" y="161925"/>
                </a:lnTo>
                <a:lnTo>
                  <a:pt x="1047750" y="114300"/>
                </a:lnTo>
                <a:lnTo>
                  <a:pt x="971550" y="38100"/>
                </a:lnTo>
                <a:lnTo>
                  <a:pt x="876300" y="0"/>
                </a:lnTo>
                <a:lnTo>
                  <a:pt x="219075" y="0"/>
                </a:lnTo>
                <a:lnTo>
                  <a:pt x="123825" y="38100"/>
                </a:lnTo>
                <a:lnTo>
                  <a:pt x="76200" y="76200"/>
                </a:lnTo>
                <a:lnTo>
                  <a:pt x="47625" y="114300"/>
                </a:lnTo>
                <a:lnTo>
                  <a:pt x="19050" y="161925"/>
                </a:lnTo>
                <a:lnTo>
                  <a:pt x="9525" y="219075"/>
                </a:lnTo>
                <a:lnTo>
                  <a:pt x="0" y="266700"/>
                </a:lnTo>
                <a:lnTo>
                  <a:pt x="9525" y="323850"/>
                </a:lnTo>
                <a:lnTo>
                  <a:pt x="19050" y="371475"/>
                </a:lnTo>
                <a:lnTo>
                  <a:pt x="76200" y="466725"/>
                </a:lnTo>
                <a:lnTo>
                  <a:pt x="171450" y="523875"/>
                </a:lnTo>
                <a:lnTo>
                  <a:pt x="219075" y="533400"/>
                </a:lnTo>
                <a:lnTo>
                  <a:pt x="276225" y="5429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6273800" y="4413250"/>
            <a:ext cx="730885" cy="316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ts val="1130"/>
              </a:lnSpc>
              <a:spcBef>
                <a:spcPts val="125"/>
              </a:spcBef>
            </a:pPr>
            <a:r>
              <a:rPr dirty="0" sz="950" spc="-20" b="1">
                <a:latin typeface="Arial"/>
                <a:cs typeface="Arial"/>
              </a:rPr>
              <a:t>MDTB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ts val="1135"/>
              </a:lnSpc>
            </a:pPr>
            <a:r>
              <a:rPr dirty="0" sz="950">
                <a:latin typeface="Arial"/>
                <a:cs typeface="Arial"/>
              </a:rPr>
              <a:t>(MRP</a:t>
            </a:r>
            <a:r>
              <a:rPr dirty="0" sz="950" spc="4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Detail)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600825" y="3063875"/>
            <a:ext cx="66675" cy="495300"/>
            <a:chOff x="6600825" y="3063875"/>
            <a:chExt cx="66675" cy="495300"/>
          </a:xfrm>
        </p:grpSpPr>
        <p:sp>
          <p:nvSpPr>
            <p:cNvPr id="27" name="object 27" descr=""/>
            <p:cNvSpPr/>
            <p:nvPr/>
          </p:nvSpPr>
          <p:spPr>
            <a:xfrm>
              <a:off x="6629400" y="3111500"/>
              <a:ext cx="0" cy="447675"/>
            </a:xfrm>
            <a:custGeom>
              <a:avLst/>
              <a:gdLst/>
              <a:ahLst/>
              <a:cxnLst/>
              <a:rect l="l" t="t" r="r" b="b"/>
              <a:pathLst>
                <a:path w="0" h="447675">
                  <a:moveTo>
                    <a:pt x="0" y="0"/>
                  </a:moveTo>
                  <a:lnTo>
                    <a:pt x="0" y="4476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0825" y="3063875"/>
              <a:ext cx="66675" cy="57150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6600825" y="3806825"/>
            <a:ext cx="76200" cy="504825"/>
            <a:chOff x="6600825" y="3806825"/>
            <a:chExt cx="76200" cy="504825"/>
          </a:xfrm>
        </p:grpSpPr>
        <p:sp>
          <p:nvSpPr>
            <p:cNvPr id="30" name="object 30" descr=""/>
            <p:cNvSpPr/>
            <p:nvPr/>
          </p:nvSpPr>
          <p:spPr>
            <a:xfrm>
              <a:off x="6629400" y="3806825"/>
              <a:ext cx="0" cy="438150"/>
            </a:xfrm>
            <a:custGeom>
              <a:avLst/>
              <a:gdLst/>
              <a:ahLst/>
              <a:cxnLst/>
              <a:rect l="l" t="t" r="r" b="b"/>
              <a:pathLst>
                <a:path w="0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00825" y="4244975"/>
              <a:ext cx="76200" cy="66675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6254750" y="3546475"/>
            <a:ext cx="8959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5080" indent="-38100">
              <a:lnSpc>
                <a:spcPct val="100000"/>
              </a:lnSpc>
              <a:spcBef>
                <a:spcPts val="100"/>
              </a:spcBef>
            </a:pPr>
            <a:r>
              <a:rPr dirty="0" sz="750" spc="85">
                <a:latin typeface="Arial"/>
                <a:cs typeface="Arial"/>
              </a:rPr>
              <a:t>MDKP-</a:t>
            </a:r>
            <a:r>
              <a:rPr dirty="0" sz="750" spc="105">
                <a:latin typeface="Arial"/>
                <a:cs typeface="Arial"/>
              </a:rPr>
              <a:t>DTNUM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55">
                <a:latin typeface="Arial"/>
                <a:cs typeface="Arial"/>
              </a:rPr>
              <a:t>= </a:t>
            </a:r>
            <a:r>
              <a:rPr dirty="0" sz="750" spc="85">
                <a:latin typeface="Arial"/>
                <a:cs typeface="Arial"/>
              </a:rPr>
              <a:t>MDTB-</a:t>
            </a:r>
            <a:r>
              <a:rPr dirty="0" sz="750" spc="95">
                <a:latin typeface="Arial"/>
                <a:cs typeface="Arial"/>
              </a:rPr>
              <a:t>DTNUM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81137" y="1925637"/>
            <a:ext cx="7324725" cy="3219450"/>
            <a:chOff x="1481137" y="1925637"/>
            <a:chExt cx="7324725" cy="3219450"/>
          </a:xfrm>
        </p:grpSpPr>
        <p:sp>
          <p:nvSpPr>
            <p:cNvPr id="3" name="object 3" descr=""/>
            <p:cNvSpPr/>
            <p:nvPr/>
          </p:nvSpPr>
          <p:spPr>
            <a:xfrm>
              <a:off x="1485900" y="1930400"/>
              <a:ext cx="7315200" cy="3209925"/>
            </a:xfrm>
            <a:custGeom>
              <a:avLst/>
              <a:gdLst/>
              <a:ahLst/>
              <a:cxnLst/>
              <a:rect l="l" t="t" r="r" b="b"/>
              <a:pathLst>
                <a:path w="7315200" h="3209925">
                  <a:moveTo>
                    <a:pt x="0" y="3209925"/>
                  </a:moveTo>
                  <a:lnTo>
                    <a:pt x="7315200" y="3209925"/>
                  </a:lnTo>
                  <a:lnTo>
                    <a:pt x="7315200" y="0"/>
                  </a:lnTo>
                  <a:lnTo>
                    <a:pt x="0" y="0"/>
                  </a:lnTo>
                  <a:lnTo>
                    <a:pt x="0" y="3209925"/>
                  </a:lnTo>
                  <a:close/>
                </a:path>
                <a:path w="7315200" h="3209925">
                  <a:moveTo>
                    <a:pt x="5029200" y="352425"/>
                  </a:moveTo>
                  <a:lnTo>
                    <a:pt x="4800600" y="466725"/>
                  </a:lnTo>
                  <a:lnTo>
                    <a:pt x="5029200" y="590550"/>
                  </a:lnTo>
                </a:path>
                <a:path w="7315200" h="3209925">
                  <a:moveTo>
                    <a:pt x="4371975" y="466725"/>
                  </a:moveTo>
                  <a:lnTo>
                    <a:pt x="5029200" y="476250"/>
                  </a:lnTo>
                </a:path>
                <a:path w="7315200" h="3209925">
                  <a:moveTo>
                    <a:pt x="2486025" y="466725"/>
                  </a:moveTo>
                  <a:lnTo>
                    <a:pt x="2114550" y="466725"/>
                  </a:lnTo>
                </a:path>
                <a:path w="7315200" h="3209925">
                  <a:moveTo>
                    <a:pt x="1285875" y="1809750"/>
                  </a:moveTo>
                  <a:lnTo>
                    <a:pt x="1171575" y="1581150"/>
                  </a:lnTo>
                  <a:lnTo>
                    <a:pt x="1057275" y="1809750"/>
                  </a:lnTo>
                </a:path>
                <a:path w="7315200" h="3209925">
                  <a:moveTo>
                    <a:pt x="1171575" y="1257300"/>
                  </a:moveTo>
                  <a:lnTo>
                    <a:pt x="1171575" y="1809750"/>
                  </a:lnTo>
                </a:path>
                <a:path w="7315200" h="3209925">
                  <a:moveTo>
                    <a:pt x="228600" y="609600"/>
                  </a:moveTo>
                  <a:lnTo>
                    <a:pt x="2114550" y="609600"/>
                  </a:lnTo>
                  <a:lnTo>
                    <a:pt x="2114550" y="323850"/>
                  </a:lnTo>
                  <a:lnTo>
                    <a:pt x="228600" y="323850"/>
                  </a:lnTo>
                  <a:lnTo>
                    <a:pt x="22860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14500" y="2540000"/>
              <a:ext cx="1885950" cy="742950"/>
            </a:xfrm>
            <a:custGeom>
              <a:avLst/>
              <a:gdLst/>
              <a:ahLst/>
              <a:cxnLst/>
              <a:rect l="l" t="t" r="r" b="b"/>
              <a:pathLst>
                <a:path w="1885950" h="742950">
                  <a:moveTo>
                    <a:pt x="18859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14300" y="685800"/>
                  </a:lnTo>
                  <a:lnTo>
                    <a:pt x="238125" y="723900"/>
                  </a:lnTo>
                  <a:lnTo>
                    <a:pt x="352425" y="742950"/>
                  </a:lnTo>
                  <a:lnTo>
                    <a:pt x="590550" y="742950"/>
                  </a:lnTo>
                  <a:lnTo>
                    <a:pt x="714375" y="723900"/>
                  </a:lnTo>
                  <a:lnTo>
                    <a:pt x="1057275" y="609600"/>
                  </a:lnTo>
                  <a:lnTo>
                    <a:pt x="1171575" y="581025"/>
                  </a:lnTo>
                  <a:lnTo>
                    <a:pt x="1295400" y="561975"/>
                  </a:lnTo>
                  <a:lnTo>
                    <a:pt x="1533525" y="561975"/>
                  </a:lnTo>
                  <a:lnTo>
                    <a:pt x="1657350" y="581025"/>
                  </a:lnTo>
                  <a:lnTo>
                    <a:pt x="1771650" y="609600"/>
                  </a:lnTo>
                  <a:lnTo>
                    <a:pt x="1885950" y="647700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14500" y="2540000"/>
              <a:ext cx="1885950" cy="742950"/>
            </a:xfrm>
            <a:custGeom>
              <a:avLst/>
              <a:gdLst/>
              <a:ahLst/>
              <a:cxnLst/>
              <a:rect l="l" t="t" r="r" b="b"/>
              <a:pathLst>
                <a:path w="1885950" h="742950">
                  <a:moveTo>
                    <a:pt x="0" y="647700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647700"/>
                  </a:lnTo>
                  <a:lnTo>
                    <a:pt x="1771650" y="609600"/>
                  </a:lnTo>
                  <a:lnTo>
                    <a:pt x="1657350" y="581025"/>
                  </a:lnTo>
                  <a:lnTo>
                    <a:pt x="1533525" y="561975"/>
                  </a:lnTo>
                  <a:lnTo>
                    <a:pt x="1295400" y="561975"/>
                  </a:lnTo>
                  <a:lnTo>
                    <a:pt x="1171575" y="581025"/>
                  </a:lnTo>
                  <a:lnTo>
                    <a:pt x="1057275" y="609600"/>
                  </a:lnTo>
                  <a:lnTo>
                    <a:pt x="714375" y="723900"/>
                  </a:lnTo>
                  <a:lnTo>
                    <a:pt x="590550" y="742950"/>
                  </a:lnTo>
                  <a:lnTo>
                    <a:pt x="352425" y="742950"/>
                  </a:lnTo>
                  <a:lnTo>
                    <a:pt x="238125" y="723900"/>
                  </a:lnTo>
                  <a:lnTo>
                    <a:pt x="114300" y="685800"/>
                  </a:lnTo>
                  <a:lnTo>
                    <a:pt x="0" y="647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959225" y="1470025"/>
            <a:ext cx="2082800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latin typeface="Arial"/>
                <a:cs typeface="Arial"/>
              </a:rPr>
              <a:t>Purchasing</a:t>
            </a:r>
            <a:r>
              <a:rPr dirty="0" sz="1400" spc="2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Requisition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724275" y="844550"/>
            <a:ext cx="2495550" cy="457200"/>
            <a:chOff x="3724275" y="844550"/>
            <a:chExt cx="2495550" cy="457200"/>
          </a:xfrm>
        </p:grpSpPr>
        <p:sp>
          <p:nvSpPr>
            <p:cNvPr id="8" name="object 8" descr=""/>
            <p:cNvSpPr/>
            <p:nvPr/>
          </p:nvSpPr>
          <p:spPr>
            <a:xfrm>
              <a:off x="3838575" y="9588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238125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381250" y="342900"/>
                  </a:lnTo>
                  <a:lnTo>
                    <a:pt x="238125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724275" y="8445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238125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381250" y="342900"/>
                  </a:lnTo>
                  <a:lnTo>
                    <a:pt x="2381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724275" y="844550"/>
            <a:ext cx="2381250" cy="3429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85750">
              <a:lnSpc>
                <a:spcPct val="100000"/>
              </a:lnSpc>
              <a:spcBef>
                <a:spcPts val="400"/>
              </a:spcBef>
            </a:pPr>
            <a:r>
              <a:rPr dirty="0" sz="1400" b="1">
                <a:latin typeface="Arial"/>
                <a:cs typeface="Arial"/>
              </a:rPr>
              <a:t>SAP</a:t>
            </a:r>
            <a:r>
              <a:rPr dirty="0" sz="1400" spc="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MM</a:t>
            </a:r>
            <a:r>
              <a:rPr dirty="0" sz="1400" spc="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-</a:t>
            </a:r>
            <a:r>
              <a:rPr dirty="0" sz="1400" spc="6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Purchasing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43075" y="2260600"/>
            <a:ext cx="1718310" cy="7988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ts val="93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STXH</a:t>
            </a:r>
            <a:endParaRPr sz="800">
              <a:latin typeface="Arial"/>
              <a:cs typeface="Arial"/>
            </a:endParaRPr>
          </a:p>
          <a:p>
            <a:pPr>
              <a:lnSpc>
                <a:spcPts val="930"/>
              </a:lnSpc>
            </a:pPr>
            <a:r>
              <a:rPr dirty="0" sz="800" b="1">
                <a:latin typeface="Arial"/>
                <a:cs typeface="Arial"/>
              </a:rPr>
              <a:t>(STXD</a:t>
            </a:r>
            <a:r>
              <a:rPr dirty="0" sz="800" spc="1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SAPscript</a:t>
            </a:r>
            <a:r>
              <a:rPr dirty="0" sz="800" spc="13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text</a:t>
            </a:r>
            <a:r>
              <a:rPr dirty="0" sz="800" spc="1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file</a:t>
            </a:r>
            <a:r>
              <a:rPr dirty="0" sz="800" spc="13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header)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800" spc="-20">
                <a:latin typeface="Arial"/>
                <a:cs typeface="Arial"/>
              </a:rPr>
              <a:t>Texts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(TDOBJECT)</a:t>
            </a:r>
            <a:endParaRPr sz="800">
              <a:latin typeface="Arial"/>
              <a:cs typeface="Arial"/>
            </a:endParaRPr>
          </a:p>
          <a:p>
            <a:pPr marR="700405">
              <a:lnSpc>
                <a:spcPct val="101600"/>
              </a:lnSpc>
            </a:pPr>
            <a:r>
              <a:rPr dirty="0" sz="800" spc="-25">
                <a:latin typeface="Arial"/>
                <a:cs typeface="Arial"/>
              </a:rPr>
              <a:t>Text Name </a:t>
            </a:r>
            <a:r>
              <a:rPr dirty="0" sz="800" spc="-10">
                <a:latin typeface="Arial"/>
                <a:cs typeface="Arial"/>
              </a:rPr>
              <a:t>(TDNAME) </a:t>
            </a:r>
            <a:r>
              <a:rPr dirty="0" sz="800" spc="-20">
                <a:latin typeface="Arial"/>
                <a:cs typeface="Arial"/>
              </a:rPr>
              <a:t>Text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Id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(TDID) </a:t>
            </a:r>
            <a:r>
              <a:rPr dirty="0" sz="800" spc="-20">
                <a:latin typeface="Arial"/>
                <a:cs typeface="Arial"/>
              </a:rPr>
              <a:t>Language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(TDSPRAS)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971925" y="2254250"/>
            <a:ext cx="1885950" cy="685800"/>
          </a:xfrm>
          <a:custGeom>
            <a:avLst/>
            <a:gdLst/>
            <a:ahLst/>
            <a:cxnLst/>
            <a:rect l="l" t="t" r="r" b="b"/>
            <a:pathLst>
              <a:path w="1885950" h="685800">
                <a:moveTo>
                  <a:pt x="0" y="285750"/>
                </a:moveTo>
                <a:lnTo>
                  <a:pt x="1885950" y="285750"/>
                </a:lnTo>
                <a:lnTo>
                  <a:pt x="18859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  <a:path w="1885950" h="685800">
                <a:moveTo>
                  <a:pt x="0" y="638175"/>
                </a:moveTo>
                <a:lnTo>
                  <a:pt x="0" y="285750"/>
                </a:lnTo>
                <a:lnTo>
                  <a:pt x="1885950" y="285750"/>
                </a:lnTo>
                <a:lnTo>
                  <a:pt x="1885950" y="638175"/>
                </a:lnTo>
                <a:lnTo>
                  <a:pt x="1733550" y="609600"/>
                </a:lnTo>
                <a:lnTo>
                  <a:pt x="1571625" y="590550"/>
                </a:lnTo>
                <a:lnTo>
                  <a:pt x="1409700" y="581025"/>
                </a:lnTo>
                <a:lnTo>
                  <a:pt x="1257300" y="590550"/>
                </a:lnTo>
                <a:lnTo>
                  <a:pt x="1095375" y="609600"/>
                </a:lnTo>
                <a:lnTo>
                  <a:pt x="790575" y="666750"/>
                </a:lnTo>
                <a:lnTo>
                  <a:pt x="628650" y="676275"/>
                </a:lnTo>
                <a:lnTo>
                  <a:pt x="476250" y="685800"/>
                </a:lnTo>
                <a:lnTo>
                  <a:pt x="152400" y="666750"/>
                </a:lnTo>
                <a:lnTo>
                  <a:pt x="0" y="6381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000500" y="2260600"/>
            <a:ext cx="1203325" cy="5511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ts val="93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EBAN</a:t>
            </a:r>
            <a:endParaRPr sz="800">
              <a:latin typeface="Arial"/>
              <a:cs typeface="Arial"/>
            </a:endParaRPr>
          </a:p>
          <a:p>
            <a:pPr>
              <a:lnSpc>
                <a:spcPts val="930"/>
              </a:lnSpc>
            </a:pPr>
            <a:r>
              <a:rPr dirty="0" sz="800" b="1">
                <a:latin typeface="Arial"/>
                <a:cs typeface="Arial"/>
              </a:rPr>
              <a:t>(Purchase</a:t>
            </a:r>
            <a:r>
              <a:rPr dirty="0" sz="800" spc="21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Requisition)</a:t>
            </a:r>
            <a:endParaRPr sz="800">
              <a:latin typeface="Arial"/>
              <a:cs typeface="Arial"/>
            </a:endParaRPr>
          </a:p>
          <a:p>
            <a:pPr marR="43180">
              <a:lnSpc>
                <a:spcPct val="101600"/>
              </a:lnSpc>
              <a:spcBef>
                <a:spcPts val="300"/>
              </a:spcBef>
            </a:pPr>
            <a:r>
              <a:rPr dirty="0" sz="800" spc="-10">
                <a:latin typeface="Arial"/>
                <a:cs typeface="Arial"/>
              </a:rPr>
              <a:t>Purchasing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Req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(BANFN) </a:t>
            </a:r>
            <a:r>
              <a:rPr dirty="0" sz="800" spc="-35">
                <a:latin typeface="Arial"/>
                <a:cs typeface="Arial"/>
              </a:rPr>
              <a:t>Item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(BNFPO)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510337" y="2154237"/>
            <a:ext cx="1895475" cy="952500"/>
            <a:chOff x="6510337" y="2154237"/>
            <a:chExt cx="1895475" cy="952500"/>
          </a:xfrm>
        </p:grpSpPr>
        <p:sp>
          <p:nvSpPr>
            <p:cNvPr id="15" name="object 15" descr=""/>
            <p:cNvSpPr/>
            <p:nvPr/>
          </p:nvSpPr>
          <p:spPr>
            <a:xfrm>
              <a:off x="6515100" y="2159000"/>
              <a:ext cx="1885950" cy="485775"/>
            </a:xfrm>
            <a:custGeom>
              <a:avLst/>
              <a:gdLst/>
              <a:ahLst/>
              <a:cxnLst/>
              <a:rect l="l" t="t" r="r" b="b"/>
              <a:pathLst>
                <a:path w="1885950" h="485775">
                  <a:moveTo>
                    <a:pt x="0" y="485775"/>
                  </a:moveTo>
                  <a:lnTo>
                    <a:pt x="1885950" y="485775"/>
                  </a:lnTo>
                  <a:lnTo>
                    <a:pt x="1885950" y="0"/>
                  </a:lnTo>
                  <a:lnTo>
                    <a:pt x="0" y="0"/>
                  </a:lnTo>
                  <a:lnTo>
                    <a:pt x="0" y="4857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515100" y="2549525"/>
              <a:ext cx="1885950" cy="552450"/>
            </a:xfrm>
            <a:custGeom>
              <a:avLst/>
              <a:gdLst/>
              <a:ahLst/>
              <a:cxnLst/>
              <a:rect l="l" t="t" r="r" b="b"/>
              <a:pathLst>
                <a:path w="1885950" h="552450">
                  <a:moveTo>
                    <a:pt x="1885950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133350" y="514350"/>
                  </a:lnTo>
                  <a:lnTo>
                    <a:pt x="400050" y="552450"/>
                  </a:lnTo>
                  <a:lnTo>
                    <a:pt x="542925" y="552450"/>
                  </a:lnTo>
                  <a:lnTo>
                    <a:pt x="809625" y="514350"/>
                  </a:lnTo>
                  <a:lnTo>
                    <a:pt x="942975" y="485775"/>
                  </a:lnTo>
                  <a:lnTo>
                    <a:pt x="1076325" y="447675"/>
                  </a:lnTo>
                  <a:lnTo>
                    <a:pt x="1209675" y="428625"/>
                  </a:lnTo>
                  <a:lnTo>
                    <a:pt x="1343025" y="419100"/>
                  </a:lnTo>
                  <a:lnTo>
                    <a:pt x="1485900" y="419100"/>
                  </a:lnTo>
                  <a:lnTo>
                    <a:pt x="1619250" y="428625"/>
                  </a:lnTo>
                  <a:lnTo>
                    <a:pt x="1752600" y="447675"/>
                  </a:lnTo>
                  <a:lnTo>
                    <a:pt x="1885950" y="485775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515100" y="2549525"/>
              <a:ext cx="1885950" cy="552450"/>
            </a:xfrm>
            <a:custGeom>
              <a:avLst/>
              <a:gdLst/>
              <a:ahLst/>
              <a:cxnLst/>
              <a:rect l="l" t="t" r="r" b="b"/>
              <a:pathLst>
                <a:path w="1885950" h="552450">
                  <a:moveTo>
                    <a:pt x="0" y="485775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485775"/>
                  </a:lnTo>
                  <a:lnTo>
                    <a:pt x="1752600" y="447675"/>
                  </a:lnTo>
                  <a:lnTo>
                    <a:pt x="1619250" y="428625"/>
                  </a:lnTo>
                  <a:lnTo>
                    <a:pt x="1485900" y="419100"/>
                  </a:lnTo>
                  <a:lnTo>
                    <a:pt x="1343025" y="419100"/>
                  </a:lnTo>
                  <a:lnTo>
                    <a:pt x="1209675" y="428625"/>
                  </a:lnTo>
                  <a:lnTo>
                    <a:pt x="1076325" y="447675"/>
                  </a:lnTo>
                  <a:lnTo>
                    <a:pt x="942975" y="485775"/>
                  </a:lnTo>
                  <a:lnTo>
                    <a:pt x="809625" y="514350"/>
                  </a:lnTo>
                  <a:lnTo>
                    <a:pt x="542925" y="552450"/>
                  </a:lnTo>
                  <a:lnTo>
                    <a:pt x="400050" y="552450"/>
                  </a:lnTo>
                  <a:lnTo>
                    <a:pt x="133350" y="514350"/>
                  </a:lnTo>
                  <a:lnTo>
                    <a:pt x="0" y="4857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543675" y="2165350"/>
            <a:ext cx="1632585" cy="7797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ts val="93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EBKN</a:t>
            </a:r>
            <a:endParaRPr sz="800">
              <a:latin typeface="Arial"/>
              <a:cs typeface="Arial"/>
            </a:endParaRPr>
          </a:p>
          <a:p>
            <a:pPr>
              <a:lnSpc>
                <a:spcPts val="930"/>
              </a:lnSpc>
            </a:pPr>
            <a:r>
              <a:rPr dirty="0" sz="800" b="1">
                <a:latin typeface="Arial"/>
                <a:cs typeface="Arial"/>
              </a:rPr>
              <a:t>(Purchase</a:t>
            </a:r>
            <a:r>
              <a:rPr dirty="0" sz="800" spc="229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Requisition</a:t>
            </a:r>
            <a:r>
              <a:rPr dirty="0" sz="800" spc="23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Account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dirty="0" sz="800" spc="-10" b="1">
                <a:latin typeface="Arial"/>
                <a:cs typeface="Arial"/>
              </a:rPr>
              <a:t>Assignment)</a:t>
            </a:r>
            <a:endParaRPr sz="800">
              <a:latin typeface="Arial"/>
              <a:cs typeface="Arial"/>
            </a:endParaRPr>
          </a:p>
          <a:p>
            <a:pPr marR="471805">
              <a:lnSpc>
                <a:spcPct val="101600"/>
              </a:lnSpc>
              <a:spcBef>
                <a:spcPts val="150"/>
              </a:spcBef>
            </a:pPr>
            <a:r>
              <a:rPr dirty="0" sz="800" spc="-10">
                <a:latin typeface="Arial"/>
                <a:cs typeface="Arial"/>
              </a:rPr>
              <a:t>Purchasing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Req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(BANFN) </a:t>
            </a:r>
            <a:r>
              <a:rPr dirty="0" sz="800" spc="-35">
                <a:latin typeface="Arial"/>
                <a:cs typeface="Arial"/>
              </a:rPr>
              <a:t>Item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(BNFPO)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dirty="0" sz="800">
                <a:latin typeface="Arial"/>
                <a:cs typeface="Arial"/>
              </a:rPr>
              <a:t>Preg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Assignment</a:t>
            </a:r>
            <a:r>
              <a:rPr dirty="0" sz="800" spc="-10">
                <a:latin typeface="Arial"/>
                <a:cs typeface="Arial"/>
              </a:rPr>
              <a:t> (ZEBKN)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714500" y="3740150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28575">
              <a:lnSpc>
                <a:spcPts val="930"/>
              </a:lnSpc>
              <a:spcBef>
                <a:spcPts val="175"/>
              </a:spcBef>
            </a:pPr>
            <a:r>
              <a:rPr dirty="0" sz="800" spc="-20" b="1">
                <a:latin typeface="Arial"/>
                <a:cs typeface="Arial"/>
              </a:rPr>
              <a:t>STXL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ts val="930"/>
              </a:lnSpc>
            </a:pPr>
            <a:r>
              <a:rPr dirty="0" sz="800" b="1">
                <a:latin typeface="Arial"/>
                <a:cs typeface="Arial"/>
              </a:rPr>
              <a:t>(STXD</a:t>
            </a:r>
            <a:r>
              <a:rPr dirty="0" sz="800" spc="1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SAPscript</a:t>
            </a:r>
            <a:r>
              <a:rPr dirty="0" sz="800" spc="1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text</a:t>
            </a:r>
            <a:r>
              <a:rPr dirty="0" sz="800" spc="1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file</a:t>
            </a:r>
            <a:r>
              <a:rPr dirty="0" sz="800" spc="11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lines))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714500" y="4025900"/>
            <a:ext cx="1885950" cy="914400"/>
          </a:xfrm>
          <a:custGeom>
            <a:avLst/>
            <a:gdLst/>
            <a:ahLst/>
            <a:cxnLst/>
            <a:rect l="l" t="t" r="r" b="b"/>
            <a:pathLst>
              <a:path w="1885950" h="914400">
                <a:moveTo>
                  <a:pt x="0" y="800100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800100"/>
                </a:lnTo>
                <a:lnTo>
                  <a:pt x="1790700" y="762000"/>
                </a:lnTo>
                <a:lnTo>
                  <a:pt x="1685925" y="723900"/>
                </a:lnTo>
                <a:lnTo>
                  <a:pt x="1581150" y="704850"/>
                </a:lnTo>
                <a:lnTo>
                  <a:pt x="1466850" y="695325"/>
                </a:lnTo>
                <a:lnTo>
                  <a:pt x="1362075" y="695325"/>
                </a:lnTo>
                <a:lnTo>
                  <a:pt x="1247775" y="704850"/>
                </a:lnTo>
                <a:lnTo>
                  <a:pt x="1152525" y="723900"/>
                </a:lnTo>
                <a:lnTo>
                  <a:pt x="942975" y="800100"/>
                </a:lnTo>
                <a:lnTo>
                  <a:pt x="847725" y="847725"/>
                </a:lnTo>
                <a:lnTo>
                  <a:pt x="742950" y="885825"/>
                </a:lnTo>
                <a:lnTo>
                  <a:pt x="638175" y="904875"/>
                </a:lnTo>
                <a:lnTo>
                  <a:pt x="523875" y="914400"/>
                </a:lnTo>
                <a:lnTo>
                  <a:pt x="419100" y="914400"/>
                </a:lnTo>
                <a:lnTo>
                  <a:pt x="314325" y="904875"/>
                </a:lnTo>
                <a:lnTo>
                  <a:pt x="200025" y="885825"/>
                </a:lnTo>
                <a:lnTo>
                  <a:pt x="95250" y="847725"/>
                </a:lnTo>
                <a:lnTo>
                  <a:pt x="0" y="800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743075" y="4032250"/>
            <a:ext cx="1022350" cy="7607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(RELID)</a:t>
            </a:r>
            <a:endParaRPr sz="800">
              <a:latin typeface="Arial"/>
              <a:cs typeface="Arial"/>
            </a:endParaRPr>
          </a:p>
          <a:p>
            <a:pPr>
              <a:lnSpc>
                <a:spcPts val="930"/>
              </a:lnSpc>
              <a:spcBef>
                <a:spcPts val="15"/>
              </a:spcBef>
            </a:pPr>
            <a:r>
              <a:rPr dirty="0" sz="800" spc="-20">
                <a:latin typeface="Arial"/>
                <a:cs typeface="Arial"/>
              </a:rPr>
              <a:t>Texts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(TDOBJECT)</a:t>
            </a:r>
            <a:endParaRPr sz="800">
              <a:latin typeface="Arial"/>
              <a:cs typeface="Arial"/>
            </a:endParaRPr>
          </a:p>
          <a:p>
            <a:pPr>
              <a:lnSpc>
                <a:spcPts val="930"/>
              </a:lnSpc>
            </a:pPr>
            <a:r>
              <a:rPr dirty="0" sz="800" spc="-25">
                <a:latin typeface="Arial"/>
                <a:cs typeface="Arial"/>
              </a:rPr>
              <a:t>Text Name </a:t>
            </a:r>
            <a:r>
              <a:rPr dirty="0" sz="800" spc="-10">
                <a:latin typeface="Arial"/>
                <a:cs typeface="Arial"/>
              </a:rPr>
              <a:t>(TDNAME)</a:t>
            </a:r>
            <a:endParaRPr sz="800">
              <a:latin typeface="Arial"/>
              <a:cs typeface="Arial"/>
            </a:endParaRPr>
          </a:p>
          <a:p>
            <a:pPr marR="5080">
              <a:lnSpc>
                <a:spcPct val="101600"/>
              </a:lnSpc>
            </a:pPr>
            <a:r>
              <a:rPr dirty="0" sz="800" spc="-20">
                <a:latin typeface="Arial"/>
                <a:cs typeface="Arial"/>
              </a:rPr>
              <a:t>Text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Id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(TDID) </a:t>
            </a:r>
            <a:r>
              <a:rPr dirty="0" sz="800" spc="-20">
                <a:latin typeface="Arial"/>
                <a:cs typeface="Arial"/>
              </a:rPr>
              <a:t>Language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(TDSPRAS) (SRTF2)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90650" y="1225550"/>
            <a:ext cx="7753350" cy="5867400"/>
          </a:xfrm>
          <a:custGeom>
            <a:avLst/>
            <a:gdLst/>
            <a:ahLst/>
            <a:cxnLst/>
            <a:rect l="l" t="t" r="r" b="b"/>
            <a:pathLst>
              <a:path w="7753350" h="5867400">
                <a:moveTo>
                  <a:pt x="0" y="5867400"/>
                </a:moveTo>
                <a:lnTo>
                  <a:pt x="7753350" y="5867400"/>
                </a:lnTo>
                <a:lnTo>
                  <a:pt x="7753350" y="0"/>
                </a:lnTo>
                <a:lnTo>
                  <a:pt x="0" y="0"/>
                </a:lnTo>
                <a:lnTo>
                  <a:pt x="0" y="5867400"/>
                </a:lnTo>
                <a:close/>
              </a:path>
              <a:path w="7753350" h="5867400">
                <a:moveTo>
                  <a:pt x="6619875" y="1276350"/>
                </a:moveTo>
                <a:lnTo>
                  <a:pt x="6724650" y="1485900"/>
                </a:lnTo>
                <a:lnTo>
                  <a:pt x="6829425" y="1276350"/>
                </a:lnTo>
              </a:path>
              <a:path w="7753350" h="5867400">
                <a:moveTo>
                  <a:pt x="6724650" y="2714625"/>
                </a:moveTo>
                <a:lnTo>
                  <a:pt x="6724650" y="1276350"/>
                </a:lnTo>
              </a:path>
              <a:path w="7753350" h="5867400">
                <a:moveTo>
                  <a:pt x="3733800" y="3295650"/>
                </a:moveTo>
                <a:lnTo>
                  <a:pt x="3838575" y="3505200"/>
                </a:lnTo>
                <a:lnTo>
                  <a:pt x="3943350" y="3295650"/>
                </a:lnTo>
              </a:path>
              <a:path w="7753350" h="5867400">
                <a:moveTo>
                  <a:pt x="3838575" y="4600575"/>
                </a:moveTo>
                <a:lnTo>
                  <a:pt x="3838575" y="3295650"/>
                </a:lnTo>
              </a:path>
              <a:path w="7753350" h="5867400">
                <a:moveTo>
                  <a:pt x="2000250" y="3810000"/>
                </a:moveTo>
                <a:lnTo>
                  <a:pt x="2085975" y="3600450"/>
                </a:lnTo>
                <a:lnTo>
                  <a:pt x="1857375" y="3648075"/>
                </a:lnTo>
              </a:path>
              <a:path w="7753350" h="5867400">
                <a:moveTo>
                  <a:pt x="2981325" y="2838450"/>
                </a:moveTo>
                <a:lnTo>
                  <a:pt x="1933575" y="3733800"/>
                </a:lnTo>
              </a:path>
              <a:path w="7753350" h="5867400">
                <a:moveTo>
                  <a:pt x="1876425" y="2247900"/>
                </a:moveTo>
                <a:lnTo>
                  <a:pt x="2105025" y="2276475"/>
                </a:lnTo>
                <a:lnTo>
                  <a:pt x="1990725" y="2076450"/>
                </a:lnTo>
              </a:path>
              <a:path w="7753350" h="5867400">
                <a:moveTo>
                  <a:pt x="2981325" y="2838450"/>
                </a:moveTo>
                <a:lnTo>
                  <a:pt x="1933575" y="21621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44975" y="898525"/>
            <a:ext cx="125476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35" b="1">
                <a:latin typeface="Arial"/>
                <a:cs typeface="Arial"/>
              </a:rPr>
              <a:t>Purchase </a:t>
            </a:r>
            <a:r>
              <a:rPr dirty="0" sz="1250" spc="-20" b="1">
                <a:latin typeface="Arial"/>
                <a:cs typeface="Arial"/>
              </a:rPr>
              <a:t>Orders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905250" y="482600"/>
            <a:ext cx="2295525" cy="419100"/>
            <a:chOff x="3905250" y="482600"/>
            <a:chExt cx="2295525" cy="419100"/>
          </a:xfrm>
        </p:grpSpPr>
        <p:sp>
          <p:nvSpPr>
            <p:cNvPr id="5" name="object 5" descr=""/>
            <p:cNvSpPr/>
            <p:nvPr/>
          </p:nvSpPr>
          <p:spPr>
            <a:xfrm>
              <a:off x="4019550" y="587375"/>
              <a:ext cx="2181225" cy="314325"/>
            </a:xfrm>
            <a:custGeom>
              <a:avLst/>
              <a:gdLst/>
              <a:ahLst/>
              <a:cxnLst/>
              <a:rect l="l" t="t" r="r" b="b"/>
              <a:pathLst>
                <a:path w="2181225" h="314325">
                  <a:moveTo>
                    <a:pt x="2181225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2181225" y="314325"/>
                  </a:lnTo>
                  <a:lnTo>
                    <a:pt x="218122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905250" y="482600"/>
              <a:ext cx="2190750" cy="314325"/>
            </a:xfrm>
            <a:custGeom>
              <a:avLst/>
              <a:gdLst/>
              <a:ahLst/>
              <a:cxnLst/>
              <a:rect l="l" t="t" r="r" b="b"/>
              <a:pathLst>
                <a:path w="2190750" h="314325">
                  <a:moveTo>
                    <a:pt x="21907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2190750" y="314325"/>
                  </a:lnTo>
                  <a:lnTo>
                    <a:pt x="2190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905250" y="482600"/>
            <a:ext cx="2190750" cy="3143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7175">
              <a:lnSpc>
                <a:spcPct val="100000"/>
              </a:lnSpc>
              <a:spcBef>
                <a:spcPts val="400"/>
              </a:spcBef>
            </a:pPr>
            <a:r>
              <a:rPr dirty="0" sz="1250" spc="-30" b="1">
                <a:latin typeface="Arial"/>
                <a:cs typeface="Arial"/>
              </a:rPr>
              <a:t>SAP</a:t>
            </a:r>
            <a:r>
              <a:rPr dirty="0" sz="1250" spc="-80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MM</a:t>
            </a:r>
            <a:r>
              <a:rPr dirty="0" sz="1250" spc="-80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-</a:t>
            </a:r>
            <a:r>
              <a:rPr dirty="0" sz="1250" spc="-75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Purchasing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05150" y="1425575"/>
            <a:ext cx="1733550" cy="257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S011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(PURCH: Purch.</a:t>
            </a:r>
            <a:r>
              <a:rPr dirty="0" sz="750" spc="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Group</a:t>
            </a:r>
            <a:r>
              <a:rPr dirty="0" sz="750" spc="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Statistics)</a:t>
            </a:r>
            <a:endParaRPr sz="75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105150" y="1682750"/>
            <a:ext cx="1733550" cy="1314450"/>
          </a:xfrm>
          <a:custGeom>
            <a:avLst/>
            <a:gdLst/>
            <a:ahLst/>
            <a:cxnLst/>
            <a:rect l="l" t="t" r="r" b="b"/>
            <a:pathLst>
              <a:path w="1733550" h="1314450">
                <a:moveTo>
                  <a:pt x="0" y="1171575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1171575"/>
                </a:lnTo>
                <a:lnTo>
                  <a:pt x="1666875" y="1123950"/>
                </a:lnTo>
                <a:lnTo>
                  <a:pt x="1590675" y="1085850"/>
                </a:lnTo>
                <a:lnTo>
                  <a:pt x="1514475" y="1057275"/>
                </a:lnTo>
                <a:lnTo>
                  <a:pt x="1428750" y="1038225"/>
                </a:lnTo>
                <a:lnTo>
                  <a:pt x="1343025" y="1028700"/>
                </a:lnTo>
                <a:lnTo>
                  <a:pt x="1257300" y="1028700"/>
                </a:lnTo>
                <a:lnTo>
                  <a:pt x="1171575" y="1038225"/>
                </a:lnTo>
                <a:lnTo>
                  <a:pt x="1095375" y="1057275"/>
                </a:lnTo>
                <a:lnTo>
                  <a:pt x="1019175" y="1085850"/>
                </a:lnTo>
                <a:lnTo>
                  <a:pt x="942975" y="1123950"/>
                </a:lnTo>
                <a:lnTo>
                  <a:pt x="866775" y="1171575"/>
                </a:lnTo>
                <a:lnTo>
                  <a:pt x="800100" y="1219200"/>
                </a:lnTo>
                <a:lnTo>
                  <a:pt x="723900" y="1247775"/>
                </a:lnTo>
                <a:lnTo>
                  <a:pt x="647700" y="1285875"/>
                </a:lnTo>
                <a:lnTo>
                  <a:pt x="561975" y="1304925"/>
                </a:lnTo>
                <a:lnTo>
                  <a:pt x="476250" y="1314450"/>
                </a:lnTo>
                <a:lnTo>
                  <a:pt x="400050" y="1314450"/>
                </a:lnTo>
                <a:lnTo>
                  <a:pt x="314325" y="1304925"/>
                </a:lnTo>
                <a:lnTo>
                  <a:pt x="228600" y="1285875"/>
                </a:lnTo>
                <a:lnTo>
                  <a:pt x="152400" y="1247775"/>
                </a:lnTo>
                <a:lnTo>
                  <a:pt x="76200" y="1219200"/>
                </a:lnTo>
                <a:lnTo>
                  <a:pt x="0" y="11715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121025" y="1689100"/>
            <a:ext cx="1263650" cy="10255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423545">
              <a:lnSpc>
                <a:spcPct val="95800"/>
              </a:lnSpc>
              <a:spcBef>
                <a:spcPts val="135"/>
              </a:spcBef>
            </a:pPr>
            <a:r>
              <a:rPr dirty="0" sz="750">
                <a:latin typeface="Arial"/>
                <a:cs typeface="Arial"/>
              </a:rPr>
              <a:t>Statistics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(SSOUR) </a:t>
            </a:r>
            <a:r>
              <a:rPr dirty="0" sz="750">
                <a:latin typeface="Arial"/>
                <a:cs typeface="Arial"/>
              </a:rPr>
              <a:t>Version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(VRSIO) </a:t>
            </a:r>
            <a:r>
              <a:rPr dirty="0" sz="750">
                <a:latin typeface="Arial"/>
                <a:cs typeface="Arial"/>
              </a:rPr>
              <a:t>Month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(SPMON) </a:t>
            </a:r>
            <a:r>
              <a:rPr dirty="0" sz="750">
                <a:latin typeface="Arial"/>
                <a:cs typeface="Arial"/>
              </a:rPr>
              <a:t>Day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(SPTAG) </a:t>
            </a:r>
            <a:r>
              <a:rPr dirty="0" sz="750">
                <a:latin typeface="Arial"/>
                <a:cs typeface="Arial"/>
              </a:rPr>
              <a:t>Week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(SPWOC)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97200"/>
              </a:lnSpc>
              <a:spcBef>
                <a:spcPts val="25"/>
              </a:spcBef>
            </a:pPr>
            <a:r>
              <a:rPr dirty="0" sz="750">
                <a:latin typeface="Arial"/>
                <a:cs typeface="Arial"/>
              </a:rPr>
              <a:t>Posting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Period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(SPBUP)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(EKORG)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Group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(EKGRP) </a:t>
            </a:r>
            <a:r>
              <a:rPr dirty="0" sz="750">
                <a:latin typeface="Arial"/>
                <a:cs typeface="Arial"/>
              </a:rPr>
              <a:t>Vendor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(LIFNR)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153025" y="1425575"/>
            <a:ext cx="1733550" cy="257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S012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(PURCHIS: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Purchasing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Statistics)</a:t>
            </a:r>
            <a:endParaRPr sz="7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153025" y="1682750"/>
            <a:ext cx="1733550" cy="1838325"/>
          </a:xfrm>
          <a:custGeom>
            <a:avLst/>
            <a:gdLst/>
            <a:ahLst/>
            <a:cxnLst/>
            <a:rect l="l" t="t" r="r" b="b"/>
            <a:pathLst>
              <a:path w="1733550" h="1838325">
                <a:moveTo>
                  <a:pt x="0" y="1695450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1695450"/>
                </a:lnTo>
                <a:lnTo>
                  <a:pt x="1657350" y="1647825"/>
                </a:lnTo>
                <a:lnTo>
                  <a:pt x="1581150" y="1609725"/>
                </a:lnTo>
                <a:lnTo>
                  <a:pt x="1504950" y="1581150"/>
                </a:lnTo>
                <a:lnTo>
                  <a:pt x="1428750" y="1562100"/>
                </a:lnTo>
                <a:lnTo>
                  <a:pt x="1343025" y="1552575"/>
                </a:lnTo>
                <a:lnTo>
                  <a:pt x="1257300" y="1552575"/>
                </a:lnTo>
                <a:lnTo>
                  <a:pt x="1171575" y="1562100"/>
                </a:lnTo>
                <a:lnTo>
                  <a:pt x="1085850" y="1581150"/>
                </a:lnTo>
                <a:lnTo>
                  <a:pt x="1009650" y="1609725"/>
                </a:lnTo>
                <a:lnTo>
                  <a:pt x="933450" y="1647825"/>
                </a:lnTo>
                <a:lnTo>
                  <a:pt x="866775" y="1695450"/>
                </a:lnTo>
                <a:lnTo>
                  <a:pt x="800100" y="1733550"/>
                </a:lnTo>
                <a:lnTo>
                  <a:pt x="723900" y="1781175"/>
                </a:lnTo>
                <a:lnTo>
                  <a:pt x="638175" y="1800225"/>
                </a:lnTo>
                <a:lnTo>
                  <a:pt x="561975" y="1828800"/>
                </a:lnTo>
                <a:lnTo>
                  <a:pt x="476250" y="1838325"/>
                </a:lnTo>
                <a:lnTo>
                  <a:pt x="390525" y="1838325"/>
                </a:lnTo>
                <a:lnTo>
                  <a:pt x="304800" y="1828800"/>
                </a:lnTo>
                <a:lnTo>
                  <a:pt x="228600" y="1800225"/>
                </a:lnTo>
                <a:lnTo>
                  <a:pt x="152400" y="1781175"/>
                </a:lnTo>
                <a:lnTo>
                  <a:pt x="76200" y="1733550"/>
                </a:lnTo>
                <a:lnTo>
                  <a:pt x="0" y="16954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168900" y="1689100"/>
            <a:ext cx="1387475" cy="1587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47370">
              <a:lnSpc>
                <a:spcPct val="95800"/>
              </a:lnSpc>
              <a:spcBef>
                <a:spcPts val="135"/>
              </a:spcBef>
            </a:pPr>
            <a:r>
              <a:rPr dirty="0" sz="750">
                <a:latin typeface="Arial"/>
                <a:cs typeface="Arial"/>
              </a:rPr>
              <a:t>Statistics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(SSOUR) </a:t>
            </a:r>
            <a:r>
              <a:rPr dirty="0" sz="750">
                <a:latin typeface="Arial"/>
                <a:cs typeface="Arial"/>
              </a:rPr>
              <a:t>Version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(VRSIO) </a:t>
            </a:r>
            <a:r>
              <a:rPr dirty="0" sz="750">
                <a:latin typeface="Arial"/>
                <a:cs typeface="Arial"/>
              </a:rPr>
              <a:t>Month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(SPMON) </a:t>
            </a:r>
            <a:r>
              <a:rPr dirty="0" sz="750">
                <a:latin typeface="Arial"/>
                <a:cs typeface="Arial"/>
              </a:rPr>
              <a:t>Day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(SPTAG) </a:t>
            </a:r>
            <a:r>
              <a:rPr dirty="0" sz="750">
                <a:latin typeface="Arial"/>
                <a:cs typeface="Arial"/>
              </a:rPr>
              <a:t>Week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(SPWOC)</a:t>
            </a:r>
            <a:endParaRPr sz="750">
              <a:latin typeface="Arial"/>
              <a:cs typeface="Arial"/>
            </a:endParaRPr>
          </a:p>
          <a:p>
            <a:pPr marL="12700" marR="128905">
              <a:lnSpc>
                <a:spcPct val="97200"/>
              </a:lnSpc>
              <a:spcBef>
                <a:spcPts val="25"/>
              </a:spcBef>
            </a:pPr>
            <a:r>
              <a:rPr dirty="0" sz="750">
                <a:latin typeface="Arial"/>
                <a:cs typeface="Arial"/>
              </a:rPr>
              <a:t>Posting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Period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(SPBUP)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(EKORG)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Group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(EKGRP) </a:t>
            </a:r>
            <a:r>
              <a:rPr dirty="0" sz="750">
                <a:latin typeface="Arial"/>
                <a:cs typeface="Arial"/>
              </a:rPr>
              <a:t>Material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(MATNR)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Plant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(WERKS)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Category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(ESOKZ) </a:t>
            </a:r>
            <a:r>
              <a:rPr dirty="0" sz="750">
                <a:latin typeface="Arial"/>
                <a:cs typeface="Arial"/>
              </a:rPr>
              <a:t>Material</a:t>
            </a:r>
            <a:r>
              <a:rPr dirty="0" sz="750" spc="1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Group</a:t>
            </a:r>
            <a:r>
              <a:rPr dirty="0" sz="750" spc="1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(MATKL)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(INFNR)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Country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(LAND1)</a:t>
            </a:r>
            <a:endParaRPr sz="75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590675" y="3254375"/>
            <a:ext cx="1733550" cy="266700"/>
          </a:xfrm>
          <a:custGeom>
            <a:avLst/>
            <a:gdLst/>
            <a:ahLst/>
            <a:cxnLst/>
            <a:rect l="l" t="t" r="r" b="b"/>
            <a:pathLst>
              <a:path w="1733550" h="266700">
                <a:moveTo>
                  <a:pt x="1733550" y="0"/>
                </a:moveTo>
                <a:lnTo>
                  <a:pt x="0" y="0"/>
                </a:lnTo>
                <a:lnTo>
                  <a:pt x="0" y="266700"/>
                </a:lnTo>
                <a:lnTo>
                  <a:pt x="1733550" y="266700"/>
                </a:lnTo>
                <a:lnTo>
                  <a:pt x="1733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590675" y="3254375"/>
            <a:ext cx="1733550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ts val="865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EKET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ts val="865"/>
              </a:lnSpc>
            </a:pPr>
            <a:r>
              <a:rPr dirty="0" sz="750" b="1">
                <a:latin typeface="Arial"/>
                <a:cs typeface="Arial"/>
              </a:rPr>
              <a:t>(Delivery</a:t>
            </a:r>
            <a:r>
              <a:rPr dirty="0" sz="750" spc="15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Schedules)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590675" y="3521075"/>
            <a:ext cx="1733550" cy="466725"/>
          </a:xfrm>
          <a:custGeom>
            <a:avLst/>
            <a:gdLst/>
            <a:ahLst/>
            <a:cxnLst/>
            <a:rect l="l" t="t" r="r" b="b"/>
            <a:pathLst>
              <a:path w="1733550" h="466725">
                <a:moveTo>
                  <a:pt x="0" y="409575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409575"/>
                </a:lnTo>
                <a:lnTo>
                  <a:pt x="1609725" y="381000"/>
                </a:lnTo>
                <a:lnTo>
                  <a:pt x="1485900" y="361950"/>
                </a:lnTo>
                <a:lnTo>
                  <a:pt x="1362075" y="352425"/>
                </a:lnTo>
                <a:lnTo>
                  <a:pt x="1238250" y="352425"/>
                </a:lnTo>
                <a:lnTo>
                  <a:pt x="1114425" y="361950"/>
                </a:lnTo>
                <a:lnTo>
                  <a:pt x="981075" y="381000"/>
                </a:lnTo>
                <a:lnTo>
                  <a:pt x="866775" y="409575"/>
                </a:lnTo>
                <a:lnTo>
                  <a:pt x="742950" y="438150"/>
                </a:lnTo>
                <a:lnTo>
                  <a:pt x="619125" y="457200"/>
                </a:lnTo>
                <a:lnTo>
                  <a:pt x="495300" y="466725"/>
                </a:lnTo>
                <a:lnTo>
                  <a:pt x="371475" y="466725"/>
                </a:lnTo>
                <a:lnTo>
                  <a:pt x="247650" y="457200"/>
                </a:lnTo>
                <a:lnTo>
                  <a:pt x="123825" y="438150"/>
                </a:lnTo>
                <a:lnTo>
                  <a:pt x="0" y="4095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606550" y="3517900"/>
            <a:ext cx="126428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843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(EBELN)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(EBELP)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Delivery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Schedule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(ETENR)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367212" y="4192587"/>
            <a:ext cx="1733550" cy="381000"/>
            <a:chOff x="4367212" y="4192587"/>
            <a:chExt cx="1733550" cy="381000"/>
          </a:xfrm>
        </p:grpSpPr>
        <p:sp>
          <p:nvSpPr>
            <p:cNvPr id="19" name="object 19" descr=""/>
            <p:cNvSpPr/>
            <p:nvPr/>
          </p:nvSpPr>
          <p:spPr>
            <a:xfrm>
              <a:off x="4371975" y="4197350"/>
              <a:ext cx="1724025" cy="371475"/>
            </a:xfrm>
            <a:custGeom>
              <a:avLst/>
              <a:gdLst/>
              <a:ahLst/>
              <a:cxnLst/>
              <a:rect l="l" t="t" r="r" b="b"/>
              <a:pathLst>
                <a:path w="1724025" h="371475">
                  <a:moveTo>
                    <a:pt x="1724025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133350" y="352425"/>
                  </a:lnTo>
                  <a:lnTo>
                    <a:pt x="285750" y="361950"/>
                  </a:lnTo>
                  <a:lnTo>
                    <a:pt x="428625" y="371475"/>
                  </a:lnTo>
                  <a:lnTo>
                    <a:pt x="571500" y="361950"/>
                  </a:lnTo>
                  <a:lnTo>
                    <a:pt x="723900" y="352425"/>
                  </a:lnTo>
                  <a:lnTo>
                    <a:pt x="857250" y="323850"/>
                  </a:lnTo>
                  <a:lnTo>
                    <a:pt x="1000125" y="295275"/>
                  </a:lnTo>
                  <a:lnTo>
                    <a:pt x="1143000" y="285750"/>
                  </a:lnTo>
                  <a:lnTo>
                    <a:pt x="1295400" y="276225"/>
                  </a:lnTo>
                  <a:lnTo>
                    <a:pt x="1581150" y="295275"/>
                  </a:lnTo>
                  <a:lnTo>
                    <a:pt x="1724025" y="323850"/>
                  </a:lnTo>
                  <a:lnTo>
                    <a:pt x="172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371975" y="4197350"/>
              <a:ext cx="1724025" cy="371475"/>
            </a:xfrm>
            <a:custGeom>
              <a:avLst/>
              <a:gdLst/>
              <a:ahLst/>
              <a:cxnLst/>
              <a:rect l="l" t="t" r="r" b="b"/>
              <a:pathLst>
                <a:path w="1724025" h="371475">
                  <a:moveTo>
                    <a:pt x="0" y="323850"/>
                  </a:moveTo>
                  <a:lnTo>
                    <a:pt x="0" y="0"/>
                  </a:lnTo>
                  <a:lnTo>
                    <a:pt x="1724025" y="0"/>
                  </a:lnTo>
                  <a:lnTo>
                    <a:pt x="1724025" y="323850"/>
                  </a:lnTo>
                  <a:lnTo>
                    <a:pt x="1581150" y="295275"/>
                  </a:lnTo>
                  <a:lnTo>
                    <a:pt x="1295400" y="276225"/>
                  </a:lnTo>
                  <a:lnTo>
                    <a:pt x="1143000" y="285750"/>
                  </a:lnTo>
                  <a:lnTo>
                    <a:pt x="1000125" y="295275"/>
                  </a:lnTo>
                  <a:lnTo>
                    <a:pt x="857250" y="323850"/>
                  </a:lnTo>
                  <a:lnTo>
                    <a:pt x="723900" y="352425"/>
                  </a:lnTo>
                  <a:lnTo>
                    <a:pt x="571500" y="361950"/>
                  </a:lnTo>
                  <a:lnTo>
                    <a:pt x="428625" y="371475"/>
                  </a:lnTo>
                  <a:lnTo>
                    <a:pt x="285750" y="361950"/>
                  </a:lnTo>
                  <a:lnTo>
                    <a:pt x="133350" y="352425"/>
                  </a:lnTo>
                  <a:lnTo>
                    <a:pt x="0" y="3238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378325" y="4194175"/>
            <a:ext cx="11303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(EBELN)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(EBELP)</a:t>
            </a:r>
            <a:endParaRPr sz="75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590675" y="4778375"/>
            <a:ext cx="1733550" cy="361950"/>
          </a:xfrm>
          <a:custGeom>
            <a:avLst/>
            <a:gdLst/>
            <a:ahLst/>
            <a:cxnLst/>
            <a:rect l="l" t="t" r="r" b="b"/>
            <a:pathLst>
              <a:path w="1733550" h="361950">
                <a:moveTo>
                  <a:pt x="1733550" y="0"/>
                </a:moveTo>
                <a:lnTo>
                  <a:pt x="0" y="0"/>
                </a:lnTo>
                <a:lnTo>
                  <a:pt x="0" y="361950"/>
                </a:lnTo>
                <a:lnTo>
                  <a:pt x="1733550" y="361950"/>
                </a:lnTo>
                <a:lnTo>
                  <a:pt x="1733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590675" y="4778375"/>
            <a:ext cx="1733550" cy="361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EKKN</a:t>
            </a:r>
            <a:endParaRPr sz="750">
              <a:latin typeface="Arial"/>
              <a:cs typeface="Arial"/>
            </a:endParaRPr>
          </a:p>
          <a:p>
            <a:pPr marL="28575" marR="3048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(Account</a:t>
            </a:r>
            <a:r>
              <a:rPr dirty="0" sz="750" spc="2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Assignment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Purchasing Document)</a:t>
            </a:r>
            <a:endParaRPr sz="750">
              <a:latin typeface="Arial"/>
              <a:cs typeface="Aria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590675" y="5140325"/>
            <a:ext cx="1733550" cy="581025"/>
          </a:xfrm>
          <a:custGeom>
            <a:avLst/>
            <a:gdLst/>
            <a:ahLst/>
            <a:cxnLst/>
            <a:rect l="l" t="t" r="r" b="b"/>
            <a:pathLst>
              <a:path w="1733550" h="581025">
                <a:moveTo>
                  <a:pt x="0" y="504825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504825"/>
                </a:lnTo>
                <a:lnTo>
                  <a:pt x="1628775" y="476250"/>
                </a:lnTo>
                <a:lnTo>
                  <a:pt x="1514475" y="457200"/>
                </a:lnTo>
                <a:lnTo>
                  <a:pt x="1409700" y="438150"/>
                </a:lnTo>
                <a:lnTo>
                  <a:pt x="1295400" y="428625"/>
                </a:lnTo>
                <a:lnTo>
                  <a:pt x="1190625" y="438150"/>
                </a:lnTo>
                <a:lnTo>
                  <a:pt x="1076325" y="457200"/>
                </a:lnTo>
                <a:lnTo>
                  <a:pt x="971550" y="476250"/>
                </a:lnTo>
                <a:lnTo>
                  <a:pt x="657225" y="561975"/>
                </a:lnTo>
                <a:lnTo>
                  <a:pt x="428625" y="581025"/>
                </a:lnTo>
                <a:lnTo>
                  <a:pt x="323850" y="571500"/>
                </a:lnTo>
                <a:lnTo>
                  <a:pt x="209550" y="561975"/>
                </a:lnTo>
                <a:lnTo>
                  <a:pt x="0" y="5048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606550" y="5137150"/>
            <a:ext cx="134048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4629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(EBELN)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(EBELP)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Account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Assignment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(ZEKKN)</a:t>
            </a:r>
            <a:endParaRPr sz="750">
              <a:latin typeface="Arial"/>
              <a:cs typeface="Arial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4371975" y="6083300"/>
            <a:ext cx="1724025" cy="371475"/>
          </a:xfrm>
          <a:custGeom>
            <a:avLst/>
            <a:gdLst/>
            <a:ahLst/>
            <a:cxnLst/>
            <a:rect l="l" t="t" r="r" b="b"/>
            <a:pathLst>
              <a:path w="1724025" h="371475">
                <a:moveTo>
                  <a:pt x="0" y="323850"/>
                </a:moveTo>
                <a:lnTo>
                  <a:pt x="0" y="0"/>
                </a:lnTo>
                <a:lnTo>
                  <a:pt x="1724025" y="0"/>
                </a:lnTo>
                <a:lnTo>
                  <a:pt x="1724025" y="323850"/>
                </a:lnTo>
                <a:lnTo>
                  <a:pt x="1581150" y="295275"/>
                </a:lnTo>
                <a:lnTo>
                  <a:pt x="1438275" y="276225"/>
                </a:lnTo>
                <a:lnTo>
                  <a:pt x="1143000" y="276225"/>
                </a:lnTo>
                <a:lnTo>
                  <a:pt x="1000125" y="295275"/>
                </a:lnTo>
                <a:lnTo>
                  <a:pt x="857250" y="323850"/>
                </a:lnTo>
                <a:lnTo>
                  <a:pt x="723900" y="342900"/>
                </a:lnTo>
                <a:lnTo>
                  <a:pt x="571500" y="361950"/>
                </a:lnTo>
                <a:lnTo>
                  <a:pt x="428625" y="371475"/>
                </a:lnTo>
                <a:lnTo>
                  <a:pt x="285750" y="361950"/>
                </a:lnTo>
                <a:lnTo>
                  <a:pt x="133350" y="342900"/>
                </a:lnTo>
                <a:lnTo>
                  <a:pt x="0" y="323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4378325" y="6080125"/>
            <a:ext cx="11303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(EBELN)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4367212" y="5821362"/>
          <a:ext cx="4695825" cy="25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4025"/>
                <a:gridCol w="1152525"/>
                <a:gridCol w="1733550"/>
              </a:tblGrid>
              <a:tr h="123825">
                <a:tc rowSpan="2"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EKKO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(Purchasing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Header)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EORD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(Purchasing</a:t>
                      </a:r>
                      <a:r>
                        <a:rPr dirty="0" sz="7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7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List)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33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9" name="object 29" descr=""/>
          <p:cNvSpPr/>
          <p:nvPr/>
        </p:nvSpPr>
        <p:spPr>
          <a:xfrm>
            <a:off x="7248525" y="6083300"/>
            <a:ext cx="1733550" cy="581025"/>
          </a:xfrm>
          <a:custGeom>
            <a:avLst/>
            <a:gdLst/>
            <a:ahLst/>
            <a:cxnLst/>
            <a:rect l="l" t="t" r="r" b="b"/>
            <a:pathLst>
              <a:path w="1733550" h="581025">
                <a:moveTo>
                  <a:pt x="0" y="504825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504825"/>
                </a:lnTo>
                <a:lnTo>
                  <a:pt x="1628775" y="476250"/>
                </a:lnTo>
                <a:lnTo>
                  <a:pt x="1514475" y="447675"/>
                </a:lnTo>
                <a:lnTo>
                  <a:pt x="1409700" y="438150"/>
                </a:lnTo>
                <a:lnTo>
                  <a:pt x="1190625" y="438150"/>
                </a:lnTo>
                <a:lnTo>
                  <a:pt x="1076325" y="447675"/>
                </a:lnTo>
                <a:lnTo>
                  <a:pt x="657225" y="561975"/>
                </a:lnTo>
                <a:lnTo>
                  <a:pt x="428625" y="581025"/>
                </a:lnTo>
                <a:lnTo>
                  <a:pt x="219075" y="561975"/>
                </a:lnTo>
                <a:lnTo>
                  <a:pt x="104775" y="533400"/>
                </a:lnTo>
                <a:lnTo>
                  <a:pt x="0" y="5048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7264400" y="6080125"/>
            <a:ext cx="109220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985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Material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(MATNR) </a:t>
            </a:r>
            <a:r>
              <a:rPr dirty="0" sz="750">
                <a:latin typeface="Arial"/>
                <a:cs typeface="Arial"/>
              </a:rPr>
              <a:t>Plant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(WERKS)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Source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List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(ZEORD)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31" name="object 31" descr=""/>
          <p:cNvGraphicFramePr>
            <a:graphicFrameLocks noGrp="1"/>
          </p:cNvGraphicFramePr>
          <p:nvPr/>
        </p:nvGraphicFramePr>
        <p:xfrm>
          <a:off x="4367212" y="3935412"/>
          <a:ext cx="4695825" cy="25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4025"/>
                <a:gridCol w="1152525"/>
                <a:gridCol w="1733550"/>
              </a:tblGrid>
              <a:tr h="123825">
                <a:tc rowSpan="2"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EKPO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(Purchasing</a:t>
                      </a:r>
                      <a:r>
                        <a:rPr dirty="0" sz="75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Document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Item)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EINA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(Purch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Info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Record:</a:t>
                      </a:r>
                      <a:r>
                        <a:rPr dirty="0" sz="7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General</a:t>
                      </a:r>
                      <a:r>
                        <a:rPr dirty="0" sz="750" spc="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Data)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33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 descr=""/>
          <p:cNvSpPr/>
          <p:nvPr/>
        </p:nvSpPr>
        <p:spPr>
          <a:xfrm>
            <a:off x="7248525" y="4197350"/>
            <a:ext cx="1733550" cy="371475"/>
          </a:xfrm>
          <a:custGeom>
            <a:avLst/>
            <a:gdLst/>
            <a:ahLst/>
            <a:cxnLst/>
            <a:rect l="l" t="t" r="r" b="b"/>
            <a:pathLst>
              <a:path w="1733550" h="371475">
                <a:moveTo>
                  <a:pt x="0" y="323850"/>
                </a:moveTo>
                <a:lnTo>
                  <a:pt x="0" y="0"/>
                </a:lnTo>
                <a:lnTo>
                  <a:pt x="1733550" y="0"/>
                </a:lnTo>
                <a:lnTo>
                  <a:pt x="1733550" y="323850"/>
                </a:lnTo>
                <a:lnTo>
                  <a:pt x="1590675" y="295275"/>
                </a:lnTo>
                <a:lnTo>
                  <a:pt x="1447800" y="285750"/>
                </a:lnTo>
                <a:lnTo>
                  <a:pt x="1295400" y="276225"/>
                </a:lnTo>
                <a:lnTo>
                  <a:pt x="1009650" y="295275"/>
                </a:lnTo>
                <a:lnTo>
                  <a:pt x="723900" y="352425"/>
                </a:lnTo>
                <a:lnTo>
                  <a:pt x="581025" y="361950"/>
                </a:lnTo>
                <a:lnTo>
                  <a:pt x="428625" y="371475"/>
                </a:lnTo>
                <a:lnTo>
                  <a:pt x="142875" y="352425"/>
                </a:lnTo>
                <a:lnTo>
                  <a:pt x="0" y="323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7264400" y="4194175"/>
            <a:ext cx="9112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(INFNR)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248525" y="1635125"/>
            <a:ext cx="1758950" cy="361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28575" marR="12065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EINE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(Purchasing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Info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Record: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Purchasing </a:t>
            </a:r>
            <a:r>
              <a:rPr dirty="0" sz="750" b="1">
                <a:latin typeface="Arial"/>
                <a:cs typeface="Arial"/>
              </a:rPr>
              <a:t>Organization</a:t>
            </a:r>
            <a:r>
              <a:rPr dirty="0" sz="750" spc="2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Data)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243762" y="1992312"/>
            <a:ext cx="1743075" cy="590550"/>
            <a:chOff x="7243762" y="1992312"/>
            <a:chExt cx="1743075" cy="590550"/>
          </a:xfrm>
        </p:grpSpPr>
        <p:sp>
          <p:nvSpPr>
            <p:cNvPr id="36" name="object 36" descr=""/>
            <p:cNvSpPr/>
            <p:nvPr/>
          </p:nvSpPr>
          <p:spPr>
            <a:xfrm>
              <a:off x="7248525" y="1997075"/>
              <a:ext cx="1733550" cy="581025"/>
            </a:xfrm>
            <a:custGeom>
              <a:avLst/>
              <a:gdLst/>
              <a:ahLst/>
              <a:cxnLst/>
              <a:rect l="l" t="t" r="r" b="b"/>
              <a:pathLst>
                <a:path w="1733550" h="581025">
                  <a:moveTo>
                    <a:pt x="1733550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104775" y="542925"/>
                  </a:lnTo>
                  <a:lnTo>
                    <a:pt x="219075" y="561975"/>
                  </a:lnTo>
                  <a:lnTo>
                    <a:pt x="428625" y="581025"/>
                  </a:lnTo>
                  <a:lnTo>
                    <a:pt x="657225" y="561975"/>
                  </a:lnTo>
                  <a:lnTo>
                    <a:pt x="762000" y="542925"/>
                  </a:lnTo>
                  <a:lnTo>
                    <a:pt x="866775" y="504825"/>
                  </a:lnTo>
                  <a:lnTo>
                    <a:pt x="971550" y="476250"/>
                  </a:lnTo>
                  <a:lnTo>
                    <a:pt x="1076325" y="457200"/>
                  </a:lnTo>
                  <a:lnTo>
                    <a:pt x="1190625" y="438150"/>
                  </a:lnTo>
                  <a:lnTo>
                    <a:pt x="1409700" y="438150"/>
                  </a:lnTo>
                  <a:lnTo>
                    <a:pt x="1514475" y="457200"/>
                  </a:lnTo>
                  <a:lnTo>
                    <a:pt x="1628775" y="476250"/>
                  </a:lnTo>
                  <a:lnTo>
                    <a:pt x="1733550" y="50482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248525" y="1997075"/>
              <a:ext cx="1733550" cy="581025"/>
            </a:xfrm>
            <a:custGeom>
              <a:avLst/>
              <a:gdLst/>
              <a:ahLst/>
              <a:cxnLst/>
              <a:rect l="l" t="t" r="r" b="b"/>
              <a:pathLst>
                <a:path w="1733550" h="581025">
                  <a:moveTo>
                    <a:pt x="0" y="504825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504825"/>
                  </a:lnTo>
                  <a:lnTo>
                    <a:pt x="1628775" y="476250"/>
                  </a:lnTo>
                  <a:lnTo>
                    <a:pt x="1514475" y="457200"/>
                  </a:lnTo>
                  <a:lnTo>
                    <a:pt x="1409700" y="438150"/>
                  </a:lnTo>
                  <a:lnTo>
                    <a:pt x="1190625" y="438150"/>
                  </a:lnTo>
                  <a:lnTo>
                    <a:pt x="1076325" y="457200"/>
                  </a:lnTo>
                  <a:lnTo>
                    <a:pt x="971550" y="476250"/>
                  </a:lnTo>
                  <a:lnTo>
                    <a:pt x="866775" y="504825"/>
                  </a:lnTo>
                  <a:lnTo>
                    <a:pt x="762000" y="542925"/>
                  </a:lnTo>
                  <a:lnTo>
                    <a:pt x="657225" y="561975"/>
                  </a:lnTo>
                  <a:lnTo>
                    <a:pt x="428625" y="581025"/>
                  </a:lnTo>
                  <a:lnTo>
                    <a:pt x="219075" y="561975"/>
                  </a:lnTo>
                  <a:lnTo>
                    <a:pt x="104775" y="542925"/>
                  </a:lnTo>
                  <a:lnTo>
                    <a:pt x="0" y="5048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7264400" y="2003425"/>
            <a:ext cx="1216025" cy="4730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97200"/>
              </a:lnSpc>
              <a:spcBef>
                <a:spcPts val="125"/>
              </a:spcBef>
            </a:pP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(INFNR)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(EKORG) </a:t>
            </a: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(ESOKZ) </a:t>
            </a:r>
            <a:r>
              <a:rPr dirty="0" sz="750">
                <a:latin typeface="Arial"/>
                <a:cs typeface="Arial"/>
              </a:rPr>
              <a:t>Plant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(WEKS)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3450" y="1606550"/>
            <a:ext cx="8753475" cy="5124450"/>
          </a:xfrm>
          <a:custGeom>
            <a:avLst/>
            <a:gdLst/>
            <a:ahLst/>
            <a:cxnLst/>
            <a:rect l="l" t="t" r="r" b="b"/>
            <a:pathLst>
              <a:path w="8753475" h="5124450">
                <a:moveTo>
                  <a:pt x="0" y="5124450"/>
                </a:moveTo>
                <a:lnTo>
                  <a:pt x="8753475" y="5124450"/>
                </a:lnTo>
                <a:lnTo>
                  <a:pt x="8753475" y="0"/>
                </a:lnTo>
                <a:lnTo>
                  <a:pt x="0" y="0"/>
                </a:lnTo>
                <a:lnTo>
                  <a:pt x="0" y="51244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47775" y="2044700"/>
            <a:ext cx="7286625" cy="2876550"/>
          </a:xfrm>
          <a:custGeom>
            <a:avLst/>
            <a:gdLst/>
            <a:ahLst/>
            <a:cxnLst/>
            <a:rect l="l" t="t" r="r" b="b"/>
            <a:pathLst>
              <a:path w="7286625" h="2876550">
                <a:moveTo>
                  <a:pt x="2771775" y="371475"/>
                </a:moveTo>
                <a:lnTo>
                  <a:pt x="2562225" y="476250"/>
                </a:lnTo>
                <a:lnTo>
                  <a:pt x="2771775" y="590550"/>
                </a:lnTo>
              </a:path>
              <a:path w="7286625" h="2876550">
                <a:moveTo>
                  <a:pt x="3648075" y="1038225"/>
                </a:moveTo>
                <a:lnTo>
                  <a:pt x="5143500" y="2743200"/>
                </a:lnTo>
              </a:path>
              <a:path w="7286625" h="2876550">
                <a:moveTo>
                  <a:pt x="4533900" y="476250"/>
                </a:moveTo>
                <a:lnTo>
                  <a:pt x="6400800" y="0"/>
                </a:lnTo>
              </a:path>
              <a:path w="7286625" h="2876550">
                <a:moveTo>
                  <a:pt x="4533900" y="476250"/>
                </a:moveTo>
                <a:lnTo>
                  <a:pt x="7286625" y="2266950"/>
                </a:lnTo>
              </a:path>
              <a:path w="7286625" h="2876550">
                <a:moveTo>
                  <a:pt x="3648075" y="1038225"/>
                </a:moveTo>
                <a:lnTo>
                  <a:pt x="876300" y="2847975"/>
                </a:lnTo>
              </a:path>
              <a:path w="7286625" h="2876550">
                <a:moveTo>
                  <a:pt x="3648075" y="1038225"/>
                </a:moveTo>
                <a:lnTo>
                  <a:pt x="3124200" y="2876550"/>
                </a:lnTo>
              </a:path>
              <a:path w="7286625" h="2876550">
                <a:moveTo>
                  <a:pt x="0" y="942975"/>
                </a:moveTo>
                <a:lnTo>
                  <a:pt x="0" y="609600"/>
                </a:lnTo>
                <a:lnTo>
                  <a:pt x="1762125" y="609600"/>
                </a:lnTo>
                <a:lnTo>
                  <a:pt x="1762125" y="942975"/>
                </a:lnTo>
                <a:lnTo>
                  <a:pt x="1609725" y="914400"/>
                </a:lnTo>
                <a:lnTo>
                  <a:pt x="1466850" y="895350"/>
                </a:lnTo>
                <a:lnTo>
                  <a:pt x="1171575" y="895350"/>
                </a:lnTo>
                <a:lnTo>
                  <a:pt x="1028700" y="914400"/>
                </a:lnTo>
                <a:lnTo>
                  <a:pt x="876300" y="942975"/>
                </a:lnTo>
                <a:lnTo>
                  <a:pt x="590550" y="981075"/>
                </a:lnTo>
                <a:lnTo>
                  <a:pt x="285750" y="981075"/>
                </a:lnTo>
                <a:lnTo>
                  <a:pt x="0" y="9429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445000" y="1089025"/>
            <a:ext cx="110172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30" b="1">
                <a:latin typeface="Arial"/>
                <a:cs typeface="Arial"/>
              </a:rPr>
              <a:t>Goods</a:t>
            </a:r>
            <a:r>
              <a:rPr dirty="0" sz="1250" spc="-65" b="1">
                <a:latin typeface="Arial"/>
                <a:cs typeface="Arial"/>
              </a:rPr>
              <a:t> </a:t>
            </a:r>
            <a:r>
              <a:rPr dirty="0" sz="1250" spc="-20" b="1">
                <a:latin typeface="Arial"/>
                <a:cs typeface="Arial"/>
              </a:rPr>
              <a:t>Receipt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54125" y="2660650"/>
            <a:ext cx="1064260" cy="2444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830"/>
              </a:lnSpc>
              <a:spcBef>
                <a:spcPts val="185"/>
              </a:spcBef>
            </a:pP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(MBLNR)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(MJAHR)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243012" y="2382837"/>
          <a:ext cx="4619625" cy="26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2125"/>
                <a:gridCol w="1009650"/>
                <a:gridCol w="1762125"/>
              </a:tblGrid>
              <a:tr h="133350">
                <a:tc rowSpan="2"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MKPF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(Header:</a:t>
                      </a:r>
                      <a:r>
                        <a:rPr dirty="0" sz="750" spc="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Material</a:t>
                      </a:r>
                      <a:r>
                        <a:rPr dirty="0" sz="750" spc="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Document)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MSEG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(Document</a:t>
                      </a:r>
                      <a:r>
                        <a:rPr dirty="0" sz="750" spc="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Segment:</a:t>
                      </a:r>
                      <a:r>
                        <a:rPr dirty="0" sz="75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Material)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33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7" name="object 7" descr=""/>
          <p:cNvGrpSpPr/>
          <p:nvPr/>
        </p:nvGrpSpPr>
        <p:grpSpPr>
          <a:xfrm>
            <a:off x="3924300" y="577850"/>
            <a:ext cx="2343150" cy="428625"/>
            <a:chOff x="3924300" y="577850"/>
            <a:chExt cx="2343150" cy="428625"/>
          </a:xfrm>
        </p:grpSpPr>
        <p:sp>
          <p:nvSpPr>
            <p:cNvPr id="8" name="object 8" descr=""/>
            <p:cNvSpPr/>
            <p:nvPr/>
          </p:nvSpPr>
          <p:spPr>
            <a:xfrm>
              <a:off x="4038600" y="682625"/>
              <a:ext cx="2228850" cy="323850"/>
            </a:xfrm>
            <a:custGeom>
              <a:avLst/>
              <a:gdLst/>
              <a:ahLst/>
              <a:cxnLst/>
              <a:rect l="l" t="t" r="r" b="b"/>
              <a:pathLst>
                <a:path w="2228850" h="323850">
                  <a:moveTo>
                    <a:pt x="222885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2228850" y="323850"/>
                  </a:lnTo>
                  <a:lnTo>
                    <a:pt x="222885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924300" y="577850"/>
              <a:ext cx="2228850" cy="323850"/>
            </a:xfrm>
            <a:custGeom>
              <a:avLst/>
              <a:gdLst/>
              <a:ahLst/>
              <a:cxnLst/>
              <a:rect l="l" t="t" r="r" b="b"/>
              <a:pathLst>
                <a:path w="2228850" h="323850">
                  <a:moveTo>
                    <a:pt x="222885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2228850" y="323850"/>
                  </a:lnTo>
                  <a:lnTo>
                    <a:pt x="2228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924300" y="577850"/>
            <a:ext cx="2228850" cy="323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400"/>
              </a:spcBef>
            </a:pPr>
            <a:r>
              <a:rPr dirty="0" sz="1250" spc="-30" b="1">
                <a:latin typeface="Arial"/>
                <a:cs typeface="Arial"/>
              </a:rPr>
              <a:t>SAP</a:t>
            </a:r>
            <a:r>
              <a:rPr dirty="0" sz="1250" spc="-80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MM</a:t>
            </a:r>
            <a:r>
              <a:rPr dirty="0" sz="1250" spc="-80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-</a:t>
            </a:r>
            <a:r>
              <a:rPr dirty="0" sz="1250" spc="-75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Purchasing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014787" y="2649537"/>
            <a:ext cx="1771650" cy="495300"/>
            <a:chOff x="4014787" y="2649537"/>
            <a:chExt cx="1771650" cy="495300"/>
          </a:xfrm>
        </p:grpSpPr>
        <p:sp>
          <p:nvSpPr>
            <p:cNvPr id="12" name="object 12" descr=""/>
            <p:cNvSpPr/>
            <p:nvPr/>
          </p:nvSpPr>
          <p:spPr>
            <a:xfrm>
              <a:off x="4019550" y="2654300"/>
              <a:ext cx="1762125" cy="485775"/>
            </a:xfrm>
            <a:custGeom>
              <a:avLst/>
              <a:gdLst/>
              <a:ahLst/>
              <a:cxnLst/>
              <a:rect l="l" t="t" r="r" b="b"/>
              <a:pathLst>
                <a:path w="1762125" h="485775">
                  <a:moveTo>
                    <a:pt x="1762125" y="0"/>
                  </a:moveTo>
                  <a:lnTo>
                    <a:pt x="0" y="0"/>
                  </a:lnTo>
                  <a:lnTo>
                    <a:pt x="0" y="428625"/>
                  </a:lnTo>
                  <a:lnTo>
                    <a:pt x="123825" y="457200"/>
                  </a:lnTo>
                  <a:lnTo>
                    <a:pt x="247650" y="476250"/>
                  </a:lnTo>
                  <a:lnTo>
                    <a:pt x="381000" y="485775"/>
                  </a:lnTo>
                  <a:lnTo>
                    <a:pt x="504825" y="485775"/>
                  </a:lnTo>
                  <a:lnTo>
                    <a:pt x="628650" y="476250"/>
                  </a:lnTo>
                  <a:lnTo>
                    <a:pt x="762000" y="457200"/>
                  </a:lnTo>
                  <a:lnTo>
                    <a:pt x="876300" y="428625"/>
                  </a:lnTo>
                  <a:lnTo>
                    <a:pt x="1009650" y="390525"/>
                  </a:lnTo>
                  <a:lnTo>
                    <a:pt x="1133475" y="371475"/>
                  </a:lnTo>
                  <a:lnTo>
                    <a:pt x="1257300" y="361950"/>
                  </a:lnTo>
                  <a:lnTo>
                    <a:pt x="1381125" y="361950"/>
                  </a:lnTo>
                  <a:lnTo>
                    <a:pt x="1514475" y="371475"/>
                  </a:lnTo>
                  <a:lnTo>
                    <a:pt x="1638300" y="390525"/>
                  </a:lnTo>
                  <a:lnTo>
                    <a:pt x="1762125" y="428625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019550" y="2654300"/>
              <a:ext cx="1762125" cy="485775"/>
            </a:xfrm>
            <a:custGeom>
              <a:avLst/>
              <a:gdLst/>
              <a:ahLst/>
              <a:cxnLst/>
              <a:rect l="l" t="t" r="r" b="b"/>
              <a:pathLst>
                <a:path w="1762125" h="485775">
                  <a:moveTo>
                    <a:pt x="0" y="428625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428625"/>
                  </a:lnTo>
                  <a:lnTo>
                    <a:pt x="1638300" y="390525"/>
                  </a:lnTo>
                  <a:lnTo>
                    <a:pt x="1514475" y="371475"/>
                  </a:lnTo>
                  <a:lnTo>
                    <a:pt x="1381125" y="361950"/>
                  </a:lnTo>
                  <a:lnTo>
                    <a:pt x="1257300" y="361950"/>
                  </a:lnTo>
                  <a:lnTo>
                    <a:pt x="1133475" y="371475"/>
                  </a:lnTo>
                  <a:lnTo>
                    <a:pt x="1009650" y="390525"/>
                  </a:lnTo>
                  <a:lnTo>
                    <a:pt x="876300" y="428625"/>
                  </a:lnTo>
                  <a:lnTo>
                    <a:pt x="762000" y="457200"/>
                  </a:lnTo>
                  <a:lnTo>
                    <a:pt x="628650" y="476250"/>
                  </a:lnTo>
                  <a:lnTo>
                    <a:pt x="504825" y="485775"/>
                  </a:lnTo>
                  <a:lnTo>
                    <a:pt x="381000" y="485775"/>
                  </a:lnTo>
                  <a:lnTo>
                    <a:pt x="247650" y="476250"/>
                  </a:lnTo>
                  <a:lnTo>
                    <a:pt x="123825" y="457200"/>
                  </a:lnTo>
                  <a:lnTo>
                    <a:pt x="0" y="4286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025900" y="2660650"/>
            <a:ext cx="106426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95800"/>
              </a:lnSpc>
              <a:spcBef>
                <a:spcPts val="135"/>
              </a:spcBef>
            </a:pP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(MBLNR)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(MJAHR) </a:t>
            </a: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(ZEILE)</a:t>
            </a:r>
            <a:endParaRPr sz="7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47775" y="4892675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EKBE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(History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of Purchasing </a:t>
            </a:r>
            <a:r>
              <a:rPr dirty="0" sz="750" spc="-10" b="1">
                <a:latin typeface="Arial"/>
                <a:cs typeface="Arial"/>
              </a:rPr>
              <a:t>Document)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247775" y="5159375"/>
            <a:ext cx="1762125" cy="962025"/>
          </a:xfrm>
          <a:custGeom>
            <a:avLst/>
            <a:gdLst/>
            <a:ahLst/>
            <a:cxnLst/>
            <a:rect l="l" t="t" r="r" b="b"/>
            <a:pathLst>
              <a:path w="1762125" h="962025">
                <a:moveTo>
                  <a:pt x="0" y="847725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847725"/>
                </a:lnTo>
                <a:lnTo>
                  <a:pt x="1676400" y="800100"/>
                </a:lnTo>
                <a:lnTo>
                  <a:pt x="1504950" y="742950"/>
                </a:lnTo>
                <a:lnTo>
                  <a:pt x="1314450" y="723900"/>
                </a:lnTo>
                <a:lnTo>
                  <a:pt x="1228725" y="733425"/>
                </a:lnTo>
                <a:lnTo>
                  <a:pt x="1133475" y="742950"/>
                </a:lnTo>
                <a:lnTo>
                  <a:pt x="962025" y="800100"/>
                </a:lnTo>
                <a:lnTo>
                  <a:pt x="876300" y="847725"/>
                </a:lnTo>
                <a:lnTo>
                  <a:pt x="800100" y="885825"/>
                </a:lnTo>
                <a:lnTo>
                  <a:pt x="704850" y="923925"/>
                </a:lnTo>
                <a:lnTo>
                  <a:pt x="533400" y="962025"/>
                </a:lnTo>
                <a:lnTo>
                  <a:pt x="342900" y="962025"/>
                </a:lnTo>
                <a:lnTo>
                  <a:pt x="257175" y="942975"/>
                </a:lnTo>
                <a:lnTo>
                  <a:pt x="161925" y="923925"/>
                </a:lnTo>
                <a:lnTo>
                  <a:pt x="76200" y="885825"/>
                </a:lnTo>
                <a:lnTo>
                  <a:pt x="0" y="8477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254125" y="5165725"/>
            <a:ext cx="1130300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(EBELN)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(EBELP)</a:t>
            </a:r>
            <a:endParaRPr sz="750">
              <a:latin typeface="Arial"/>
              <a:cs typeface="Arial"/>
            </a:endParaRPr>
          </a:p>
          <a:p>
            <a:pPr marL="12700" marR="2349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Account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Assign</a:t>
            </a:r>
            <a:r>
              <a:rPr dirty="0" sz="750" spc="5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(ZEKKN) </a:t>
            </a:r>
            <a:r>
              <a:rPr dirty="0" sz="750">
                <a:latin typeface="Arial"/>
                <a:cs typeface="Arial"/>
              </a:rPr>
              <a:t>Trans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(VGABE) </a:t>
            </a: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(MJAHR)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(MBLNR) </a:t>
            </a: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(ZEILE)</a:t>
            </a:r>
            <a:endParaRPr sz="7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486150" y="4921250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ts val="865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MVER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ts val="865"/>
              </a:lnSpc>
            </a:pPr>
            <a:r>
              <a:rPr dirty="0" sz="750" b="1">
                <a:latin typeface="Arial"/>
                <a:cs typeface="Arial"/>
              </a:rPr>
              <a:t>(Material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consumption)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486150" y="5187950"/>
            <a:ext cx="1762125" cy="828675"/>
          </a:xfrm>
          <a:custGeom>
            <a:avLst/>
            <a:gdLst/>
            <a:ahLst/>
            <a:cxnLst/>
            <a:rect l="l" t="t" r="r" b="b"/>
            <a:pathLst>
              <a:path w="1762125" h="828675">
                <a:moveTo>
                  <a:pt x="0" y="723900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723900"/>
                </a:lnTo>
                <a:lnTo>
                  <a:pt x="1666875" y="685800"/>
                </a:lnTo>
                <a:lnTo>
                  <a:pt x="1571625" y="657225"/>
                </a:lnTo>
                <a:lnTo>
                  <a:pt x="1476375" y="638175"/>
                </a:lnTo>
                <a:lnTo>
                  <a:pt x="1371600" y="619125"/>
                </a:lnTo>
                <a:lnTo>
                  <a:pt x="1276350" y="619125"/>
                </a:lnTo>
                <a:lnTo>
                  <a:pt x="1171575" y="638175"/>
                </a:lnTo>
                <a:lnTo>
                  <a:pt x="1076325" y="657225"/>
                </a:lnTo>
                <a:lnTo>
                  <a:pt x="971550" y="685800"/>
                </a:lnTo>
                <a:lnTo>
                  <a:pt x="885825" y="723900"/>
                </a:lnTo>
                <a:lnTo>
                  <a:pt x="695325" y="800100"/>
                </a:lnTo>
                <a:lnTo>
                  <a:pt x="590550" y="819150"/>
                </a:lnTo>
                <a:lnTo>
                  <a:pt x="495300" y="828675"/>
                </a:lnTo>
                <a:lnTo>
                  <a:pt x="390525" y="828675"/>
                </a:lnTo>
                <a:lnTo>
                  <a:pt x="285750" y="819150"/>
                </a:lnTo>
                <a:lnTo>
                  <a:pt x="190500" y="800100"/>
                </a:lnTo>
                <a:lnTo>
                  <a:pt x="0" y="723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3502025" y="5194300"/>
            <a:ext cx="1245235" cy="587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3204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Material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(MATNR) </a:t>
            </a:r>
            <a:r>
              <a:rPr dirty="0" sz="750">
                <a:latin typeface="Arial"/>
                <a:cs typeface="Arial"/>
              </a:rPr>
              <a:t>Plant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(WERKS)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Fiscal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Year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(GJAHR)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Period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(PERKZ)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Follow-on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Records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(ZAHLR)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643812" y="1849437"/>
            <a:ext cx="1771650" cy="1609725"/>
            <a:chOff x="7643812" y="1849437"/>
            <a:chExt cx="1771650" cy="1609725"/>
          </a:xfrm>
        </p:grpSpPr>
        <p:sp>
          <p:nvSpPr>
            <p:cNvPr id="22" name="object 22" descr=""/>
            <p:cNvSpPr/>
            <p:nvPr/>
          </p:nvSpPr>
          <p:spPr>
            <a:xfrm>
              <a:off x="7648575" y="1854200"/>
              <a:ext cx="1762125" cy="381000"/>
            </a:xfrm>
            <a:custGeom>
              <a:avLst/>
              <a:gdLst/>
              <a:ahLst/>
              <a:cxnLst/>
              <a:rect l="l" t="t" r="r" b="b"/>
              <a:pathLst>
                <a:path w="1762125" h="381000">
                  <a:moveTo>
                    <a:pt x="0" y="381000"/>
                  </a:moveTo>
                  <a:lnTo>
                    <a:pt x="1762125" y="381000"/>
                  </a:lnTo>
                  <a:lnTo>
                    <a:pt x="1762125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648575" y="2206625"/>
              <a:ext cx="1762125" cy="1247775"/>
            </a:xfrm>
            <a:custGeom>
              <a:avLst/>
              <a:gdLst/>
              <a:ahLst/>
              <a:cxnLst/>
              <a:rect l="l" t="t" r="r" b="b"/>
              <a:pathLst>
                <a:path w="1762125" h="1247775">
                  <a:moveTo>
                    <a:pt x="1762125" y="0"/>
                  </a:moveTo>
                  <a:lnTo>
                    <a:pt x="0" y="0"/>
                  </a:lnTo>
                  <a:lnTo>
                    <a:pt x="0" y="1104900"/>
                  </a:lnTo>
                  <a:lnTo>
                    <a:pt x="76200" y="1152525"/>
                  </a:lnTo>
                  <a:lnTo>
                    <a:pt x="152400" y="1190625"/>
                  </a:lnTo>
                  <a:lnTo>
                    <a:pt x="228600" y="1219200"/>
                  </a:lnTo>
                  <a:lnTo>
                    <a:pt x="314325" y="1238250"/>
                  </a:lnTo>
                  <a:lnTo>
                    <a:pt x="400050" y="1247775"/>
                  </a:lnTo>
                  <a:lnTo>
                    <a:pt x="485775" y="1247775"/>
                  </a:lnTo>
                  <a:lnTo>
                    <a:pt x="571500" y="1238250"/>
                  </a:lnTo>
                  <a:lnTo>
                    <a:pt x="657225" y="1219200"/>
                  </a:lnTo>
                  <a:lnTo>
                    <a:pt x="733425" y="1190625"/>
                  </a:lnTo>
                  <a:lnTo>
                    <a:pt x="809625" y="1152525"/>
                  </a:lnTo>
                  <a:lnTo>
                    <a:pt x="885825" y="1104900"/>
                  </a:lnTo>
                  <a:lnTo>
                    <a:pt x="952500" y="1057275"/>
                  </a:lnTo>
                  <a:lnTo>
                    <a:pt x="1028700" y="1019175"/>
                  </a:lnTo>
                  <a:lnTo>
                    <a:pt x="1114425" y="990600"/>
                  </a:lnTo>
                  <a:lnTo>
                    <a:pt x="1190625" y="971550"/>
                  </a:lnTo>
                  <a:lnTo>
                    <a:pt x="1276350" y="962025"/>
                  </a:lnTo>
                  <a:lnTo>
                    <a:pt x="1362075" y="962025"/>
                  </a:lnTo>
                  <a:lnTo>
                    <a:pt x="1447800" y="971550"/>
                  </a:lnTo>
                  <a:lnTo>
                    <a:pt x="1533525" y="990600"/>
                  </a:lnTo>
                  <a:lnTo>
                    <a:pt x="1619250" y="1019175"/>
                  </a:lnTo>
                  <a:lnTo>
                    <a:pt x="1695450" y="1057275"/>
                  </a:lnTo>
                  <a:lnTo>
                    <a:pt x="1762125" y="1104900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648575" y="2206625"/>
              <a:ext cx="1762125" cy="1247775"/>
            </a:xfrm>
            <a:custGeom>
              <a:avLst/>
              <a:gdLst/>
              <a:ahLst/>
              <a:cxnLst/>
              <a:rect l="l" t="t" r="r" b="b"/>
              <a:pathLst>
                <a:path w="1762125" h="1247775">
                  <a:moveTo>
                    <a:pt x="0" y="1104900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1104900"/>
                  </a:lnTo>
                  <a:lnTo>
                    <a:pt x="1695450" y="1057275"/>
                  </a:lnTo>
                  <a:lnTo>
                    <a:pt x="1619250" y="1019175"/>
                  </a:lnTo>
                  <a:lnTo>
                    <a:pt x="1533525" y="990600"/>
                  </a:lnTo>
                  <a:lnTo>
                    <a:pt x="1447800" y="971550"/>
                  </a:lnTo>
                  <a:lnTo>
                    <a:pt x="1362075" y="962025"/>
                  </a:lnTo>
                  <a:lnTo>
                    <a:pt x="1276350" y="962025"/>
                  </a:lnTo>
                  <a:lnTo>
                    <a:pt x="1190625" y="971550"/>
                  </a:lnTo>
                  <a:lnTo>
                    <a:pt x="1114425" y="990600"/>
                  </a:lnTo>
                  <a:lnTo>
                    <a:pt x="1028700" y="1019175"/>
                  </a:lnTo>
                  <a:lnTo>
                    <a:pt x="952500" y="1057275"/>
                  </a:lnTo>
                  <a:lnTo>
                    <a:pt x="885825" y="1104900"/>
                  </a:lnTo>
                  <a:lnTo>
                    <a:pt x="809625" y="1152525"/>
                  </a:lnTo>
                  <a:lnTo>
                    <a:pt x="733425" y="1190625"/>
                  </a:lnTo>
                  <a:lnTo>
                    <a:pt x="657225" y="1219200"/>
                  </a:lnTo>
                  <a:lnTo>
                    <a:pt x="571500" y="1238250"/>
                  </a:lnTo>
                  <a:lnTo>
                    <a:pt x="485775" y="1247775"/>
                  </a:lnTo>
                  <a:lnTo>
                    <a:pt x="400050" y="1247775"/>
                  </a:lnTo>
                  <a:lnTo>
                    <a:pt x="314325" y="1238250"/>
                  </a:lnTo>
                  <a:lnTo>
                    <a:pt x="228600" y="1219200"/>
                  </a:lnTo>
                  <a:lnTo>
                    <a:pt x="152400" y="1190625"/>
                  </a:lnTo>
                  <a:lnTo>
                    <a:pt x="76200" y="1152525"/>
                  </a:lnTo>
                  <a:lnTo>
                    <a:pt x="0" y="1104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664450" y="1860550"/>
            <a:ext cx="138747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S011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(PURCHIS: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Purchasing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Group Statistics)</a:t>
            </a:r>
            <a:endParaRPr sz="750">
              <a:latin typeface="Arial"/>
              <a:cs typeface="Arial"/>
            </a:endParaRPr>
          </a:p>
          <a:p>
            <a:pPr marL="12700" marR="54737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Statistics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(SSOUR) </a:t>
            </a:r>
            <a:r>
              <a:rPr dirty="0" sz="750">
                <a:latin typeface="Arial"/>
                <a:cs typeface="Arial"/>
              </a:rPr>
              <a:t>Version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(VRSIO) </a:t>
            </a:r>
            <a:r>
              <a:rPr dirty="0" sz="750">
                <a:latin typeface="Arial"/>
                <a:cs typeface="Arial"/>
              </a:rPr>
              <a:t>Month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(SPMON) </a:t>
            </a:r>
            <a:r>
              <a:rPr dirty="0" sz="750">
                <a:latin typeface="Arial"/>
                <a:cs typeface="Arial"/>
              </a:rPr>
              <a:t>Day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(SPTAG) </a:t>
            </a:r>
            <a:r>
              <a:rPr dirty="0" sz="750">
                <a:latin typeface="Arial"/>
                <a:cs typeface="Arial"/>
              </a:rPr>
              <a:t>Week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(SPWOC)</a:t>
            </a:r>
            <a:endParaRPr sz="750">
              <a:latin typeface="Arial"/>
              <a:cs typeface="Arial"/>
            </a:endParaRPr>
          </a:p>
          <a:p>
            <a:pPr marL="12700" marR="12890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Posting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Period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(SPBUP)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(EKORG)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Group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(EKGRP) </a:t>
            </a:r>
            <a:r>
              <a:rPr dirty="0" sz="750">
                <a:latin typeface="Arial"/>
                <a:cs typeface="Arial"/>
              </a:rPr>
              <a:t>Vendor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(LIFNR)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510212" y="4783137"/>
            <a:ext cx="1771650" cy="1714500"/>
            <a:chOff x="5510212" y="4783137"/>
            <a:chExt cx="1771650" cy="1714500"/>
          </a:xfrm>
        </p:grpSpPr>
        <p:sp>
          <p:nvSpPr>
            <p:cNvPr id="27" name="object 27" descr=""/>
            <p:cNvSpPr/>
            <p:nvPr/>
          </p:nvSpPr>
          <p:spPr>
            <a:xfrm>
              <a:off x="5514975" y="4787900"/>
              <a:ext cx="1762125" cy="400050"/>
            </a:xfrm>
            <a:custGeom>
              <a:avLst/>
              <a:gdLst/>
              <a:ahLst/>
              <a:cxnLst/>
              <a:rect l="l" t="t" r="r" b="b"/>
              <a:pathLst>
                <a:path w="1762125" h="400050">
                  <a:moveTo>
                    <a:pt x="0" y="400050"/>
                  </a:moveTo>
                  <a:lnTo>
                    <a:pt x="1762125" y="400050"/>
                  </a:lnTo>
                  <a:lnTo>
                    <a:pt x="1762125" y="0"/>
                  </a:lnTo>
                  <a:lnTo>
                    <a:pt x="0" y="0"/>
                  </a:lnTo>
                  <a:lnTo>
                    <a:pt x="0" y="4000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14975" y="5159375"/>
              <a:ext cx="1762125" cy="1333500"/>
            </a:xfrm>
            <a:custGeom>
              <a:avLst/>
              <a:gdLst/>
              <a:ahLst/>
              <a:cxnLst/>
              <a:rect l="l" t="t" r="r" b="b"/>
              <a:pathLst>
                <a:path w="1762125" h="1333500">
                  <a:moveTo>
                    <a:pt x="1762125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66675" y="1238250"/>
                  </a:lnTo>
                  <a:lnTo>
                    <a:pt x="152400" y="1276350"/>
                  </a:lnTo>
                  <a:lnTo>
                    <a:pt x="228600" y="1304925"/>
                  </a:lnTo>
                  <a:lnTo>
                    <a:pt x="314325" y="1323975"/>
                  </a:lnTo>
                  <a:lnTo>
                    <a:pt x="400050" y="1333500"/>
                  </a:lnTo>
                  <a:lnTo>
                    <a:pt x="485775" y="1333500"/>
                  </a:lnTo>
                  <a:lnTo>
                    <a:pt x="571500" y="1323975"/>
                  </a:lnTo>
                  <a:lnTo>
                    <a:pt x="647700" y="1304925"/>
                  </a:lnTo>
                  <a:lnTo>
                    <a:pt x="733425" y="1276350"/>
                  </a:lnTo>
                  <a:lnTo>
                    <a:pt x="809625" y="1238250"/>
                  </a:lnTo>
                  <a:lnTo>
                    <a:pt x="876300" y="1190625"/>
                  </a:lnTo>
                  <a:lnTo>
                    <a:pt x="952500" y="1143000"/>
                  </a:lnTo>
                  <a:lnTo>
                    <a:pt x="1028700" y="1104900"/>
                  </a:lnTo>
                  <a:lnTo>
                    <a:pt x="1114425" y="1076325"/>
                  </a:lnTo>
                  <a:lnTo>
                    <a:pt x="1190625" y="1057275"/>
                  </a:lnTo>
                  <a:lnTo>
                    <a:pt x="1276350" y="1047750"/>
                  </a:lnTo>
                  <a:lnTo>
                    <a:pt x="1362075" y="1047750"/>
                  </a:lnTo>
                  <a:lnTo>
                    <a:pt x="1447800" y="1057275"/>
                  </a:lnTo>
                  <a:lnTo>
                    <a:pt x="1533525" y="1076325"/>
                  </a:lnTo>
                  <a:lnTo>
                    <a:pt x="1609725" y="1104900"/>
                  </a:lnTo>
                  <a:lnTo>
                    <a:pt x="1695450" y="1143000"/>
                  </a:lnTo>
                  <a:lnTo>
                    <a:pt x="1762125" y="1190625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514975" y="5159375"/>
              <a:ext cx="1762125" cy="1333500"/>
            </a:xfrm>
            <a:custGeom>
              <a:avLst/>
              <a:gdLst/>
              <a:ahLst/>
              <a:cxnLst/>
              <a:rect l="l" t="t" r="r" b="b"/>
              <a:pathLst>
                <a:path w="1762125" h="1333500">
                  <a:moveTo>
                    <a:pt x="0" y="1190625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1190625"/>
                  </a:lnTo>
                  <a:lnTo>
                    <a:pt x="1695450" y="1143000"/>
                  </a:lnTo>
                  <a:lnTo>
                    <a:pt x="1609725" y="1104900"/>
                  </a:lnTo>
                  <a:lnTo>
                    <a:pt x="1533525" y="1076325"/>
                  </a:lnTo>
                  <a:lnTo>
                    <a:pt x="1447800" y="1057275"/>
                  </a:lnTo>
                  <a:lnTo>
                    <a:pt x="1362075" y="1047750"/>
                  </a:lnTo>
                  <a:lnTo>
                    <a:pt x="1276350" y="1047750"/>
                  </a:lnTo>
                  <a:lnTo>
                    <a:pt x="1190625" y="1057275"/>
                  </a:lnTo>
                  <a:lnTo>
                    <a:pt x="1114425" y="1076325"/>
                  </a:lnTo>
                  <a:lnTo>
                    <a:pt x="1028700" y="1104900"/>
                  </a:lnTo>
                  <a:lnTo>
                    <a:pt x="952500" y="1143000"/>
                  </a:lnTo>
                  <a:lnTo>
                    <a:pt x="876300" y="1190625"/>
                  </a:lnTo>
                  <a:lnTo>
                    <a:pt x="809625" y="1238250"/>
                  </a:lnTo>
                  <a:lnTo>
                    <a:pt x="733425" y="1276350"/>
                  </a:lnTo>
                  <a:lnTo>
                    <a:pt x="647700" y="1304925"/>
                  </a:lnTo>
                  <a:lnTo>
                    <a:pt x="571500" y="1323975"/>
                  </a:lnTo>
                  <a:lnTo>
                    <a:pt x="485775" y="1333500"/>
                  </a:lnTo>
                  <a:lnTo>
                    <a:pt x="400050" y="1333500"/>
                  </a:lnTo>
                  <a:lnTo>
                    <a:pt x="314325" y="1323975"/>
                  </a:lnTo>
                  <a:lnTo>
                    <a:pt x="228600" y="1304925"/>
                  </a:lnTo>
                  <a:lnTo>
                    <a:pt x="152400" y="1276350"/>
                  </a:lnTo>
                  <a:lnTo>
                    <a:pt x="66675" y="1238250"/>
                  </a:lnTo>
                  <a:lnTo>
                    <a:pt x="0" y="11906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521325" y="4784725"/>
            <a:ext cx="1616710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S031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(Statistics:</a:t>
            </a:r>
            <a:r>
              <a:rPr dirty="0" sz="750" spc="5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Movements</a:t>
            </a:r>
            <a:r>
              <a:rPr dirty="0" sz="750" spc="5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for</a:t>
            </a:r>
            <a:r>
              <a:rPr dirty="0" sz="750" spc="6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current stocks)</a:t>
            </a:r>
            <a:endParaRPr sz="750">
              <a:latin typeface="Arial"/>
              <a:cs typeface="Arial"/>
            </a:endParaRPr>
          </a:p>
          <a:p>
            <a:pPr marL="12700" marR="776605">
              <a:lnSpc>
                <a:spcPct val="100000"/>
              </a:lnSpc>
              <a:spcBef>
                <a:spcPts val="300"/>
              </a:spcBef>
            </a:pPr>
            <a:r>
              <a:rPr dirty="0" sz="750">
                <a:latin typeface="Arial"/>
                <a:cs typeface="Arial"/>
              </a:rPr>
              <a:t>Statistics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(SSOUR) </a:t>
            </a:r>
            <a:r>
              <a:rPr dirty="0" sz="750">
                <a:latin typeface="Arial"/>
                <a:cs typeface="Arial"/>
              </a:rPr>
              <a:t>Version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(VRSIO) </a:t>
            </a:r>
            <a:r>
              <a:rPr dirty="0" sz="750">
                <a:latin typeface="Arial"/>
                <a:cs typeface="Arial"/>
              </a:rPr>
              <a:t>Month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(SPMON) </a:t>
            </a:r>
            <a:r>
              <a:rPr dirty="0" sz="750">
                <a:latin typeface="Arial"/>
                <a:cs typeface="Arial"/>
              </a:rPr>
              <a:t>Day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(SPTAG) </a:t>
            </a:r>
            <a:r>
              <a:rPr dirty="0" sz="750">
                <a:latin typeface="Arial"/>
                <a:cs typeface="Arial"/>
              </a:rPr>
              <a:t>Week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(SPWOC)</a:t>
            </a:r>
            <a:endParaRPr sz="750">
              <a:latin typeface="Arial"/>
              <a:cs typeface="Arial"/>
            </a:endParaRPr>
          </a:p>
          <a:p>
            <a:pPr marL="12700" marR="50990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Posting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Period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(SPBUP) </a:t>
            </a:r>
            <a:r>
              <a:rPr dirty="0" sz="750">
                <a:latin typeface="Arial"/>
                <a:cs typeface="Arial"/>
              </a:rPr>
              <a:t>Plant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(WERKS)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Material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(MATNR)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Storage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Loc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(LGORT)</a:t>
            </a:r>
            <a:endParaRPr sz="7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648575" y="4311650"/>
            <a:ext cx="1762125" cy="3714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S013</a:t>
            </a:r>
            <a:endParaRPr sz="750">
              <a:latin typeface="Arial"/>
              <a:cs typeface="Arial"/>
            </a:endParaRPr>
          </a:p>
          <a:p>
            <a:pPr marL="28575" marR="25844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(PURCHIS: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Statistics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for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Vendor Evaluation)</a:t>
            </a:r>
            <a:endParaRPr sz="750">
              <a:latin typeface="Arial"/>
              <a:cs typeface="Arial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7648575" y="4683125"/>
            <a:ext cx="1762125" cy="1762125"/>
          </a:xfrm>
          <a:custGeom>
            <a:avLst/>
            <a:gdLst/>
            <a:ahLst/>
            <a:cxnLst/>
            <a:rect l="l" t="t" r="r" b="b"/>
            <a:pathLst>
              <a:path w="1762125" h="1762125">
                <a:moveTo>
                  <a:pt x="0" y="1619250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1619250"/>
                </a:lnTo>
                <a:lnTo>
                  <a:pt x="1695450" y="1562100"/>
                </a:lnTo>
                <a:lnTo>
                  <a:pt x="1619250" y="1524000"/>
                </a:lnTo>
                <a:lnTo>
                  <a:pt x="1533525" y="1495425"/>
                </a:lnTo>
                <a:lnTo>
                  <a:pt x="1447800" y="1476375"/>
                </a:lnTo>
                <a:lnTo>
                  <a:pt x="1362075" y="1466850"/>
                </a:lnTo>
                <a:lnTo>
                  <a:pt x="1276350" y="1466850"/>
                </a:lnTo>
                <a:lnTo>
                  <a:pt x="1190625" y="1476375"/>
                </a:lnTo>
                <a:lnTo>
                  <a:pt x="1114425" y="1495425"/>
                </a:lnTo>
                <a:lnTo>
                  <a:pt x="1028700" y="1524000"/>
                </a:lnTo>
                <a:lnTo>
                  <a:pt x="952500" y="1562100"/>
                </a:lnTo>
                <a:lnTo>
                  <a:pt x="885825" y="1619250"/>
                </a:lnTo>
                <a:lnTo>
                  <a:pt x="733425" y="1695450"/>
                </a:lnTo>
                <a:lnTo>
                  <a:pt x="657225" y="1724025"/>
                </a:lnTo>
                <a:lnTo>
                  <a:pt x="571500" y="1752600"/>
                </a:lnTo>
                <a:lnTo>
                  <a:pt x="485775" y="1762125"/>
                </a:lnTo>
                <a:lnTo>
                  <a:pt x="400050" y="1762125"/>
                </a:lnTo>
                <a:lnTo>
                  <a:pt x="314325" y="1752600"/>
                </a:lnTo>
                <a:lnTo>
                  <a:pt x="228600" y="1724025"/>
                </a:lnTo>
                <a:lnTo>
                  <a:pt x="152400" y="1695450"/>
                </a:lnTo>
                <a:lnTo>
                  <a:pt x="0" y="1619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7664450" y="4679950"/>
            <a:ext cx="1263650" cy="1511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2354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Statistics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(SSOUR) </a:t>
            </a:r>
            <a:r>
              <a:rPr dirty="0" sz="750">
                <a:latin typeface="Arial"/>
                <a:cs typeface="Arial"/>
              </a:rPr>
              <a:t>Version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(VRSIO) </a:t>
            </a:r>
            <a:r>
              <a:rPr dirty="0" sz="750">
                <a:latin typeface="Arial"/>
                <a:cs typeface="Arial"/>
              </a:rPr>
              <a:t>Month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(SPMON) </a:t>
            </a:r>
            <a:r>
              <a:rPr dirty="0" sz="750">
                <a:latin typeface="Arial"/>
                <a:cs typeface="Arial"/>
              </a:rPr>
              <a:t>Day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(SPTAG) </a:t>
            </a:r>
            <a:r>
              <a:rPr dirty="0" sz="750">
                <a:latin typeface="Arial"/>
                <a:cs typeface="Arial"/>
              </a:rPr>
              <a:t>Week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(SPWOC)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Posting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Period</a:t>
            </a:r>
            <a:r>
              <a:rPr dirty="0" sz="750" spc="1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(SPBUP)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(EKORG)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1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Group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(EKGRP) </a:t>
            </a:r>
            <a:r>
              <a:rPr dirty="0" sz="750">
                <a:latin typeface="Arial"/>
                <a:cs typeface="Arial"/>
              </a:rPr>
              <a:t>Vendor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(LIFNR)</a:t>
            </a:r>
            <a:endParaRPr sz="750">
              <a:latin typeface="Arial"/>
              <a:cs typeface="Arial"/>
            </a:endParaRPr>
          </a:p>
          <a:p>
            <a:pPr marL="12700" marR="28130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Material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(MATNR) </a:t>
            </a:r>
            <a:r>
              <a:rPr dirty="0" sz="750">
                <a:latin typeface="Arial"/>
                <a:cs typeface="Arial"/>
              </a:rPr>
              <a:t>Plant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(WERKS)</a:t>
            </a:r>
            <a:endParaRPr sz="750">
              <a:latin typeface="Arial"/>
              <a:cs typeface="Arial"/>
            </a:endParaRPr>
          </a:p>
          <a:p>
            <a:pPr marL="12700" marR="12827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Cat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(ESOKZ) </a:t>
            </a: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(INFNR)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3450" y="2016125"/>
            <a:ext cx="2286000" cy="4695825"/>
          </a:xfrm>
          <a:custGeom>
            <a:avLst/>
            <a:gdLst/>
            <a:ahLst/>
            <a:cxnLst/>
            <a:rect l="l" t="t" r="r" b="b"/>
            <a:pathLst>
              <a:path w="2286000" h="4695825">
                <a:moveTo>
                  <a:pt x="0" y="4695825"/>
                </a:moveTo>
                <a:lnTo>
                  <a:pt x="2286000" y="4695825"/>
                </a:lnTo>
                <a:lnTo>
                  <a:pt x="2286000" y="0"/>
                </a:lnTo>
                <a:lnTo>
                  <a:pt x="0" y="0"/>
                </a:lnTo>
                <a:lnTo>
                  <a:pt x="0" y="46958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781425" y="2016125"/>
            <a:ext cx="2286000" cy="4695825"/>
          </a:xfrm>
          <a:custGeom>
            <a:avLst/>
            <a:gdLst/>
            <a:ahLst/>
            <a:cxnLst/>
            <a:rect l="l" t="t" r="r" b="b"/>
            <a:pathLst>
              <a:path w="2286000" h="4695825">
                <a:moveTo>
                  <a:pt x="0" y="4695825"/>
                </a:moveTo>
                <a:lnTo>
                  <a:pt x="2286000" y="4695825"/>
                </a:lnTo>
                <a:lnTo>
                  <a:pt x="2286000" y="0"/>
                </a:lnTo>
                <a:lnTo>
                  <a:pt x="0" y="0"/>
                </a:lnTo>
                <a:lnTo>
                  <a:pt x="0" y="46958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886450" y="2016125"/>
            <a:ext cx="3048000" cy="4695825"/>
          </a:xfrm>
          <a:custGeom>
            <a:avLst/>
            <a:gdLst/>
            <a:ahLst/>
            <a:cxnLst/>
            <a:rect l="l" t="t" r="r" b="b"/>
            <a:pathLst>
              <a:path w="3048000" h="4695825">
                <a:moveTo>
                  <a:pt x="762000" y="4695825"/>
                </a:moveTo>
                <a:lnTo>
                  <a:pt x="3048000" y="4695825"/>
                </a:lnTo>
                <a:lnTo>
                  <a:pt x="3048000" y="0"/>
                </a:lnTo>
                <a:lnTo>
                  <a:pt x="762000" y="0"/>
                </a:lnTo>
                <a:lnTo>
                  <a:pt x="762000" y="4695825"/>
                </a:lnTo>
                <a:close/>
              </a:path>
              <a:path w="3048000" h="4695825">
                <a:moveTo>
                  <a:pt x="990600" y="2209800"/>
                </a:moveTo>
                <a:lnTo>
                  <a:pt x="762000" y="2314575"/>
                </a:lnTo>
                <a:lnTo>
                  <a:pt x="981075" y="2438400"/>
                </a:lnTo>
              </a:path>
              <a:path w="3048000" h="4695825">
                <a:moveTo>
                  <a:pt x="0" y="2305050"/>
                </a:moveTo>
                <a:lnTo>
                  <a:pt x="990600" y="23145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397750" y="2260600"/>
            <a:ext cx="9112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latin typeface="Arial"/>
                <a:cs typeface="Arial"/>
              </a:rPr>
              <a:t>Accounting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59300" y="2241550"/>
            <a:ext cx="6070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Basic</a:t>
            </a:r>
            <a:r>
              <a:rPr dirty="0" sz="900" spc="-50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162050" y="2587625"/>
            <a:ext cx="3900804" cy="3053080"/>
            <a:chOff x="1162050" y="2587625"/>
            <a:chExt cx="3900804" cy="3053080"/>
          </a:xfrm>
        </p:grpSpPr>
        <p:sp>
          <p:nvSpPr>
            <p:cNvPr id="8" name="object 8" descr=""/>
            <p:cNvSpPr/>
            <p:nvPr/>
          </p:nvSpPr>
          <p:spPr>
            <a:xfrm>
              <a:off x="2943225" y="2673350"/>
              <a:ext cx="2114550" cy="2962275"/>
            </a:xfrm>
            <a:custGeom>
              <a:avLst/>
              <a:gdLst/>
              <a:ahLst/>
              <a:cxnLst/>
              <a:rect l="l" t="t" r="r" b="b"/>
              <a:pathLst>
                <a:path w="2114550" h="2962275">
                  <a:moveTo>
                    <a:pt x="0" y="114300"/>
                  </a:moveTo>
                  <a:lnTo>
                    <a:pt x="219075" y="257175"/>
                  </a:lnTo>
                  <a:lnTo>
                    <a:pt x="200025" y="0"/>
                  </a:lnTo>
                </a:path>
                <a:path w="2114550" h="2962275">
                  <a:moveTo>
                    <a:pt x="1057275" y="1647825"/>
                  </a:moveTo>
                  <a:lnTo>
                    <a:pt x="95250" y="57150"/>
                  </a:lnTo>
                </a:path>
                <a:path w="2114550" h="2962275">
                  <a:moveTo>
                    <a:pt x="1885950" y="542925"/>
                  </a:moveTo>
                  <a:lnTo>
                    <a:pt x="2000250" y="771525"/>
                  </a:lnTo>
                  <a:lnTo>
                    <a:pt x="2114550" y="542925"/>
                  </a:lnTo>
                </a:path>
                <a:path w="2114550" h="2962275">
                  <a:moveTo>
                    <a:pt x="2000250" y="1504950"/>
                  </a:moveTo>
                  <a:lnTo>
                    <a:pt x="2000250" y="542925"/>
                  </a:lnTo>
                </a:path>
                <a:path w="2114550" h="2962275">
                  <a:moveTo>
                    <a:pt x="190500" y="2962275"/>
                  </a:moveTo>
                  <a:lnTo>
                    <a:pt x="238125" y="2714625"/>
                  </a:lnTo>
                  <a:lnTo>
                    <a:pt x="9525" y="2819400"/>
                  </a:lnTo>
                </a:path>
                <a:path w="2114550" h="2962275">
                  <a:moveTo>
                    <a:pt x="1057275" y="1647825"/>
                  </a:moveTo>
                  <a:lnTo>
                    <a:pt x="95250" y="2886075"/>
                  </a:lnTo>
                </a:path>
                <a:path w="2114550" h="2962275">
                  <a:moveTo>
                    <a:pt x="2114550" y="2676525"/>
                  </a:moveTo>
                  <a:lnTo>
                    <a:pt x="2000250" y="2447925"/>
                  </a:lnTo>
                  <a:lnTo>
                    <a:pt x="1885950" y="2676525"/>
                  </a:lnTo>
                </a:path>
                <a:path w="2114550" h="2962275">
                  <a:moveTo>
                    <a:pt x="2000250" y="2143125"/>
                  </a:moveTo>
                  <a:lnTo>
                    <a:pt x="2000250" y="26765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62050" y="2587625"/>
              <a:ext cx="1876425" cy="285750"/>
            </a:xfrm>
            <a:custGeom>
              <a:avLst/>
              <a:gdLst/>
              <a:ahLst/>
              <a:cxnLst/>
              <a:rect l="l" t="t" r="r" b="b"/>
              <a:pathLst>
                <a:path w="1876425" h="285750">
                  <a:moveTo>
                    <a:pt x="1876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1876425" y="285750"/>
                  </a:lnTo>
                  <a:lnTo>
                    <a:pt x="1876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606550" y="2270125"/>
            <a:ext cx="9213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Purchasing</a:t>
            </a:r>
            <a:r>
              <a:rPr dirty="0" sz="900" spc="25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562350" y="1101725"/>
            <a:ext cx="2505075" cy="457200"/>
            <a:chOff x="3562350" y="1101725"/>
            <a:chExt cx="2505075" cy="457200"/>
          </a:xfrm>
        </p:grpSpPr>
        <p:sp>
          <p:nvSpPr>
            <p:cNvPr id="12" name="object 12" descr=""/>
            <p:cNvSpPr/>
            <p:nvPr/>
          </p:nvSpPr>
          <p:spPr>
            <a:xfrm>
              <a:off x="3676650" y="1216025"/>
              <a:ext cx="2390775" cy="342900"/>
            </a:xfrm>
            <a:custGeom>
              <a:avLst/>
              <a:gdLst/>
              <a:ahLst/>
              <a:cxnLst/>
              <a:rect l="l" t="t" r="r" b="b"/>
              <a:pathLst>
                <a:path w="2390775" h="342900">
                  <a:moveTo>
                    <a:pt x="2390775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390775" y="342900"/>
                  </a:lnTo>
                  <a:lnTo>
                    <a:pt x="239077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562350" y="1101725"/>
              <a:ext cx="2390775" cy="342900"/>
            </a:xfrm>
            <a:custGeom>
              <a:avLst/>
              <a:gdLst/>
              <a:ahLst/>
              <a:cxnLst/>
              <a:rect l="l" t="t" r="r" b="b"/>
              <a:pathLst>
                <a:path w="2390775" h="342900">
                  <a:moveTo>
                    <a:pt x="2390775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390775" y="342900"/>
                  </a:lnTo>
                  <a:lnTo>
                    <a:pt x="2390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562350" y="1101725"/>
            <a:ext cx="2390775" cy="3429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7175">
              <a:lnSpc>
                <a:spcPct val="100000"/>
              </a:lnSpc>
              <a:spcBef>
                <a:spcPts val="400"/>
              </a:spcBef>
            </a:pPr>
            <a:r>
              <a:rPr dirty="0" sz="1400" b="1">
                <a:latin typeface="Arial"/>
                <a:cs typeface="Arial"/>
              </a:rPr>
              <a:t>SAP</a:t>
            </a:r>
            <a:r>
              <a:rPr dirty="0" sz="1400" spc="8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MM</a:t>
            </a:r>
            <a:r>
              <a:rPr dirty="0" sz="1400" spc="9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-</a:t>
            </a:r>
            <a:r>
              <a:rPr dirty="0" sz="1400" spc="9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Master</a:t>
            </a:r>
            <a:r>
              <a:rPr dirty="0" sz="1400" spc="8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62050" y="2587625"/>
            <a:ext cx="1876425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75"/>
              </a:spcBef>
            </a:pPr>
            <a:r>
              <a:rPr dirty="0" sz="800" spc="-20" b="1">
                <a:latin typeface="Arial"/>
                <a:cs typeface="Arial"/>
              </a:rPr>
              <a:t>MARC</a:t>
            </a:r>
            <a:endParaRPr sz="8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15"/>
              </a:spcBef>
            </a:pPr>
            <a:r>
              <a:rPr dirty="0" sz="800" spc="10" b="1">
                <a:latin typeface="Arial"/>
                <a:cs typeface="Arial"/>
              </a:rPr>
              <a:t>(Material</a:t>
            </a:r>
            <a:r>
              <a:rPr dirty="0" sz="800" spc="13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Master:</a:t>
            </a:r>
            <a:r>
              <a:rPr dirty="0" sz="800" spc="13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C</a:t>
            </a:r>
            <a:r>
              <a:rPr dirty="0" sz="800" spc="14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Segment)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157287" y="2868612"/>
            <a:ext cx="1885950" cy="409575"/>
            <a:chOff x="1157287" y="2868612"/>
            <a:chExt cx="1885950" cy="409575"/>
          </a:xfrm>
        </p:grpSpPr>
        <p:sp>
          <p:nvSpPr>
            <p:cNvPr id="17" name="object 17" descr=""/>
            <p:cNvSpPr/>
            <p:nvPr/>
          </p:nvSpPr>
          <p:spPr>
            <a:xfrm>
              <a:off x="1162050" y="2873375"/>
              <a:ext cx="1876425" cy="400050"/>
            </a:xfrm>
            <a:custGeom>
              <a:avLst/>
              <a:gdLst/>
              <a:ahLst/>
              <a:cxnLst/>
              <a:rect l="l" t="t" r="r" b="b"/>
              <a:pathLst>
                <a:path w="1876425" h="400050">
                  <a:moveTo>
                    <a:pt x="1876425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152400" y="381000"/>
                  </a:lnTo>
                  <a:lnTo>
                    <a:pt x="304800" y="400050"/>
                  </a:lnTo>
                  <a:lnTo>
                    <a:pt x="619125" y="400050"/>
                  </a:lnTo>
                  <a:lnTo>
                    <a:pt x="781050" y="381000"/>
                  </a:lnTo>
                  <a:lnTo>
                    <a:pt x="933450" y="352425"/>
                  </a:lnTo>
                  <a:lnTo>
                    <a:pt x="1095375" y="323850"/>
                  </a:lnTo>
                  <a:lnTo>
                    <a:pt x="1247775" y="304800"/>
                  </a:lnTo>
                  <a:lnTo>
                    <a:pt x="1571625" y="304800"/>
                  </a:lnTo>
                  <a:lnTo>
                    <a:pt x="1724025" y="323850"/>
                  </a:lnTo>
                  <a:lnTo>
                    <a:pt x="1876425" y="352425"/>
                  </a:lnTo>
                  <a:lnTo>
                    <a:pt x="1876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62050" y="2873375"/>
              <a:ext cx="1876425" cy="400050"/>
            </a:xfrm>
            <a:custGeom>
              <a:avLst/>
              <a:gdLst/>
              <a:ahLst/>
              <a:cxnLst/>
              <a:rect l="l" t="t" r="r" b="b"/>
              <a:pathLst>
                <a:path w="1876425" h="400050">
                  <a:moveTo>
                    <a:pt x="0" y="352425"/>
                  </a:moveTo>
                  <a:lnTo>
                    <a:pt x="0" y="0"/>
                  </a:lnTo>
                  <a:lnTo>
                    <a:pt x="1876425" y="0"/>
                  </a:lnTo>
                  <a:lnTo>
                    <a:pt x="1876425" y="352425"/>
                  </a:lnTo>
                  <a:lnTo>
                    <a:pt x="1724025" y="323850"/>
                  </a:lnTo>
                  <a:lnTo>
                    <a:pt x="1571625" y="304800"/>
                  </a:lnTo>
                  <a:lnTo>
                    <a:pt x="1247775" y="304800"/>
                  </a:lnTo>
                  <a:lnTo>
                    <a:pt x="1095375" y="323850"/>
                  </a:lnTo>
                  <a:lnTo>
                    <a:pt x="933450" y="352425"/>
                  </a:lnTo>
                  <a:lnTo>
                    <a:pt x="781050" y="381000"/>
                  </a:lnTo>
                  <a:lnTo>
                    <a:pt x="619125" y="400050"/>
                  </a:lnTo>
                  <a:lnTo>
                    <a:pt x="304800" y="400050"/>
                  </a:lnTo>
                  <a:lnTo>
                    <a:pt x="152400" y="381000"/>
                  </a:lnTo>
                  <a:lnTo>
                    <a:pt x="0" y="352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168400" y="2879725"/>
            <a:ext cx="96837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204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(MATNR) </a:t>
            </a:r>
            <a:r>
              <a:rPr dirty="0" sz="800" spc="-30">
                <a:latin typeface="Arial"/>
                <a:cs typeface="Arial"/>
              </a:rPr>
              <a:t>Plant</a:t>
            </a:r>
            <a:r>
              <a:rPr dirty="0" sz="800" spc="-10">
                <a:latin typeface="Arial"/>
                <a:cs typeface="Arial"/>
              </a:rPr>
              <a:t> (WERKS)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157287" y="5411787"/>
            <a:ext cx="1885950" cy="295275"/>
            <a:chOff x="1157287" y="5411787"/>
            <a:chExt cx="1885950" cy="295275"/>
          </a:xfrm>
        </p:grpSpPr>
        <p:sp>
          <p:nvSpPr>
            <p:cNvPr id="21" name="object 21" descr=""/>
            <p:cNvSpPr/>
            <p:nvPr/>
          </p:nvSpPr>
          <p:spPr>
            <a:xfrm>
              <a:off x="1162050" y="5416550"/>
              <a:ext cx="1876425" cy="285750"/>
            </a:xfrm>
            <a:custGeom>
              <a:avLst/>
              <a:gdLst/>
              <a:ahLst/>
              <a:cxnLst/>
              <a:rect l="l" t="t" r="r" b="b"/>
              <a:pathLst>
                <a:path w="1876425" h="285750">
                  <a:moveTo>
                    <a:pt x="1876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1876425" y="285750"/>
                  </a:lnTo>
                  <a:lnTo>
                    <a:pt x="1876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62050" y="5416550"/>
              <a:ext cx="1876425" cy="285750"/>
            </a:xfrm>
            <a:custGeom>
              <a:avLst/>
              <a:gdLst/>
              <a:ahLst/>
              <a:cxnLst/>
              <a:rect l="l" t="t" r="r" b="b"/>
              <a:pathLst>
                <a:path w="1876425" h="285750">
                  <a:moveTo>
                    <a:pt x="0" y="285750"/>
                  </a:moveTo>
                  <a:lnTo>
                    <a:pt x="1876425" y="285750"/>
                  </a:lnTo>
                  <a:lnTo>
                    <a:pt x="18764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166812" y="5422900"/>
            <a:ext cx="1866900" cy="2749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MLAN</a:t>
            </a:r>
            <a:endParaRPr sz="8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5"/>
              </a:spcBef>
            </a:pPr>
            <a:r>
              <a:rPr dirty="0" sz="800" spc="10" b="1">
                <a:latin typeface="Arial"/>
                <a:cs typeface="Arial"/>
              </a:rPr>
              <a:t>(Tax</a:t>
            </a:r>
            <a:r>
              <a:rPr dirty="0" sz="800" spc="7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Classification:</a:t>
            </a:r>
            <a:r>
              <a:rPr dirty="0" sz="800" spc="7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Material)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157287" y="5678487"/>
            <a:ext cx="1885950" cy="409575"/>
            <a:chOff x="1157287" y="5678487"/>
            <a:chExt cx="1885950" cy="409575"/>
          </a:xfrm>
        </p:grpSpPr>
        <p:sp>
          <p:nvSpPr>
            <p:cNvPr id="25" name="object 25" descr=""/>
            <p:cNvSpPr/>
            <p:nvPr/>
          </p:nvSpPr>
          <p:spPr>
            <a:xfrm>
              <a:off x="1162050" y="5683250"/>
              <a:ext cx="1876425" cy="400050"/>
            </a:xfrm>
            <a:custGeom>
              <a:avLst/>
              <a:gdLst/>
              <a:ahLst/>
              <a:cxnLst/>
              <a:rect l="l" t="t" r="r" b="b"/>
              <a:pathLst>
                <a:path w="1876425" h="400050">
                  <a:moveTo>
                    <a:pt x="1876425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152400" y="371475"/>
                  </a:lnTo>
                  <a:lnTo>
                    <a:pt x="304800" y="390525"/>
                  </a:lnTo>
                  <a:lnTo>
                    <a:pt x="466725" y="400050"/>
                  </a:lnTo>
                  <a:lnTo>
                    <a:pt x="619125" y="390525"/>
                  </a:lnTo>
                  <a:lnTo>
                    <a:pt x="781050" y="371475"/>
                  </a:lnTo>
                  <a:lnTo>
                    <a:pt x="933450" y="342900"/>
                  </a:lnTo>
                  <a:lnTo>
                    <a:pt x="1095375" y="314325"/>
                  </a:lnTo>
                  <a:lnTo>
                    <a:pt x="1247775" y="304800"/>
                  </a:lnTo>
                  <a:lnTo>
                    <a:pt x="1409700" y="295275"/>
                  </a:lnTo>
                  <a:lnTo>
                    <a:pt x="1571625" y="304800"/>
                  </a:lnTo>
                  <a:lnTo>
                    <a:pt x="1724025" y="314325"/>
                  </a:lnTo>
                  <a:lnTo>
                    <a:pt x="1876425" y="342900"/>
                  </a:lnTo>
                  <a:lnTo>
                    <a:pt x="1876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62050" y="5683250"/>
              <a:ext cx="1876425" cy="400050"/>
            </a:xfrm>
            <a:custGeom>
              <a:avLst/>
              <a:gdLst/>
              <a:ahLst/>
              <a:cxnLst/>
              <a:rect l="l" t="t" r="r" b="b"/>
              <a:pathLst>
                <a:path w="1876425" h="400050">
                  <a:moveTo>
                    <a:pt x="0" y="342900"/>
                  </a:moveTo>
                  <a:lnTo>
                    <a:pt x="0" y="0"/>
                  </a:lnTo>
                  <a:lnTo>
                    <a:pt x="1876425" y="0"/>
                  </a:lnTo>
                  <a:lnTo>
                    <a:pt x="1876425" y="342900"/>
                  </a:lnTo>
                  <a:lnTo>
                    <a:pt x="1724025" y="314325"/>
                  </a:lnTo>
                  <a:lnTo>
                    <a:pt x="1571625" y="304800"/>
                  </a:lnTo>
                  <a:lnTo>
                    <a:pt x="1409700" y="295275"/>
                  </a:lnTo>
                  <a:lnTo>
                    <a:pt x="1247775" y="304800"/>
                  </a:lnTo>
                  <a:lnTo>
                    <a:pt x="1095375" y="314325"/>
                  </a:lnTo>
                  <a:lnTo>
                    <a:pt x="933450" y="342900"/>
                  </a:lnTo>
                  <a:lnTo>
                    <a:pt x="781050" y="371475"/>
                  </a:lnTo>
                  <a:lnTo>
                    <a:pt x="619125" y="390525"/>
                  </a:lnTo>
                  <a:lnTo>
                    <a:pt x="466725" y="400050"/>
                  </a:lnTo>
                  <a:lnTo>
                    <a:pt x="304800" y="390525"/>
                  </a:lnTo>
                  <a:lnTo>
                    <a:pt x="152400" y="371475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168400" y="5680075"/>
            <a:ext cx="968375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(MATNR) </a:t>
            </a:r>
            <a:r>
              <a:rPr dirty="0" sz="800">
                <a:latin typeface="Arial"/>
                <a:cs typeface="Arial"/>
              </a:rPr>
              <a:t>Country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(ALAND)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000500" y="2578100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28575">
              <a:lnSpc>
                <a:spcPts val="930"/>
              </a:lnSpc>
              <a:spcBef>
                <a:spcPts val="175"/>
              </a:spcBef>
            </a:pPr>
            <a:r>
              <a:rPr dirty="0" sz="800" spc="-20" b="1">
                <a:latin typeface="Arial"/>
                <a:cs typeface="Arial"/>
              </a:rPr>
              <a:t>MAKT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ts val="930"/>
              </a:lnSpc>
            </a:pPr>
            <a:r>
              <a:rPr dirty="0" sz="800" spc="10" b="1">
                <a:latin typeface="Arial"/>
                <a:cs typeface="Arial"/>
              </a:rPr>
              <a:t>(Material</a:t>
            </a:r>
            <a:r>
              <a:rPr dirty="0" sz="800" spc="20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Descriptions)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3995737" y="2859087"/>
            <a:ext cx="1895475" cy="409575"/>
            <a:chOff x="3995737" y="2859087"/>
            <a:chExt cx="1895475" cy="409575"/>
          </a:xfrm>
        </p:grpSpPr>
        <p:sp>
          <p:nvSpPr>
            <p:cNvPr id="30" name="object 30" descr=""/>
            <p:cNvSpPr/>
            <p:nvPr/>
          </p:nvSpPr>
          <p:spPr>
            <a:xfrm>
              <a:off x="4000500" y="2863850"/>
              <a:ext cx="1885950" cy="400050"/>
            </a:xfrm>
            <a:custGeom>
              <a:avLst/>
              <a:gdLst/>
              <a:ahLst/>
              <a:cxnLst/>
              <a:rect l="l" t="t" r="r" b="b"/>
              <a:pathLst>
                <a:path w="1885950" h="400050">
                  <a:moveTo>
                    <a:pt x="188595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161925" y="381000"/>
                  </a:lnTo>
                  <a:lnTo>
                    <a:pt x="314325" y="400050"/>
                  </a:lnTo>
                  <a:lnTo>
                    <a:pt x="638175" y="400050"/>
                  </a:lnTo>
                  <a:lnTo>
                    <a:pt x="790575" y="381000"/>
                  </a:lnTo>
                  <a:lnTo>
                    <a:pt x="942975" y="352425"/>
                  </a:lnTo>
                  <a:lnTo>
                    <a:pt x="1104900" y="323850"/>
                  </a:lnTo>
                  <a:lnTo>
                    <a:pt x="1257300" y="304800"/>
                  </a:lnTo>
                  <a:lnTo>
                    <a:pt x="1581150" y="304800"/>
                  </a:lnTo>
                  <a:lnTo>
                    <a:pt x="1733550" y="323850"/>
                  </a:lnTo>
                  <a:lnTo>
                    <a:pt x="1885950" y="352425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000500" y="2863850"/>
              <a:ext cx="1885950" cy="400050"/>
            </a:xfrm>
            <a:custGeom>
              <a:avLst/>
              <a:gdLst/>
              <a:ahLst/>
              <a:cxnLst/>
              <a:rect l="l" t="t" r="r" b="b"/>
              <a:pathLst>
                <a:path w="1885950" h="400050">
                  <a:moveTo>
                    <a:pt x="0" y="352425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352425"/>
                  </a:lnTo>
                  <a:lnTo>
                    <a:pt x="1733550" y="323850"/>
                  </a:lnTo>
                  <a:lnTo>
                    <a:pt x="1581150" y="304800"/>
                  </a:lnTo>
                  <a:lnTo>
                    <a:pt x="1257300" y="304800"/>
                  </a:lnTo>
                  <a:lnTo>
                    <a:pt x="1104900" y="323850"/>
                  </a:lnTo>
                  <a:lnTo>
                    <a:pt x="942975" y="352425"/>
                  </a:lnTo>
                  <a:lnTo>
                    <a:pt x="790575" y="381000"/>
                  </a:lnTo>
                  <a:lnTo>
                    <a:pt x="638175" y="400050"/>
                  </a:lnTo>
                  <a:lnTo>
                    <a:pt x="314325" y="400050"/>
                  </a:lnTo>
                  <a:lnTo>
                    <a:pt x="161925" y="381000"/>
                  </a:lnTo>
                  <a:lnTo>
                    <a:pt x="0" y="352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4016375" y="2870200"/>
            <a:ext cx="96837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204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(MATNR) </a:t>
            </a:r>
            <a:r>
              <a:rPr dirty="0" sz="800" spc="-10">
                <a:latin typeface="Arial"/>
                <a:cs typeface="Arial"/>
              </a:rPr>
              <a:t>Language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(SPRAS)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000500" y="4183062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ts val="930"/>
              </a:lnSpc>
              <a:spcBef>
                <a:spcPts val="135"/>
              </a:spcBef>
            </a:pPr>
            <a:r>
              <a:rPr dirty="0" sz="800" spc="-20" b="1">
                <a:latin typeface="Arial"/>
                <a:cs typeface="Arial"/>
              </a:rPr>
              <a:t>MARA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ts val="930"/>
              </a:lnSpc>
            </a:pPr>
            <a:r>
              <a:rPr dirty="0" sz="800" b="1">
                <a:latin typeface="Arial"/>
                <a:cs typeface="Arial"/>
              </a:rPr>
              <a:t>(Material</a:t>
            </a:r>
            <a:r>
              <a:rPr dirty="0" sz="800" spc="18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Master:</a:t>
            </a:r>
            <a:r>
              <a:rPr dirty="0" sz="800" spc="18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General</a:t>
            </a:r>
            <a:r>
              <a:rPr dirty="0" sz="800" spc="18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Data)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995737" y="4459287"/>
            <a:ext cx="1895475" cy="409575"/>
            <a:chOff x="3995737" y="4459287"/>
            <a:chExt cx="1895475" cy="409575"/>
          </a:xfrm>
        </p:grpSpPr>
        <p:sp>
          <p:nvSpPr>
            <p:cNvPr id="35" name="object 35" descr=""/>
            <p:cNvSpPr/>
            <p:nvPr/>
          </p:nvSpPr>
          <p:spPr>
            <a:xfrm>
              <a:off x="4000500" y="4464050"/>
              <a:ext cx="1885950" cy="400050"/>
            </a:xfrm>
            <a:custGeom>
              <a:avLst/>
              <a:gdLst/>
              <a:ahLst/>
              <a:cxnLst/>
              <a:rect l="l" t="t" r="r" b="b"/>
              <a:pathLst>
                <a:path w="1885950" h="400050">
                  <a:moveTo>
                    <a:pt x="188595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161925" y="381000"/>
                  </a:lnTo>
                  <a:lnTo>
                    <a:pt x="314325" y="400050"/>
                  </a:lnTo>
                  <a:lnTo>
                    <a:pt x="638175" y="400050"/>
                  </a:lnTo>
                  <a:lnTo>
                    <a:pt x="790575" y="381000"/>
                  </a:lnTo>
                  <a:lnTo>
                    <a:pt x="942975" y="352425"/>
                  </a:lnTo>
                  <a:lnTo>
                    <a:pt x="1104900" y="323850"/>
                  </a:lnTo>
                  <a:lnTo>
                    <a:pt x="1257300" y="304800"/>
                  </a:lnTo>
                  <a:lnTo>
                    <a:pt x="1581150" y="304800"/>
                  </a:lnTo>
                  <a:lnTo>
                    <a:pt x="1733550" y="323850"/>
                  </a:lnTo>
                  <a:lnTo>
                    <a:pt x="1885950" y="352425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000500" y="4464050"/>
              <a:ext cx="1885950" cy="400050"/>
            </a:xfrm>
            <a:custGeom>
              <a:avLst/>
              <a:gdLst/>
              <a:ahLst/>
              <a:cxnLst/>
              <a:rect l="l" t="t" r="r" b="b"/>
              <a:pathLst>
                <a:path w="1885950" h="400050">
                  <a:moveTo>
                    <a:pt x="0" y="352425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352425"/>
                  </a:lnTo>
                  <a:lnTo>
                    <a:pt x="1733550" y="323850"/>
                  </a:lnTo>
                  <a:lnTo>
                    <a:pt x="1581150" y="304800"/>
                  </a:lnTo>
                  <a:lnTo>
                    <a:pt x="1257300" y="304800"/>
                  </a:lnTo>
                  <a:lnTo>
                    <a:pt x="1104900" y="323850"/>
                  </a:lnTo>
                  <a:lnTo>
                    <a:pt x="942975" y="352425"/>
                  </a:lnTo>
                  <a:lnTo>
                    <a:pt x="790575" y="381000"/>
                  </a:lnTo>
                  <a:lnTo>
                    <a:pt x="638175" y="400050"/>
                  </a:lnTo>
                  <a:lnTo>
                    <a:pt x="314325" y="400050"/>
                  </a:lnTo>
                  <a:lnTo>
                    <a:pt x="161925" y="381000"/>
                  </a:lnTo>
                  <a:lnTo>
                    <a:pt x="0" y="352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4016375" y="4470400"/>
            <a:ext cx="9683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(MATNR)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4000500" y="5349875"/>
            <a:ext cx="1885950" cy="285750"/>
          </a:xfrm>
          <a:custGeom>
            <a:avLst/>
            <a:gdLst/>
            <a:ahLst/>
            <a:cxnLst/>
            <a:rect l="l" t="t" r="r" b="b"/>
            <a:pathLst>
              <a:path w="1885950" h="285750">
                <a:moveTo>
                  <a:pt x="0" y="285750"/>
                </a:moveTo>
                <a:lnTo>
                  <a:pt x="1885950" y="285750"/>
                </a:lnTo>
                <a:lnTo>
                  <a:pt x="18859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4005262" y="5356225"/>
            <a:ext cx="1876425" cy="2749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MARM</a:t>
            </a:r>
            <a:endParaRPr sz="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(Units</a:t>
            </a:r>
            <a:r>
              <a:rPr dirty="0" sz="800" spc="17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of</a:t>
            </a:r>
            <a:r>
              <a:rPr dirty="0" sz="800" spc="17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Measure)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3995737" y="5611812"/>
            <a:ext cx="1895475" cy="409575"/>
            <a:chOff x="3995737" y="5611812"/>
            <a:chExt cx="1895475" cy="409575"/>
          </a:xfrm>
        </p:grpSpPr>
        <p:sp>
          <p:nvSpPr>
            <p:cNvPr id="41" name="object 41" descr=""/>
            <p:cNvSpPr/>
            <p:nvPr/>
          </p:nvSpPr>
          <p:spPr>
            <a:xfrm>
              <a:off x="4000500" y="5616575"/>
              <a:ext cx="1885950" cy="400050"/>
            </a:xfrm>
            <a:custGeom>
              <a:avLst/>
              <a:gdLst/>
              <a:ahLst/>
              <a:cxnLst/>
              <a:rect l="l" t="t" r="r" b="b"/>
              <a:pathLst>
                <a:path w="1885950" h="400050">
                  <a:moveTo>
                    <a:pt x="188595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161925" y="371475"/>
                  </a:lnTo>
                  <a:lnTo>
                    <a:pt x="314325" y="390525"/>
                  </a:lnTo>
                  <a:lnTo>
                    <a:pt x="476250" y="400050"/>
                  </a:lnTo>
                  <a:lnTo>
                    <a:pt x="638175" y="390525"/>
                  </a:lnTo>
                  <a:lnTo>
                    <a:pt x="790575" y="371475"/>
                  </a:lnTo>
                  <a:lnTo>
                    <a:pt x="942975" y="342900"/>
                  </a:lnTo>
                  <a:lnTo>
                    <a:pt x="1104900" y="314325"/>
                  </a:lnTo>
                  <a:lnTo>
                    <a:pt x="1257300" y="304800"/>
                  </a:lnTo>
                  <a:lnTo>
                    <a:pt x="1419225" y="295275"/>
                  </a:lnTo>
                  <a:lnTo>
                    <a:pt x="1581150" y="304800"/>
                  </a:lnTo>
                  <a:lnTo>
                    <a:pt x="1733550" y="314325"/>
                  </a:lnTo>
                  <a:lnTo>
                    <a:pt x="1885950" y="342900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000500" y="5616575"/>
              <a:ext cx="1885950" cy="400050"/>
            </a:xfrm>
            <a:custGeom>
              <a:avLst/>
              <a:gdLst/>
              <a:ahLst/>
              <a:cxnLst/>
              <a:rect l="l" t="t" r="r" b="b"/>
              <a:pathLst>
                <a:path w="1885950" h="400050">
                  <a:moveTo>
                    <a:pt x="0" y="342900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342900"/>
                  </a:lnTo>
                  <a:lnTo>
                    <a:pt x="1733550" y="314325"/>
                  </a:lnTo>
                  <a:lnTo>
                    <a:pt x="1581150" y="304800"/>
                  </a:lnTo>
                  <a:lnTo>
                    <a:pt x="1419225" y="295275"/>
                  </a:lnTo>
                  <a:lnTo>
                    <a:pt x="1257300" y="304800"/>
                  </a:lnTo>
                  <a:lnTo>
                    <a:pt x="1104900" y="314325"/>
                  </a:lnTo>
                  <a:lnTo>
                    <a:pt x="942975" y="342900"/>
                  </a:lnTo>
                  <a:lnTo>
                    <a:pt x="790575" y="371475"/>
                  </a:lnTo>
                  <a:lnTo>
                    <a:pt x="638175" y="390525"/>
                  </a:lnTo>
                  <a:lnTo>
                    <a:pt x="476250" y="400050"/>
                  </a:lnTo>
                  <a:lnTo>
                    <a:pt x="314325" y="390525"/>
                  </a:lnTo>
                  <a:lnTo>
                    <a:pt x="161925" y="371475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4016375" y="5613400"/>
            <a:ext cx="968375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(MATNR) </a:t>
            </a:r>
            <a:r>
              <a:rPr dirty="0" sz="800" spc="-30">
                <a:latin typeface="Arial"/>
                <a:cs typeface="Arial"/>
              </a:rPr>
              <a:t>UOM</a:t>
            </a:r>
            <a:r>
              <a:rPr dirty="0" sz="800" spc="-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(MEINH)</a:t>
            </a:r>
            <a:endParaRPr sz="80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877050" y="4183062"/>
            <a:ext cx="1876425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667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210"/>
              </a:spcBef>
            </a:pPr>
            <a:r>
              <a:rPr dirty="0" sz="800" spc="-20" b="1">
                <a:latin typeface="Arial"/>
                <a:cs typeface="Arial"/>
              </a:rPr>
              <a:t>MBEW</a:t>
            </a:r>
            <a:endParaRPr sz="8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(Material</a:t>
            </a:r>
            <a:r>
              <a:rPr dirty="0" sz="800" spc="204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Valuation)</a:t>
            </a:r>
            <a:endParaRPr sz="800">
              <a:latin typeface="Arial"/>
              <a:cs typeface="Arial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6877050" y="4473575"/>
            <a:ext cx="1876425" cy="628650"/>
          </a:xfrm>
          <a:custGeom>
            <a:avLst/>
            <a:gdLst/>
            <a:ahLst/>
            <a:cxnLst/>
            <a:rect l="l" t="t" r="r" b="b"/>
            <a:pathLst>
              <a:path w="1876425" h="628650">
                <a:moveTo>
                  <a:pt x="0" y="552450"/>
                </a:moveTo>
                <a:lnTo>
                  <a:pt x="0" y="0"/>
                </a:lnTo>
                <a:lnTo>
                  <a:pt x="1876425" y="0"/>
                </a:lnTo>
                <a:lnTo>
                  <a:pt x="1876425" y="552450"/>
                </a:lnTo>
                <a:lnTo>
                  <a:pt x="1647825" y="495300"/>
                </a:lnTo>
                <a:lnTo>
                  <a:pt x="1524000" y="476250"/>
                </a:lnTo>
                <a:lnTo>
                  <a:pt x="1285875" y="476250"/>
                </a:lnTo>
                <a:lnTo>
                  <a:pt x="1171575" y="495300"/>
                </a:lnTo>
                <a:lnTo>
                  <a:pt x="1057275" y="523875"/>
                </a:lnTo>
                <a:lnTo>
                  <a:pt x="933450" y="552450"/>
                </a:lnTo>
                <a:lnTo>
                  <a:pt x="819150" y="590550"/>
                </a:lnTo>
                <a:lnTo>
                  <a:pt x="590550" y="628650"/>
                </a:lnTo>
                <a:lnTo>
                  <a:pt x="342900" y="628650"/>
                </a:lnTo>
                <a:lnTo>
                  <a:pt x="228600" y="609600"/>
                </a:lnTo>
                <a:lnTo>
                  <a:pt x="104775" y="590550"/>
                </a:lnTo>
                <a:lnTo>
                  <a:pt x="0" y="5524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6883400" y="4479925"/>
            <a:ext cx="1206500" cy="38925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ct val="97700"/>
              </a:lnSpc>
              <a:spcBef>
                <a:spcPts val="145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(MATNR) </a:t>
            </a:r>
            <a:r>
              <a:rPr dirty="0" sz="800">
                <a:latin typeface="Arial"/>
                <a:cs typeface="Arial"/>
              </a:rPr>
              <a:t>Valuation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Area</a:t>
            </a:r>
            <a:r>
              <a:rPr dirty="0" sz="800" spc="254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(BWKEY) Valuation</a:t>
            </a:r>
            <a:r>
              <a:rPr dirty="0" sz="800">
                <a:latin typeface="Arial"/>
                <a:cs typeface="Arial"/>
              </a:rPr>
              <a:t> Type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(BWTAR)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04925" y="873125"/>
            <a:ext cx="8191500" cy="6096000"/>
          </a:xfrm>
          <a:custGeom>
            <a:avLst/>
            <a:gdLst/>
            <a:ahLst/>
            <a:cxnLst/>
            <a:rect l="l" t="t" r="r" b="b"/>
            <a:pathLst>
              <a:path w="8191500" h="6096000">
                <a:moveTo>
                  <a:pt x="0" y="6096000"/>
                </a:moveTo>
                <a:lnTo>
                  <a:pt x="8191500" y="6096000"/>
                </a:lnTo>
                <a:lnTo>
                  <a:pt x="8191500" y="0"/>
                </a:lnTo>
                <a:lnTo>
                  <a:pt x="0" y="0"/>
                </a:lnTo>
                <a:lnTo>
                  <a:pt x="0" y="6096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645025" y="984250"/>
            <a:ext cx="161607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Purchasing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Info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Record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286625" y="35782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0" y="104775"/>
                </a:lnTo>
                <a:lnTo>
                  <a:pt x="209550" y="2095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62125" y="2044700"/>
            <a:ext cx="6600825" cy="2705100"/>
          </a:xfrm>
          <a:custGeom>
            <a:avLst/>
            <a:gdLst/>
            <a:ahLst/>
            <a:cxnLst/>
            <a:rect l="l" t="t" r="r" b="b"/>
            <a:pathLst>
              <a:path w="6600825" h="2705100">
                <a:moveTo>
                  <a:pt x="6600825" y="2324100"/>
                </a:moveTo>
                <a:lnTo>
                  <a:pt x="6600825" y="2552700"/>
                </a:lnTo>
                <a:lnTo>
                  <a:pt x="6600825" y="2705100"/>
                </a:lnTo>
              </a:path>
              <a:path w="6600825" h="2705100">
                <a:moveTo>
                  <a:pt x="3867150" y="1447800"/>
                </a:moveTo>
                <a:lnTo>
                  <a:pt x="3867150" y="1028700"/>
                </a:lnTo>
                <a:lnTo>
                  <a:pt x="3867150" y="561975"/>
                </a:lnTo>
              </a:path>
              <a:path w="6600825" h="2705100">
                <a:moveTo>
                  <a:pt x="1733550" y="209550"/>
                </a:moveTo>
                <a:lnTo>
                  <a:pt x="1924050" y="104775"/>
                </a:lnTo>
                <a:lnTo>
                  <a:pt x="1733550" y="0"/>
                </a:lnTo>
              </a:path>
              <a:path w="6600825" h="2705100">
                <a:moveTo>
                  <a:pt x="0" y="561975"/>
                </a:moveTo>
                <a:lnTo>
                  <a:pt x="0" y="238125"/>
                </a:lnTo>
                <a:lnTo>
                  <a:pt x="1733550" y="238125"/>
                </a:lnTo>
                <a:lnTo>
                  <a:pt x="1733550" y="561975"/>
                </a:lnTo>
                <a:lnTo>
                  <a:pt x="1590675" y="533400"/>
                </a:lnTo>
                <a:lnTo>
                  <a:pt x="1447800" y="514350"/>
                </a:lnTo>
                <a:lnTo>
                  <a:pt x="1152525" y="514350"/>
                </a:lnTo>
                <a:lnTo>
                  <a:pt x="1009650" y="533400"/>
                </a:lnTo>
                <a:lnTo>
                  <a:pt x="866775" y="561975"/>
                </a:lnTo>
                <a:lnTo>
                  <a:pt x="581025" y="600075"/>
                </a:lnTo>
                <a:lnTo>
                  <a:pt x="295275" y="600075"/>
                </a:lnTo>
                <a:lnTo>
                  <a:pt x="142875" y="581025"/>
                </a:lnTo>
                <a:lnTo>
                  <a:pt x="0" y="5619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778000" y="2279650"/>
            <a:ext cx="10541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Condition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(KNUMH) </a:t>
            </a:r>
            <a:r>
              <a:rPr dirty="0" sz="750">
                <a:latin typeface="Arial"/>
                <a:cs typeface="Arial"/>
              </a:rPr>
              <a:t>Seq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(KOPOS)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757362" y="2011362"/>
          <a:ext cx="4819650" cy="26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3550"/>
                <a:gridCol w="1266825"/>
                <a:gridCol w="1733550"/>
              </a:tblGrid>
              <a:tr h="133350">
                <a:tc rowSpan="2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KONP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(Conditions</a:t>
                      </a:r>
                      <a:r>
                        <a:rPr dirty="0" sz="75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(Item))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KONH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(Conditions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(Header))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33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" name="object 8" descr=""/>
          <p:cNvGrpSpPr/>
          <p:nvPr/>
        </p:nvGrpSpPr>
        <p:grpSpPr>
          <a:xfrm>
            <a:off x="4757737" y="2278062"/>
            <a:ext cx="1743075" cy="371475"/>
            <a:chOff x="4757737" y="2278062"/>
            <a:chExt cx="1743075" cy="371475"/>
          </a:xfrm>
        </p:grpSpPr>
        <p:sp>
          <p:nvSpPr>
            <p:cNvPr id="9" name="object 9" descr=""/>
            <p:cNvSpPr/>
            <p:nvPr/>
          </p:nvSpPr>
          <p:spPr>
            <a:xfrm>
              <a:off x="4762500" y="2282825"/>
              <a:ext cx="1733550" cy="361950"/>
            </a:xfrm>
            <a:custGeom>
              <a:avLst/>
              <a:gdLst/>
              <a:ahLst/>
              <a:cxnLst/>
              <a:rect l="l" t="t" r="r" b="b"/>
              <a:pathLst>
                <a:path w="1733550" h="361950">
                  <a:moveTo>
                    <a:pt x="173355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285750" y="361950"/>
                  </a:lnTo>
                  <a:lnTo>
                    <a:pt x="581025" y="361950"/>
                  </a:lnTo>
                  <a:lnTo>
                    <a:pt x="866775" y="323850"/>
                  </a:lnTo>
                  <a:lnTo>
                    <a:pt x="1009650" y="295275"/>
                  </a:lnTo>
                  <a:lnTo>
                    <a:pt x="1152525" y="276225"/>
                  </a:lnTo>
                  <a:lnTo>
                    <a:pt x="1447800" y="276225"/>
                  </a:lnTo>
                  <a:lnTo>
                    <a:pt x="1590675" y="295275"/>
                  </a:lnTo>
                  <a:lnTo>
                    <a:pt x="1733550" y="32385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62500" y="2282825"/>
              <a:ext cx="1733550" cy="361950"/>
            </a:xfrm>
            <a:custGeom>
              <a:avLst/>
              <a:gdLst/>
              <a:ahLst/>
              <a:cxnLst/>
              <a:rect l="l" t="t" r="r" b="b"/>
              <a:pathLst>
                <a:path w="1733550" h="361950">
                  <a:moveTo>
                    <a:pt x="0" y="323850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323850"/>
                  </a:lnTo>
                  <a:lnTo>
                    <a:pt x="1590675" y="295275"/>
                  </a:lnTo>
                  <a:lnTo>
                    <a:pt x="1447800" y="276225"/>
                  </a:lnTo>
                  <a:lnTo>
                    <a:pt x="1152525" y="276225"/>
                  </a:lnTo>
                  <a:lnTo>
                    <a:pt x="1009650" y="295275"/>
                  </a:lnTo>
                  <a:lnTo>
                    <a:pt x="866775" y="323850"/>
                  </a:lnTo>
                  <a:lnTo>
                    <a:pt x="581025" y="361950"/>
                  </a:lnTo>
                  <a:lnTo>
                    <a:pt x="285750" y="361950"/>
                  </a:lnTo>
                  <a:lnTo>
                    <a:pt x="0" y="3238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768850" y="2279650"/>
            <a:ext cx="10541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Condition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(KNUMH)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757737" y="3849687"/>
            <a:ext cx="1743075" cy="381000"/>
            <a:chOff x="4757737" y="3849687"/>
            <a:chExt cx="1743075" cy="381000"/>
          </a:xfrm>
        </p:grpSpPr>
        <p:sp>
          <p:nvSpPr>
            <p:cNvPr id="13" name="object 13" descr=""/>
            <p:cNvSpPr/>
            <p:nvPr/>
          </p:nvSpPr>
          <p:spPr>
            <a:xfrm>
              <a:off x="4762500" y="3854450"/>
              <a:ext cx="1733550" cy="371475"/>
            </a:xfrm>
            <a:custGeom>
              <a:avLst/>
              <a:gdLst/>
              <a:ahLst/>
              <a:cxnLst/>
              <a:rect l="l" t="t" r="r" b="b"/>
              <a:pathLst>
                <a:path w="1733550" h="371475">
                  <a:moveTo>
                    <a:pt x="173355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142875" y="352425"/>
                  </a:lnTo>
                  <a:lnTo>
                    <a:pt x="285750" y="371475"/>
                  </a:lnTo>
                  <a:lnTo>
                    <a:pt x="581025" y="371475"/>
                  </a:lnTo>
                  <a:lnTo>
                    <a:pt x="723900" y="352425"/>
                  </a:lnTo>
                  <a:lnTo>
                    <a:pt x="1009650" y="295275"/>
                  </a:lnTo>
                  <a:lnTo>
                    <a:pt x="1295400" y="276225"/>
                  </a:lnTo>
                  <a:lnTo>
                    <a:pt x="1447800" y="285750"/>
                  </a:lnTo>
                  <a:lnTo>
                    <a:pt x="1590675" y="295275"/>
                  </a:lnTo>
                  <a:lnTo>
                    <a:pt x="1733550" y="32385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762500" y="3854450"/>
              <a:ext cx="1733550" cy="371475"/>
            </a:xfrm>
            <a:custGeom>
              <a:avLst/>
              <a:gdLst/>
              <a:ahLst/>
              <a:cxnLst/>
              <a:rect l="l" t="t" r="r" b="b"/>
              <a:pathLst>
                <a:path w="1733550" h="371475">
                  <a:moveTo>
                    <a:pt x="0" y="323850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323850"/>
                  </a:lnTo>
                  <a:lnTo>
                    <a:pt x="1590675" y="295275"/>
                  </a:lnTo>
                  <a:lnTo>
                    <a:pt x="1447800" y="285750"/>
                  </a:lnTo>
                  <a:lnTo>
                    <a:pt x="1295400" y="276225"/>
                  </a:lnTo>
                  <a:lnTo>
                    <a:pt x="1009650" y="295275"/>
                  </a:lnTo>
                  <a:lnTo>
                    <a:pt x="723900" y="352425"/>
                  </a:lnTo>
                  <a:lnTo>
                    <a:pt x="581025" y="371475"/>
                  </a:lnTo>
                  <a:lnTo>
                    <a:pt x="285750" y="371475"/>
                  </a:lnTo>
                  <a:lnTo>
                    <a:pt x="142875" y="352425"/>
                  </a:lnTo>
                  <a:lnTo>
                    <a:pt x="0" y="3238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768850" y="3860800"/>
            <a:ext cx="9112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(INFNR)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4757737" y="3487737"/>
          <a:ext cx="4552950" cy="39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3550"/>
                <a:gridCol w="1000125"/>
                <a:gridCol w="1733550"/>
              </a:tblGrid>
              <a:tr h="190500">
                <a:tc rowSpan="2"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EINA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9050" marR="154305">
                        <a:lnSpc>
                          <a:spcPts val="830"/>
                        </a:lnSpc>
                        <a:spcBef>
                          <a:spcPts val="85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(Purchasing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Info</a:t>
                      </a:r>
                      <a:r>
                        <a:rPr dirty="0" sz="7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Record: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General Data)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EINE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9050">
                        <a:lnSpc>
                          <a:spcPts val="830"/>
                        </a:lnSpc>
                        <a:spcBef>
                          <a:spcPts val="85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(Purchasing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Info</a:t>
                      </a:r>
                      <a:r>
                        <a:rPr dirty="0" sz="7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Record: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Purchasing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Organization</a:t>
                      </a:r>
                      <a:r>
                        <a:rPr dirty="0" sz="75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Data)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000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17" name="object 17" descr=""/>
          <p:cNvGrpSpPr/>
          <p:nvPr/>
        </p:nvGrpSpPr>
        <p:grpSpPr>
          <a:xfrm>
            <a:off x="7491412" y="3849687"/>
            <a:ext cx="1743075" cy="590550"/>
            <a:chOff x="7491412" y="3849687"/>
            <a:chExt cx="1743075" cy="590550"/>
          </a:xfrm>
        </p:grpSpPr>
        <p:sp>
          <p:nvSpPr>
            <p:cNvPr id="18" name="object 18" descr=""/>
            <p:cNvSpPr/>
            <p:nvPr/>
          </p:nvSpPr>
          <p:spPr>
            <a:xfrm>
              <a:off x="7496175" y="3854450"/>
              <a:ext cx="1733550" cy="581025"/>
            </a:xfrm>
            <a:custGeom>
              <a:avLst/>
              <a:gdLst/>
              <a:ahLst/>
              <a:cxnLst/>
              <a:rect l="l" t="t" r="r" b="b"/>
              <a:pathLst>
                <a:path w="1733550" h="581025">
                  <a:moveTo>
                    <a:pt x="1733550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104775" y="542925"/>
                  </a:lnTo>
                  <a:lnTo>
                    <a:pt x="209550" y="561975"/>
                  </a:lnTo>
                  <a:lnTo>
                    <a:pt x="323850" y="581025"/>
                  </a:lnTo>
                  <a:lnTo>
                    <a:pt x="542925" y="581025"/>
                  </a:lnTo>
                  <a:lnTo>
                    <a:pt x="647700" y="561975"/>
                  </a:lnTo>
                  <a:lnTo>
                    <a:pt x="762000" y="542925"/>
                  </a:lnTo>
                  <a:lnTo>
                    <a:pt x="866775" y="514350"/>
                  </a:lnTo>
                  <a:lnTo>
                    <a:pt x="971550" y="476250"/>
                  </a:lnTo>
                  <a:lnTo>
                    <a:pt x="1076325" y="457200"/>
                  </a:lnTo>
                  <a:lnTo>
                    <a:pt x="1190625" y="438150"/>
                  </a:lnTo>
                  <a:lnTo>
                    <a:pt x="1409700" y="438150"/>
                  </a:lnTo>
                  <a:lnTo>
                    <a:pt x="1514475" y="457200"/>
                  </a:lnTo>
                  <a:lnTo>
                    <a:pt x="1628775" y="476250"/>
                  </a:lnTo>
                  <a:lnTo>
                    <a:pt x="1733550" y="51435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496175" y="3854450"/>
              <a:ext cx="1733550" cy="581025"/>
            </a:xfrm>
            <a:custGeom>
              <a:avLst/>
              <a:gdLst/>
              <a:ahLst/>
              <a:cxnLst/>
              <a:rect l="l" t="t" r="r" b="b"/>
              <a:pathLst>
                <a:path w="1733550" h="581025">
                  <a:moveTo>
                    <a:pt x="0" y="514350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514350"/>
                  </a:lnTo>
                  <a:lnTo>
                    <a:pt x="1628775" y="476250"/>
                  </a:lnTo>
                  <a:lnTo>
                    <a:pt x="1514475" y="457200"/>
                  </a:lnTo>
                  <a:lnTo>
                    <a:pt x="1409700" y="438150"/>
                  </a:lnTo>
                  <a:lnTo>
                    <a:pt x="1190625" y="438150"/>
                  </a:lnTo>
                  <a:lnTo>
                    <a:pt x="1076325" y="457200"/>
                  </a:lnTo>
                  <a:lnTo>
                    <a:pt x="971550" y="476250"/>
                  </a:lnTo>
                  <a:lnTo>
                    <a:pt x="866775" y="514350"/>
                  </a:lnTo>
                  <a:lnTo>
                    <a:pt x="762000" y="542925"/>
                  </a:lnTo>
                  <a:lnTo>
                    <a:pt x="647700" y="561975"/>
                  </a:lnTo>
                  <a:lnTo>
                    <a:pt x="542925" y="581025"/>
                  </a:lnTo>
                  <a:lnTo>
                    <a:pt x="323850" y="581025"/>
                  </a:lnTo>
                  <a:lnTo>
                    <a:pt x="209550" y="561975"/>
                  </a:lnTo>
                  <a:lnTo>
                    <a:pt x="104775" y="542925"/>
                  </a:lnTo>
                  <a:lnTo>
                    <a:pt x="0" y="514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502525" y="3860800"/>
            <a:ext cx="1216025" cy="4730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97200"/>
              </a:lnSpc>
              <a:spcBef>
                <a:spcPts val="125"/>
              </a:spcBef>
            </a:pP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(INFNR)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(EKORG) </a:t>
            </a: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(ESOKZ) </a:t>
            </a:r>
            <a:r>
              <a:rPr dirty="0" sz="750">
                <a:latin typeface="Arial"/>
                <a:cs typeface="Arial"/>
              </a:rPr>
              <a:t>Plant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(WERKS)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491412" y="4745037"/>
            <a:ext cx="1743075" cy="1381125"/>
            <a:chOff x="7491412" y="4745037"/>
            <a:chExt cx="1743075" cy="1381125"/>
          </a:xfrm>
        </p:grpSpPr>
        <p:sp>
          <p:nvSpPr>
            <p:cNvPr id="22" name="object 22" descr=""/>
            <p:cNvSpPr/>
            <p:nvPr/>
          </p:nvSpPr>
          <p:spPr>
            <a:xfrm>
              <a:off x="7496175" y="4749800"/>
              <a:ext cx="1733550" cy="266700"/>
            </a:xfrm>
            <a:custGeom>
              <a:avLst/>
              <a:gdLst/>
              <a:ahLst/>
              <a:cxnLst/>
              <a:rect l="l" t="t" r="r" b="b"/>
              <a:pathLst>
                <a:path w="1733550" h="266700">
                  <a:moveTo>
                    <a:pt x="0" y="266700"/>
                  </a:moveTo>
                  <a:lnTo>
                    <a:pt x="1733550" y="266700"/>
                  </a:lnTo>
                  <a:lnTo>
                    <a:pt x="17335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496175" y="4987925"/>
              <a:ext cx="1733550" cy="1133475"/>
            </a:xfrm>
            <a:custGeom>
              <a:avLst/>
              <a:gdLst/>
              <a:ahLst/>
              <a:cxnLst/>
              <a:rect l="l" t="t" r="r" b="b"/>
              <a:pathLst>
                <a:path w="1733550" h="1133475">
                  <a:moveTo>
                    <a:pt x="173355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66675" y="1038225"/>
                  </a:lnTo>
                  <a:lnTo>
                    <a:pt x="142875" y="1076325"/>
                  </a:lnTo>
                  <a:lnTo>
                    <a:pt x="219075" y="1104900"/>
                  </a:lnTo>
                  <a:lnTo>
                    <a:pt x="304800" y="1123950"/>
                  </a:lnTo>
                  <a:lnTo>
                    <a:pt x="390525" y="1133475"/>
                  </a:lnTo>
                  <a:lnTo>
                    <a:pt x="476250" y="1133475"/>
                  </a:lnTo>
                  <a:lnTo>
                    <a:pt x="552450" y="1123950"/>
                  </a:lnTo>
                  <a:lnTo>
                    <a:pt x="638175" y="1104900"/>
                  </a:lnTo>
                  <a:lnTo>
                    <a:pt x="723900" y="1076325"/>
                  </a:lnTo>
                  <a:lnTo>
                    <a:pt x="790575" y="1038225"/>
                  </a:lnTo>
                  <a:lnTo>
                    <a:pt x="866775" y="990600"/>
                  </a:lnTo>
                  <a:lnTo>
                    <a:pt x="933450" y="942975"/>
                  </a:lnTo>
                  <a:lnTo>
                    <a:pt x="1009650" y="904875"/>
                  </a:lnTo>
                  <a:lnTo>
                    <a:pt x="1095375" y="876300"/>
                  </a:lnTo>
                  <a:lnTo>
                    <a:pt x="1171575" y="857250"/>
                  </a:lnTo>
                  <a:lnTo>
                    <a:pt x="1257300" y="847725"/>
                  </a:lnTo>
                  <a:lnTo>
                    <a:pt x="1343025" y="847725"/>
                  </a:lnTo>
                  <a:lnTo>
                    <a:pt x="1428750" y="857250"/>
                  </a:lnTo>
                  <a:lnTo>
                    <a:pt x="1504950" y="876300"/>
                  </a:lnTo>
                  <a:lnTo>
                    <a:pt x="1581150" y="904875"/>
                  </a:lnTo>
                  <a:lnTo>
                    <a:pt x="1657350" y="942975"/>
                  </a:lnTo>
                  <a:lnTo>
                    <a:pt x="1733550" y="990600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496175" y="4987925"/>
              <a:ext cx="1733550" cy="1133475"/>
            </a:xfrm>
            <a:custGeom>
              <a:avLst/>
              <a:gdLst/>
              <a:ahLst/>
              <a:cxnLst/>
              <a:rect l="l" t="t" r="r" b="b"/>
              <a:pathLst>
                <a:path w="1733550" h="1133475">
                  <a:moveTo>
                    <a:pt x="0" y="990600"/>
                  </a:moveTo>
                  <a:lnTo>
                    <a:pt x="0" y="0"/>
                  </a:lnTo>
                  <a:lnTo>
                    <a:pt x="1733550" y="0"/>
                  </a:lnTo>
                  <a:lnTo>
                    <a:pt x="1733550" y="990600"/>
                  </a:lnTo>
                  <a:lnTo>
                    <a:pt x="1657350" y="942975"/>
                  </a:lnTo>
                  <a:lnTo>
                    <a:pt x="1581150" y="904875"/>
                  </a:lnTo>
                  <a:lnTo>
                    <a:pt x="1504950" y="876300"/>
                  </a:lnTo>
                  <a:lnTo>
                    <a:pt x="1428750" y="857250"/>
                  </a:lnTo>
                  <a:lnTo>
                    <a:pt x="1343025" y="847725"/>
                  </a:lnTo>
                  <a:lnTo>
                    <a:pt x="1257300" y="847725"/>
                  </a:lnTo>
                  <a:lnTo>
                    <a:pt x="1171575" y="857250"/>
                  </a:lnTo>
                  <a:lnTo>
                    <a:pt x="1095375" y="876300"/>
                  </a:lnTo>
                  <a:lnTo>
                    <a:pt x="1009650" y="904875"/>
                  </a:lnTo>
                  <a:lnTo>
                    <a:pt x="933450" y="942975"/>
                  </a:lnTo>
                  <a:lnTo>
                    <a:pt x="866775" y="990600"/>
                  </a:lnTo>
                  <a:lnTo>
                    <a:pt x="790575" y="1038225"/>
                  </a:lnTo>
                  <a:lnTo>
                    <a:pt x="723900" y="1076325"/>
                  </a:lnTo>
                  <a:lnTo>
                    <a:pt x="638175" y="1104900"/>
                  </a:lnTo>
                  <a:lnTo>
                    <a:pt x="552450" y="1123950"/>
                  </a:lnTo>
                  <a:lnTo>
                    <a:pt x="476250" y="1133475"/>
                  </a:lnTo>
                  <a:lnTo>
                    <a:pt x="390525" y="1133475"/>
                  </a:lnTo>
                  <a:lnTo>
                    <a:pt x="304800" y="1123950"/>
                  </a:lnTo>
                  <a:lnTo>
                    <a:pt x="219075" y="1104900"/>
                  </a:lnTo>
                  <a:lnTo>
                    <a:pt x="142875" y="1076325"/>
                  </a:lnTo>
                  <a:lnTo>
                    <a:pt x="66675" y="1038225"/>
                  </a:lnTo>
                  <a:lnTo>
                    <a:pt x="0" y="990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502525" y="4746625"/>
            <a:ext cx="1758950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A017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(Material</a:t>
            </a:r>
            <a:r>
              <a:rPr dirty="0" sz="750" spc="4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Info</a:t>
            </a:r>
            <a:r>
              <a:rPr dirty="0" sz="750" spc="4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Record</a:t>
            </a:r>
            <a:r>
              <a:rPr dirty="0" sz="750" spc="4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(Plant-</a:t>
            </a:r>
            <a:r>
              <a:rPr dirty="0" sz="750" spc="-10" b="1">
                <a:latin typeface="Arial"/>
                <a:cs typeface="Arial"/>
              </a:rPr>
              <a:t>Specific))</a:t>
            </a:r>
            <a:endParaRPr sz="750">
              <a:latin typeface="Arial"/>
              <a:cs typeface="Arial"/>
            </a:endParaRPr>
          </a:p>
          <a:p>
            <a:pPr marL="12700" marR="624205">
              <a:lnSpc>
                <a:spcPct val="100000"/>
              </a:lnSpc>
              <a:spcBef>
                <a:spcPts val="75"/>
              </a:spcBef>
            </a:pPr>
            <a:r>
              <a:rPr dirty="0" sz="750">
                <a:latin typeface="Arial"/>
                <a:cs typeface="Arial"/>
              </a:rPr>
              <a:t>Application</a:t>
            </a:r>
            <a:r>
              <a:rPr dirty="0" sz="750" spc="2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(KAPPL) </a:t>
            </a:r>
            <a:r>
              <a:rPr dirty="0" sz="750">
                <a:latin typeface="Arial"/>
                <a:cs typeface="Arial"/>
              </a:rPr>
              <a:t>Condition</a:t>
            </a:r>
            <a:r>
              <a:rPr dirty="0" sz="750" spc="15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15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(KSCHL) </a:t>
            </a:r>
            <a:r>
              <a:rPr dirty="0" sz="750">
                <a:latin typeface="Arial"/>
                <a:cs typeface="Arial"/>
              </a:rPr>
              <a:t>Vendor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(LIFNR)</a:t>
            </a:r>
            <a:endParaRPr sz="750">
              <a:latin typeface="Arial"/>
              <a:cs typeface="Arial"/>
            </a:endParaRPr>
          </a:p>
          <a:p>
            <a:pPr marL="12700" marR="605155">
              <a:lnSpc>
                <a:spcPct val="95800"/>
              </a:lnSpc>
              <a:spcBef>
                <a:spcPts val="35"/>
              </a:spcBef>
            </a:pPr>
            <a:r>
              <a:rPr dirty="0" sz="750">
                <a:latin typeface="Arial"/>
                <a:cs typeface="Arial"/>
              </a:rPr>
              <a:t>Material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(MATNR) </a:t>
            </a:r>
            <a:r>
              <a:rPr dirty="0" sz="750">
                <a:latin typeface="Arial"/>
                <a:cs typeface="Arial"/>
              </a:rPr>
              <a:t>Purchasing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Org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(EKORG) </a:t>
            </a:r>
            <a:r>
              <a:rPr dirty="0" sz="750">
                <a:latin typeface="Arial"/>
                <a:cs typeface="Arial"/>
              </a:rPr>
              <a:t>Plant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(WERKS)</a:t>
            </a:r>
            <a:endParaRPr sz="750">
              <a:latin typeface="Arial"/>
              <a:cs typeface="Arial"/>
            </a:endParaRPr>
          </a:p>
          <a:p>
            <a:pPr marL="12700" marR="37655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Info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Record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Category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(ESOKZ) </a:t>
            </a:r>
            <a:r>
              <a:rPr dirty="0" sz="750">
                <a:latin typeface="Arial"/>
                <a:cs typeface="Arial"/>
              </a:rPr>
              <a:t>Validity</a:t>
            </a:r>
            <a:r>
              <a:rPr dirty="0" sz="750" spc="2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(DATBI)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343400" y="387350"/>
            <a:ext cx="2295525" cy="419100"/>
            <a:chOff x="4343400" y="387350"/>
            <a:chExt cx="2295525" cy="419100"/>
          </a:xfrm>
        </p:grpSpPr>
        <p:sp>
          <p:nvSpPr>
            <p:cNvPr id="27" name="object 27" descr=""/>
            <p:cNvSpPr/>
            <p:nvPr/>
          </p:nvSpPr>
          <p:spPr>
            <a:xfrm>
              <a:off x="4448175" y="492125"/>
              <a:ext cx="2190750" cy="314325"/>
            </a:xfrm>
            <a:custGeom>
              <a:avLst/>
              <a:gdLst/>
              <a:ahLst/>
              <a:cxnLst/>
              <a:rect l="l" t="t" r="r" b="b"/>
              <a:pathLst>
                <a:path w="2190750" h="314325">
                  <a:moveTo>
                    <a:pt x="21907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2190750" y="314325"/>
                  </a:lnTo>
                  <a:lnTo>
                    <a:pt x="219075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343400" y="387350"/>
              <a:ext cx="2190750" cy="314325"/>
            </a:xfrm>
            <a:custGeom>
              <a:avLst/>
              <a:gdLst/>
              <a:ahLst/>
              <a:cxnLst/>
              <a:rect l="l" t="t" r="r" b="b"/>
              <a:pathLst>
                <a:path w="2190750" h="314325">
                  <a:moveTo>
                    <a:pt x="21907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2190750" y="314325"/>
                  </a:lnTo>
                  <a:lnTo>
                    <a:pt x="2190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4343400" y="387350"/>
            <a:ext cx="2190750" cy="3143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7175">
              <a:lnSpc>
                <a:spcPct val="100000"/>
              </a:lnSpc>
              <a:spcBef>
                <a:spcPts val="400"/>
              </a:spcBef>
            </a:pPr>
            <a:r>
              <a:rPr dirty="0" sz="1250" spc="-30" b="1">
                <a:latin typeface="Arial"/>
                <a:cs typeface="Arial"/>
              </a:rPr>
              <a:t>SAP</a:t>
            </a:r>
            <a:r>
              <a:rPr dirty="0" sz="1250" spc="-80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MM</a:t>
            </a:r>
            <a:r>
              <a:rPr dirty="0" sz="1250" spc="-80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-</a:t>
            </a:r>
            <a:r>
              <a:rPr dirty="0" sz="1250" spc="-75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Purchasing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00137" y="4059237"/>
            <a:ext cx="1504950" cy="1047750"/>
            <a:chOff x="1100137" y="4059237"/>
            <a:chExt cx="1504950" cy="1047750"/>
          </a:xfrm>
        </p:grpSpPr>
        <p:sp>
          <p:nvSpPr>
            <p:cNvPr id="3" name="object 3" descr=""/>
            <p:cNvSpPr/>
            <p:nvPr/>
          </p:nvSpPr>
          <p:spPr>
            <a:xfrm>
              <a:off x="1104900" y="4987925"/>
              <a:ext cx="1495425" cy="114300"/>
            </a:xfrm>
            <a:custGeom>
              <a:avLst/>
              <a:gdLst/>
              <a:ahLst/>
              <a:cxnLst/>
              <a:rect l="l" t="t" r="r" b="b"/>
              <a:pathLst>
                <a:path w="1495425" h="114300">
                  <a:moveTo>
                    <a:pt x="1381125" y="0"/>
                  </a:moveTo>
                  <a:lnTo>
                    <a:pt x="0" y="0"/>
                  </a:lnTo>
                  <a:lnTo>
                    <a:pt x="123825" y="114300"/>
                  </a:lnTo>
                  <a:lnTo>
                    <a:pt x="1495425" y="114300"/>
                  </a:lnTo>
                  <a:lnTo>
                    <a:pt x="13811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04900" y="4987925"/>
              <a:ext cx="1495425" cy="114300"/>
            </a:xfrm>
            <a:custGeom>
              <a:avLst/>
              <a:gdLst/>
              <a:ahLst/>
              <a:cxnLst/>
              <a:rect l="l" t="t" r="r" b="b"/>
              <a:pathLst>
                <a:path w="1495425" h="114300">
                  <a:moveTo>
                    <a:pt x="1381125" y="0"/>
                  </a:moveTo>
                  <a:lnTo>
                    <a:pt x="0" y="0"/>
                  </a:lnTo>
                  <a:lnTo>
                    <a:pt x="123825" y="114300"/>
                  </a:lnTo>
                  <a:lnTo>
                    <a:pt x="1495425" y="114300"/>
                  </a:lnTo>
                  <a:lnTo>
                    <a:pt x="138112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486025" y="4064000"/>
              <a:ext cx="114300" cy="1038225"/>
            </a:xfrm>
            <a:custGeom>
              <a:avLst/>
              <a:gdLst/>
              <a:ahLst/>
              <a:cxnLst/>
              <a:rect l="l" t="t" r="r" b="b"/>
              <a:pathLst>
                <a:path w="114300" h="1038225">
                  <a:moveTo>
                    <a:pt x="0" y="0"/>
                  </a:moveTo>
                  <a:lnTo>
                    <a:pt x="0" y="923925"/>
                  </a:lnTo>
                  <a:lnTo>
                    <a:pt x="114300" y="1038225"/>
                  </a:lnTo>
                  <a:lnTo>
                    <a:pt x="114300" y="123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486025" y="4064000"/>
              <a:ext cx="114300" cy="1038225"/>
            </a:xfrm>
            <a:custGeom>
              <a:avLst/>
              <a:gdLst/>
              <a:ahLst/>
              <a:cxnLst/>
              <a:rect l="l" t="t" r="r" b="b"/>
              <a:pathLst>
                <a:path w="114300" h="1038225">
                  <a:moveTo>
                    <a:pt x="114300" y="1038225"/>
                  </a:moveTo>
                  <a:lnTo>
                    <a:pt x="0" y="923925"/>
                  </a:lnTo>
                  <a:lnTo>
                    <a:pt x="0" y="0"/>
                  </a:lnTo>
                  <a:lnTo>
                    <a:pt x="114300" y="123825"/>
                  </a:lnTo>
                  <a:lnTo>
                    <a:pt x="114300" y="1038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104900" y="4064000"/>
            <a:ext cx="1381125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800">
              <a:latin typeface="Times New Roman"/>
              <a:cs typeface="Times New Roman"/>
            </a:endParaRPr>
          </a:p>
          <a:p>
            <a:pPr marL="333375">
              <a:lnSpc>
                <a:spcPct val="100000"/>
              </a:lnSpc>
            </a:pPr>
            <a:r>
              <a:rPr dirty="0" sz="800" spc="-10">
                <a:latin typeface="Arial"/>
                <a:cs typeface="Arial"/>
              </a:rPr>
              <a:t>Project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Planning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8375" y="1136650"/>
            <a:ext cx="16637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SAP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-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Project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Planning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791450" y="5559425"/>
            <a:ext cx="1352550" cy="1228725"/>
            <a:chOff x="7791450" y="5559425"/>
            <a:chExt cx="1352550" cy="1228725"/>
          </a:xfrm>
        </p:grpSpPr>
        <p:sp>
          <p:nvSpPr>
            <p:cNvPr id="3" name="object 3" descr=""/>
            <p:cNvSpPr/>
            <p:nvPr/>
          </p:nvSpPr>
          <p:spPr>
            <a:xfrm>
              <a:off x="7896225" y="5673725"/>
              <a:ext cx="1247775" cy="1114425"/>
            </a:xfrm>
            <a:custGeom>
              <a:avLst/>
              <a:gdLst/>
              <a:ahLst/>
              <a:cxnLst/>
              <a:rect l="l" t="t" r="r" b="b"/>
              <a:pathLst>
                <a:path w="1247775" h="1114425">
                  <a:moveTo>
                    <a:pt x="1247775" y="0"/>
                  </a:moveTo>
                  <a:lnTo>
                    <a:pt x="0" y="0"/>
                  </a:lnTo>
                  <a:lnTo>
                    <a:pt x="0" y="1114425"/>
                  </a:lnTo>
                  <a:lnTo>
                    <a:pt x="1247775" y="1114425"/>
                  </a:lnTo>
                  <a:lnTo>
                    <a:pt x="124777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791450" y="5559425"/>
              <a:ext cx="1247775" cy="1123950"/>
            </a:xfrm>
            <a:custGeom>
              <a:avLst/>
              <a:gdLst/>
              <a:ahLst/>
              <a:cxnLst/>
              <a:rect l="l" t="t" r="r" b="b"/>
              <a:pathLst>
                <a:path w="1247775" h="1123950">
                  <a:moveTo>
                    <a:pt x="1247775" y="0"/>
                  </a:moveTo>
                  <a:lnTo>
                    <a:pt x="0" y="0"/>
                  </a:lnTo>
                  <a:lnTo>
                    <a:pt x="0" y="1123950"/>
                  </a:lnTo>
                  <a:lnTo>
                    <a:pt x="1247775" y="1123950"/>
                  </a:lnTo>
                  <a:lnTo>
                    <a:pt x="1247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7791450" y="5559425"/>
            <a:ext cx="1247775" cy="1123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8892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2275"/>
              </a:spcBef>
            </a:pPr>
            <a:r>
              <a:rPr dirty="0" sz="2150" spc="-25" b="1">
                <a:latin typeface="Arial"/>
                <a:cs typeface="Arial"/>
              </a:rPr>
              <a:t>PP</a:t>
            </a:r>
            <a:endParaRPr sz="215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  <a:spcBef>
                <a:spcPts val="120"/>
              </a:spcBef>
            </a:pPr>
            <a:r>
              <a:rPr dirty="0" sz="1100" spc="-100">
                <a:latin typeface="Arial"/>
                <a:cs typeface="Arial"/>
              </a:rPr>
              <a:t>Table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Mapping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14425" y="844550"/>
            <a:ext cx="1047750" cy="523875"/>
          </a:xfrm>
          <a:custGeom>
            <a:avLst/>
            <a:gdLst/>
            <a:ahLst/>
            <a:cxnLst/>
            <a:rect l="l" t="t" r="r" b="b"/>
            <a:pathLst>
              <a:path w="1047750" h="523875">
                <a:moveTo>
                  <a:pt x="257175" y="523875"/>
                </a:moveTo>
                <a:lnTo>
                  <a:pt x="781050" y="523875"/>
                </a:lnTo>
                <a:lnTo>
                  <a:pt x="828675" y="514350"/>
                </a:lnTo>
                <a:lnTo>
                  <a:pt x="885825" y="504825"/>
                </a:lnTo>
                <a:lnTo>
                  <a:pt x="962025" y="447675"/>
                </a:lnTo>
                <a:lnTo>
                  <a:pt x="1000125" y="409575"/>
                </a:lnTo>
                <a:lnTo>
                  <a:pt x="1038225" y="314325"/>
                </a:lnTo>
                <a:lnTo>
                  <a:pt x="1047750" y="257175"/>
                </a:lnTo>
                <a:lnTo>
                  <a:pt x="1038225" y="209550"/>
                </a:lnTo>
                <a:lnTo>
                  <a:pt x="1000125" y="114300"/>
                </a:lnTo>
                <a:lnTo>
                  <a:pt x="923925" y="38100"/>
                </a:lnTo>
                <a:lnTo>
                  <a:pt x="885825" y="19050"/>
                </a:lnTo>
                <a:lnTo>
                  <a:pt x="828675" y="0"/>
                </a:lnTo>
                <a:lnTo>
                  <a:pt x="209550" y="0"/>
                </a:lnTo>
                <a:lnTo>
                  <a:pt x="114300" y="38100"/>
                </a:lnTo>
                <a:lnTo>
                  <a:pt x="38100" y="114300"/>
                </a:lnTo>
                <a:lnTo>
                  <a:pt x="0" y="209550"/>
                </a:lnTo>
                <a:lnTo>
                  <a:pt x="0" y="314325"/>
                </a:lnTo>
                <a:lnTo>
                  <a:pt x="38100" y="409575"/>
                </a:lnTo>
                <a:lnTo>
                  <a:pt x="76200" y="447675"/>
                </a:lnTo>
                <a:lnTo>
                  <a:pt x="114300" y="476250"/>
                </a:lnTo>
                <a:lnTo>
                  <a:pt x="161925" y="504825"/>
                </a:lnTo>
                <a:lnTo>
                  <a:pt x="257175" y="523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39825" y="946150"/>
            <a:ext cx="1140460" cy="295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>
              <a:lnSpc>
                <a:spcPts val="1065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PROJ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00" spc="65">
                <a:latin typeface="Arial"/>
                <a:cs typeface="Arial"/>
              </a:rPr>
              <a:t>(Project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 spc="50">
                <a:latin typeface="Arial"/>
                <a:cs typeface="Arial"/>
              </a:rPr>
              <a:t>Definition)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114425" y="2178050"/>
            <a:ext cx="1047750" cy="514350"/>
          </a:xfrm>
          <a:custGeom>
            <a:avLst/>
            <a:gdLst/>
            <a:ahLst/>
            <a:cxnLst/>
            <a:rect l="l" t="t" r="r" b="b"/>
            <a:pathLst>
              <a:path w="1047750" h="514350">
                <a:moveTo>
                  <a:pt x="257175" y="514350"/>
                </a:moveTo>
                <a:lnTo>
                  <a:pt x="828675" y="514350"/>
                </a:lnTo>
                <a:lnTo>
                  <a:pt x="885825" y="495300"/>
                </a:lnTo>
                <a:lnTo>
                  <a:pt x="923925" y="476250"/>
                </a:lnTo>
                <a:lnTo>
                  <a:pt x="1000125" y="400050"/>
                </a:lnTo>
                <a:lnTo>
                  <a:pt x="1038225" y="304800"/>
                </a:lnTo>
                <a:lnTo>
                  <a:pt x="1047750" y="257175"/>
                </a:lnTo>
                <a:lnTo>
                  <a:pt x="1038225" y="200025"/>
                </a:lnTo>
                <a:lnTo>
                  <a:pt x="1019175" y="161925"/>
                </a:lnTo>
                <a:lnTo>
                  <a:pt x="1000125" y="114300"/>
                </a:lnTo>
                <a:lnTo>
                  <a:pt x="962025" y="66675"/>
                </a:lnTo>
                <a:lnTo>
                  <a:pt x="923925" y="38100"/>
                </a:lnTo>
                <a:lnTo>
                  <a:pt x="885825" y="19050"/>
                </a:lnTo>
                <a:lnTo>
                  <a:pt x="828675" y="0"/>
                </a:lnTo>
                <a:lnTo>
                  <a:pt x="209550" y="0"/>
                </a:lnTo>
                <a:lnTo>
                  <a:pt x="114300" y="38100"/>
                </a:lnTo>
                <a:lnTo>
                  <a:pt x="76200" y="66675"/>
                </a:lnTo>
                <a:lnTo>
                  <a:pt x="38100" y="114300"/>
                </a:lnTo>
                <a:lnTo>
                  <a:pt x="19050" y="161925"/>
                </a:lnTo>
                <a:lnTo>
                  <a:pt x="0" y="200025"/>
                </a:lnTo>
                <a:lnTo>
                  <a:pt x="0" y="304800"/>
                </a:lnTo>
                <a:lnTo>
                  <a:pt x="38100" y="400050"/>
                </a:lnTo>
                <a:lnTo>
                  <a:pt x="114300" y="476250"/>
                </a:lnTo>
                <a:lnTo>
                  <a:pt x="209550" y="514350"/>
                </a:lnTo>
                <a:lnTo>
                  <a:pt x="257175" y="5143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87450" y="2270125"/>
            <a:ext cx="1006475" cy="305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8925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PRPS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 spc="95">
                <a:latin typeface="Arial"/>
                <a:cs typeface="Arial"/>
              </a:rPr>
              <a:t>(WBS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60">
                <a:latin typeface="Arial"/>
                <a:cs typeface="Arial"/>
              </a:rPr>
              <a:t>Elements)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609725" y="1377950"/>
            <a:ext cx="66675" cy="276225"/>
            <a:chOff x="1609725" y="1377950"/>
            <a:chExt cx="66675" cy="276225"/>
          </a:xfrm>
        </p:grpSpPr>
        <p:sp>
          <p:nvSpPr>
            <p:cNvPr id="11" name="object 11" descr=""/>
            <p:cNvSpPr/>
            <p:nvPr/>
          </p:nvSpPr>
          <p:spPr>
            <a:xfrm>
              <a:off x="1638300" y="1416050"/>
              <a:ext cx="0" cy="238125"/>
            </a:xfrm>
            <a:custGeom>
              <a:avLst/>
              <a:gdLst/>
              <a:ahLst/>
              <a:cxnLst/>
              <a:rect l="l" t="t" r="r" b="b"/>
              <a:pathLst>
                <a:path w="0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9725" y="1377950"/>
              <a:ext cx="66675" cy="47625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1600200" y="1887537"/>
            <a:ext cx="3900804" cy="838200"/>
            <a:chOff x="1600200" y="1887537"/>
            <a:chExt cx="3900804" cy="838200"/>
          </a:xfrm>
        </p:grpSpPr>
        <p:sp>
          <p:nvSpPr>
            <p:cNvPr id="14" name="object 14" descr=""/>
            <p:cNvSpPr/>
            <p:nvPr/>
          </p:nvSpPr>
          <p:spPr>
            <a:xfrm>
              <a:off x="1638300" y="18923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w="0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0200" y="2111375"/>
              <a:ext cx="76200" cy="6667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448175" y="2197100"/>
              <a:ext cx="1047750" cy="523875"/>
            </a:xfrm>
            <a:custGeom>
              <a:avLst/>
              <a:gdLst/>
              <a:ahLst/>
              <a:cxnLst/>
              <a:rect l="l" t="t" r="r" b="b"/>
              <a:pathLst>
                <a:path w="1047750" h="523875">
                  <a:moveTo>
                    <a:pt x="266700" y="523875"/>
                  </a:moveTo>
                  <a:lnTo>
                    <a:pt x="838200" y="523875"/>
                  </a:lnTo>
                  <a:lnTo>
                    <a:pt x="885825" y="504825"/>
                  </a:lnTo>
                  <a:lnTo>
                    <a:pt x="933450" y="476250"/>
                  </a:lnTo>
                  <a:lnTo>
                    <a:pt x="971550" y="447675"/>
                  </a:lnTo>
                  <a:lnTo>
                    <a:pt x="1000125" y="409575"/>
                  </a:lnTo>
                  <a:lnTo>
                    <a:pt x="1028700" y="361950"/>
                  </a:lnTo>
                  <a:lnTo>
                    <a:pt x="1047750" y="266700"/>
                  </a:lnTo>
                  <a:lnTo>
                    <a:pt x="1038225" y="209550"/>
                  </a:lnTo>
                  <a:lnTo>
                    <a:pt x="1028700" y="161925"/>
                  </a:lnTo>
                  <a:lnTo>
                    <a:pt x="1000125" y="114300"/>
                  </a:lnTo>
                  <a:lnTo>
                    <a:pt x="971550" y="76200"/>
                  </a:lnTo>
                  <a:lnTo>
                    <a:pt x="933450" y="47625"/>
                  </a:lnTo>
                  <a:lnTo>
                    <a:pt x="885825" y="19050"/>
                  </a:lnTo>
                  <a:lnTo>
                    <a:pt x="838200" y="9525"/>
                  </a:lnTo>
                  <a:lnTo>
                    <a:pt x="781050" y="0"/>
                  </a:lnTo>
                  <a:lnTo>
                    <a:pt x="266700" y="0"/>
                  </a:lnTo>
                  <a:lnTo>
                    <a:pt x="209550" y="9525"/>
                  </a:lnTo>
                  <a:lnTo>
                    <a:pt x="161925" y="19050"/>
                  </a:lnTo>
                  <a:lnTo>
                    <a:pt x="114300" y="47625"/>
                  </a:lnTo>
                  <a:lnTo>
                    <a:pt x="76200" y="76200"/>
                  </a:lnTo>
                  <a:lnTo>
                    <a:pt x="47625" y="114300"/>
                  </a:lnTo>
                  <a:lnTo>
                    <a:pt x="19050" y="161925"/>
                  </a:lnTo>
                  <a:lnTo>
                    <a:pt x="9525" y="209550"/>
                  </a:lnTo>
                  <a:lnTo>
                    <a:pt x="0" y="266700"/>
                  </a:lnTo>
                  <a:lnTo>
                    <a:pt x="19050" y="361950"/>
                  </a:lnTo>
                  <a:lnTo>
                    <a:pt x="47625" y="409575"/>
                  </a:lnTo>
                  <a:lnTo>
                    <a:pt x="76200" y="447675"/>
                  </a:lnTo>
                  <a:lnTo>
                    <a:pt x="114300" y="476250"/>
                  </a:lnTo>
                  <a:lnTo>
                    <a:pt x="161925" y="504825"/>
                  </a:lnTo>
                  <a:lnTo>
                    <a:pt x="209550" y="523875"/>
                  </a:lnTo>
                  <a:lnTo>
                    <a:pt x="26670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301750" y="1631950"/>
            <a:ext cx="7004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" marR="5080" indent="-1905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PRPS-PSPHI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PROJ-</a:t>
            </a:r>
            <a:r>
              <a:rPr dirty="0" sz="750" spc="-10">
                <a:latin typeface="Arial"/>
                <a:cs typeface="Arial"/>
              </a:rPr>
              <a:t>PSPNR</a:t>
            </a:r>
            <a:endParaRPr sz="7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473575" y="2232025"/>
            <a:ext cx="1158875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63195">
              <a:lnSpc>
                <a:spcPts val="1065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PRTE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00" spc="80">
                <a:latin typeface="Arial"/>
                <a:cs typeface="Arial"/>
              </a:rPr>
              <a:t>(Schedule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85">
                <a:latin typeface="Arial"/>
                <a:cs typeface="Arial"/>
              </a:rPr>
              <a:t>Data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40">
                <a:latin typeface="Arial"/>
                <a:cs typeface="Arial"/>
              </a:rPr>
              <a:t>for</a:t>
            </a:r>
            <a:endParaRPr sz="900">
              <a:latin typeface="Arial"/>
              <a:cs typeface="Arial"/>
            </a:endParaRPr>
          </a:p>
          <a:p>
            <a:pPr algn="ctr" marR="106680">
              <a:lnSpc>
                <a:spcPct val="100000"/>
              </a:lnSpc>
              <a:spcBef>
                <a:spcPts val="45"/>
              </a:spcBef>
            </a:pPr>
            <a:r>
              <a:rPr dirty="0" sz="900" spc="50">
                <a:latin typeface="Arial"/>
                <a:cs typeface="Arial"/>
              </a:rPr>
              <a:t>Proj.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40">
                <a:latin typeface="Arial"/>
                <a:cs typeface="Arial"/>
              </a:rPr>
              <a:t>Item)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162175" y="2159000"/>
            <a:ext cx="2295525" cy="571500"/>
            <a:chOff x="2162175" y="2159000"/>
            <a:chExt cx="2295525" cy="571500"/>
          </a:xfrm>
        </p:grpSpPr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2175" y="2416175"/>
              <a:ext cx="2295525" cy="7620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2962275" y="2159000"/>
              <a:ext cx="685800" cy="571500"/>
            </a:xfrm>
            <a:custGeom>
              <a:avLst/>
              <a:gdLst/>
              <a:ahLst/>
              <a:cxnLst/>
              <a:rect l="l" t="t" r="r" b="b"/>
              <a:pathLst>
                <a:path w="685800" h="571500">
                  <a:moveTo>
                    <a:pt x="6858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685800" y="5715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949575" y="2146300"/>
            <a:ext cx="7391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PRPS-PSPNR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987675" y="2260600"/>
            <a:ext cx="673100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540">
              <a:lnSpc>
                <a:spcPts val="865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PRTE-</a:t>
            </a:r>
            <a:r>
              <a:rPr dirty="0" sz="750" spc="-10">
                <a:latin typeface="Arial"/>
                <a:cs typeface="Arial"/>
              </a:rPr>
              <a:t>POSNR</a:t>
            </a:r>
            <a:endParaRPr sz="750">
              <a:latin typeface="Arial"/>
              <a:cs typeface="Arial"/>
            </a:endParaRPr>
          </a:p>
          <a:p>
            <a:pPr algn="ctr" marR="12065">
              <a:lnSpc>
                <a:spcPts val="865"/>
              </a:lnSpc>
            </a:pPr>
            <a:r>
              <a:rPr dirty="0" sz="750" spc="-25">
                <a:latin typeface="Arial"/>
                <a:cs typeface="Arial"/>
              </a:rPr>
              <a:t>and</a:t>
            </a:r>
            <a:endParaRPr sz="75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PRPS-</a:t>
            </a:r>
            <a:r>
              <a:rPr dirty="0" sz="750" spc="-10">
                <a:latin typeface="Arial"/>
                <a:cs typeface="Arial"/>
              </a:rPr>
              <a:t>PSPHI= </a:t>
            </a:r>
            <a:r>
              <a:rPr dirty="0" sz="750">
                <a:latin typeface="Arial"/>
                <a:cs typeface="Arial"/>
              </a:rPr>
              <a:t>PRTE-</a:t>
            </a:r>
            <a:r>
              <a:rPr dirty="0" sz="750" spc="-10">
                <a:latin typeface="Arial"/>
                <a:cs typeface="Arial"/>
              </a:rPr>
              <a:t>PSPHI</a:t>
            </a:r>
            <a:endParaRPr sz="750">
              <a:latin typeface="Arial"/>
              <a:cs typeface="Aria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6848475" y="2197100"/>
            <a:ext cx="1047750" cy="523875"/>
          </a:xfrm>
          <a:custGeom>
            <a:avLst/>
            <a:gdLst/>
            <a:ahLst/>
            <a:cxnLst/>
            <a:rect l="l" t="t" r="r" b="b"/>
            <a:pathLst>
              <a:path w="1047750" h="523875">
                <a:moveTo>
                  <a:pt x="266700" y="523875"/>
                </a:moveTo>
                <a:lnTo>
                  <a:pt x="838200" y="523875"/>
                </a:lnTo>
                <a:lnTo>
                  <a:pt x="885825" y="504825"/>
                </a:lnTo>
                <a:lnTo>
                  <a:pt x="933450" y="476250"/>
                </a:lnTo>
                <a:lnTo>
                  <a:pt x="971550" y="447675"/>
                </a:lnTo>
                <a:lnTo>
                  <a:pt x="1000125" y="409575"/>
                </a:lnTo>
                <a:lnTo>
                  <a:pt x="1028700" y="361950"/>
                </a:lnTo>
                <a:lnTo>
                  <a:pt x="1047750" y="266700"/>
                </a:lnTo>
                <a:lnTo>
                  <a:pt x="1038225" y="209550"/>
                </a:lnTo>
                <a:lnTo>
                  <a:pt x="1028700" y="161925"/>
                </a:lnTo>
                <a:lnTo>
                  <a:pt x="1000125" y="114300"/>
                </a:lnTo>
                <a:lnTo>
                  <a:pt x="971550" y="76200"/>
                </a:lnTo>
                <a:lnTo>
                  <a:pt x="933450" y="47625"/>
                </a:lnTo>
                <a:lnTo>
                  <a:pt x="885825" y="19050"/>
                </a:lnTo>
                <a:lnTo>
                  <a:pt x="838200" y="9525"/>
                </a:lnTo>
                <a:lnTo>
                  <a:pt x="781050" y="0"/>
                </a:lnTo>
                <a:lnTo>
                  <a:pt x="266700" y="0"/>
                </a:lnTo>
                <a:lnTo>
                  <a:pt x="209550" y="9525"/>
                </a:lnTo>
                <a:lnTo>
                  <a:pt x="161925" y="19050"/>
                </a:lnTo>
                <a:lnTo>
                  <a:pt x="114300" y="47625"/>
                </a:lnTo>
                <a:lnTo>
                  <a:pt x="76200" y="76200"/>
                </a:lnTo>
                <a:lnTo>
                  <a:pt x="47625" y="114300"/>
                </a:lnTo>
                <a:lnTo>
                  <a:pt x="19050" y="161925"/>
                </a:lnTo>
                <a:lnTo>
                  <a:pt x="9525" y="209550"/>
                </a:lnTo>
                <a:lnTo>
                  <a:pt x="0" y="266700"/>
                </a:lnTo>
                <a:lnTo>
                  <a:pt x="19050" y="361950"/>
                </a:lnTo>
                <a:lnTo>
                  <a:pt x="47625" y="409575"/>
                </a:lnTo>
                <a:lnTo>
                  <a:pt x="76200" y="447675"/>
                </a:lnTo>
                <a:lnTo>
                  <a:pt x="114300" y="476250"/>
                </a:lnTo>
                <a:lnTo>
                  <a:pt x="161925" y="504825"/>
                </a:lnTo>
                <a:lnTo>
                  <a:pt x="209550" y="523875"/>
                </a:lnTo>
                <a:lnTo>
                  <a:pt x="266700" y="523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6997700" y="2298700"/>
            <a:ext cx="835660" cy="305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725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PRTX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 spc="60">
                <a:latin typeface="Arial"/>
                <a:cs typeface="Arial"/>
              </a:rPr>
              <a:t>(Texts(WBS))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495925" y="2339975"/>
            <a:ext cx="1362075" cy="238125"/>
            <a:chOff x="5495925" y="2339975"/>
            <a:chExt cx="1362075" cy="238125"/>
          </a:xfrm>
        </p:grpSpPr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95925" y="2435225"/>
              <a:ext cx="1362075" cy="5715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5762625" y="2339975"/>
              <a:ext cx="819150" cy="238125"/>
            </a:xfrm>
            <a:custGeom>
              <a:avLst/>
              <a:gdLst/>
              <a:ahLst/>
              <a:cxnLst/>
              <a:rect l="l" t="t" r="r" b="b"/>
              <a:pathLst>
                <a:path w="819150" h="238125">
                  <a:moveTo>
                    <a:pt x="81915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819150" y="238125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5759450" y="2327275"/>
            <a:ext cx="87185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PRTX-PRPSPNR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854700" y="2441575"/>
            <a:ext cx="6635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PRTE-</a:t>
            </a:r>
            <a:r>
              <a:rPr dirty="0" sz="750" spc="-10">
                <a:latin typeface="Arial"/>
                <a:cs typeface="Arial"/>
              </a:rPr>
              <a:t>POSNR</a:t>
            </a:r>
            <a:endParaRPr sz="750">
              <a:latin typeface="Arial"/>
              <a:cs typeface="Arial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2990850" y="3949700"/>
            <a:ext cx="1047750" cy="514350"/>
          </a:xfrm>
          <a:custGeom>
            <a:avLst/>
            <a:gdLst/>
            <a:ahLst/>
            <a:cxnLst/>
            <a:rect l="l" t="t" r="r" b="b"/>
            <a:pathLst>
              <a:path w="1047750" h="514350">
                <a:moveTo>
                  <a:pt x="257175" y="514350"/>
                </a:moveTo>
                <a:lnTo>
                  <a:pt x="828675" y="514350"/>
                </a:lnTo>
                <a:lnTo>
                  <a:pt x="885825" y="495300"/>
                </a:lnTo>
                <a:lnTo>
                  <a:pt x="923925" y="476250"/>
                </a:lnTo>
                <a:lnTo>
                  <a:pt x="1000125" y="400050"/>
                </a:lnTo>
                <a:lnTo>
                  <a:pt x="1028700" y="361950"/>
                </a:lnTo>
                <a:lnTo>
                  <a:pt x="1038225" y="304800"/>
                </a:lnTo>
                <a:lnTo>
                  <a:pt x="1047750" y="257175"/>
                </a:lnTo>
                <a:lnTo>
                  <a:pt x="1028700" y="161925"/>
                </a:lnTo>
                <a:lnTo>
                  <a:pt x="1000125" y="114300"/>
                </a:lnTo>
                <a:lnTo>
                  <a:pt x="923925" y="38100"/>
                </a:lnTo>
                <a:lnTo>
                  <a:pt x="885825" y="19050"/>
                </a:lnTo>
                <a:lnTo>
                  <a:pt x="828675" y="0"/>
                </a:lnTo>
                <a:lnTo>
                  <a:pt x="209550" y="0"/>
                </a:lnTo>
                <a:lnTo>
                  <a:pt x="114300" y="38100"/>
                </a:lnTo>
                <a:lnTo>
                  <a:pt x="76200" y="76200"/>
                </a:lnTo>
                <a:lnTo>
                  <a:pt x="47625" y="114300"/>
                </a:lnTo>
                <a:lnTo>
                  <a:pt x="19050" y="161925"/>
                </a:lnTo>
                <a:lnTo>
                  <a:pt x="0" y="209550"/>
                </a:lnTo>
                <a:lnTo>
                  <a:pt x="0" y="304800"/>
                </a:lnTo>
                <a:lnTo>
                  <a:pt x="19050" y="361950"/>
                </a:lnTo>
                <a:lnTo>
                  <a:pt x="76200" y="438150"/>
                </a:lnTo>
                <a:lnTo>
                  <a:pt x="114300" y="476250"/>
                </a:lnTo>
                <a:lnTo>
                  <a:pt x="209550" y="514350"/>
                </a:lnTo>
                <a:lnTo>
                  <a:pt x="257175" y="5143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3006725" y="3975100"/>
            <a:ext cx="1158875" cy="4483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PRHIS</a:t>
            </a:r>
            <a:endParaRPr sz="900">
              <a:latin typeface="Arial"/>
              <a:cs typeface="Arial"/>
            </a:endParaRPr>
          </a:p>
          <a:p>
            <a:pPr marL="117475" marR="5080" indent="-104775">
              <a:lnSpc>
                <a:spcPct val="104200"/>
              </a:lnSpc>
            </a:pPr>
            <a:r>
              <a:rPr dirty="0" sz="900" spc="60">
                <a:latin typeface="Arial"/>
                <a:cs typeface="Arial"/>
              </a:rPr>
              <a:t>(Proj.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Hierarchy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35">
                <a:latin typeface="Arial"/>
                <a:cs typeface="Arial"/>
              </a:rPr>
              <a:t>for </a:t>
            </a:r>
            <a:r>
              <a:rPr dirty="0" sz="900" spc="120">
                <a:latin typeface="Arial"/>
                <a:cs typeface="Arial"/>
              </a:rPr>
              <a:t>WBS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Element)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1638300" y="2701925"/>
            <a:ext cx="1362075" cy="1504950"/>
            <a:chOff x="1638300" y="2701925"/>
            <a:chExt cx="1362075" cy="1504950"/>
          </a:xfrm>
        </p:grpSpPr>
        <p:sp>
          <p:nvSpPr>
            <p:cNvPr id="34" name="object 34" descr=""/>
            <p:cNvSpPr/>
            <p:nvPr/>
          </p:nvSpPr>
          <p:spPr>
            <a:xfrm>
              <a:off x="1676400" y="2740025"/>
              <a:ext cx="1276350" cy="1428750"/>
            </a:xfrm>
            <a:custGeom>
              <a:avLst/>
              <a:gdLst/>
              <a:ahLst/>
              <a:cxnLst/>
              <a:rect l="l" t="t" r="r" b="b"/>
              <a:pathLst>
                <a:path w="1276350" h="1428750">
                  <a:moveTo>
                    <a:pt x="0" y="0"/>
                  </a:moveTo>
                  <a:lnTo>
                    <a:pt x="1276350" y="14287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8300" y="2701925"/>
              <a:ext cx="76200" cy="5715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24175" y="4149725"/>
              <a:ext cx="76200" cy="57150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971675" y="3168650"/>
              <a:ext cx="685800" cy="571500"/>
            </a:xfrm>
            <a:custGeom>
              <a:avLst/>
              <a:gdLst/>
              <a:ahLst/>
              <a:cxnLst/>
              <a:rect l="l" t="t" r="r" b="b"/>
              <a:pathLst>
                <a:path w="685800" h="571500">
                  <a:moveTo>
                    <a:pt x="6858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685800" y="5715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968500" y="3146425"/>
            <a:ext cx="7391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" marR="5080" indent="-952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PRPS-PSPNR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PRHIS-</a:t>
            </a:r>
            <a:r>
              <a:rPr dirty="0" sz="750" spc="-10">
                <a:latin typeface="Arial"/>
                <a:cs typeface="Arial"/>
              </a:rPr>
              <a:t>POSNR</a:t>
            </a:r>
            <a:endParaRPr sz="75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997075" y="3375025"/>
            <a:ext cx="67310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228600">
              <a:lnSpc>
                <a:spcPct val="95800"/>
              </a:lnSpc>
              <a:spcBef>
                <a:spcPts val="135"/>
              </a:spcBef>
            </a:pPr>
            <a:r>
              <a:rPr dirty="0" sz="750" spc="-25">
                <a:latin typeface="Arial"/>
                <a:cs typeface="Arial"/>
              </a:rPr>
              <a:t>and</a:t>
            </a:r>
            <a:r>
              <a:rPr dirty="0" sz="750">
                <a:latin typeface="Arial"/>
                <a:cs typeface="Arial"/>
              </a:rPr>
              <a:t> PRPS-</a:t>
            </a:r>
            <a:r>
              <a:rPr dirty="0" sz="750" spc="-10">
                <a:latin typeface="Arial"/>
                <a:cs typeface="Arial"/>
              </a:rPr>
              <a:t>PSPHI= </a:t>
            </a:r>
            <a:r>
              <a:rPr dirty="0" sz="750">
                <a:latin typeface="Arial"/>
                <a:cs typeface="Arial"/>
              </a:rPr>
              <a:t>PRHIS-</a:t>
            </a:r>
            <a:r>
              <a:rPr dirty="0" sz="750" spc="-10">
                <a:latin typeface="Arial"/>
                <a:cs typeface="Arial"/>
              </a:rPr>
              <a:t>PSPHI</a:t>
            </a:r>
            <a:endParaRPr sz="750">
              <a:latin typeface="Arial"/>
              <a:cs typeface="Arial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6848475" y="3454400"/>
            <a:ext cx="1047750" cy="514350"/>
          </a:xfrm>
          <a:custGeom>
            <a:avLst/>
            <a:gdLst/>
            <a:ahLst/>
            <a:cxnLst/>
            <a:rect l="l" t="t" r="r" b="b"/>
            <a:pathLst>
              <a:path w="1047750" h="514350">
                <a:moveTo>
                  <a:pt x="266700" y="514350"/>
                </a:moveTo>
                <a:lnTo>
                  <a:pt x="838200" y="514350"/>
                </a:lnTo>
                <a:lnTo>
                  <a:pt x="933450" y="476250"/>
                </a:lnTo>
                <a:lnTo>
                  <a:pt x="971550" y="438150"/>
                </a:lnTo>
                <a:lnTo>
                  <a:pt x="1028700" y="361950"/>
                </a:lnTo>
                <a:lnTo>
                  <a:pt x="1038225" y="304800"/>
                </a:lnTo>
                <a:lnTo>
                  <a:pt x="1047750" y="257175"/>
                </a:lnTo>
                <a:lnTo>
                  <a:pt x="1028700" y="161925"/>
                </a:lnTo>
                <a:lnTo>
                  <a:pt x="1000125" y="114300"/>
                </a:lnTo>
                <a:lnTo>
                  <a:pt x="971550" y="76200"/>
                </a:lnTo>
                <a:lnTo>
                  <a:pt x="933450" y="38100"/>
                </a:lnTo>
                <a:lnTo>
                  <a:pt x="838200" y="0"/>
                </a:lnTo>
                <a:lnTo>
                  <a:pt x="209550" y="0"/>
                </a:lnTo>
                <a:lnTo>
                  <a:pt x="114300" y="38100"/>
                </a:lnTo>
                <a:lnTo>
                  <a:pt x="76200" y="76200"/>
                </a:lnTo>
                <a:lnTo>
                  <a:pt x="47625" y="114300"/>
                </a:lnTo>
                <a:lnTo>
                  <a:pt x="19050" y="161925"/>
                </a:lnTo>
                <a:lnTo>
                  <a:pt x="0" y="257175"/>
                </a:lnTo>
                <a:lnTo>
                  <a:pt x="9525" y="304800"/>
                </a:lnTo>
                <a:lnTo>
                  <a:pt x="19050" y="361950"/>
                </a:lnTo>
                <a:lnTo>
                  <a:pt x="76200" y="438150"/>
                </a:lnTo>
                <a:lnTo>
                  <a:pt x="114300" y="476250"/>
                </a:lnTo>
                <a:lnTo>
                  <a:pt x="209550" y="514350"/>
                </a:lnTo>
                <a:lnTo>
                  <a:pt x="266700" y="5143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6997700" y="3479800"/>
            <a:ext cx="854075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PSTX</a:t>
            </a:r>
            <a:endParaRPr sz="900">
              <a:latin typeface="Arial"/>
              <a:cs typeface="Arial"/>
            </a:endParaRPr>
          </a:p>
          <a:p>
            <a:pPr marL="127000" marR="5080" indent="-114300">
              <a:lnSpc>
                <a:spcPts val="1050"/>
              </a:lnSpc>
              <a:spcBef>
                <a:spcPts val="105"/>
              </a:spcBef>
            </a:pPr>
            <a:r>
              <a:rPr dirty="0" sz="900" spc="60">
                <a:latin typeface="Arial"/>
                <a:cs typeface="Arial"/>
              </a:rPr>
              <a:t>(Project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 spc="60">
                <a:latin typeface="Arial"/>
                <a:cs typeface="Arial"/>
              </a:rPr>
              <a:t>Texts </a:t>
            </a:r>
            <a:r>
              <a:rPr dirty="0" sz="900" spc="70">
                <a:latin typeface="Arial"/>
                <a:cs typeface="Arial"/>
              </a:rPr>
              <a:t>(Header))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848475" y="4759325"/>
            <a:ext cx="1047750" cy="514350"/>
          </a:xfrm>
          <a:custGeom>
            <a:avLst/>
            <a:gdLst/>
            <a:ahLst/>
            <a:cxnLst/>
            <a:rect l="l" t="t" r="r" b="b"/>
            <a:pathLst>
              <a:path w="1047750" h="514350">
                <a:moveTo>
                  <a:pt x="266700" y="514350"/>
                </a:moveTo>
                <a:lnTo>
                  <a:pt x="838200" y="514350"/>
                </a:lnTo>
                <a:lnTo>
                  <a:pt x="933450" y="476250"/>
                </a:lnTo>
                <a:lnTo>
                  <a:pt x="971550" y="438150"/>
                </a:lnTo>
                <a:lnTo>
                  <a:pt x="1000125" y="400050"/>
                </a:lnTo>
                <a:lnTo>
                  <a:pt x="1028700" y="352425"/>
                </a:lnTo>
                <a:lnTo>
                  <a:pt x="1047750" y="257175"/>
                </a:lnTo>
                <a:lnTo>
                  <a:pt x="1038225" y="200025"/>
                </a:lnTo>
                <a:lnTo>
                  <a:pt x="1028700" y="152400"/>
                </a:lnTo>
                <a:lnTo>
                  <a:pt x="1000125" y="114300"/>
                </a:lnTo>
                <a:lnTo>
                  <a:pt x="971550" y="66675"/>
                </a:lnTo>
                <a:lnTo>
                  <a:pt x="933450" y="38100"/>
                </a:lnTo>
                <a:lnTo>
                  <a:pt x="838200" y="0"/>
                </a:lnTo>
                <a:lnTo>
                  <a:pt x="209550" y="0"/>
                </a:lnTo>
                <a:lnTo>
                  <a:pt x="114300" y="38100"/>
                </a:lnTo>
                <a:lnTo>
                  <a:pt x="76200" y="66675"/>
                </a:lnTo>
                <a:lnTo>
                  <a:pt x="47625" y="114300"/>
                </a:lnTo>
                <a:lnTo>
                  <a:pt x="19050" y="152400"/>
                </a:lnTo>
                <a:lnTo>
                  <a:pt x="9525" y="200025"/>
                </a:lnTo>
                <a:lnTo>
                  <a:pt x="0" y="257175"/>
                </a:lnTo>
                <a:lnTo>
                  <a:pt x="19050" y="352425"/>
                </a:lnTo>
                <a:lnTo>
                  <a:pt x="47625" y="400050"/>
                </a:lnTo>
                <a:lnTo>
                  <a:pt x="76200" y="438150"/>
                </a:lnTo>
                <a:lnTo>
                  <a:pt x="114300" y="476250"/>
                </a:lnTo>
                <a:lnTo>
                  <a:pt x="209550" y="514350"/>
                </a:lnTo>
                <a:lnTo>
                  <a:pt x="266700" y="5143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6978650" y="4851400"/>
            <a:ext cx="902335" cy="305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PSTT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 spc="65">
                <a:latin typeface="Arial"/>
                <a:cs typeface="Arial"/>
              </a:rPr>
              <a:t>(Project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 spc="60">
                <a:latin typeface="Arial"/>
                <a:cs typeface="Arial"/>
              </a:rPr>
              <a:t>Texts)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7334250" y="2730500"/>
            <a:ext cx="76200" cy="723900"/>
            <a:chOff x="7334250" y="2730500"/>
            <a:chExt cx="76200" cy="723900"/>
          </a:xfrm>
        </p:grpSpPr>
        <p:sp>
          <p:nvSpPr>
            <p:cNvPr id="45" name="object 45" descr=""/>
            <p:cNvSpPr/>
            <p:nvPr/>
          </p:nvSpPr>
          <p:spPr>
            <a:xfrm>
              <a:off x="7372350" y="2778125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w="0" h="619125">
                  <a:moveTo>
                    <a:pt x="0" y="428625"/>
                  </a:moveTo>
                  <a:lnTo>
                    <a:pt x="0" y="619125"/>
                  </a:lnTo>
                </a:path>
                <a:path w="0" h="619125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43775" y="2730500"/>
              <a:ext cx="66675" cy="57150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250" y="3387725"/>
              <a:ext cx="76200" cy="66675"/>
            </a:xfrm>
            <a:prstGeom prst="rect">
              <a:avLst/>
            </a:prstGeom>
          </p:spPr>
        </p:pic>
      </p:grpSp>
      <p:sp>
        <p:nvSpPr>
          <p:cNvPr id="48" name="object 48" descr=""/>
          <p:cNvSpPr txBox="1"/>
          <p:nvPr/>
        </p:nvSpPr>
        <p:spPr>
          <a:xfrm>
            <a:off x="6969125" y="2955925"/>
            <a:ext cx="870585" cy="2444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50800" marR="5080" indent="-38100">
              <a:lnSpc>
                <a:spcPts val="830"/>
              </a:lnSpc>
              <a:spcBef>
                <a:spcPts val="185"/>
              </a:spcBef>
            </a:pPr>
            <a:r>
              <a:rPr dirty="0" sz="750">
                <a:latin typeface="Arial"/>
                <a:cs typeface="Arial"/>
              </a:rPr>
              <a:t>PRTX-PRTXTKY</a:t>
            </a:r>
            <a:r>
              <a:rPr dirty="0" sz="750" spc="19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PSTX-</a:t>
            </a:r>
            <a:r>
              <a:rPr dirty="0" sz="750" spc="-10">
                <a:latin typeface="Arial"/>
                <a:cs typeface="Arial"/>
              </a:rPr>
              <a:t>PRTXTKY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7334250" y="3978275"/>
            <a:ext cx="76200" cy="781050"/>
            <a:chOff x="7334250" y="3978275"/>
            <a:chExt cx="76200" cy="781050"/>
          </a:xfrm>
        </p:grpSpPr>
        <p:sp>
          <p:nvSpPr>
            <p:cNvPr id="50" name="object 50" descr=""/>
            <p:cNvSpPr/>
            <p:nvPr/>
          </p:nvSpPr>
          <p:spPr>
            <a:xfrm>
              <a:off x="7372350" y="4025900"/>
              <a:ext cx="0" cy="676275"/>
            </a:xfrm>
            <a:custGeom>
              <a:avLst/>
              <a:gdLst/>
              <a:ahLst/>
              <a:cxnLst/>
              <a:rect l="l" t="t" r="r" b="b"/>
              <a:pathLst>
                <a:path w="0" h="676275">
                  <a:moveTo>
                    <a:pt x="0" y="457200"/>
                  </a:moveTo>
                  <a:lnTo>
                    <a:pt x="0" y="676275"/>
                  </a:lnTo>
                </a:path>
                <a:path w="0" h="6762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43775" y="3978275"/>
              <a:ext cx="66675" cy="57150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250" y="4692650"/>
              <a:ext cx="76200" cy="66675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/>
          <p:nvPr/>
        </p:nvSpPr>
        <p:spPr>
          <a:xfrm>
            <a:off x="6969125" y="4232275"/>
            <a:ext cx="869950" cy="2444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50800" marR="5080" indent="-38100">
              <a:lnSpc>
                <a:spcPts val="830"/>
              </a:lnSpc>
              <a:spcBef>
                <a:spcPts val="185"/>
              </a:spcBef>
            </a:pPr>
            <a:r>
              <a:rPr dirty="0" sz="750">
                <a:latin typeface="Arial"/>
                <a:cs typeface="Arial"/>
              </a:rPr>
              <a:t>PSTX-PRTXTKY</a:t>
            </a:r>
            <a:r>
              <a:rPr dirty="0" sz="750" spc="254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PSTT-</a:t>
            </a:r>
            <a:r>
              <a:rPr dirty="0" sz="750" spc="-10">
                <a:latin typeface="Arial"/>
                <a:cs typeface="Arial"/>
              </a:rPr>
              <a:t>PRTXTKY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66875" y="1549400"/>
            <a:ext cx="4343400" cy="5715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75"/>
              </a:spcBef>
            </a:pPr>
            <a:r>
              <a:rPr dirty="0" sz="950" spc="-10">
                <a:latin typeface="Arial"/>
                <a:cs typeface="Arial"/>
              </a:rPr>
              <a:t>PROJECTS</a:t>
            </a:r>
            <a:endParaRPr sz="950">
              <a:latin typeface="Arial"/>
              <a:cs typeface="Arial"/>
            </a:endParaRPr>
          </a:p>
          <a:p>
            <a:pPr marL="28575" marR="277495">
              <a:lnSpc>
                <a:spcPct val="105300"/>
              </a:lnSpc>
            </a:pPr>
            <a:r>
              <a:rPr dirty="0" sz="950">
                <a:latin typeface="Arial"/>
                <a:cs typeface="Arial"/>
              </a:rPr>
              <a:t>Project</a:t>
            </a:r>
            <a:r>
              <a:rPr dirty="0" sz="950" spc="5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and</a:t>
            </a:r>
            <a:r>
              <a:rPr dirty="0" sz="950" spc="5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WBS</a:t>
            </a:r>
            <a:r>
              <a:rPr dirty="0" sz="950" spc="5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element</a:t>
            </a:r>
            <a:r>
              <a:rPr dirty="0" sz="950" spc="5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numbers</a:t>
            </a:r>
            <a:r>
              <a:rPr dirty="0" sz="950" spc="5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have</a:t>
            </a:r>
            <a:r>
              <a:rPr dirty="0" sz="950" spc="5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a</a:t>
            </a:r>
            <a:r>
              <a:rPr dirty="0" sz="950" spc="5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domain</a:t>
            </a:r>
            <a:r>
              <a:rPr dirty="0" sz="950" spc="5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with</a:t>
            </a:r>
            <a:r>
              <a:rPr dirty="0" sz="950" spc="5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a</a:t>
            </a:r>
            <a:r>
              <a:rPr dirty="0" sz="950" spc="50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conversion </a:t>
            </a:r>
            <a:r>
              <a:rPr dirty="0" sz="950">
                <a:latin typeface="Arial"/>
                <a:cs typeface="Arial"/>
              </a:rPr>
              <a:t>function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module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which</a:t>
            </a:r>
            <a:r>
              <a:rPr dirty="0" sz="950" spc="6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converts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it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from</a:t>
            </a:r>
            <a:r>
              <a:rPr dirty="0" sz="950" spc="6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8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numc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input</a:t>
            </a:r>
            <a:r>
              <a:rPr dirty="0" sz="950" spc="6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to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24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char</a:t>
            </a:r>
            <a:r>
              <a:rPr dirty="0" sz="950" spc="6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on</a:t>
            </a:r>
            <a:r>
              <a:rPr dirty="0" sz="950" spc="60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output.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066925" y="2378075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PROJ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(Project</a:t>
            </a:r>
            <a:r>
              <a:rPr dirty="0" sz="800" spc="18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definition)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066925" y="2663825"/>
            <a:ext cx="1885950" cy="400050"/>
          </a:xfrm>
          <a:custGeom>
            <a:avLst/>
            <a:gdLst/>
            <a:ahLst/>
            <a:cxnLst/>
            <a:rect l="l" t="t" r="r" b="b"/>
            <a:pathLst>
              <a:path w="1885950" h="400050">
                <a:moveTo>
                  <a:pt x="0" y="352425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352425"/>
                </a:lnTo>
                <a:lnTo>
                  <a:pt x="1733550" y="323850"/>
                </a:lnTo>
                <a:lnTo>
                  <a:pt x="1571625" y="304800"/>
                </a:lnTo>
                <a:lnTo>
                  <a:pt x="1419225" y="295275"/>
                </a:lnTo>
                <a:lnTo>
                  <a:pt x="1257300" y="304800"/>
                </a:lnTo>
                <a:lnTo>
                  <a:pt x="1095375" y="323850"/>
                </a:lnTo>
                <a:lnTo>
                  <a:pt x="942975" y="352425"/>
                </a:lnTo>
                <a:lnTo>
                  <a:pt x="790575" y="371475"/>
                </a:lnTo>
                <a:lnTo>
                  <a:pt x="628650" y="390525"/>
                </a:lnTo>
                <a:lnTo>
                  <a:pt x="476250" y="400050"/>
                </a:lnTo>
                <a:lnTo>
                  <a:pt x="314325" y="390525"/>
                </a:lnTo>
                <a:lnTo>
                  <a:pt x="152400" y="371475"/>
                </a:lnTo>
                <a:lnTo>
                  <a:pt x="0" y="3524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082800" y="2660650"/>
            <a:ext cx="1130935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800" spc="-25">
                <a:latin typeface="Arial"/>
                <a:cs typeface="Arial"/>
              </a:rPr>
              <a:t>Project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Number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(PSPNR) </a:t>
            </a:r>
            <a:r>
              <a:rPr dirty="0" sz="800" spc="-30">
                <a:latin typeface="Arial"/>
                <a:cs typeface="Arial"/>
              </a:rPr>
              <a:t>Project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Name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(PSPID)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066925" y="3492500"/>
            <a:ext cx="1885950" cy="4286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PRPS</a:t>
            </a:r>
            <a:endParaRPr sz="800">
              <a:latin typeface="Arial"/>
              <a:cs typeface="Arial"/>
            </a:endParaRPr>
          </a:p>
          <a:p>
            <a:pPr marL="28575" marR="39370">
              <a:lnSpc>
                <a:spcPct val="101600"/>
              </a:lnSpc>
            </a:pPr>
            <a:r>
              <a:rPr dirty="0" sz="800" b="1">
                <a:latin typeface="Arial"/>
                <a:cs typeface="Arial"/>
              </a:rPr>
              <a:t>(WBS</a:t>
            </a:r>
            <a:r>
              <a:rPr dirty="0" sz="800" spc="19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(Work</a:t>
            </a:r>
            <a:r>
              <a:rPr dirty="0" sz="800" spc="20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Breakdown</a:t>
            </a:r>
            <a:r>
              <a:rPr dirty="0" sz="800" spc="19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Structure) </a:t>
            </a:r>
            <a:r>
              <a:rPr dirty="0" sz="800" b="1">
                <a:latin typeface="Arial"/>
                <a:cs typeface="Arial"/>
              </a:rPr>
              <a:t>Element</a:t>
            </a:r>
            <a:r>
              <a:rPr dirty="0" sz="800" spc="18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Master</a:t>
            </a:r>
            <a:r>
              <a:rPr dirty="0" sz="800" spc="18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Data))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066925" y="3921125"/>
            <a:ext cx="1885950" cy="504825"/>
          </a:xfrm>
          <a:custGeom>
            <a:avLst/>
            <a:gdLst/>
            <a:ahLst/>
            <a:cxnLst/>
            <a:rect l="l" t="t" r="r" b="b"/>
            <a:pathLst>
              <a:path w="1885950" h="504825">
                <a:moveTo>
                  <a:pt x="0" y="447675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447675"/>
                </a:lnTo>
                <a:lnTo>
                  <a:pt x="1619250" y="390525"/>
                </a:lnTo>
                <a:lnTo>
                  <a:pt x="1485900" y="381000"/>
                </a:lnTo>
                <a:lnTo>
                  <a:pt x="1352550" y="381000"/>
                </a:lnTo>
                <a:lnTo>
                  <a:pt x="1209675" y="390525"/>
                </a:lnTo>
                <a:lnTo>
                  <a:pt x="809625" y="476250"/>
                </a:lnTo>
                <a:lnTo>
                  <a:pt x="676275" y="495300"/>
                </a:lnTo>
                <a:lnTo>
                  <a:pt x="542925" y="504825"/>
                </a:lnTo>
                <a:lnTo>
                  <a:pt x="400050" y="504825"/>
                </a:lnTo>
                <a:lnTo>
                  <a:pt x="266700" y="495300"/>
                </a:lnTo>
                <a:lnTo>
                  <a:pt x="133350" y="476250"/>
                </a:lnTo>
                <a:lnTo>
                  <a:pt x="0" y="447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082800" y="3917950"/>
            <a:ext cx="1426210" cy="3987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Project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Number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(PSPHI)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01600"/>
              </a:lnSpc>
            </a:pPr>
            <a:r>
              <a:rPr dirty="0" sz="800" spc="-20">
                <a:latin typeface="Arial"/>
                <a:cs typeface="Arial"/>
              </a:rPr>
              <a:t>WBS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Element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Number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(PSPNR)</a:t>
            </a:r>
            <a:r>
              <a:rPr dirty="0" sz="800" spc="-20">
                <a:latin typeface="Arial"/>
                <a:cs typeface="Arial"/>
              </a:rPr>
              <a:t> WBS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Name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(POSID)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924175" y="3016250"/>
            <a:ext cx="171450" cy="476250"/>
          </a:xfrm>
          <a:custGeom>
            <a:avLst/>
            <a:gdLst/>
            <a:ahLst/>
            <a:cxnLst/>
            <a:rect l="l" t="t" r="r" b="b"/>
            <a:pathLst>
              <a:path w="171450" h="476250">
                <a:moveTo>
                  <a:pt x="85725" y="0"/>
                </a:moveTo>
                <a:lnTo>
                  <a:pt x="85725" y="295275"/>
                </a:lnTo>
                <a:lnTo>
                  <a:pt x="85725" y="476250"/>
                </a:lnTo>
              </a:path>
              <a:path w="171450" h="476250">
                <a:moveTo>
                  <a:pt x="85725" y="295275"/>
                </a:moveTo>
                <a:lnTo>
                  <a:pt x="0" y="476250"/>
                </a:lnTo>
              </a:path>
              <a:path w="171450" h="476250">
                <a:moveTo>
                  <a:pt x="85725" y="295275"/>
                </a:moveTo>
                <a:lnTo>
                  <a:pt x="171450" y="4762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810125" y="4740275"/>
            <a:ext cx="1885950" cy="4286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75"/>
              </a:spcBef>
            </a:pPr>
            <a:r>
              <a:rPr dirty="0" sz="800" spc="-10" b="1">
                <a:latin typeface="Arial"/>
                <a:cs typeface="Arial"/>
              </a:rPr>
              <a:t>PRHIS</a:t>
            </a:r>
            <a:endParaRPr sz="800">
              <a:latin typeface="Arial"/>
              <a:cs typeface="Arial"/>
            </a:endParaRPr>
          </a:p>
          <a:p>
            <a:pPr marL="28575" marR="144145">
              <a:lnSpc>
                <a:spcPct val="101600"/>
              </a:lnSpc>
            </a:pPr>
            <a:r>
              <a:rPr dirty="0" sz="800" b="1">
                <a:latin typeface="Arial"/>
                <a:cs typeface="Arial"/>
              </a:rPr>
              <a:t>(Standard</a:t>
            </a:r>
            <a:r>
              <a:rPr dirty="0" sz="800" spc="10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WBS,</a:t>
            </a:r>
            <a:r>
              <a:rPr dirty="0" sz="800" spc="10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Edges</a:t>
            </a:r>
            <a:r>
              <a:rPr dirty="0" sz="800" spc="10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(Hierarchy pointers))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810125" y="5168900"/>
            <a:ext cx="1885950" cy="400050"/>
          </a:xfrm>
          <a:custGeom>
            <a:avLst/>
            <a:gdLst/>
            <a:ahLst/>
            <a:cxnLst/>
            <a:rect l="l" t="t" r="r" b="b"/>
            <a:pathLst>
              <a:path w="1885950" h="400050">
                <a:moveTo>
                  <a:pt x="0" y="352425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352425"/>
                </a:lnTo>
                <a:lnTo>
                  <a:pt x="1733550" y="323850"/>
                </a:lnTo>
                <a:lnTo>
                  <a:pt x="1571625" y="304800"/>
                </a:lnTo>
                <a:lnTo>
                  <a:pt x="1257300" y="304800"/>
                </a:lnTo>
                <a:lnTo>
                  <a:pt x="1095375" y="323850"/>
                </a:lnTo>
                <a:lnTo>
                  <a:pt x="790575" y="381000"/>
                </a:lnTo>
                <a:lnTo>
                  <a:pt x="628650" y="400050"/>
                </a:lnTo>
                <a:lnTo>
                  <a:pt x="314325" y="400050"/>
                </a:lnTo>
                <a:lnTo>
                  <a:pt x="152400" y="381000"/>
                </a:lnTo>
                <a:lnTo>
                  <a:pt x="0" y="3524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826000" y="5175250"/>
            <a:ext cx="1445260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93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Project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Number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(PSPHI)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30"/>
              </a:lnSpc>
            </a:pPr>
            <a:r>
              <a:rPr dirty="0" sz="800" spc="-20">
                <a:latin typeface="Arial"/>
                <a:cs typeface="Arial"/>
              </a:rPr>
              <a:t>WBS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Element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Number</a:t>
            </a:r>
            <a:r>
              <a:rPr dirty="0" sz="800" spc="-10">
                <a:latin typeface="Arial"/>
                <a:cs typeface="Arial"/>
              </a:rPr>
              <a:t> (POSNR)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125" y="3178175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PRTE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(Scheduling</a:t>
            </a:r>
            <a:r>
              <a:rPr dirty="0" sz="800" spc="15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Data</a:t>
            </a:r>
            <a:r>
              <a:rPr dirty="0" sz="800" spc="15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for</a:t>
            </a:r>
            <a:r>
              <a:rPr dirty="0" sz="800" spc="15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Project</a:t>
            </a:r>
            <a:r>
              <a:rPr dirty="0" sz="800" spc="15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Item)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810125" y="3463925"/>
            <a:ext cx="1885950" cy="447675"/>
          </a:xfrm>
          <a:custGeom>
            <a:avLst/>
            <a:gdLst/>
            <a:ahLst/>
            <a:cxnLst/>
            <a:rect l="l" t="t" r="r" b="b"/>
            <a:pathLst>
              <a:path w="1885950" h="447675">
                <a:moveTo>
                  <a:pt x="0" y="400050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400050"/>
                </a:lnTo>
                <a:lnTo>
                  <a:pt x="1752600" y="371475"/>
                </a:lnTo>
                <a:lnTo>
                  <a:pt x="1619250" y="352425"/>
                </a:lnTo>
                <a:lnTo>
                  <a:pt x="1485900" y="342900"/>
                </a:lnTo>
                <a:lnTo>
                  <a:pt x="1352550" y="342900"/>
                </a:lnTo>
                <a:lnTo>
                  <a:pt x="1209675" y="352425"/>
                </a:lnTo>
                <a:lnTo>
                  <a:pt x="1076325" y="371475"/>
                </a:lnTo>
                <a:lnTo>
                  <a:pt x="809625" y="428625"/>
                </a:lnTo>
                <a:lnTo>
                  <a:pt x="542925" y="447675"/>
                </a:lnTo>
                <a:lnTo>
                  <a:pt x="400050" y="447675"/>
                </a:lnTo>
                <a:lnTo>
                  <a:pt x="133350" y="428625"/>
                </a:lnTo>
                <a:lnTo>
                  <a:pt x="0" y="4000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826000" y="3460750"/>
            <a:ext cx="1445260" cy="2749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Project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Number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(PSPHI)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00" spc="-20">
                <a:latin typeface="Arial"/>
                <a:cs typeface="Arial"/>
              </a:rPr>
              <a:t>WBS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Element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Number</a:t>
            </a:r>
            <a:r>
              <a:rPr dirty="0" sz="800" spc="-10">
                <a:latin typeface="Arial"/>
                <a:cs typeface="Arial"/>
              </a:rPr>
              <a:t> (POSNR)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952875" y="3321050"/>
            <a:ext cx="3600450" cy="1638300"/>
          </a:xfrm>
          <a:custGeom>
            <a:avLst/>
            <a:gdLst/>
            <a:ahLst/>
            <a:cxnLst/>
            <a:rect l="l" t="t" r="r" b="b"/>
            <a:pathLst>
              <a:path w="3600450" h="1638300">
                <a:moveTo>
                  <a:pt x="0" y="381000"/>
                </a:moveTo>
                <a:lnTo>
                  <a:pt x="857250" y="0"/>
                </a:lnTo>
              </a:path>
              <a:path w="3600450" h="1638300">
                <a:moveTo>
                  <a:pt x="0" y="381000"/>
                </a:moveTo>
                <a:lnTo>
                  <a:pt x="857250" y="1638300"/>
                </a:lnTo>
              </a:path>
              <a:path w="3600450" h="1638300">
                <a:moveTo>
                  <a:pt x="2743200" y="0"/>
                </a:moveTo>
                <a:lnTo>
                  <a:pt x="3600450" y="10287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553325" y="4197350"/>
            <a:ext cx="1885950" cy="2952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75"/>
              </a:spcBef>
            </a:pPr>
            <a:r>
              <a:rPr dirty="0" sz="800" spc="-20" b="1">
                <a:latin typeface="Arial"/>
                <a:cs typeface="Arial"/>
              </a:rPr>
              <a:t>PRTX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(PS</a:t>
            </a:r>
            <a:r>
              <a:rPr dirty="0" sz="800" spc="5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Texts</a:t>
            </a:r>
            <a:r>
              <a:rPr dirty="0" sz="800" spc="5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(WBS))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7553325" y="4492625"/>
            <a:ext cx="1885950" cy="447675"/>
          </a:xfrm>
          <a:custGeom>
            <a:avLst/>
            <a:gdLst/>
            <a:ahLst/>
            <a:cxnLst/>
            <a:rect l="l" t="t" r="r" b="b"/>
            <a:pathLst>
              <a:path w="1885950" h="447675">
                <a:moveTo>
                  <a:pt x="0" y="390525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390525"/>
                </a:lnTo>
                <a:lnTo>
                  <a:pt x="1619250" y="352425"/>
                </a:lnTo>
                <a:lnTo>
                  <a:pt x="1485900" y="342900"/>
                </a:lnTo>
                <a:lnTo>
                  <a:pt x="1343025" y="342900"/>
                </a:lnTo>
                <a:lnTo>
                  <a:pt x="1209675" y="352425"/>
                </a:lnTo>
                <a:lnTo>
                  <a:pt x="942975" y="390525"/>
                </a:lnTo>
                <a:lnTo>
                  <a:pt x="676275" y="447675"/>
                </a:lnTo>
                <a:lnTo>
                  <a:pt x="266700" y="447675"/>
                </a:lnTo>
                <a:lnTo>
                  <a:pt x="0" y="3905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7569200" y="4489450"/>
            <a:ext cx="1550035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800" spc="-20">
                <a:latin typeface="Arial"/>
                <a:cs typeface="Arial"/>
              </a:rPr>
              <a:t>WBS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Element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Number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(PRPSPNR)</a:t>
            </a:r>
            <a:r>
              <a:rPr dirty="0" sz="800">
                <a:latin typeface="Arial"/>
                <a:cs typeface="Arial"/>
              </a:rPr>
              <a:t> Text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Identifier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(PRTXTKY)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7553325" y="4883150"/>
            <a:ext cx="1885950" cy="685800"/>
          </a:xfrm>
          <a:custGeom>
            <a:avLst/>
            <a:gdLst/>
            <a:ahLst/>
            <a:cxnLst/>
            <a:rect l="l" t="t" r="r" b="b"/>
            <a:pathLst>
              <a:path w="1885950" h="685800">
                <a:moveTo>
                  <a:pt x="942975" y="0"/>
                </a:moveTo>
                <a:lnTo>
                  <a:pt x="942975" y="409575"/>
                </a:lnTo>
              </a:path>
              <a:path w="1885950" h="685800">
                <a:moveTo>
                  <a:pt x="0" y="685800"/>
                </a:moveTo>
                <a:lnTo>
                  <a:pt x="1885950" y="685800"/>
                </a:lnTo>
                <a:lnTo>
                  <a:pt x="1885950" y="409575"/>
                </a:lnTo>
                <a:lnTo>
                  <a:pt x="0" y="409575"/>
                </a:lnTo>
                <a:lnTo>
                  <a:pt x="0" y="685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7558087" y="5289550"/>
            <a:ext cx="1876425" cy="2749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PSTX</a:t>
            </a:r>
            <a:endParaRPr sz="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(PS</a:t>
            </a:r>
            <a:r>
              <a:rPr dirty="0" sz="800" spc="1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Texts</a:t>
            </a:r>
            <a:r>
              <a:rPr dirty="0" sz="800" spc="114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(Header))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7548562" y="5545137"/>
            <a:ext cx="1895475" cy="371475"/>
            <a:chOff x="7548562" y="5545137"/>
            <a:chExt cx="1895475" cy="371475"/>
          </a:xfrm>
        </p:grpSpPr>
        <p:sp>
          <p:nvSpPr>
            <p:cNvPr id="23" name="object 23" descr=""/>
            <p:cNvSpPr/>
            <p:nvPr/>
          </p:nvSpPr>
          <p:spPr>
            <a:xfrm>
              <a:off x="7553325" y="5549900"/>
              <a:ext cx="1885950" cy="361950"/>
            </a:xfrm>
            <a:custGeom>
              <a:avLst/>
              <a:gdLst/>
              <a:ahLst/>
              <a:cxnLst/>
              <a:rect l="l" t="t" r="r" b="b"/>
              <a:pathLst>
                <a:path w="1885950" h="361950">
                  <a:moveTo>
                    <a:pt x="188595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152400" y="342900"/>
                  </a:lnTo>
                  <a:lnTo>
                    <a:pt x="314325" y="361950"/>
                  </a:lnTo>
                  <a:lnTo>
                    <a:pt x="628650" y="361950"/>
                  </a:lnTo>
                  <a:lnTo>
                    <a:pt x="790575" y="342900"/>
                  </a:lnTo>
                  <a:lnTo>
                    <a:pt x="942975" y="323850"/>
                  </a:lnTo>
                  <a:lnTo>
                    <a:pt x="1104900" y="295275"/>
                  </a:lnTo>
                  <a:lnTo>
                    <a:pt x="1257300" y="276225"/>
                  </a:lnTo>
                  <a:lnTo>
                    <a:pt x="1571625" y="276225"/>
                  </a:lnTo>
                  <a:lnTo>
                    <a:pt x="1724025" y="295275"/>
                  </a:lnTo>
                  <a:lnTo>
                    <a:pt x="1885950" y="323850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553325" y="5549900"/>
              <a:ext cx="1885950" cy="361950"/>
            </a:xfrm>
            <a:custGeom>
              <a:avLst/>
              <a:gdLst/>
              <a:ahLst/>
              <a:cxnLst/>
              <a:rect l="l" t="t" r="r" b="b"/>
              <a:pathLst>
                <a:path w="1885950" h="361950">
                  <a:moveTo>
                    <a:pt x="0" y="323850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323850"/>
                  </a:lnTo>
                  <a:lnTo>
                    <a:pt x="1724025" y="295275"/>
                  </a:lnTo>
                  <a:lnTo>
                    <a:pt x="1571625" y="276225"/>
                  </a:lnTo>
                  <a:lnTo>
                    <a:pt x="1257300" y="276225"/>
                  </a:lnTo>
                  <a:lnTo>
                    <a:pt x="1104900" y="295275"/>
                  </a:lnTo>
                  <a:lnTo>
                    <a:pt x="942975" y="323850"/>
                  </a:lnTo>
                  <a:lnTo>
                    <a:pt x="790575" y="342900"/>
                  </a:lnTo>
                  <a:lnTo>
                    <a:pt x="628650" y="361950"/>
                  </a:lnTo>
                  <a:lnTo>
                    <a:pt x="314325" y="361950"/>
                  </a:lnTo>
                  <a:lnTo>
                    <a:pt x="152400" y="342900"/>
                  </a:lnTo>
                  <a:lnTo>
                    <a:pt x="0" y="3238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569200" y="5546725"/>
            <a:ext cx="1358900" cy="2749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Text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Identifier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(PRTXTKY)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00">
                <a:latin typeface="Arial"/>
                <a:cs typeface="Arial"/>
              </a:rPr>
              <a:t>PS</a:t>
            </a:r>
            <a:r>
              <a:rPr dirty="0" sz="800" spc="-10">
                <a:latin typeface="Arial"/>
                <a:cs typeface="Arial"/>
              </a:rPr>
              <a:t> text </a:t>
            </a:r>
            <a:r>
              <a:rPr dirty="0" sz="800" spc="-20">
                <a:latin typeface="Arial"/>
                <a:cs typeface="Arial"/>
              </a:rPr>
              <a:t>description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(PSTXTTI)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548562" y="5873750"/>
            <a:ext cx="1895475" cy="1043305"/>
            <a:chOff x="7548562" y="5873750"/>
            <a:chExt cx="1895475" cy="1043305"/>
          </a:xfrm>
        </p:grpSpPr>
        <p:sp>
          <p:nvSpPr>
            <p:cNvPr id="27" name="object 27" descr=""/>
            <p:cNvSpPr/>
            <p:nvPr/>
          </p:nvSpPr>
          <p:spPr>
            <a:xfrm>
              <a:off x="7553325" y="5873750"/>
              <a:ext cx="1885950" cy="695325"/>
            </a:xfrm>
            <a:custGeom>
              <a:avLst/>
              <a:gdLst/>
              <a:ahLst/>
              <a:cxnLst/>
              <a:rect l="l" t="t" r="r" b="b"/>
              <a:pathLst>
                <a:path w="1885950" h="695325">
                  <a:moveTo>
                    <a:pt x="942975" y="0"/>
                  </a:moveTo>
                  <a:lnTo>
                    <a:pt x="942975" y="409575"/>
                  </a:lnTo>
                </a:path>
                <a:path w="1885950" h="695325">
                  <a:moveTo>
                    <a:pt x="0" y="695325"/>
                  </a:moveTo>
                  <a:lnTo>
                    <a:pt x="1885950" y="695325"/>
                  </a:lnTo>
                  <a:lnTo>
                    <a:pt x="1885950" y="409575"/>
                  </a:lnTo>
                  <a:lnTo>
                    <a:pt x="0" y="409575"/>
                  </a:lnTo>
                  <a:lnTo>
                    <a:pt x="0" y="6953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553325" y="6550025"/>
              <a:ext cx="1885950" cy="361950"/>
            </a:xfrm>
            <a:custGeom>
              <a:avLst/>
              <a:gdLst/>
              <a:ahLst/>
              <a:cxnLst/>
              <a:rect l="l" t="t" r="r" b="b"/>
              <a:pathLst>
                <a:path w="1885950" h="361950">
                  <a:moveTo>
                    <a:pt x="18859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52400" y="342900"/>
                  </a:lnTo>
                  <a:lnTo>
                    <a:pt x="314325" y="361950"/>
                  </a:lnTo>
                  <a:lnTo>
                    <a:pt x="628650" y="361950"/>
                  </a:lnTo>
                  <a:lnTo>
                    <a:pt x="790575" y="342900"/>
                  </a:lnTo>
                  <a:lnTo>
                    <a:pt x="942975" y="314325"/>
                  </a:lnTo>
                  <a:lnTo>
                    <a:pt x="1104900" y="295275"/>
                  </a:lnTo>
                  <a:lnTo>
                    <a:pt x="1257300" y="276225"/>
                  </a:lnTo>
                  <a:lnTo>
                    <a:pt x="1571625" y="276225"/>
                  </a:lnTo>
                  <a:lnTo>
                    <a:pt x="1724025" y="295275"/>
                  </a:lnTo>
                  <a:lnTo>
                    <a:pt x="1885950" y="314325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553325" y="6550025"/>
              <a:ext cx="1885950" cy="361950"/>
            </a:xfrm>
            <a:custGeom>
              <a:avLst/>
              <a:gdLst/>
              <a:ahLst/>
              <a:cxnLst/>
              <a:rect l="l" t="t" r="r" b="b"/>
              <a:pathLst>
                <a:path w="1885950" h="361950">
                  <a:moveTo>
                    <a:pt x="0" y="314325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314325"/>
                  </a:lnTo>
                  <a:lnTo>
                    <a:pt x="1724025" y="295275"/>
                  </a:lnTo>
                  <a:lnTo>
                    <a:pt x="1571625" y="276225"/>
                  </a:lnTo>
                  <a:lnTo>
                    <a:pt x="1257300" y="276225"/>
                  </a:lnTo>
                  <a:lnTo>
                    <a:pt x="1104900" y="295275"/>
                  </a:lnTo>
                  <a:lnTo>
                    <a:pt x="942975" y="314325"/>
                  </a:lnTo>
                  <a:lnTo>
                    <a:pt x="790575" y="342900"/>
                  </a:lnTo>
                  <a:lnTo>
                    <a:pt x="628650" y="361950"/>
                  </a:lnTo>
                  <a:lnTo>
                    <a:pt x="314325" y="361950"/>
                  </a:lnTo>
                  <a:lnTo>
                    <a:pt x="152400" y="342900"/>
                  </a:lnTo>
                  <a:lnTo>
                    <a:pt x="0" y="3143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7558087" y="6289675"/>
            <a:ext cx="1876425" cy="532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3495">
              <a:lnSpc>
                <a:spcPts val="93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PSTT</a:t>
            </a:r>
            <a:endParaRPr sz="800">
              <a:latin typeface="Arial"/>
              <a:cs typeface="Arial"/>
            </a:endParaRPr>
          </a:p>
          <a:p>
            <a:pPr marL="23495">
              <a:lnSpc>
                <a:spcPts val="930"/>
              </a:lnSpc>
            </a:pPr>
            <a:r>
              <a:rPr dirty="0" sz="800" b="1">
                <a:latin typeface="Arial"/>
                <a:cs typeface="Arial"/>
              </a:rPr>
              <a:t>(PS</a:t>
            </a:r>
            <a:r>
              <a:rPr dirty="0" sz="800" spc="114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texts</a:t>
            </a:r>
            <a:r>
              <a:rPr dirty="0" sz="800" spc="114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(description))</a:t>
            </a:r>
            <a:endParaRPr sz="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165"/>
              </a:spcBef>
            </a:pPr>
            <a:r>
              <a:rPr dirty="0" sz="800">
                <a:latin typeface="Arial"/>
                <a:cs typeface="Arial"/>
              </a:rPr>
              <a:t>Text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Identifier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(PRTXTKY)</a:t>
            </a:r>
            <a:endParaRPr sz="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15"/>
              </a:spcBef>
            </a:pPr>
            <a:r>
              <a:rPr dirty="0" sz="800">
                <a:latin typeface="Arial"/>
                <a:cs typeface="Arial"/>
              </a:rPr>
              <a:t>PS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text: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Description(PTKTEXT)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4543425" y="577850"/>
            <a:ext cx="2495550" cy="457200"/>
            <a:chOff x="4543425" y="577850"/>
            <a:chExt cx="2495550" cy="457200"/>
          </a:xfrm>
        </p:grpSpPr>
        <p:sp>
          <p:nvSpPr>
            <p:cNvPr id="32" name="object 32" descr=""/>
            <p:cNvSpPr/>
            <p:nvPr/>
          </p:nvSpPr>
          <p:spPr>
            <a:xfrm>
              <a:off x="4657725" y="6921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238125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381250" y="342900"/>
                  </a:lnTo>
                  <a:lnTo>
                    <a:pt x="238125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543425" y="5778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238125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381250" y="342900"/>
                  </a:lnTo>
                  <a:lnTo>
                    <a:pt x="2381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4543425" y="577850"/>
            <a:ext cx="2381250" cy="3429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00"/>
              </a:spcBef>
            </a:pPr>
            <a:r>
              <a:rPr dirty="0" sz="1400" b="1">
                <a:latin typeface="Arial"/>
                <a:cs typeface="Arial"/>
              </a:rPr>
              <a:t>SAP</a:t>
            </a:r>
            <a:r>
              <a:rPr dirty="0" sz="1400" spc="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PP</a:t>
            </a:r>
            <a:r>
              <a:rPr dirty="0" sz="1400" spc="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-</a:t>
            </a:r>
            <a:r>
              <a:rPr dirty="0" sz="1400" spc="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Project</a:t>
            </a:r>
            <a:r>
              <a:rPr dirty="0" sz="1400" spc="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Planning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02125" y="336550"/>
            <a:ext cx="191135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SAP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-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Sales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Distribution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052762" y="2411412"/>
            <a:ext cx="1419225" cy="981075"/>
            <a:chOff x="3052762" y="2411412"/>
            <a:chExt cx="1419225" cy="981075"/>
          </a:xfrm>
        </p:grpSpPr>
        <p:sp>
          <p:nvSpPr>
            <p:cNvPr id="4" name="object 4" descr=""/>
            <p:cNvSpPr/>
            <p:nvPr/>
          </p:nvSpPr>
          <p:spPr>
            <a:xfrm>
              <a:off x="3057525" y="3282950"/>
              <a:ext cx="1409700" cy="104775"/>
            </a:xfrm>
            <a:custGeom>
              <a:avLst/>
              <a:gdLst/>
              <a:ahLst/>
              <a:cxnLst/>
              <a:rect l="l" t="t" r="r" b="b"/>
              <a:pathLst>
                <a:path w="1409700" h="104775">
                  <a:moveTo>
                    <a:pt x="1295400" y="0"/>
                  </a:moveTo>
                  <a:lnTo>
                    <a:pt x="0" y="0"/>
                  </a:lnTo>
                  <a:lnTo>
                    <a:pt x="114300" y="104775"/>
                  </a:lnTo>
                  <a:lnTo>
                    <a:pt x="1409700" y="104775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57525" y="3282950"/>
              <a:ext cx="1409700" cy="104775"/>
            </a:xfrm>
            <a:custGeom>
              <a:avLst/>
              <a:gdLst/>
              <a:ahLst/>
              <a:cxnLst/>
              <a:rect l="l" t="t" r="r" b="b"/>
              <a:pathLst>
                <a:path w="1409700" h="104775">
                  <a:moveTo>
                    <a:pt x="1295400" y="0"/>
                  </a:moveTo>
                  <a:lnTo>
                    <a:pt x="0" y="0"/>
                  </a:lnTo>
                  <a:lnTo>
                    <a:pt x="114300" y="104775"/>
                  </a:lnTo>
                  <a:lnTo>
                    <a:pt x="1409700" y="104775"/>
                  </a:lnTo>
                  <a:lnTo>
                    <a:pt x="12954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52925" y="2416175"/>
              <a:ext cx="114300" cy="971550"/>
            </a:xfrm>
            <a:custGeom>
              <a:avLst/>
              <a:gdLst/>
              <a:ahLst/>
              <a:cxnLst/>
              <a:rect l="l" t="t" r="r" b="b"/>
              <a:pathLst>
                <a:path w="114300" h="971550">
                  <a:moveTo>
                    <a:pt x="0" y="0"/>
                  </a:moveTo>
                  <a:lnTo>
                    <a:pt x="0" y="866775"/>
                  </a:lnTo>
                  <a:lnTo>
                    <a:pt x="114300" y="971550"/>
                  </a:lnTo>
                  <a:lnTo>
                    <a:pt x="11430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57525" y="2416175"/>
              <a:ext cx="1409700" cy="971550"/>
            </a:xfrm>
            <a:custGeom>
              <a:avLst/>
              <a:gdLst/>
              <a:ahLst/>
              <a:cxnLst/>
              <a:rect l="l" t="t" r="r" b="b"/>
              <a:pathLst>
                <a:path w="1409700" h="971550">
                  <a:moveTo>
                    <a:pt x="1409700" y="971550"/>
                  </a:moveTo>
                  <a:lnTo>
                    <a:pt x="1295400" y="866775"/>
                  </a:lnTo>
                  <a:lnTo>
                    <a:pt x="1295400" y="0"/>
                  </a:lnTo>
                  <a:lnTo>
                    <a:pt x="1409700" y="104775"/>
                  </a:lnTo>
                  <a:lnTo>
                    <a:pt x="1409700" y="971550"/>
                  </a:lnTo>
                  <a:close/>
                </a:path>
                <a:path w="1409700" h="971550">
                  <a:moveTo>
                    <a:pt x="0" y="866775"/>
                  </a:moveTo>
                  <a:lnTo>
                    <a:pt x="1295400" y="866775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8667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244850" y="2765425"/>
            <a:ext cx="11880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95">
                <a:latin typeface="Arial"/>
                <a:cs typeface="Arial"/>
              </a:rPr>
              <a:t>Sales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110">
                <a:latin typeface="Arial"/>
                <a:cs typeface="Arial"/>
              </a:rPr>
              <a:t>and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Distribution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072187" y="1544637"/>
            <a:ext cx="1419225" cy="981075"/>
            <a:chOff x="6072187" y="1544637"/>
            <a:chExt cx="1419225" cy="981075"/>
          </a:xfrm>
        </p:grpSpPr>
        <p:sp>
          <p:nvSpPr>
            <p:cNvPr id="10" name="object 10" descr=""/>
            <p:cNvSpPr/>
            <p:nvPr/>
          </p:nvSpPr>
          <p:spPr>
            <a:xfrm>
              <a:off x="6076950" y="2416175"/>
              <a:ext cx="1409700" cy="104775"/>
            </a:xfrm>
            <a:custGeom>
              <a:avLst/>
              <a:gdLst/>
              <a:ahLst/>
              <a:cxnLst/>
              <a:rect l="l" t="t" r="r" b="b"/>
              <a:pathLst>
                <a:path w="1409700" h="104775">
                  <a:moveTo>
                    <a:pt x="1304925" y="0"/>
                  </a:moveTo>
                  <a:lnTo>
                    <a:pt x="0" y="0"/>
                  </a:lnTo>
                  <a:lnTo>
                    <a:pt x="114300" y="104775"/>
                  </a:lnTo>
                  <a:lnTo>
                    <a:pt x="1409700" y="104775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076950" y="2416175"/>
              <a:ext cx="1409700" cy="104775"/>
            </a:xfrm>
            <a:custGeom>
              <a:avLst/>
              <a:gdLst/>
              <a:ahLst/>
              <a:cxnLst/>
              <a:rect l="l" t="t" r="r" b="b"/>
              <a:pathLst>
                <a:path w="1409700" h="104775">
                  <a:moveTo>
                    <a:pt x="1304925" y="0"/>
                  </a:moveTo>
                  <a:lnTo>
                    <a:pt x="0" y="0"/>
                  </a:lnTo>
                  <a:lnTo>
                    <a:pt x="114300" y="104775"/>
                  </a:lnTo>
                  <a:lnTo>
                    <a:pt x="1409700" y="104775"/>
                  </a:lnTo>
                  <a:lnTo>
                    <a:pt x="130492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81875" y="1549400"/>
              <a:ext cx="104775" cy="971550"/>
            </a:xfrm>
            <a:custGeom>
              <a:avLst/>
              <a:gdLst/>
              <a:ahLst/>
              <a:cxnLst/>
              <a:rect l="l" t="t" r="r" b="b"/>
              <a:pathLst>
                <a:path w="104775" h="971550">
                  <a:moveTo>
                    <a:pt x="0" y="0"/>
                  </a:moveTo>
                  <a:lnTo>
                    <a:pt x="0" y="866775"/>
                  </a:lnTo>
                  <a:lnTo>
                    <a:pt x="104775" y="971550"/>
                  </a:lnTo>
                  <a:lnTo>
                    <a:pt x="104775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381875" y="1549400"/>
              <a:ext cx="104775" cy="971550"/>
            </a:xfrm>
            <a:custGeom>
              <a:avLst/>
              <a:gdLst/>
              <a:ahLst/>
              <a:cxnLst/>
              <a:rect l="l" t="t" r="r" b="b"/>
              <a:pathLst>
                <a:path w="104775" h="971550">
                  <a:moveTo>
                    <a:pt x="104775" y="971550"/>
                  </a:moveTo>
                  <a:lnTo>
                    <a:pt x="0" y="866775"/>
                  </a:lnTo>
                  <a:lnTo>
                    <a:pt x="0" y="0"/>
                  </a:lnTo>
                  <a:lnTo>
                    <a:pt x="104775" y="104775"/>
                  </a:lnTo>
                  <a:lnTo>
                    <a:pt x="104775" y="9715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076950" y="1549400"/>
            <a:ext cx="1304925" cy="8667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750">
              <a:latin typeface="Times New Roman"/>
              <a:cs typeface="Times New Roman"/>
            </a:endParaRPr>
          </a:p>
          <a:p>
            <a:pPr marL="247650">
              <a:lnSpc>
                <a:spcPct val="100000"/>
              </a:lnSpc>
            </a:pPr>
            <a:r>
              <a:rPr dirty="0" sz="750" spc="70">
                <a:latin typeface="Arial"/>
                <a:cs typeface="Arial"/>
              </a:rPr>
              <a:t>Finacial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Accounting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204912" y="3487737"/>
            <a:ext cx="1314450" cy="657225"/>
            <a:chOff x="1204912" y="3487737"/>
            <a:chExt cx="1314450" cy="657225"/>
          </a:xfrm>
        </p:grpSpPr>
        <p:sp>
          <p:nvSpPr>
            <p:cNvPr id="16" name="object 16" descr=""/>
            <p:cNvSpPr/>
            <p:nvPr/>
          </p:nvSpPr>
          <p:spPr>
            <a:xfrm>
              <a:off x="1209675" y="3492500"/>
              <a:ext cx="1304925" cy="647700"/>
            </a:xfrm>
            <a:custGeom>
              <a:avLst/>
              <a:gdLst/>
              <a:ahLst/>
              <a:cxnLst/>
              <a:rect l="l" t="t" r="r" b="b"/>
              <a:pathLst>
                <a:path w="1304925" h="647700">
                  <a:moveTo>
                    <a:pt x="1304925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04775" y="542925"/>
                  </a:lnTo>
                  <a:lnTo>
                    <a:pt x="1190625" y="11430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209675" y="3492500"/>
              <a:ext cx="1304925" cy="647700"/>
            </a:xfrm>
            <a:custGeom>
              <a:avLst/>
              <a:gdLst/>
              <a:ahLst/>
              <a:cxnLst/>
              <a:rect l="l" t="t" r="r" b="b"/>
              <a:pathLst>
                <a:path w="1304925" h="647700">
                  <a:moveTo>
                    <a:pt x="0" y="647700"/>
                  </a:moveTo>
                  <a:lnTo>
                    <a:pt x="104775" y="542925"/>
                  </a:lnTo>
                  <a:lnTo>
                    <a:pt x="1190625" y="114300"/>
                  </a:lnTo>
                  <a:lnTo>
                    <a:pt x="1304925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  <a:path w="1304925" h="647700">
                  <a:moveTo>
                    <a:pt x="0" y="0"/>
                  </a:moveTo>
                  <a:lnTo>
                    <a:pt x="104775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09675" y="3492500"/>
              <a:ext cx="1304925" cy="647700"/>
            </a:xfrm>
            <a:custGeom>
              <a:avLst/>
              <a:gdLst/>
              <a:ahLst/>
              <a:cxnLst/>
              <a:rect l="l" t="t" r="r" b="b"/>
              <a:pathLst>
                <a:path w="1304925" h="647700">
                  <a:moveTo>
                    <a:pt x="1304925" y="0"/>
                  </a:moveTo>
                  <a:lnTo>
                    <a:pt x="1190625" y="114300"/>
                  </a:lnTo>
                  <a:lnTo>
                    <a:pt x="104775" y="542925"/>
                  </a:lnTo>
                  <a:lnTo>
                    <a:pt x="0" y="647700"/>
                  </a:lnTo>
                  <a:lnTo>
                    <a:pt x="1304925" y="64770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209675" y="3492500"/>
              <a:ext cx="1304925" cy="647700"/>
            </a:xfrm>
            <a:custGeom>
              <a:avLst/>
              <a:gdLst/>
              <a:ahLst/>
              <a:cxnLst/>
              <a:rect l="l" t="t" r="r" b="b"/>
              <a:pathLst>
                <a:path w="1304925" h="647700">
                  <a:moveTo>
                    <a:pt x="104775" y="542925"/>
                  </a:moveTo>
                  <a:lnTo>
                    <a:pt x="0" y="647700"/>
                  </a:lnTo>
                  <a:lnTo>
                    <a:pt x="1304925" y="647700"/>
                  </a:lnTo>
                  <a:lnTo>
                    <a:pt x="1304925" y="0"/>
                  </a:lnTo>
                  <a:lnTo>
                    <a:pt x="1190625" y="114300"/>
                  </a:lnTo>
                  <a:lnTo>
                    <a:pt x="104775" y="542925"/>
                  </a:lnTo>
                  <a:close/>
                </a:path>
                <a:path w="1304925" h="647700">
                  <a:moveTo>
                    <a:pt x="1304925" y="647700"/>
                  </a:moveTo>
                  <a:lnTo>
                    <a:pt x="1190625" y="5429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314450" y="3606800"/>
            <a:ext cx="10858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75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</a:pPr>
            <a:r>
              <a:rPr dirty="0" sz="750" spc="65">
                <a:latin typeface="Arial"/>
                <a:cs typeface="Arial"/>
              </a:rPr>
              <a:t>Billing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920037" y="1649412"/>
            <a:ext cx="1304925" cy="657225"/>
            <a:chOff x="7920037" y="1649412"/>
            <a:chExt cx="1304925" cy="657225"/>
          </a:xfrm>
        </p:grpSpPr>
        <p:sp>
          <p:nvSpPr>
            <p:cNvPr id="22" name="object 22" descr=""/>
            <p:cNvSpPr/>
            <p:nvPr/>
          </p:nvSpPr>
          <p:spPr>
            <a:xfrm>
              <a:off x="7924800" y="1654175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129540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04775" y="542925"/>
                  </a:lnTo>
                  <a:lnTo>
                    <a:pt x="1190625" y="1143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924800" y="1654175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0" y="647700"/>
                  </a:moveTo>
                  <a:lnTo>
                    <a:pt x="104775" y="542925"/>
                  </a:lnTo>
                  <a:lnTo>
                    <a:pt x="1190625" y="1143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  <a:path w="1295400" h="647700">
                  <a:moveTo>
                    <a:pt x="0" y="0"/>
                  </a:moveTo>
                  <a:lnTo>
                    <a:pt x="104775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924800" y="1654175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1295400" y="0"/>
                  </a:moveTo>
                  <a:lnTo>
                    <a:pt x="1190625" y="114300"/>
                  </a:lnTo>
                  <a:lnTo>
                    <a:pt x="104775" y="542925"/>
                  </a:lnTo>
                  <a:lnTo>
                    <a:pt x="0" y="647700"/>
                  </a:lnTo>
                  <a:lnTo>
                    <a:pt x="1295400" y="6477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924800" y="1654175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104775" y="542925"/>
                  </a:moveTo>
                  <a:lnTo>
                    <a:pt x="0" y="647700"/>
                  </a:lnTo>
                  <a:lnTo>
                    <a:pt x="1295400" y="647700"/>
                  </a:lnTo>
                  <a:lnTo>
                    <a:pt x="1295400" y="0"/>
                  </a:lnTo>
                  <a:lnTo>
                    <a:pt x="1190625" y="114300"/>
                  </a:lnTo>
                  <a:lnTo>
                    <a:pt x="104775" y="542925"/>
                  </a:lnTo>
                  <a:close/>
                </a:path>
                <a:path w="1295400" h="647700">
                  <a:moveTo>
                    <a:pt x="1295400" y="647700"/>
                  </a:moveTo>
                  <a:lnTo>
                    <a:pt x="1190625" y="5429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029575" y="1768475"/>
              <a:ext cx="1085850" cy="428625"/>
            </a:xfrm>
            <a:custGeom>
              <a:avLst/>
              <a:gdLst/>
              <a:ahLst/>
              <a:cxnLst/>
              <a:rect l="l" t="t" r="r" b="b"/>
              <a:pathLst>
                <a:path w="1085850" h="428625">
                  <a:moveTo>
                    <a:pt x="1085850" y="0"/>
                  </a:moveTo>
                  <a:lnTo>
                    <a:pt x="0" y="0"/>
                  </a:lnTo>
                  <a:lnTo>
                    <a:pt x="0" y="428625"/>
                  </a:lnTo>
                  <a:lnTo>
                    <a:pt x="1085850" y="4286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029575" y="1768475"/>
              <a:ext cx="1085850" cy="428625"/>
            </a:xfrm>
            <a:custGeom>
              <a:avLst/>
              <a:gdLst/>
              <a:ahLst/>
              <a:cxnLst/>
              <a:rect l="l" t="t" r="r" b="b"/>
              <a:pathLst>
                <a:path w="1085850" h="428625">
                  <a:moveTo>
                    <a:pt x="0" y="428625"/>
                  </a:moveTo>
                  <a:lnTo>
                    <a:pt x="1085850" y="428625"/>
                  </a:lnTo>
                  <a:lnTo>
                    <a:pt x="1085850" y="0"/>
                  </a:lnTo>
                  <a:lnTo>
                    <a:pt x="0" y="0"/>
                  </a:lnTo>
                  <a:lnTo>
                    <a:pt x="0" y="4286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131175" y="1898650"/>
            <a:ext cx="11112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85">
                <a:latin typeface="Arial"/>
                <a:cs typeface="Arial"/>
              </a:rPr>
              <a:t>Accounts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Receivable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214437" y="1544637"/>
            <a:ext cx="1304925" cy="657225"/>
            <a:chOff x="1214437" y="1544637"/>
            <a:chExt cx="1304925" cy="657225"/>
          </a:xfrm>
        </p:grpSpPr>
        <p:sp>
          <p:nvSpPr>
            <p:cNvPr id="30" name="object 30" descr=""/>
            <p:cNvSpPr/>
            <p:nvPr/>
          </p:nvSpPr>
          <p:spPr>
            <a:xfrm>
              <a:off x="1219200" y="1549400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129540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04775" y="542925"/>
                  </a:lnTo>
                  <a:lnTo>
                    <a:pt x="1190625" y="104775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219200" y="1549400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0" y="647700"/>
                  </a:moveTo>
                  <a:lnTo>
                    <a:pt x="104775" y="542925"/>
                  </a:lnTo>
                  <a:lnTo>
                    <a:pt x="1190625" y="104775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  <a:path w="1295400" h="647700">
                  <a:moveTo>
                    <a:pt x="0" y="0"/>
                  </a:moveTo>
                  <a:lnTo>
                    <a:pt x="1047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219200" y="1549400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1295400" y="0"/>
                  </a:moveTo>
                  <a:lnTo>
                    <a:pt x="1190625" y="104775"/>
                  </a:lnTo>
                  <a:lnTo>
                    <a:pt x="104775" y="542925"/>
                  </a:lnTo>
                  <a:lnTo>
                    <a:pt x="0" y="647700"/>
                  </a:lnTo>
                  <a:lnTo>
                    <a:pt x="1295400" y="6477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219200" y="1549400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104775" y="542925"/>
                  </a:moveTo>
                  <a:lnTo>
                    <a:pt x="0" y="647700"/>
                  </a:lnTo>
                  <a:lnTo>
                    <a:pt x="1295400" y="647700"/>
                  </a:lnTo>
                  <a:lnTo>
                    <a:pt x="1295400" y="0"/>
                  </a:lnTo>
                  <a:lnTo>
                    <a:pt x="1190625" y="104775"/>
                  </a:lnTo>
                  <a:lnTo>
                    <a:pt x="104775" y="542925"/>
                  </a:lnTo>
                  <a:close/>
                </a:path>
                <a:path w="1295400" h="647700">
                  <a:moveTo>
                    <a:pt x="1295400" y="647700"/>
                  </a:moveTo>
                  <a:lnTo>
                    <a:pt x="1190625" y="5429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323975" y="1654175"/>
            <a:ext cx="10858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750">
              <a:latin typeface="Times New Roman"/>
              <a:cs typeface="Times New Roman"/>
            </a:endParaRPr>
          </a:p>
          <a:p>
            <a:pPr marL="428625">
              <a:lnSpc>
                <a:spcPct val="100000"/>
              </a:lnSpc>
            </a:pPr>
            <a:r>
              <a:rPr dirty="0" sz="750" spc="75">
                <a:latin typeface="Arial"/>
                <a:cs typeface="Arial"/>
              </a:rPr>
              <a:t>Sales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920037" y="3382962"/>
            <a:ext cx="1304925" cy="657225"/>
            <a:chOff x="7920037" y="3382962"/>
            <a:chExt cx="1304925" cy="657225"/>
          </a:xfrm>
        </p:grpSpPr>
        <p:sp>
          <p:nvSpPr>
            <p:cNvPr id="36" name="object 36" descr=""/>
            <p:cNvSpPr/>
            <p:nvPr/>
          </p:nvSpPr>
          <p:spPr>
            <a:xfrm>
              <a:off x="7924800" y="3387725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129540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04775" y="542925"/>
                  </a:lnTo>
                  <a:lnTo>
                    <a:pt x="1190625" y="104775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924800" y="3387725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0" y="647700"/>
                  </a:moveTo>
                  <a:lnTo>
                    <a:pt x="104775" y="542925"/>
                  </a:lnTo>
                  <a:lnTo>
                    <a:pt x="1190625" y="104775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  <a:path w="1295400" h="647700">
                  <a:moveTo>
                    <a:pt x="0" y="0"/>
                  </a:moveTo>
                  <a:lnTo>
                    <a:pt x="1047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924800" y="3387725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1295400" y="0"/>
                  </a:moveTo>
                  <a:lnTo>
                    <a:pt x="1190625" y="104775"/>
                  </a:lnTo>
                  <a:lnTo>
                    <a:pt x="104775" y="542925"/>
                  </a:lnTo>
                  <a:lnTo>
                    <a:pt x="0" y="647700"/>
                  </a:lnTo>
                  <a:lnTo>
                    <a:pt x="1295400" y="6477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924800" y="3387725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104775" y="542925"/>
                  </a:moveTo>
                  <a:lnTo>
                    <a:pt x="0" y="647700"/>
                  </a:lnTo>
                  <a:lnTo>
                    <a:pt x="1295400" y="647700"/>
                  </a:lnTo>
                  <a:lnTo>
                    <a:pt x="1295400" y="0"/>
                  </a:lnTo>
                  <a:lnTo>
                    <a:pt x="1190625" y="104775"/>
                  </a:lnTo>
                  <a:lnTo>
                    <a:pt x="104775" y="542925"/>
                  </a:lnTo>
                  <a:close/>
                </a:path>
                <a:path w="1295400" h="647700">
                  <a:moveTo>
                    <a:pt x="1295400" y="647700"/>
                  </a:moveTo>
                  <a:lnTo>
                    <a:pt x="1190625" y="5429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8029575" y="3492500"/>
            <a:ext cx="10858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7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dirty="0" sz="750" spc="65">
                <a:latin typeface="Arial"/>
                <a:cs typeface="Arial"/>
              </a:rPr>
              <a:t>Material</a:t>
            </a:r>
            <a:r>
              <a:rPr dirty="0" sz="750" spc="30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Master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204912" y="1763712"/>
            <a:ext cx="1852930" cy="2057400"/>
            <a:chOff x="1204912" y="1763712"/>
            <a:chExt cx="1852930" cy="2057400"/>
          </a:xfrm>
        </p:grpSpPr>
        <p:sp>
          <p:nvSpPr>
            <p:cNvPr id="42" name="object 42" descr=""/>
            <p:cNvSpPr/>
            <p:nvPr/>
          </p:nvSpPr>
          <p:spPr>
            <a:xfrm>
              <a:off x="2514600" y="1768475"/>
              <a:ext cx="514350" cy="1028700"/>
            </a:xfrm>
            <a:custGeom>
              <a:avLst/>
              <a:gdLst/>
              <a:ahLst/>
              <a:cxnLst/>
              <a:rect l="l" t="t" r="r" b="b"/>
              <a:pathLst>
                <a:path w="514350" h="1028700">
                  <a:moveTo>
                    <a:pt x="0" y="0"/>
                  </a:moveTo>
                  <a:lnTo>
                    <a:pt x="514350" y="10287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000375" y="27686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0"/>
                  </a:moveTo>
                  <a:lnTo>
                    <a:pt x="0" y="38100"/>
                  </a:lnTo>
                  <a:lnTo>
                    <a:pt x="5715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514600" y="2892425"/>
              <a:ext cx="514350" cy="923925"/>
            </a:xfrm>
            <a:custGeom>
              <a:avLst/>
              <a:gdLst/>
              <a:ahLst/>
              <a:cxnLst/>
              <a:rect l="l" t="t" r="r" b="b"/>
              <a:pathLst>
                <a:path w="514350" h="923925">
                  <a:moveTo>
                    <a:pt x="0" y="923925"/>
                  </a:moveTo>
                  <a:lnTo>
                    <a:pt x="5143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000375" y="28448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0"/>
                  </a:moveTo>
                  <a:lnTo>
                    <a:pt x="0" y="38100"/>
                  </a:lnTo>
                  <a:lnTo>
                    <a:pt x="5715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209675" y="2520950"/>
              <a:ext cx="1304925" cy="647700"/>
            </a:xfrm>
            <a:custGeom>
              <a:avLst/>
              <a:gdLst/>
              <a:ahLst/>
              <a:cxnLst/>
              <a:rect l="l" t="t" r="r" b="b"/>
              <a:pathLst>
                <a:path w="1304925" h="647700">
                  <a:moveTo>
                    <a:pt x="1304925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04775" y="542925"/>
                  </a:lnTo>
                  <a:lnTo>
                    <a:pt x="1190625" y="104775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209675" y="2520950"/>
              <a:ext cx="1304925" cy="647700"/>
            </a:xfrm>
            <a:custGeom>
              <a:avLst/>
              <a:gdLst/>
              <a:ahLst/>
              <a:cxnLst/>
              <a:rect l="l" t="t" r="r" b="b"/>
              <a:pathLst>
                <a:path w="1304925" h="647700">
                  <a:moveTo>
                    <a:pt x="0" y="647700"/>
                  </a:moveTo>
                  <a:lnTo>
                    <a:pt x="104775" y="542925"/>
                  </a:lnTo>
                  <a:lnTo>
                    <a:pt x="1190625" y="104775"/>
                  </a:lnTo>
                  <a:lnTo>
                    <a:pt x="1304925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  <a:path w="1304925" h="647700">
                  <a:moveTo>
                    <a:pt x="0" y="0"/>
                  </a:moveTo>
                  <a:lnTo>
                    <a:pt x="1047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209675" y="2520950"/>
              <a:ext cx="1304925" cy="647700"/>
            </a:xfrm>
            <a:custGeom>
              <a:avLst/>
              <a:gdLst/>
              <a:ahLst/>
              <a:cxnLst/>
              <a:rect l="l" t="t" r="r" b="b"/>
              <a:pathLst>
                <a:path w="1304925" h="647700">
                  <a:moveTo>
                    <a:pt x="1304925" y="0"/>
                  </a:moveTo>
                  <a:lnTo>
                    <a:pt x="1190625" y="104775"/>
                  </a:lnTo>
                  <a:lnTo>
                    <a:pt x="104775" y="542925"/>
                  </a:lnTo>
                  <a:lnTo>
                    <a:pt x="0" y="647700"/>
                  </a:lnTo>
                  <a:lnTo>
                    <a:pt x="1304925" y="64770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209675" y="2520950"/>
              <a:ext cx="1304925" cy="647700"/>
            </a:xfrm>
            <a:custGeom>
              <a:avLst/>
              <a:gdLst/>
              <a:ahLst/>
              <a:cxnLst/>
              <a:rect l="l" t="t" r="r" b="b"/>
              <a:pathLst>
                <a:path w="1304925" h="647700">
                  <a:moveTo>
                    <a:pt x="104775" y="542925"/>
                  </a:moveTo>
                  <a:lnTo>
                    <a:pt x="0" y="647700"/>
                  </a:lnTo>
                  <a:lnTo>
                    <a:pt x="1304925" y="647700"/>
                  </a:lnTo>
                  <a:lnTo>
                    <a:pt x="1304925" y="0"/>
                  </a:lnTo>
                  <a:lnTo>
                    <a:pt x="1190625" y="104775"/>
                  </a:lnTo>
                  <a:lnTo>
                    <a:pt x="104775" y="542925"/>
                  </a:lnTo>
                  <a:close/>
                </a:path>
                <a:path w="1304925" h="647700">
                  <a:moveTo>
                    <a:pt x="1304925" y="647700"/>
                  </a:moveTo>
                  <a:lnTo>
                    <a:pt x="1190625" y="5429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314450" y="2625725"/>
            <a:ext cx="10858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750">
              <a:latin typeface="Times New Roman"/>
              <a:cs typeface="Times New Roman"/>
            </a:endParaRPr>
          </a:p>
          <a:p>
            <a:pPr marL="361950">
              <a:lnSpc>
                <a:spcPct val="100000"/>
              </a:lnSpc>
            </a:pPr>
            <a:r>
              <a:rPr dirty="0" sz="750" spc="80">
                <a:latin typeface="Arial"/>
                <a:cs typeface="Arial"/>
              </a:rPr>
              <a:t>Shipping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2509837" y="1949450"/>
            <a:ext cx="5415280" cy="2310130"/>
            <a:chOff x="2509837" y="1949450"/>
            <a:chExt cx="5415280" cy="2310130"/>
          </a:xfrm>
        </p:grpSpPr>
        <p:sp>
          <p:nvSpPr>
            <p:cNvPr id="52" name="object 52" descr=""/>
            <p:cNvSpPr/>
            <p:nvPr/>
          </p:nvSpPr>
          <p:spPr>
            <a:xfrm>
              <a:off x="2514600" y="2844800"/>
              <a:ext cx="485775" cy="0"/>
            </a:xfrm>
            <a:custGeom>
              <a:avLst/>
              <a:gdLst/>
              <a:ahLst/>
              <a:cxnLst/>
              <a:rect l="l" t="t" r="r" b="b"/>
              <a:pathLst>
                <a:path w="485775" h="0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990850" y="281622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0" y="66675"/>
                  </a:lnTo>
                  <a:lnTo>
                    <a:pt x="66675" y="28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381875" y="1978025"/>
              <a:ext cx="485775" cy="0"/>
            </a:xfrm>
            <a:custGeom>
              <a:avLst/>
              <a:gdLst/>
              <a:ahLst/>
              <a:cxnLst/>
              <a:rect l="l" t="t" r="r" b="b"/>
              <a:pathLst>
                <a:path w="485775" h="0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858125" y="194945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0" y="66675"/>
                  </a:lnTo>
                  <a:lnTo>
                    <a:pt x="66675" y="28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076950" y="4140200"/>
              <a:ext cx="1409700" cy="114300"/>
            </a:xfrm>
            <a:custGeom>
              <a:avLst/>
              <a:gdLst/>
              <a:ahLst/>
              <a:cxnLst/>
              <a:rect l="l" t="t" r="r" b="b"/>
              <a:pathLst>
                <a:path w="1409700" h="114300">
                  <a:moveTo>
                    <a:pt x="1304925" y="0"/>
                  </a:moveTo>
                  <a:lnTo>
                    <a:pt x="0" y="0"/>
                  </a:lnTo>
                  <a:lnTo>
                    <a:pt x="114300" y="114300"/>
                  </a:lnTo>
                  <a:lnTo>
                    <a:pt x="1409700" y="11430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076950" y="4140200"/>
              <a:ext cx="1409700" cy="114300"/>
            </a:xfrm>
            <a:custGeom>
              <a:avLst/>
              <a:gdLst/>
              <a:ahLst/>
              <a:cxnLst/>
              <a:rect l="l" t="t" r="r" b="b"/>
              <a:pathLst>
                <a:path w="1409700" h="114300">
                  <a:moveTo>
                    <a:pt x="1304925" y="0"/>
                  </a:moveTo>
                  <a:lnTo>
                    <a:pt x="0" y="0"/>
                  </a:lnTo>
                  <a:lnTo>
                    <a:pt x="114300" y="114300"/>
                  </a:lnTo>
                  <a:lnTo>
                    <a:pt x="1409700" y="114300"/>
                  </a:lnTo>
                  <a:lnTo>
                    <a:pt x="130492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381875" y="3282950"/>
              <a:ext cx="104775" cy="971550"/>
            </a:xfrm>
            <a:custGeom>
              <a:avLst/>
              <a:gdLst/>
              <a:ahLst/>
              <a:cxnLst/>
              <a:rect l="l" t="t" r="r" b="b"/>
              <a:pathLst>
                <a:path w="104775" h="971550">
                  <a:moveTo>
                    <a:pt x="0" y="0"/>
                  </a:moveTo>
                  <a:lnTo>
                    <a:pt x="0" y="857250"/>
                  </a:lnTo>
                  <a:lnTo>
                    <a:pt x="104775" y="971550"/>
                  </a:lnTo>
                  <a:lnTo>
                    <a:pt x="104775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381875" y="3282950"/>
              <a:ext cx="104775" cy="971550"/>
            </a:xfrm>
            <a:custGeom>
              <a:avLst/>
              <a:gdLst/>
              <a:ahLst/>
              <a:cxnLst/>
              <a:rect l="l" t="t" r="r" b="b"/>
              <a:pathLst>
                <a:path w="104775" h="971550">
                  <a:moveTo>
                    <a:pt x="104775" y="971550"/>
                  </a:moveTo>
                  <a:lnTo>
                    <a:pt x="0" y="857250"/>
                  </a:lnTo>
                  <a:lnTo>
                    <a:pt x="0" y="0"/>
                  </a:lnTo>
                  <a:lnTo>
                    <a:pt x="104775" y="104775"/>
                  </a:lnTo>
                  <a:lnTo>
                    <a:pt x="104775" y="9715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6076950" y="3282950"/>
            <a:ext cx="1304925" cy="8572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750">
              <a:latin typeface="Times New Roman"/>
              <a:cs typeface="Times New Roman"/>
            </a:endParaRPr>
          </a:p>
          <a:p>
            <a:pPr marL="323850">
              <a:lnSpc>
                <a:spcPct val="100000"/>
              </a:lnSpc>
            </a:pPr>
            <a:r>
              <a:rPr dirty="0" sz="750" spc="70">
                <a:latin typeface="Arial"/>
                <a:cs typeface="Arial"/>
              </a:rPr>
              <a:t>Materials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Mgmt.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3043237" y="1978025"/>
            <a:ext cx="4881880" cy="5086350"/>
            <a:chOff x="3043237" y="1978025"/>
            <a:chExt cx="4881880" cy="5086350"/>
          </a:xfrm>
        </p:grpSpPr>
        <p:sp>
          <p:nvSpPr>
            <p:cNvPr id="62" name="object 62" descr=""/>
            <p:cNvSpPr/>
            <p:nvPr/>
          </p:nvSpPr>
          <p:spPr>
            <a:xfrm>
              <a:off x="7381875" y="3711575"/>
              <a:ext cx="485775" cy="0"/>
            </a:xfrm>
            <a:custGeom>
              <a:avLst/>
              <a:gdLst/>
              <a:ahLst/>
              <a:cxnLst/>
              <a:rect l="l" t="t" r="r" b="b"/>
              <a:pathLst>
                <a:path w="485775" h="0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858125" y="36734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0" y="66675"/>
                  </a:lnTo>
                  <a:lnTo>
                    <a:pt x="66675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352925" y="2006600"/>
              <a:ext cx="1676400" cy="838200"/>
            </a:xfrm>
            <a:custGeom>
              <a:avLst/>
              <a:gdLst/>
              <a:ahLst/>
              <a:cxnLst/>
              <a:rect l="l" t="t" r="r" b="b"/>
              <a:pathLst>
                <a:path w="1676400" h="838200">
                  <a:moveTo>
                    <a:pt x="0" y="838200"/>
                  </a:moveTo>
                  <a:lnTo>
                    <a:pt x="16764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010275" y="1978025"/>
              <a:ext cx="66675" cy="57150"/>
            </a:xfrm>
            <a:custGeom>
              <a:avLst/>
              <a:gdLst/>
              <a:ahLst/>
              <a:cxnLst/>
              <a:rect l="l" t="t" r="r" b="b"/>
              <a:pathLst>
                <a:path w="66675" h="57150">
                  <a:moveTo>
                    <a:pt x="66675" y="0"/>
                  </a:moveTo>
                  <a:lnTo>
                    <a:pt x="0" y="0"/>
                  </a:lnTo>
                  <a:lnTo>
                    <a:pt x="28575" y="571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352925" y="2844800"/>
              <a:ext cx="1676400" cy="838200"/>
            </a:xfrm>
            <a:custGeom>
              <a:avLst/>
              <a:gdLst/>
              <a:ahLst/>
              <a:cxnLst/>
              <a:rect l="l" t="t" r="r" b="b"/>
              <a:pathLst>
                <a:path w="1676400" h="838200">
                  <a:moveTo>
                    <a:pt x="0" y="0"/>
                  </a:moveTo>
                  <a:lnTo>
                    <a:pt x="1676400" y="838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010275" y="3654425"/>
              <a:ext cx="66675" cy="57150"/>
            </a:xfrm>
            <a:custGeom>
              <a:avLst/>
              <a:gdLst/>
              <a:ahLst/>
              <a:cxnLst/>
              <a:rect l="l" t="t" r="r" b="b"/>
              <a:pathLst>
                <a:path w="66675" h="57150">
                  <a:moveTo>
                    <a:pt x="28575" y="0"/>
                  </a:moveTo>
                  <a:lnTo>
                    <a:pt x="0" y="57150"/>
                  </a:lnTo>
                  <a:lnTo>
                    <a:pt x="66675" y="5715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162300" y="4140200"/>
              <a:ext cx="866775" cy="2924175"/>
            </a:xfrm>
            <a:custGeom>
              <a:avLst/>
              <a:gdLst/>
              <a:ahLst/>
              <a:cxnLst/>
              <a:rect l="l" t="t" r="r" b="b"/>
              <a:pathLst>
                <a:path w="866775" h="2924175">
                  <a:moveTo>
                    <a:pt x="866775" y="0"/>
                  </a:moveTo>
                  <a:lnTo>
                    <a:pt x="0" y="0"/>
                  </a:lnTo>
                  <a:lnTo>
                    <a:pt x="0" y="2924175"/>
                  </a:lnTo>
                  <a:lnTo>
                    <a:pt x="866775" y="2924175"/>
                  </a:lnTo>
                  <a:lnTo>
                    <a:pt x="86677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048000" y="4035425"/>
              <a:ext cx="866775" cy="2924175"/>
            </a:xfrm>
            <a:custGeom>
              <a:avLst/>
              <a:gdLst/>
              <a:ahLst/>
              <a:cxnLst/>
              <a:rect l="l" t="t" r="r" b="b"/>
              <a:pathLst>
                <a:path w="866775" h="2924175">
                  <a:moveTo>
                    <a:pt x="866775" y="0"/>
                  </a:moveTo>
                  <a:lnTo>
                    <a:pt x="0" y="0"/>
                  </a:lnTo>
                  <a:lnTo>
                    <a:pt x="0" y="2924175"/>
                  </a:lnTo>
                  <a:lnTo>
                    <a:pt x="866775" y="2924175"/>
                  </a:lnTo>
                  <a:lnTo>
                    <a:pt x="866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048000" y="4035425"/>
              <a:ext cx="866775" cy="2924175"/>
            </a:xfrm>
            <a:custGeom>
              <a:avLst/>
              <a:gdLst/>
              <a:ahLst/>
              <a:cxnLst/>
              <a:rect l="l" t="t" r="r" b="b"/>
              <a:pathLst>
                <a:path w="866775" h="2924175">
                  <a:moveTo>
                    <a:pt x="0" y="2924175"/>
                  </a:moveTo>
                  <a:lnTo>
                    <a:pt x="866775" y="2924175"/>
                  </a:lnTo>
                  <a:lnTo>
                    <a:pt x="866775" y="0"/>
                  </a:lnTo>
                  <a:lnTo>
                    <a:pt x="0" y="0"/>
                  </a:lnTo>
                  <a:lnTo>
                    <a:pt x="0" y="2924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3063875" y="4022725"/>
            <a:ext cx="45402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 b="1">
                <a:latin typeface="Arial"/>
                <a:cs typeface="Arial"/>
              </a:rPr>
              <a:t>Tables:</a:t>
            </a:r>
            <a:endParaRPr sz="950">
              <a:latin typeface="Arial"/>
              <a:cs typeface="Arial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3076575" y="4168775"/>
            <a:ext cx="428625" cy="0"/>
          </a:xfrm>
          <a:custGeom>
            <a:avLst/>
            <a:gdLst/>
            <a:ahLst/>
            <a:cxnLst/>
            <a:rect l="l" t="t" r="r" b="b"/>
            <a:pathLst>
              <a:path w="428625" h="0">
                <a:moveTo>
                  <a:pt x="0" y="0"/>
                </a:moveTo>
                <a:lnTo>
                  <a:pt x="4286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3216275" y="4165600"/>
            <a:ext cx="463550" cy="27743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25"/>
              </a:spcBef>
            </a:pPr>
            <a:r>
              <a:rPr dirty="0" sz="950" spc="-20">
                <a:latin typeface="Arial"/>
                <a:cs typeface="Arial"/>
              </a:rPr>
              <a:t>KONV LIKP LIPS VBAK VBAP VBBE VBEH VBEP VBFA VBLB VBLK VBPA VBRK VBRP VBUK VBUP VEKP VEPO </a:t>
            </a:r>
            <a:r>
              <a:rPr dirty="0" sz="950" spc="-10">
                <a:latin typeface="Arial"/>
                <a:cs typeface="Arial"/>
              </a:rPr>
              <a:t>VEPVG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00200" y="2282825"/>
            <a:ext cx="942975" cy="628650"/>
          </a:xfrm>
          <a:custGeom>
            <a:avLst/>
            <a:gdLst/>
            <a:ahLst/>
            <a:cxnLst/>
            <a:rect l="l" t="t" r="r" b="b"/>
            <a:pathLst>
              <a:path w="942975" h="628650">
                <a:moveTo>
                  <a:pt x="238125" y="628650"/>
                </a:moveTo>
                <a:lnTo>
                  <a:pt x="714375" y="628650"/>
                </a:lnTo>
                <a:lnTo>
                  <a:pt x="752475" y="619125"/>
                </a:lnTo>
                <a:lnTo>
                  <a:pt x="800100" y="600075"/>
                </a:lnTo>
                <a:lnTo>
                  <a:pt x="838200" y="581025"/>
                </a:lnTo>
                <a:lnTo>
                  <a:pt x="895350" y="504825"/>
                </a:lnTo>
                <a:lnTo>
                  <a:pt x="923925" y="447675"/>
                </a:lnTo>
                <a:lnTo>
                  <a:pt x="933450" y="400050"/>
                </a:lnTo>
                <a:lnTo>
                  <a:pt x="942975" y="342900"/>
                </a:lnTo>
                <a:lnTo>
                  <a:pt x="942975" y="285750"/>
                </a:lnTo>
                <a:lnTo>
                  <a:pt x="933450" y="219075"/>
                </a:lnTo>
                <a:lnTo>
                  <a:pt x="923925" y="171450"/>
                </a:lnTo>
                <a:lnTo>
                  <a:pt x="866775" y="76200"/>
                </a:lnTo>
                <a:lnTo>
                  <a:pt x="838200" y="47625"/>
                </a:lnTo>
                <a:lnTo>
                  <a:pt x="800100" y="19050"/>
                </a:lnTo>
                <a:lnTo>
                  <a:pt x="752475" y="0"/>
                </a:lnTo>
                <a:lnTo>
                  <a:pt x="190500" y="0"/>
                </a:lnTo>
                <a:lnTo>
                  <a:pt x="152400" y="19050"/>
                </a:lnTo>
                <a:lnTo>
                  <a:pt x="76200" y="76200"/>
                </a:lnTo>
                <a:lnTo>
                  <a:pt x="47625" y="123825"/>
                </a:lnTo>
                <a:lnTo>
                  <a:pt x="9525" y="219075"/>
                </a:lnTo>
                <a:lnTo>
                  <a:pt x="0" y="285750"/>
                </a:lnTo>
                <a:lnTo>
                  <a:pt x="0" y="342900"/>
                </a:lnTo>
                <a:lnTo>
                  <a:pt x="9525" y="400050"/>
                </a:lnTo>
                <a:lnTo>
                  <a:pt x="28575" y="447675"/>
                </a:lnTo>
                <a:lnTo>
                  <a:pt x="47625" y="504825"/>
                </a:lnTo>
                <a:lnTo>
                  <a:pt x="76200" y="542925"/>
                </a:lnTo>
                <a:lnTo>
                  <a:pt x="114300" y="581025"/>
                </a:lnTo>
                <a:lnTo>
                  <a:pt x="190500" y="619125"/>
                </a:lnTo>
                <a:lnTo>
                  <a:pt x="238125" y="6286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30376" y="2365375"/>
            <a:ext cx="788035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3990">
              <a:lnSpc>
                <a:spcPts val="1065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VBAK</a:t>
            </a:r>
            <a:endParaRPr sz="900">
              <a:latin typeface="Arial"/>
              <a:cs typeface="Arial"/>
            </a:endParaRPr>
          </a:p>
          <a:p>
            <a:pPr algn="ctr" marR="49530">
              <a:lnSpc>
                <a:spcPts val="1065"/>
              </a:lnSpc>
            </a:pPr>
            <a:r>
              <a:rPr dirty="0" sz="900" spc="60">
                <a:latin typeface="Arial"/>
                <a:cs typeface="Arial"/>
              </a:rPr>
              <a:t>(Sales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900" spc="65">
                <a:latin typeface="Arial"/>
                <a:cs typeface="Arial"/>
              </a:rPr>
              <a:t>Doc:Header)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809750" y="5168900"/>
            <a:ext cx="1047750" cy="628650"/>
          </a:xfrm>
          <a:custGeom>
            <a:avLst/>
            <a:gdLst/>
            <a:ahLst/>
            <a:cxnLst/>
            <a:rect l="l" t="t" r="r" b="b"/>
            <a:pathLst>
              <a:path w="1047750" h="628650">
                <a:moveTo>
                  <a:pt x="266700" y="628650"/>
                </a:moveTo>
                <a:lnTo>
                  <a:pt x="838200" y="628650"/>
                </a:lnTo>
                <a:lnTo>
                  <a:pt x="885825" y="609600"/>
                </a:lnTo>
                <a:lnTo>
                  <a:pt x="923925" y="581025"/>
                </a:lnTo>
                <a:lnTo>
                  <a:pt x="971550" y="552450"/>
                </a:lnTo>
                <a:lnTo>
                  <a:pt x="1000125" y="504825"/>
                </a:lnTo>
                <a:lnTo>
                  <a:pt x="1019175" y="457200"/>
                </a:lnTo>
                <a:lnTo>
                  <a:pt x="1047750" y="400050"/>
                </a:lnTo>
                <a:lnTo>
                  <a:pt x="1047750" y="228600"/>
                </a:lnTo>
                <a:lnTo>
                  <a:pt x="1019175" y="171450"/>
                </a:lnTo>
                <a:lnTo>
                  <a:pt x="1000125" y="123825"/>
                </a:lnTo>
                <a:lnTo>
                  <a:pt x="971550" y="76200"/>
                </a:lnTo>
                <a:lnTo>
                  <a:pt x="923925" y="47625"/>
                </a:lnTo>
                <a:lnTo>
                  <a:pt x="885825" y="19050"/>
                </a:lnTo>
                <a:lnTo>
                  <a:pt x="838200" y="0"/>
                </a:lnTo>
                <a:lnTo>
                  <a:pt x="219075" y="0"/>
                </a:lnTo>
                <a:lnTo>
                  <a:pt x="171450" y="19050"/>
                </a:lnTo>
                <a:lnTo>
                  <a:pt x="123825" y="47625"/>
                </a:lnTo>
                <a:lnTo>
                  <a:pt x="85725" y="76200"/>
                </a:lnTo>
                <a:lnTo>
                  <a:pt x="28575" y="171450"/>
                </a:lnTo>
                <a:lnTo>
                  <a:pt x="9525" y="228600"/>
                </a:lnTo>
                <a:lnTo>
                  <a:pt x="0" y="285750"/>
                </a:lnTo>
                <a:lnTo>
                  <a:pt x="0" y="342900"/>
                </a:lnTo>
                <a:lnTo>
                  <a:pt x="9525" y="400050"/>
                </a:lnTo>
                <a:lnTo>
                  <a:pt x="28575" y="457200"/>
                </a:lnTo>
                <a:lnTo>
                  <a:pt x="85725" y="552450"/>
                </a:lnTo>
                <a:lnTo>
                  <a:pt x="123825" y="581025"/>
                </a:lnTo>
                <a:lnTo>
                  <a:pt x="171450" y="609600"/>
                </a:lnTo>
                <a:lnTo>
                  <a:pt x="219075" y="628650"/>
                </a:lnTo>
                <a:lnTo>
                  <a:pt x="266700" y="6286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958976" y="5184775"/>
            <a:ext cx="863600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1615">
              <a:lnSpc>
                <a:spcPts val="1065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VBEP</a:t>
            </a:r>
            <a:endParaRPr sz="900">
              <a:latin typeface="Arial"/>
              <a:cs typeface="Arial"/>
            </a:endParaRPr>
          </a:p>
          <a:p>
            <a:pPr algn="ctr" marR="48895">
              <a:lnSpc>
                <a:spcPts val="1065"/>
              </a:lnSpc>
            </a:pPr>
            <a:r>
              <a:rPr dirty="0" sz="900" spc="60">
                <a:latin typeface="Arial"/>
                <a:cs typeface="Arial"/>
              </a:rPr>
              <a:t>(Sales</a:t>
            </a:r>
            <a:endParaRPr sz="900">
              <a:latin typeface="Arial"/>
              <a:cs typeface="Arial"/>
            </a:endParaRPr>
          </a:p>
          <a:p>
            <a:pPr algn="ctr" marL="12700" marR="5080">
              <a:lnSpc>
                <a:spcPct val="104200"/>
              </a:lnSpc>
            </a:pPr>
            <a:r>
              <a:rPr dirty="0" sz="900" spc="65">
                <a:latin typeface="Arial"/>
                <a:cs typeface="Arial"/>
              </a:rPr>
              <a:t>Doc:Schedule Lines)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867025" y="3225800"/>
            <a:ext cx="1047750" cy="628650"/>
          </a:xfrm>
          <a:custGeom>
            <a:avLst/>
            <a:gdLst/>
            <a:ahLst/>
            <a:cxnLst/>
            <a:rect l="l" t="t" r="r" b="b"/>
            <a:pathLst>
              <a:path w="1047750" h="628650">
                <a:moveTo>
                  <a:pt x="257175" y="628650"/>
                </a:moveTo>
                <a:lnTo>
                  <a:pt x="781050" y="628650"/>
                </a:lnTo>
                <a:lnTo>
                  <a:pt x="876300" y="609600"/>
                </a:lnTo>
                <a:lnTo>
                  <a:pt x="923925" y="581025"/>
                </a:lnTo>
                <a:lnTo>
                  <a:pt x="962025" y="542925"/>
                </a:lnTo>
                <a:lnTo>
                  <a:pt x="990600" y="504825"/>
                </a:lnTo>
                <a:lnTo>
                  <a:pt x="1019175" y="457200"/>
                </a:lnTo>
                <a:lnTo>
                  <a:pt x="1038225" y="400050"/>
                </a:lnTo>
                <a:lnTo>
                  <a:pt x="1047750" y="342900"/>
                </a:lnTo>
                <a:lnTo>
                  <a:pt x="1047750" y="285750"/>
                </a:lnTo>
                <a:lnTo>
                  <a:pt x="1038225" y="228600"/>
                </a:lnTo>
                <a:lnTo>
                  <a:pt x="1019175" y="171450"/>
                </a:lnTo>
                <a:lnTo>
                  <a:pt x="990600" y="123825"/>
                </a:lnTo>
                <a:lnTo>
                  <a:pt x="962025" y="85725"/>
                </a:lnTo>
                <a:lnTo>
                  <a:pt x="923925" y="47625"/>
                </a:lnTo>
                <a:lnTo>
                  <a:pt x="876300" y="19050"/>
                </a:lnTo>
                <a:lnTo>
                  <a:pt x="828675" y="0"/>
                </a:lnTo>
                <a:lnTo>
                  <a:pt x="209550" y="0"/>
                </a:lnTo>
                <a:lnTo>
                  <a:pt x="161925" y="19050"/>
                </a:lnTo>
                <a:lnTo>
                  <a:pt x="123825" y="47625"/>
                </a:lnTo>
                <a:lnTo>
                  <a:pt x="47625" y="123825"/>
                </a:lnTo>
                <a:lnTo>
                  <a:pt x="19050" y="171450"/>
                </a:lnTo>
                <a:lnTo>
                  <a:pt x="0" y="285750"/>
                </a:lnTo>
                <a:lnTo>
                  <a:pt x="0" y="342900"/>
                </a:lnTo>
                <a:lnTo>
                  <a:pt x="19050" y="457200"/>
                </a:lnTo>
                <a:lnTo>
                  <a:pt x="47625" y="504825"/>
                </a:lnTo>
                <a:lnTo>
                  <a:pt x="123825" y="581025"/>
                </a:lnTo>
                <a:lnTo>
                  <a:pt x="161925" y="609600"/>
                </a:lnTo>
                <a:lnTo>
                  <a:pt x="257175" y="6286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959100" y="3308350"/>
            <a:ext cx="977900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>
              <a:lnSpc>
                <a:spcPts val="1065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VBAP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00" spc="70">
                <a:latin typeface="Arial"/>
                <a:cs typeface="Arial"/>
              </a:rPr>
              <a:t>(Sales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65">
                <a:latin typeface="Arial"/>
                <a:cs typeface="Arial"/>
              </a:rPr>
              <a:t>Doc:Item</a:t>
            </a:r>
            <a:endParaRPr sz="9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spcBef>
                <a:spcPts val="45"/>
              </a:spcBef>
            </a:pPr>
            <a:r>
              <a:rPr dirty="0" sz="900" spc="45">
                <a:latin typeface="Arial"/>
                <a:cs typeface="Arial"/>
              </a:rPr>
              <a:t>Info)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543175" y="2597150"/>
            <a:ext cx="852805" cy="633730"/>
            <a:chOff x="2543175" y="2597150"/>
            <a:chExt cx="852805" cy="633730"/>
          </a:xfrm>
        </p:grpSpPr>
        <p:sp>
          <p:nvSpPr>
            <p:cNvPr id="9" name="object 9" descr=""/>
            <p:cNvSpPr/>
            <p:nvPr/>
          </p:nvSpPr>
          <p:spPr>
            <a:xfrm>
              <a:off x="2590800" y="2625725"/>
              <a:ext cx="695325" cy="523875"/>
            </a:xfrm>
            <a:custGeom>
              <a:avLst/>
              <a:gdLst/>
              <a:ahLst/>
              <a:cxnLst/>
              <a:rect l="l" t="t" r="r" b="b"/>
              <a:pathLst>
                <a:path w="695325" h="523875">
                  <a:moveTo>
                    <a:pt x="0" y="0"/>
                  </a:moveTo>
                  <a:lnTo>
                    <a:pt x="695325" y="5238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2312" y="3116262"/>
              <a:ext cx="133350" cy="11430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543175" y="259715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38100" y="57150"/>
                  </a:lnTo>
                  <a:lnTo>
                    <a:pt x="7620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628900" y="2787650"/>
              <a:ext cx="676275" cy="238125"/>
            </a:xfrm>
            <a:custGeom>
              <a:avLst/>
              <a:gdLst/>
              <a:ahLst/>
              <a:cxnLst/>
              <a:rect l="l" t="t" r="r" b="b"/>
              <a:pathLst>
                <a:path w="676275" h="238125">
                  <a:moveTo>
                    <a:pt x="676275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676275" y="238125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625725" y="2774950"/>
            <a:ext cx="7283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VBAK-VBELN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663825" y="2889250"/>
            <a:ext cx="6540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VBAP-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328862" y="3854450"/>
            <a:ext cx="1062355" cy="1319530"/>
            <a:chOff x="2328862" y="3854450"/>
            <a:chExt cx="1062355" cy="1319530"/>
          </a:xfrm>
        </p:grpSpPr>
        <p:sp>
          <p:nvSpPr>
            <p:cNvPr id="16" name="object 16" descr=""/>
            <p:cNvSpPr/>
            <p:nvPr/>
          </p:nvSpPr>
          <p:spPr>
            <a:xfrm>
              <a:off x="2400300" y="3892550"/>
              <a:ext cx="942975" cy="1162050"/>
            </a:xfrm>
            <a:custGeom>
              <a:avLst/>
              <a:gdLst/>
              <a:ahLst/>
              <a:cxnLst/>
              <a:rect l="l" t="t" r="r" b="b"/>
              <a:pathLst>
                <a:path w="942975" h="1162050">
                  <a:moveTo>
                    <a:pt x="0" y="1162050"/>
                  </a:moveTo>
                  <a:lnTo>
                    <a:pt x="104775" y="971550"/>
                  </a:lnTo>
                  <a:lnTo>
                    <a:pt x="228600" y="800100"/>
                  </a:lnTo>
                  <a:lnTo>
                    <a:pt x="352425" y="619125"/>
                  </a:lnTo>
                  <a:lnTo>
                    <a:pt x="485775" y="457200"/>
                  </a:lnTo>
                  <a:lnTo>
                    <a:pt x="628650" y="295275"/>
                  </a:lnTo>
                  <a:lnTo>
                    <a:pt x="781050" y="142875"/>
                  </a:lnTo>
                  <a:lnTo>
                    <a:pt x="9429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8862" y="5030787"/>
              <a:ext cx="104775" cy="142875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314700" y="3854450"/>
              <a:ext cx="76200" cy="66675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76200" y="0"/>
                  </a:moveTo>
                  <a:lnTo>
                    <a:pt x="0" y="19050"/>
                  </a:lnTo>
                  <a:lnTo>
                    <a:pt x="47625" y="666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514600" y="4092575"/>
              <a:ext cx="695325" cy="581025"/>
            </a:xfrm>
            <a:custGeom>
              <a:avLst/>
              <a:gdLst/>
              <a:ahLst/>
              <a:cxnLst/>
              <a:rect l="l" t="t" r="r" b="b"/>
              <a:pathLst>
                <a:path w="695325" h="581025">
                  <a:moveTo>
                    <a:pt x="695325" y="0"/>
                  </a:moveTo>
                  <a:lnTo>
                    <a:pt x="0" y="0"/>
                  </a:lnTo>
                  <a:lnTo>
                    <a:pt x="0" y="581025"/>
                  </a:lnTo>
                  <a:lnTo>
                    <a:pt x="695325" y="581025"/>
                  </a:lnTo>
                  <a:lnTo>
                    <a:pt x="695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520950" y="4079875"/>
            <a:ext cx="7283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VBEP-VBELN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559050" y="4184650"/>
            <a:ext cx="6540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VBAP-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  <a:p>
            <a:pPr algn="ctr" marR="11430">
              <a:lnSpc>
                <a:spcPct val="100000"/>
              </a:lnSpc>
            </a:pPr>
            <a:r>
              <a:rPr dirty="0" sz="750" spc="-25">
                <a:latin typeface="Arial"/>
                <a:cs typeface="Arial"/>
              </a:rPr>
              <a:t>and</a:t>
            </a:r>
            <a:endParaRPr sz="7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511425" y="4413250"/>
            <a:ext cx="74803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VBAP-POSNR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549525" y="4527550"/>
            <a:ext cx="6635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VBEP-</a:t>
            </a:r>
            <a:r>
              <a:rPr dirty="0" sz="750" spc="-10">
                <a:latin typeface="Arial"/>
                <a:cs typeface="Arial"/>
              </a:rPr>
              <a:t>POSNR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2000250" y="2921000"/>
            <a:ext cx="676275" cy="2247900"/>
            <a:chOff x="2000250" y="2921000"/>
            <a:chExt cx="676275" cy="2247900"/>
          </a:xfrm>
        </p:grpSpPr>
        <p:sp>
          <p:nvSpPr>
            <p:cNvPr id="25" name="object 25" descr=""/>
            <p:cNvSpPr/>
            <p:nvPr/>
          </p:nvSpPr>
          <p:spPr>
            <a:xfrm>
              <a:off x="2095500" y="2959100"/>
              <a:ext cx="304800" cy="2152650"/>
            </a:xfrm>
            <a:custGeom>
              <a:avLst/>
              <a:gdLst/>
              <a:ahLst/>
              <a:cxnLst/>
              <a:rect l="l" t="t" r="r" b="b"/>
              <a:pathLst>
                <a:path w="304800" h="2152650">
                  <a:moveTo>
                    <a:pt x="0" y="0"/>
                  </a:moveTo>
                  <a:lnTo>
                    <a:pt x="76200" y="190500"/>
                  </a:lnTo>
                  <a:lnTo>
                    <a:pt x="142875" y="381000"/>
                  </a:lnTo>
                  <a:lnTo>
                    <a:pt x="238125" y="762000"/>
                  </a:lnTo>
                  <a:lnTo>
                    <a:pt x="295275" y="1162050"/>
                  </a:lnTo>
                  <a:lnTo>
                    <a:pt x="304800" y="1352550"/>
                  </a:lnTo>
                  <a:lnTo>
                    <a:pt x="304800" y="1552575"/>
                  </a:lnTo>
                  <a:lnTo>
                    <a:pt x="295275" y="1762125"/>
                  </a:lnTo>
                  <a:lnTo>
                    <a:pt x="285750" y="1952625"/>
                  </a:lnTo>
                  <a:lnTo>
                    <a:pt x="247650" y="21526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6450" y="2921000"/>
              <a:ext cx="66675" cy="5715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4575" y="5111750"/>
              <a:ext cx="76200" cy="5715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000250" y="3625850"/>
              <a:ext cx="676275" cy="247650"/>
            </a:xfrm>
            <a:custGeom>
              <a:avLst/>
              <a:gdLst/>
              <a:ahLst/>
              <a:cxnLst/>
              <a:rect l="l" t="t" r="r" b="b"/>
              <a:pathLst>
                <a:path w="676275" h="247650">
                  <a:moveTo>
                    <a:pt x="676275" y="0"/>
                  </a:moveTo>
                  <a:lnTo>
                    <a:pt x="0" y="0"/>
                  </a:lnTo>
                  <a:lnTo>
                    <a:pt x="0" y="247650"/>
                  </a:lnTo>
                  <a:lnTo>
                    <a:pt x="676275" y="247650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997075" y="3613150"/>
            <a:ext cx="7283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VBEP-VBELN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035175" y="3727450"/>
            <a:ext cx="6540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VBAK-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4857750" y="2168525"/>
            <a:ext cx="1047750" cy="638175"/>
          </a:xfrm>
          <a:custGeom>
            <a:avLst/>
            <a:gdLst/>
            <a:ahLst/>
            <a:cxnLst/>
            <a:rect l="l" t="t" r="r" b="b"/>
            <a:pathLst>
              <a:path w="1047750" h="638175">
                <a:moveTo>
                  <a:pt x="257175" y="638175"/>
                </a:moveTo>
                <a:lnTo>
                  <a:pt x="790575" y="638175"/>
                </a:lnTo>
                <a:lnTo>
                  <a:pt x="885825" y="619125"/>
                </a:lnTo>
                <a:lnTo>
                  <a:pt x="923925" y="590550"/>
                </a:lnTo>
                <a:lnTo>
                  <a:pt x="962025" y="552450"/>
                </a:lnTo>
                <a:lnTo>
                  <a:pt x="1000125" y="504825"/>
                </a:lnTo>
                <a:lnTo>
                  <a:pt x="1038225" y="409575"/>
                </a:lnTo>
                <a:lnTo>
                  <a:pt x="1047750" y="352425"/>
                </a:lnTo>
                <a:lnTo>
                  <a:pt x="1047750" y="285750"/>
                </a:lnTo>
                <a:lnTo>
                  <a:pt x="1038225" y="238125"/>
                </a:lnTo>
                <a:lnTo>
                  <a:pt x="1019175" y="180975"/>
                </a:lnTo>
                <a:lnTo>
                  <a:pt x="1000125" y="133350"/>
                </a:lnTo>
                <a:lnTo>
                  <a:pt x="962025" y="85725"/>
                </a:lnTo>
                <a:lnTo>
                  <a:pt x="923925" y="47625"/>
                </a:lnTo>
                <a:lnTo>
                  <a:pt x="885825" y="28575"/>
                </a:lnTo>
                <a:lnTo>
                  <a:pt x="838200" y="9525"/>
                </a:lnTo>
                <a:lnTo>
                  <a:pt x="790575" y="0"/>
                </a:lnTo>
                <a:lnTo>
                  <a:pt x="257175" y="0"/>
                </a:lnTo>
                <a:lnTo>
                  <a:pt x="209550" y="9525"/>
                </a:lnTo>
                <a:lnTo>
                  <a:pt x="171450" y="28575"/>
                </a:lnTo>
                <a:lnTo>
                  <a:pt x="123825" y="47625"/>
                </a:lnTo>
                <a:lnTo>
                  <a:pt x="85725" y="85725"/>
                </a:lnTo>
                <a:lnTo>
                  <a:pt x="28575" y="180975"/>
                </a:lnTo>
                <a:lnTo>
                  <a:pt x="9525" y="238125"/>
                </a:lnTo>
                <a:lnTo>
                  <a:pt x="0" y="285750"/>
                </a:lnTo>
                <a:lnTo>
                  <a:pt x="0" y="352425"/>
                </a:lnTo>
                <a:lnTo>
                  <a:pt x="9525" y="409575"/>
                </a:lnTo>
                <a:lnTo>
                  <a:pt x="28575" y="457200"/>
                </a:lnTo>
                <a:lnTo>
                  <a:pt x="85725" y="552450"/>
                </a:lnTo>
                <a:lnTo>
                  <a:pt x="123825" y="590550"/>
                </a:lnTo>
                <a:lnTo>
                  <a:pt x="171450" y="619125"/>
                </a:lnTo>
                <a:lnTo>
                  <a:pt x="209550" y="628650"/>
                </a:lnTo>
                <a:lnTo>
                  <a:pt x="257175" y="6381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5035551" y="2184400"/>
            <a:ext cx="788035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09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LIKP</a:t>
            </a:r>
            <a:endParaRPr sz="900">
              <a:latin typeface="Arial"/>
              <a:cs typeface="Arial"/>
            </a:endParaRPr>
          </a:p>
          <a:p>
            <a:pPr algn="ctr" marL="12700" marR="5080" indent="-38735">
              <a:lnSpc>
                <a:spcPct val="100699"/>
              </a:lnSpc>
              <a:spcBef>
                <a:spcPts val="35"/>
              </a:spcBef>
            </a:pPr>
            <a:r>
              <a:rPr dirty="0" sz="900" spc="60">
                <a:latin typeface="Arial"/>
                <a:cs typeface="Arial"/>
              </a:rPr>
              <a:t>(Sales </a:t>
            </a:r>
            <a:r>
              <a:rPr dirty="0" sz="900" spc="65">
                <a:latin typeface="Arial"/>
                <a:cs typeface="Arial"/>
              </a:rPr>
              <a:t>Doc:Delivery Header)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5067300" y="4587875"/>
            <a:ext cx="1047750" cy="628650"/>
          </a:xfrm>
          <a:custGeom>
            <a:avLst/>
            <a:gdLst/>
            <a:ahLst/>
            <a:cxnLst/>
            <a:rect l="l" t="t" r="r" b="b"/>
            <a:pathLst>
              <a:path w="1047750" h="628650">
                <a:moveTo>
                  <a:pt x="257175" y="628650"/>
                </a:moveTo>
                <a:lnTo>
                  <a:pt x="838200" y="628650"/>
                </a:lnTo>
                <a:lnTo>
                  <a:pt x="885825" y="609600"/>
                </a:lnTo>
                <a:lnTo>
                  <a:pt x="962025" y="552450"/>
                </a:lnTo>
                <a:lnTo>
                  <a:pt x="1000125" y="504825"/>
                </a:lnTo>
                <a:lnTo>
                  <a:pt x="1019175" y="457200"/>
                </a:lnTo>
                <a:lnTo>
                  <a:pt x="1038225" y="400050"/>
                </a:lnTo>
                <a:lnTo>
                  <a:pt x="1047750" y="342900"/>
                </a:lnTo>
                <a:lnTo>
                  <a:pt x="1047750" y="285750"/>
                </a:lnTo>
                <a:lnTo>
                  <a:pt x="1038225" y="228600"/>
                </a:lnTo>
                <a:lnTo>
                  <a:pt x="1019175" y="180975"/>
                </a:lnTo>
                <a:lnTo>
                  <a:pt x="1000125" y="123825"/>
                </a:lnTo>
                <a:lnTo>
                  <a:pt x="923925" y="47625"/>
                </a:lnTo>
                <a:lnTo>
                  <a:pt x="885825" y="19050"/>
                </a:lnTo>
                <a:lnTo>
                  <a:pt x="790575" y="0"/>
                </a:lnTo>
                <a:lnTo>
                  <a:pt x="257175" y="0"/>
                </a:lnTo>
                <a:lnTo>
                  <a:pt x="209550" y="9525"/>
                </a:lnTo>
                <a:lnTo>
                  <a:pt x="171450" y="19050"/>
                </a:lnTo>
                <a:lnTo>
                  <a:pt x="123825" y="47625"/>
                </a:lnTo>
                <a:lnTo>
                  <a:pt x="85725" y="85725"/>
                </a:lnTo>
                <a:lnTo>
                  <a:pt x="57150" y="123825"/>
                </a:lnTo>
                <a:lnTo>
                  <a:pt x="28575" y="180975"/>
                </a:lnTo>
                <a:lnTo>
                  <a:pt x="9525" y="228600"/>
                </a:lnTo>
                <a:lnTo>
                  <a:pt x="0" y="285750"/>
                </a:lnTo>
                <a:lnTo>
                  <a:pt x="0" y="342900"/>
                </a:lnTo>
                <a:lnTo>
                  <a:pt x="9525" y="400050"/>
                </a:lnTo>
                <a:lnTo>
                  <a:pt x="28575" y="457200"/>
                </a:lnTo>
                <a:lnTo>
                  <a:pt x="85725" y="552450"/>
                </a:lnTo>
                <a:lnTo>
                  <a:pt x="123825" y="581025"/>
                </a:lnTo>
                <a:lnTo>
                  <a:pt x="171450" y="609600"/>
                </a:lnTo>
                <a:lnTo>
                  <a:pt x="209550" y="628650"/>
                </a:lnTo>
                <a:lnTo>
                  <a:pt x="257175" y="6286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5245101" y="4603750"/>
            <a:ext cx="788035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09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LIPS</a:t>
            </a:r>
            <a:endParaRPr sz="900">
              <a:latin typeface="Arial"/>
              <a:cs typeface="Arial"/>
            </a:endParaRPr>
          </a:p>
          <a:p>
            <a:pPr algn="ctr" marL="12700" marR="5080" indent="-38735">
              <a:lnSpc>
                <a:spcPct val="100699"/>
              </a:lnSpc>
              <a:spcBef>
                <a:spcPts val="35"/>
              </a:spcBef>
            </a:pPr>
            <a:r>
              <a:rPr dirty="0" sz="900" spc="60">
                <a:latin typeface="Arial"/>
                <a:cs typeface="Arial"/>
              </a:rPr>
              <a:t>(Sales </a:t>
            </a:r>
            <a:r>
              <a:rPr dirty="0" sz="900" spc="65">
                <a:latin typeface="Arial"/>
                <a:cs typeface="Arial"/>
              </a:rPr>
              <a:t>Doc:Delivery </a:t>
            </a:r>
            <a:r>
              <a:rPr dirty="0" sz="900" spc="45">
                <a:latin typeface="Arial"/>
                <a:cs typeface="Arial"/>
              </a:rPr>
              <a:t>Items)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172075" y="2816225"/>
            <a:ext cx="628650" cy="1771650"/>
            <a:chOff x="5172075" y="2816225"/>
            <a:chExt cx="628650" cy="1771650"/>
          </a:xfrm>
        </p:grpSpPr>
        <p:sp>
          <p:nvSpPr>
            <p:cNvPr id="36" name="object 36" descr=""/>
            <p:cNvSpPr/>
            <p:nvPr/>
          </p:nvSpPr>
          <p:spPr>
            <a:xfrm>
              <a:off x="5391150" y="2863850"/>
              <a:ext cx="190500" cy="1666875"/>
            </a:xfrm>
            <a:custGeom>
              <a:avLst/>
              <a:gdLst/>
              <a:ahLst/>
              <a:cxnLst/>
              <a:rect l="l" t="t" r="r" b="b"/>
              <a:pathLst>
                <a:path w="190500" h="1666875">
                  <a:moveTo>
                    <a:pt x="0" y="0"/>
                  </a:moveTo>
                  <a:lnTo>
                    <a:pt x="190500" y="16668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53050" y="2816225"/>
              <a:ext cx="76200" cy="5715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53075" y="4530725"/>
              <a:ext cx="76200" cy="57150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172075" y="3578225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62865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628650" y="238125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5168900" y="3565525"/>
            <a:ext cx="680720" cy="2444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50800" marR="5080" indent="-38100">
              <a:lnSpc>
                <a:spcPts val="830"/>
              </a:lnSpc>
              <a:spcBef>
                <a:spcPts val="185"/>
              </a:spcBef>
            </a:pPr>
            <a:r>
              <a:rPr dirty="0" sz="750">
                <a:latin typeface="Arial"/>
                <a:cs typeface="Arial"/>
              </a:rPr>
              <a:t>LIPS-VBELN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LIKP-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3914775" y="3549650"/>
            <a:ext cx="1162050" cy="1352550"/>
            <a:chOff x="3914775" y="3549650"/>
            <a:chExt cx="1162050" cy="1352550"/>
          </a:xfrm>
        </p:grpSpPr>
        <p:sp>
          <p:nvSpPr>
            <p:cNvPr id="42" name="object 42" descr=""/>
            <p:cNvSpPr/>
            <p:nvPr/>
          </p:nvSpPr>
          <p:spPr>
            <a:xfrm>
              <a:off x="3943350" y="3578225"/>
              <a:ext cx="1085850" cy="1285875"/>
            </a:xfrm>
            <a:custGeom>
              <a:avLst/>
              <a:gdLst/>
              <a:ahLst/>
              <a:cxnLst/>
              <a:rect l="l" t="t" r="r" b="b"/>
              <a:pathLst>
                <a:path w="1085850" h="1285875">
                  <a:moveTo>
                    <a:pt x="0" y="0"/>
                  </a:moveTo>
                  <a:lnTo>
                    <a:pt x="361950" y="438150"/>
                  </a:lnTo>
                  <a:lnTo>
                    <a:pt x="714375" y="866775"/>
                  </a:lnTo>
                  <a:lnTo>
                    <a:pt x="1085850" y="12858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4775" y="3549650"/>
              <a:ext cx="76200" cy="57150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00625" y="4845050"/>
              <a:ext cx="76200" cy="57150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4371975" y="4197350"/>
              <a:ext cx="657225" cy="571500"/>
            </a:xfrm>
            <a:custGeom>
              <a:avLst/>
              <a:gdLst/>
              <a:ahLst/>
              <a:cxnLst/>
              <a:rect l="l" t="t" r="r" b="b"/>
              <a:pathLst>
                <a:path w="657225" h="571500">
                  <a:moveTo>
                    <a:pt x="657225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657225" y="571500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4378325" y="4184650"/>
            <a:ext cx="690245" cy="2444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31750" marR="5080" indent="-19050">
              <a:lnSpc>
                <a:spcPts val="830"/>
              </a:lnSpc>
              <a:spcBef>
                <a:spcPts val="185"/>
              </a:spcBef>
            </a:pPr>
            <a:r>
              <a:rPr dirty="0" sz="750">
                <a:latin typeface="Arial"/>
                <a:cs typeface="Arial"/>
              </a:rPr>
              <a:t>LIPS-VGBEL</a:t>
            </a:r>
            <a:r>
              <a:rPr dirty="0" sz="750" spc="170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VBAP-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616450" y="4403725"/>
            <a:ext cx="1968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Arial"/>
                <a:cs typeface="Arial"/>
              </a:rPr>
              <a:t>and</a:t>
            </a:r>
            <a:endParaRPr sz="750">
              <a:latin typeface="Arial"/>
              <a:cs typeface="Aria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368800" y="4518025"/>
            <a:ext cx="7092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" marR="5080" indent="-1905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LIPS-VGPOS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VBAP-</a:t>
            </a:r>
            <a:r>
              <a:rPr dirty="0" sz="750" spc="-10">
                <a:latin typeface="Arial"/>
                <a:cs typeface="Arial"/>
              </a:rPr>
              <a:t>POSNR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3286125" y="2082800"/>
            <a:ext cx="2314575" cy="2505075"/>
            <a:chOff x="3286125" y="2082800"/>
            <a:chExt cx="2314575" cy="2505075"/>
          </a:xfrm>
        </p:grpSpPr>
        <p:sp>
          <p:nvSpPr>
            <p:cNvPr id="50" name="object 50" descr=""/>
            <p:cNvSpPr/>
            <p:nvPr/>
          </p:nvSpPr>
          <p:spPr>
            <a:xfrm>
              <a:off x="3314700" y="2111375"/>
              <a:ext cx="2238375" cy="2438400"/>
            </a:xfrm>
            <a:custGeom>
              <a:avLst/>
              <a:gdLst/>
              <a:ahLst/>
              <a:cxnLst/>
              <a:rect l="l" t="t" r="r" b="b"/>
              <a:pathLst>
                <a:path w="2238375" h="2438400">
                  <a:moveTo>
                    <a:pt x="2238375" y="2438400"/>
                  </a:moveTo>
                  <a:lnTo>
                    <a:pt x="1666875" y="1838325"/>
                  </a:lnTo>
                  <a:lnTo>
                    <a:pt x="1104900" y="1228725"/>
                  </a:lnTo>
                  <a:lnTo>
                    <a:pt x="552450" y="619125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86125" y="2082800"/>
              <a:ext cx="76200" cy="57150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24500" y="4530725"/>
              <a:ext cx="76200" cy="57150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4343400" y="3511550"/>
              <a:ext cx="676275" cy="238125"/>
            </a:xfrm>
            <a:custGeom>
              <a:avLst/>
              <a:gdLst/>
              <a:ahLst/>
              <a:cxnLst/>
              <a:rect l="l" t="t" r="r" b="b"/>
              <a:pathLst>
                <a:path w="676275" h="238125">
                  <a:moveTo>
                    <a:pt x="676275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676275" y="238125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4340225" y="3498850"/>
            <a:ext cx="7283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VBPA-VBELN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4406900" y="3613150"/>
            <a:ext cx="6064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LIPS-</a:t>
            </a:r>
            <a:r>
              <a:rPr dirty="0" sz="750" spc="-10">
                <a:latin typeface="Arial"/>
                <a:cs typeface="Arial"/>
              </a:rPr>
              <a:t>VGBEL</a:t>
            </a:r>
            <a:endParaRPr sz="750">
              <a:latin typeface="Arial"/>
              <a:cs typeface="Arial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2762250" y="1644650"/>
            <a:ext cx="1047750" cy="428625"/>
          </a:xfrm>
          <a:custGeom>
            <a:avLst/>
            <a:gdLst/>
            <a:ahLst/>
            <a:cxnLst/>
            <a:rect l="l" t="t" r="r" b="b"/>
            <a:pathLst>
              <a:path w="1047750" h="428625">
                <a:moveTo>
                  <a:pt x="209550" y="428625"/>
                </a:moveTo>
                <a:lnTo>
                  <a:pt x="838200" y="428625"/>
                </a:lnTo>
                <a:lnTo>
                  <a:pt x="876300" y="419100"/>
                </a:lnTo>
                <a:lnTo>
                  <a:pt x="923925" y="400050"/>
                </a:lnTo>
                <a:lnTo>
                  <a:pt x="962025" y="381000"/>
                </a:lnTo>
                <a:lnTo>
                  <a:pt x="1000125" y="342900"/>
                </a:lnTo>
                <a:lnTo>
                  <a:pt x="1019175" y="304800"/>
                </a:lnTo>
                <a:lnTo>
                  <a:pt x="1038225" y="257175"/>
                </a:lnTo>
                <a:lnTo>
                  <a:pt x="1047750" y="209550"/>
                </a:lnTo>
                <a:lnTo>
                  <a:pt x="1038225" y="161925"/>
                </a:lnTo>
                <a:lnTo>
                  <a:pt x="1000125" y="85725"/>
                </a:lnTo>
                <a:lnTo>
                  <a:pt x="962025" y="47625"/>
                </a:lnTo>
                <a:lnTo>
                  <a:pt x="923925" y="19050"/>
                </a:lnTo>
                <a:lnTo>
                  <a:pt x="876300" y="9525"/>
                </a:lnTo>
                <a:lnTo>
                  <a:pt x="838200" y="0"/>
                </a:lnTo>
                <a:lnTo>
                  <a:pt x="209550" y="0"/>
                </a:lnTo>
                <a:lnTo>
                  <a:pt x="114300" y="19050"/>
                </a:lnTo>
                <a:lnTo>
                  <a:pt x="76200" y="47625"/>
                </a:lnTo>
                <a:lnTo>
                  <a:pt x="38100" y="85725"/>
                </a:lnTo>
                <a:lnTo>
                  <a:pt x="0" y="161925"/>
                </a:lnTo>
                <a:lnTo>
                  <a:pt x="0" y="257175"/>
                </a:lnTo>
                <a:lnTo>
                  <a:pt x="19050" y="304800"/>
                </a:lnTo>
                <a:lnTo>
                  <a:pt x="38100" y="342900"/>
                </a:lnTo>
                <a:lnTo>
                  <a:pt x="76200" y="381000"/>
                </a:lnTo>
                <a:lnTo>
                  <a:pt x="114300" y="400050"/>
                </a:lnTo>
                <a:lnTo>
                  <a:pt x="161925" y="419100"/>
                </a:lnTo>
                <a:lnTo>
                  <a:pt x="209550" y="4286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2873375" y="1698625"/>
            <a:ext cx="949960" cy="295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ts val="1065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VBPA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00" spc="80">
                <a:latin typeface="Arial"/>
                <a:cs typeface="Arial"/>
              </a:rPr>
              <a:t>(Partner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Table)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2943225" y="2068512"/>
            <a:ext cx="676275" cy="1157605"/>
            <a:chOff x="2943225" y="2068512"/>
            <a:chExt cx="676275" cy="1157605"/>
          </a:xfrm>
        </p:grpSpPr>
        <p:sp>
          <p:nvSpPr>
            <p:cNvPr id="59" name="object 59" descr=""/>
            <p:cNvSpPr/>
            <p:nvPr/>
          </p:nvSpPr>
          <p:spPr>
            <a:xfrm>
              <a:off x="3276600" y="2197100"/>
              <a:ext cx="95250" cy="971550"/>
            </a:xfrm>
            <a:custGeom>
              <a:avLst/>
              <a:gdLst/>
              <a:ahLst/>
              <a:cxnLst/>
              <a:rect l="l" t="t" r="r" b="b"/>
              <a:pathLst>
                <a:path w="95250" h="971550">
                  <a:moveTo>
                    <a:pt x="95250" y="971550"/>
                  </a:moveTo>
                  <a:lnTo>
                    <a:pt x="57150" y="781050"/>
                  </a:lnTo>
                  <a:lnTo>
                    <a:pt x="28575" y="590550"/>
                  </a:lnTo>
                  <a:lnTo>
                    <a:pt x="9525" y="390525"/>
                  </a:lnTo>
                  <a:lnTo>
                    <a:pt x="0" y="200025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43262" y="2068512"/>
              <a:ext cx="76200" cy="133350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3343275" y="31496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0"/>
                  </a:moveTo>
                  <a:lnTo>
                    <a:pt x="0" y="19050"/>
                  </a:lnTo>
                  <a:lnTo>
                    <a:pt x="47625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943225" y="2254250"/>
              <a:ext cx="676275" cy="466725"/>
            </a:xfrm>
            <a:custGeom>
              <a:avLst/>
              <a:gdLst/>
              <a:ahLst/>
              <a:cxnLst/>
              <a:rect l="l" t="t" r="r" b="b"/>
              <a:pathLst>
                <a:path w="676275" h="466725">
                  <a:moveTo>
                    <a:pt x="676275" y="0"/>
                  </a:moveTo>
                  <a:lnTo>
                    <a:pt x="0" y="0"/>
                  </a:lnTo>
                  <a:lnTo>
                    <a:pt x="0" y="466725"/>
                  </a:lnTo>
                  <a:lnTo>
                    <a:pt x="676275" y="466725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2949575" y="2241550"/>
            <a:ext cx="7016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VBPA-</a:t>
            </a:r>
            <a:r>
              <a:rPr dirty="0" sz="750" spc="-10">
                <a:latin typeface="Arial"/>
                <a:cs typeface="Arial"/>
              </a:rPr>
              <a:t>VBELN=</a:t>
            </a:r>
            <a:endParaRPr sz="750">
              <a:latin typeface="Arial"/>
              <a:cs typeface="Arial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2978150" y="2355850"/>
            <a:ext cx="6540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VBAK-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2940050" y="2470150"/>
            <a:ext cx="7207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VBPA-</a:t>
            </a:r>
            <a:r>
              <a:rPr dirty="0" sz="750" spc="-10">
                <a:latin typeface="Arial"/>
                <a:cs typeface="Arial"/>
              </a:rPr>
              <a:t>POSNR=</a:t>
            </a:r>
            <a:endParaRPr sz="750">
              <a:latin typeface="Arial"/>
              <a:cs typeface="Arial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2968625" y="2574925"/>
            <a:ext cx="6635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VBAP-</a:t>
            </a:r>
            <a:r>
              <a:rPr dirty="0" sz="750" spc="-10">
                <a:latin typeface="Arial"/>
                <a:cs typeface="Arial"/>
              </a:rPr>
              <a:t>POSNR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67" name="object 67" descr=""/>
          <p:cNvGraphicFramePr>
            <a:graphicFrameLocks noGrp="1"/>
          </p:cNvGraphicFramePr>
          <p:nvPr/>
        </p:nvGraphicFramePr>
        <p:xfrm>
          <a:off x="4224337" y="5640387"/>
          <a:ext cx="1343025" cy="41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"/>
                <a:gridCol w="1047750"/>
                <a:gridCol w="104775"/>
              </a:tblGrid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9370">
                        <a:lnSpc>
                          <a:spcPts val="1065"/>
                        </a:lnSpc>
                        <a:spcBef>
                          <a:spcPts val="450"/>
                        </a:spcBef>
                      </a:pPr>
                      <a:r>
                        <a:rPr dirty="0" sz="900" spc="-20" b="1">
                          <a:latin typeface="Arial"/>
                          <a:cs typeface="Arial"/>
                        </a:rPr>
                        <a:t>VBFA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28600">
                        <a:lnSpc>
                          <a:spcPts val="1065"/>
                        </a:lnSpc>
                      </a:pPr>
                      <a:r>
                        <a:rPr dirty="0" sz="900" spc="60">
                          <a:latin typeface="Arial"/>
                          <a:cs typeface="Arial"/>
                        </a:rPr>
                        <a:t>(Doc.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Flow)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8" name="object 68" descr=""/>
          <p:cNvGraphicFramePr>
            <a:graphicFrameLocks noGrp="1"/>
          </p:cNvGraphicFramePr>
          <p:nvPr/>
        </p:nvGraphicFramePr>
        <p:xfrm>
          <a:off x="4224337" y="6688137"/>
          <a:ext cx="1343025" cy="41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"/>
                <a:gridCol w="1047750"/>
                <a:gridCol w="104775"/>
              </a:tblGrid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032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900" spc="-20" b="1">
                          <a:latin typeface="Arial"/>
                          <a:cs typeface="Arial"/>
                        </a:rPr>
                        <a:t>VBUP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619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900" spc="70">
                          <a:latin typeface="Arial"/>
                          <a:cs typeface="Arial"/>
                        </a:rPr>
                        <a:t>(Item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Status))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9" name="object 69" descr=""/>
          <p:cNvGraphicFramePr>
            <a:graphicFrameLocks noGrp="1"/>
          </p:cNvGraphicFramePr>
          <p:nvPr/>
        </p:nvGraphicFramePr>
        <p:xfrm>
          <a:off x="4224337" y="6164262"/>
          <a:ext cx="1370965" cy="41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"/>
                <a:gridCol w="1075690"/>
                <a:gridCol w="104775"/>
              </a:tblGrid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900" spc="-20" b="1">
                          <a:latin typeface="Arial"/>
                          <a:cs typeface="Arial"/>
                        </a:rPr>
                        <a:t>VBUK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900" spc="80">
                          <a:latin typeface="Arial"/>
                          <a:cs typeface="Arial"/>
                        </a:rPr>
                        <a:t>(Header</a:t>
                      </a:r>
                      <a:r>
                        <a:rPr dirty="0" sz="9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60">
                          <a:latin typeface="Arial"/>
                          <a:cs typeface="Arial"/>
                        </a:rPr>
                        <a:t>Status)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0" name="object 70" descr=""/>
          <p:cNvSpPr txBox="1"/>
          <p:nvPr/>
        </p:nvSpPr>
        <p:spPr>
          <a:xfrm>
            <a:off x="5562600" y="5645150"/>
            <a:ext cx="2000250" cy="4191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64769" rIns="0" bIns="0" rtlCol="0" vert="horz">
            <a:spAutoFit/>
          </a:bodyPr>
          <a:lstStyle/>
          <a:p>
            <a:pPr marL="380365" indent="-152400">
              <a:lnSpc>
                <a:spcPts val="1050"/>
              </a:lnSpc>
              <a:spcBef>
                <a:spcPts val="509"/>
              </a:spcBef>
            </a:pPr>
            <a:r>
              <a:rPr dirty="0" sz="900" spc="75">
                <a:latin typeface="Arial"/>
                <a:cs typeface="Arial"/>
              </a:rPr>
              <a:t>vbelv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105">
                <a:latin typeface="Arial"/>
                <a:cs typeface="Arial"/>
              </a:rPr>
              <a:t>=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80">
                <a:latin typeface="Arial"/>
                <a:cs typeface="Arial"/>
              </a:rPr>
              <a:t>preceeding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document vbeln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105">
                <a:latin typeface="Arial"/>
                <a:cs typeface="Arial"/>
              </a:rPr>
              <a:t>=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80">
                <a:latin typeface="Arial"/>
                <a:cs typeface="Arial"/>
              </a:rPr>
              <a:t>subsequent</a:t>
            </a:r>
            <a:r>
              <a:rPr dirty="0" sz="900" spc="60">
                <a:latin typeface="Arial"/>
                <a:cs typeface="Arial"/>
              </a:rPr>
              <a:t> doc</a:t>
            </a:r>
            <a:endParaRPr sz="900">
              <a:latin typeface="Arial"/>
              <a:cs typeface="Arial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5591175" y="6169025"/>
            <a:ext cx="2000250" cy="4191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382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75"/>
              </a:spcBef>
            </a:pPr>
            <a:r>
              <a:rPr dirty="0" sz="900" spc="70">
                <a:latin typeface="Arial"/>
                <a:cs typeface="Arial"/>
              </a:rPr>
              <a:t>vbeln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105">
                <a:latin typeface="Arial"/>
                <a:cs typeface="Arial"/>
              </a:rPr>
              <a:t>=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85">
                <a:latin typeface="Arial"/>
                <a:cs typeface="Arial"/>
              </a:rPr>
              <a:t>document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number</a:t>
            </a:r>
            <a:endParaRPr sz="900">
              <a:latin typeface="Arial"/>
              <a:cs typeface="Arial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5591175" y="6692900"/>
            <a:ext cx="2000250" cy="4191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7150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450"/>
              </a:spcBef>
            </a:pPr>
            <a:r>
              <a:rPr dirty="0" sz="900" spc="70">
                <a:latin typeface="Arial"/>
                <a:cs typeface="Arial"/>
              </a:rPr>
              <a:t>vbeln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105">
                <a:latin typeface="Arial"/>
                <a:cs typeface="Arial"/>
              </a:rPr>
              <a:t>=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85">
                <a:latin typeface="Arial"/>
                <a:cs typeface="Arial"/>
              </a:rPr>
              <a:t>document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number</a:t>
            </a:r>
            <a:endParaRPr sz="900">
              <a:latin typeface="Arial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45"/>
              </a:spcBef>
            </a:pPr>
            <a:r>
              <a:rPr dirty="0" sz="900" spc="65">
                <a:latin typeface="Arial"/>
                <a:cs typeface="Arial"/>
              </a:rPr>
              <a:t>;use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60">
                <a:latin typeface="Arial"/>
                <a:cs typeface="Arial"/>
              </a:rPr>
              <a:t>with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100">
                <a:latin typeface="Arial"/>
                <a:cs typeface="Arial"/>
              </a:rPr>
              <a:t>VBAP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80">
                <a:latin typeface="Arial"/>
                <a:cs typeface="Arial"/>
              </a:rPr>
              <a:t>and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45">
                <a:latin typeface="Arial"/>
                <a:cs typeface="Arial"/>
              </a:rPr>
              <a:t>LIPs</a:t>
            </a:r>
            <a:endParaRPr sz="900">
              <a:latin typeface="Arial"/>
              <a:cs typeface="Arial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7267575" y="2806700"/>
            <a:ext cx="1057275" cy="419100"/>
          </a:xfrm>
          <a:custGeom>
            <a:avLst/>
            <a:gdLst/>
            <a:ahLst/>
            <a:cxnLst/>
            <a:rect l="l" t="t" r="r" b="b"/>
            <a:pathLst>
              <a:path w="1057275" h="419100">
                <a:moveTo>
                  <a:pt x="209550" y="419100"/>
                </a:moveTo>
                <a:lnTo>
                  <a:pt x="847725" y="419100"/>
                </a:lnTo>
                <a:lnTo>
                  <a:pt x="895350" y="409575"/>
                </a:lnTo>
                <a:lnTo>
                  <a:pt x="933450" y="400050"/>
                </a:lnTo>
                <a:lnTo>
                  <a:pt x="1009650" y="342900"/>
                </a:lnTo>
                <a:lnTo>
                  <a:pt x="1038225" y="295275"/>
                </a:lnTo>
                <a:lnTo>
                  <a:pt x="1047750" y="257175"/>
                </a:lnTo>
                <a:lnTo>
                  <a:pt x="1057275" y="209550"/>
                </a:lnTo>
                <a:lnTo>
                  <a:pt x="1038225" y="114300"/>
                </a:lnTo>
                <a:lnTo>
                  <a:pt x="1009650" y="76200"/>
                </a:lnTo>
                <a:lnTo>
                  <a:pt x="933450" y="19050"/>
                </a:lnTo>
                <a:lnTo>
                  <a:pt x="895350" y="0"/>
                </a:lnTo>
                <a:lnTo>
                  <a:pt x="161925" y="0"/>
                </a:lnTo>
                <a:lnTo>
                  <a:pt x="123825" y="19050"/>
                </a:lnTo>
                <a:lnTo>
                  <a:pt x="47625" y="76200"/>
                </a:lnTo>
                <a:lnTo>
                  <a:pt x="28575" y="114300"/>
                </a:lnTo>
                <a:lnTo>
                  <a:pt x="9525" y="161925"/>
                </a:lnTo>
                <a:lnTo>
                  <a:pt x="0" y="209550"/>
                </a:lnTo>
                <a:lnTo>
                  <a:pt x="9525" y="257175"/>
                </a:lnTo>
                <a:lnTo>
                  <a:pt x="28575" y="295275"/>
                </a:lnTo>
                <a:lnTo>
                  <a:pt x="47625" y="342900"/>
                </a:lnTo>
                <a:lnTo>
                  <a:pt x="123825" y="400050"/>
                </a:lnTo>
                <a:lnTo>
                  <a:pt x="161925" y="409575"/>
                </a:lnTo>
                <a:lnTo>
                  <a:pt x="209550" y="419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7378700" y="2784475"/>
            <a:ext cx="939800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ts val="1065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VBRK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ts val="1065"/>
              </a:lnSpc>
            </a:pPr>
            <a:r>
              <a:rPr dirty="0" sz="900" spc="50">
                <a:latin typeface="Arial"/>
                <a:cs typeface="Arial"/>
              </a:rPr>
              <a:t>(Billing: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70">
                <a:latin typeface="Arial"/>
                <a:cs typeface="Arial"/>
              </a:rPr>
              <a:t>Header</a:t>
            </a:r>
            <a:endParaRPr sz="900">
              <a:latin typeface="Arial"/>
              <a:cs typeface="Arial"/>
            </a:endParaRPr>
          </a:p>
          <a:p>
            <a:pPr algn="ctr" marR="39370">
              <a:lnSpc>
                <a:spcPct val="100000"/>
              </a:lnSpc>
              <a:spcBef>
                <a:spcPts val="45"/>
              </a:spcBef>
            </a:pPr>
            <a:r>
              <a:rPr dirty="0" sz="900" spc="70">
                <a:latin typeface="Arial"/>
                <a:cs typeface="Arial"/>
              </a:rPr>
              <a:t>data)</a:t>
            </a:r>
            <a:endParaRPr sz="900">
              <a:latin typeface="Arial"/>
              <a:cs typeface="Arial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7267575" y="1225550"/>
            <a:ext cx="1000125" cy="419100"/>
          </a:xfrm>
          <a:custGeom>
            <a:avLst/>
            <a:gdLst/>
            <a:ahLst/>
            <a:cxnLst/>
            <a:rect l="l" t="t" r="r" b="b"/>
            <a:pathLst>
              <a:path w="1000125" h="419100">
                <a:moveTo>
                  <a:pt x="209550" y="419100"/>
                </a:moveTo>
                <a:lnTo>
                  <a:pt x="838200" y="419100"/>
                </a:lnTo>
                <a:lnTo>
                  <a:pt x="885825" y="400050"/>
                </a:lnTo>
                <a:lnTo>
                  <a:pt x="923925" y="371475"/>
                </a:lnTo>
                <a:lnTo>
                  <a:pt x="952500" y="342900"/>
                </a:lnTo>
                <a:lnTo>
                  <a:pt x="981075" y="304800"/>
                </a:lnTo>
                <a:lnTo>
                  <a:pt x="1000125" y="257175"/>
                </a:lnTo>
                <a:lnTo>
                  <a:pt x="1000125" y="161925"/>
                </a:lnTo>
                <a:lnTo>
                  <a:pt x="981075" y="123825"/>
                </a:lnTo>
                <a:lnTo>
                  <a:pt x="923925" y="47625"/>
                </a:lnTo>
                <a:lnTo>
                  <a:pt x="885825" y="19050"/>
                </a:lnTo>
                <a:lnTo>
                  <a:pt x="790575" y="0"/>
                </a:lnTo>
                <a:lnTo>
                  <a:pt x="209550" y="0"/>
                </a:lnTo>
                <a:lnTo>
                  <a:pt x="161925" y="9525"/>
                </a:lnTo>
                <a:lnTo>
                  <a:pt x="123825" y="19050"/>
                </a:lnTo>
                <a:lnTo>
                  <a:pt x="85725" y="47625"/>
                </a:lnTo>
                <a:lnTo>
                  <a:pt x="47625" y="85725"/>
                </a:lnTo>
                <a:lnTo>
                  <a:pt x="9525" y="161925"/>
                </a:lnTo>
                <a:lnTo>
                  <a:pt x="0" y="209550"/>
                </a:lnTo>
                <a:lnTo>
                  <a:pt x="9525" y="257175"/>
                </a:lnTo>
                <a:lnTo>
                  <a:pt x="28575" y="304800"/>
                </a:lnTo>
                <a:lnTo>
                  <a:pt x="47625" y="342900"/>
                </a:lnTo>
                <a:lnTo>
                  <a:pt x="123825" y="400050"/>
                </a:lnTo>
                <a:lnTo>
                  <a:pt x="161925" y="419100"/>
                </a:lnTo>
                <a:lnTo>
                  <a:pt x="209550" y="419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7302500" y="1270000"/>
            <a:ext cx="1073150" cy="305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KONV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 spc="75">
                <a:latin typeface="Arial"/>
                <a:cs typeface="Arial"/>
              </a:rPr>
              <a:t>(Condition</a:t>
            </a:r>
            <a:r>
              <a:rPr dirty="0" sz="900" spc="70">
                <a:latin typeface="Arial"/>
                <a:cs typeface="Arial"/>
              </a:rPr>
              <a:t> Table)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7410450" y="1663700"/>
            <a:ext cx="714375" cy="1143000"/>
            <a:chOff x="7410450" y="1663700"/>
            <a:chExt cx="714375" cy="1143000"/>
          </a:xfrm>
        </p:grpSpPr>
        <p:sp>
          <p:nvSpPr>
            <p:cNvPr id="78" name="object 78" descr=""/>
            <p:cNvSpPr/>
            <p:nvPr/>
          </p:nvSpPr>
          <p:spPr>
            <a:xfrm>
              <a:off x="7772400" y="1701800"/>
              <a:ext cx="19050" cy="1047750"/>
            </a:xfrm>
            <a:custGeom>
              <a:avLst/>
              <a:gdLst/>
              <a:ahLst/>
              <a:cxnLst/>
              <a:rect l="l" t="t" r="r" b="b"/>
              <a:pathLst>
                <a:path w="19050" h="1047750">
                  <a:moveTo>
                    <a:pt x="19050" y="1047750"/>
                  </a:moveTo>
                  <a:lnTo>
                    <a:pt x="9525" y="695325"/>
                  </a:lnTo>
                  <a:lnTo>
                    <a:pt x="0" y="352425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43825" y="1663700"/>
              <a:ext cx="66675" cy="47625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62875" y="2740025"/>
              <a:ext cx="76200" cy="66675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7410450" y="1816100"/>
              <a:ext cx="714375" cy="238125"/>
            </a:xfrm>
            <a:custGeom>
              <a:avLst/>
              <a:gdLst/>
              <a:ahLst/>
              <a:cxnLst/>
              <a:rect l="l" t="t" r="r" b="b"/>
              <a:pathLst>
                <a:path w="714375" h="238125">
                  <a:moveTo>
                    <a:pt x="714375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714375" y="238125"/>
                  </a:lnTo>
                  <a:lnTo>
                    <a:pt x="714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 txBox="1"/>
          <p:nvPr/>
        </p:nvSpPr>
        <p:spPr>
          <a:xfrm>
            <a:off x="7407275" y="1793875"/>
            <a:ext cx="75755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VBRK-KNUMV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7445375" y="1908175"/>
            <a:ext cx="6826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KONV-</a:t>
            </a:r>
            <a:r>
              <a:rPr dirty="0" sz="750" spc="-10">
                <a:latin typeface="Arial"/>
                <a:cs typeface="Arial"/>
              </a:rPr>
              <a:t>KNUMV</a:t>
            </a:r>
            <a:endParaRPr sz="750">
              <a:latin typeface="Arial"/>
              <a:cs typeface="Arial"/>
            </a:endParaRPr>
          </a:p>
        </p:txBody>
      </p:sp>
      <p:sp>
        <p:nvSpPr>
          <p:cNvPr id="84" name="object 84" descr=""/>
          <p:cNvSpPr/>
          <p:nvPr/>
        </p:nvSpPr>
        <p:spPr>
          <a:xfrm>
            <a:off x="657225" y="3121025"/>
            <a:ext cx="1047750" cy="419100"/>
          </a:xfrm>
          <a:custGeom>
            <a:avLst/>
            <a:gdLst/>
            <a:ahLst/>
            <a:cxnLst/>
            <a:rect l="l" t="t" r="r" b="b"/>
            <a:pathLst>
              <a:path w="1047750" h="419100">
                <a:moveTo>
                  <a:pt x="209550" y="419100"/>
                </a:moveTo>
                <a:lnTo>
                  <a:pt x="838200" y="419100"/>
                </a:lnTo>
                <a:lnTo>
                  <a:pt x="933450" y="400050"/>
                </a:lnTo>
                <a:lnTo>
                  <a:pt x="971550" y="371475"/>
                </a:lnTo>
                <a:lnTo>
                  <a:pt x="1028700" y="295275"/>
                </a:lnTo>
                <a:lnTo>
                  <a:pt x="1047750" y="257175"/>
                </a:lnTo>
                <a:lnTo>
                  <a:pt x="1047750" y="161925"/>
                </a:lnTo>
                <a:lnTo>
                  <a:pt x="1028700" y="114300"/>
                </a:lnTo>
                <a:lnTo>
                  <a:pt x="1000125" y="76200"/>
                </a:lnTo>
                <a:lnTo>
                  <a:pt x="971550" y="47625"/>
                </a:lnTo>
                <a:lnTo>
                  <a:pt x="933450" y="19050"/>
                </a:lnTo>
                <a:lnTo>
                  <a:pt x="885825" y="0"/>
                </a:lnTo>
                <a:lnTo>
                  <a:pt x="161925" y="0"/>
                </a:lnTo>
                <a:lnTo>
                  <a:pt x="114300" y="19050"/>
                </a:lnTo>
                <a:lnTo>
                  <a:pt x="76200" y="47625"/>
                </a:lnTo>
                <a:lnTo>
                  <a:pt x="47625" y="76200"/>
                </a:lnTo>
                <a:lnTo>
                  <a:pt x="19050" y="114300"/>
                </a:lnTo>
                <a:lnTo>
                  <a:pt x="0" y="209550"/>
                </a:lnTo>
                <a:lnTo>
                  <a:pt x="9525" y="257175"/>
                </a:lnTo>
                <a:lnTo>
                  <a:pt x="19050" y="295275"/>
                </a:lnTo>
                <a:lnTo>
                  <a:pt x="76200" y="371475"/>
                </a:lnTo>
                <a:lnTo>
                  <a:pt x="114300" y="400050"/>
                </a:lnTo>
                <a:lnTo>
                  <a:pt x="209550" y="419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 txBox="1"/>
          <p:nvPr/>
        </p:nvSpPr>
        <p:spPr>
          <a:xfrm>
            <a:off x="806450" y="3098800"/>
            <a:ext cx="844550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4625">
              <a:lnSpc>
                <a:spcPts val="1065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VEPVG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00" spc="70">
                <a:latin typeface="Arial"/>
                <a:cs typeface="Arial"/>
              </a:rPr>
              <a:t>(Delivery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Due</a:t>
            </a:r>
            <a:endParaRPr sz="90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  <a:spcBef>
                <a:spcPts val="45"/>
              </a:spcBef>
            </a:pPr>
            <a:r>
              <a:rPr dirty="0" sz="900" spc="-10">
                <a:latin typeface="Arial"/>
                <a:cs typeface="Arial"/>
              </a:rPr>
              <a:t>Index)</a:t>
            </a:r>
            <a:endParaRPr sz="900">
              <a:latin typeface="Arial"/>
              <a:cs typeface="Arial"/>
            </a:endParaRPr>
          </a:p>
        </p:txBody>
      </p:sp>
      <p:sp>
        <p:nvSpPr>
          <p:cNvPr id="86" name="object 86" descr=""/>
          <p:cNvSpPr/>
          <p:nvPr/>
        </p:nvSpPr>
        <p:spPr>
          <a:xfrm>
            <a:off x="657225" y="911225"/>
            <a:ext cx="1152525" cy="419100"/>
          </a:xfrm>
          <a:custGeom>
            <a:avLst/>
            <a:gdLst/>
            <a:ahLst/>
            <a:cxnLst/>
            <a:rect l="l" t="t" r="r" b="b"/>
            <a:pathLst>
              <a:path w="1152525" h="419100">
                <a:moveTo>
                  <a:pt x="209550" y="419100"/>
                </a:moveTo>
                <a:lnTo>
                  <a:pt x="990600" y="419100"/>
                </a:lnTo>
                <a:lnTo>
                  <a:pt x="1038225" y="400050"/>
                </a:lnTo>
                <a:lnTo>
                  <a:pt x="1076325" y="371475"/>
                </a:lnTo>
                <a:lnTo>
                  <a:pt x="1104900" y="342900"/>
                </a:lnTo>
                <a:lnTo>
                  <a:pt x="1133475" y="304800"/>
                </a:lnTo>
                <a:lnTo>
                  <a:pt x="1152525" y="257175"/>
                </a:lnTo>
                <a:lnTo>
                  <a:pt x="1152525" y="161925"/>
                </a:lnTo>
                <a:lnTo>
                  <a:pt x="1133475" y="123825"/>
                </a:lnTo>
                <a:lnTo>
                  <a:pt x="1104900" y="76200"/>
                </a:lnTo>
                <a:lnTo>
                  <a:pt x="1076325" y="47625"/>
                </a:lnTo>
                <a:lnTo>
                  <a:pt x="1038225" y="19050"/>
                </a:lnTo>
                <a:lnTo>
                  <a:pt x="942975" y="0"/>
                </a:lnTo>
                <a:lnTo>
                  <a:pt x="209550" y="0"/>
                </a:lnTo>
                <a:lnTo>
                  <a:pt x="114300" y="19050"/>
                </a:lnTo>
                <a:lnTo>
                  <a:pt x="76200" y="47625"/>
                </a:lnTo>
                <a:lnTo>
                  <a:pt x="47625" y="76200"/>
                </a:lnTo>
                <a:lnTo>
                  <a:pt x="19050" y="123825"/>
                </a:lnTo>
                <a:lnTo>
                  <a:pt x="9525" y="161925"/>
                </a:lnTo>
                <a:lnTo>
                  <a:pt x="0" y="209550"/>
                </a:lnTo>
                <a:lnTo>
                  <a:pt x="19050" y="304800"/>
                </a:lnTo>
                <a:lnTo>
                  <a:pt x="47625" y="342900"/>
                </a:lnTo>
                <a:lnTo>
                  <a:pt x="76200" y="371475"/>
                </a:lnTo>
                <a:lnTo>
                  <a:pt x="114300" y="400050"/>
                </a:lnTo>
                <a:lnTo>
                  <a:pt x="161925" y="419100"/>
                </a:lnTo>
                <a:lnTo>
                  <a:pt x="209550" y="419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 txBox="1"/>
          <p:nvPr/>
        </p:nvSpPr>
        <p:spPr>
          <a:xfrm>
            <a:off x="835026" y="889000"/>
            <a:ext cx="911860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VBBE</a:t>
            </a:r>
            <a:endParaRPr sz="900">
              <a:latin typeface="Arial"/>
              <a:cs typeface="Arial"/>
            </a:endParaRPr>
          </a:p>
          <a:p>
            <a:pPr marL="12700" marR="5080" indent="219075">
              <a:lnSpc>
                <a:spcPts val="1050"/>
              </a:lnSpc>
              <a:spcBef>
                <a:spcPts val="105"/>
              </a:spcBef>
            </a:pPr>
            <a:r>
              <a:rPr dirty="0" sz="900" spc="60">
                <a:latin typeface="Arial"/>
                <a:cs typeface="Arial"/>
              </a:rPr>
              <a:t>(Sales </a:t>
            </a:r>
            <a:r>
              <a:rPr dirty="0" sz="900" spc="70">
                <a:latin typeface="Arial"/>
                <a:cs typeface="Arial"/>
              </a:rPr>
              <a:t>Requirements)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8" name="object 88" descr=""/>
          <p:cNvGrpSpPr/>
          <p:nvPr/>
        </p:nvGrpSpPr>
        <p:grpSpPr>
          <a:xfrm>
            <a:off x="1238250" y="1339850"/>
            <a:ext cx="847725" cy="942975"/>
            <a:chOff x="1238250" y="1339850"/>
            <a:chExt cx="847725" cy="942975"/>
          </a:xfrm>
        </p:grpSpPr>
        <p:sp>
          <p:nvSpPr>
            <p:cNvPr id="89" name="object 89" descr=""/>
            <p:cNvSpPr/>
            <p:nvPr/>
          </p:nvSpPr>
          <p:spPr>
            <a:xfrm>
              <a:off x="1266825" y="1377950"/>
              <a:ext cx="771525" cy="857250"/>
            </a:xfrm>
            <a:custGeom>
              <a:avLst/>
              <a:gdLst/>
              <a:ahLst/>
              <a:cxnLst/>
              <a:rect l="l" t="t" r="r" b="b"/>
              <a:pathLst>
                <a:path w="771525" h="857250">
                  <a:moveTo>
                    <a:pt x="771525" y="85725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38250" y="1339850"/>
              <a:ext cx="76200" cy="66675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09775" y="2216150"/>
              <a:ext cx="76200" cy="66675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1333500" y="1682750"/>
              <a:ext cx="647700" cy="247650"/>
            </a:xfrm>
            <a:custGeom>
              <a:avLst/>
              <a:gdLst/>
              <a:ahLst/>
              <a:cxnLst/>
              <a:rect l="l" t="t" r="r" b="b"/>
              <a:pathLst>
                <a:path w="647700" h="247650">
                  <a:moveTo>
                    <a:pt x="647700" y="0"/>
                  </a:moveTo>
                  <a:lnTo>
                    <a:pt x="0" y="0"/>
                  </a:lnTo>
                  <a:lnTo>
                    <a:pt x="0" y="247650"/>
                  </a:lnTo>
                  <a:lnTo>
                    <a:pt x="647700" y="247650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 descr=""/>
          <p:cNvSpPr txBox="1"/>
          <p:nvPr/>
        </p:nvSpPr>
        <p:spPr>
          <a:xfrm>
            <a:off x="1320800" y="1670050"/>
            <a:ext cx="7016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VBBE-</a:t>
            </a:r>
            <a:r>
              <a:rPr dirty="0" sz="750" spc="-10">
                <a:latin typeface="Arial"/>
                <a:cs typeface="Arial"/>
              </a:rPr>
              <a:t>VBELN=</a:t>
            </a:r>
            <a:endParaRPr sz="750">
              <a:latin typeface="Arial"/>
              <a:cs typeface="Arial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1349375" y="1784350"/>
            <a:ext cx="6540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VBAK-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sp>
        <p:nvSpPr>
          <p:cNvPr id="95" name="object 95" descr=""/>
          <p:cNvSpPr/>
          <p:nvPr/>
        </p:nvSpPr>
        <p:spPr>
          <a:xfrm>
            <a:off x="2124075" y="6483350"/>
            <a:ext cx="1047750" cy="628650"/>
          </a:xfrm>
          <a:custGeom>
            <a:avLst/>
            <a:gdLst/>
            <a:ahLst/>
            <a:cxnLst/>
            <a:rect l="l" t="t" r="r" b="b"/>
            <a:pathLst>
              <a:path w="1047750" h="628650">
                <a:moveTo>
                  <a:pt x="266700" y="628650"/>
                </a:moveTo>
                <a:lnTo>
                  <a:pt x="790575" y="628650"/>
                </a:lnTo>
                <a:lnTo>
                  <a:pt x="885825" y="609600"/>
                </a:lnTo>
                <a:lnTo>
                  <a:pt x="923925" y="581025"/>
                </a:lnTo>
                <a:lnTo>
                  <a:pt x="971550" y="542925"/>
                </a:lnTo>
                <a:lnTo>
                  <a:pt x="1000125" y="504825"/>
                </a:lnTo>
                <a:lnTo>
                  <a:pt x="1028700" y="457200"/>
                </a:lnTo>
                <a:lnTo>
                  <a:pt x="1047750" y="342900"/>
                </a:lnTo>
                <a:lnTo>
                  <a:pt x="1047750" y="285750"/>
                </a:lnTo>
                <a:lnTo>
                  <a:pt x="1028700" y="171450"/>
                </a:lnTo>
                <a:lnTo>
                  <a:pt x="971550" y="76200"/>
                </a:lnTo>
                <a:lnTo>
                  <a:pt x="923925" y="47625"/>
                </a:lnTo>
                <a:lnTo>
                  <a:pt x="885825" y="19050"/>
                </a:lnTo>
                <a:lnTo>
                  <a:pt x="838200" y="0"/>
                </a:lnTo>
                <a:lnTo>
                  <a:pt x="219075" y="0"/>
                </a:lnTo>
                <a:lnTo>
                  <a:pt x="171450" y="19050"/>
                </a:lnTo>
                <a:lnTo>
                  <a:pt x="123825" y="47625"/>
                </a:lnTo>
                <a:lnTo>
                  <a:pt x="85725" y="76200"/>
                </a:lnTo>
                <a:lnTo>
                  <a:pt x="28575" y="171450"/>
                </a:lnTo>
                <a:lnTo>
                  <a:pt x="9525" y="228600"/>
                </a:lnTo>
                <a:lnTo>
                  <a:pt x="0" y="285750"/>
                </a:lnTo>
                <a:lnTo>
                  <a:pt x="0" y="342900"/>
                </a:lnTo>
                <a:lnTo>
                  <a:pt x="9525" y="400050"/>
                </a:lnTo>
                <a:lnTo>
                  <a:pt x="28575" y="457200"/>
                </a:lnTo>
                <a:lnTo>
                  <a:pt x="57150" y="504825"/>
                </a:lnTo>
                <a:lnTo>
                  <a:pt x="85725" y="542925"/>
                </a:lnTo>
                <a:lnTo>
                  <a:pt x="123825" y="581025"/>
                </a:lnTo>
                <a:lnTo>
                  <a:pt x="171450" y="609600"/>
                </a:lnTo>
                <a:lnTo>
                  <a:pt x="266700" y="6286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 txBox="1"/>
          <p:nvPr/>
        </p:nvSpPr>
        <p:spPr>
          <a:xfrm>
            <a:off x="2254250" y="6565900"/>
            <a:ext cx="930275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>
              <a:lnSpc>
                <a:spcPts val="1065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VBEH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00" spc="80">
                <a:latin typeface="Arial"/>
                <a:cs typeface="Arial"/>
              </a:rPr>
              <a:t>(Schedule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Line</a:t>
            </a:r>
            <a:endParaRPr sz="900">
              <a:latin typeface="Arial"/>
              <a:cs typeface="Arial"/>
            </a:endParaRPr>
          </a:p>
          <a:p>
            <a:pPr marL="193040">
              <a:lnSpc>
                <a:spcPct val="100000"/>
              </a:lnSpc>
              <a:spcBef>
                <a:spcPts val="45"/>
              </a:spcBef>
            </a:pPr>
            <a:r>
              <a:rPr dirty="0" sz="900" spc="45">
                <a:latin typeface="Arial"/>
                <a:cs typeface="Arial"/>
              </a:rPr>
              <a:t>History)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2324100" y="5807075"/>
            <a:ext cx="342900" cy="676275"/>
            <a:chOff x="2324100" y="5807075"/>
            <a:chExt cx="342900" cy="676275"/>
          </a:xfrm>
        </p:grpSpPr>
        <p:sp>
          <p:nvSpPr>
            <p:cNvPr id="98" name="object 98" descr=""/>
            <p:cNvSpPr/>
            <p:nvPr/>
          </p:nvSpPr>
          <p:spPr>
            <a:xfrm>
              <a:off x="2362200" y="5845175"/>
              <a:ext cx="266700" cy="581025"/>
            </a:xfrm>
            <a:custGeom>
              <a:avLst/>
              <a:gdLst/>
              <a:ahLst/>
              <a:cxnLst/>
              <a:rect l="l" t="t" r="r" b="b"/>
              <a:pathLst>
                <a:path w="266700" h="581025">
                  <a:moveTo>
                    <a:pt x="0" y="0"/>
                  </a:moveTo>
                  <a:lnTo>
                    <a:pt x="266700" y="5810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33625" y="5807075"/>
              <a:ext cx="66675" cy="66675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90800" y="6416675"/>
              <a:ext cx="76200" cy="66675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2324100" y="5959475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3429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42900" y="36195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102" descr=""/>
          <p:cNvSpPr txBox="1"/>
          <p:nvPr/>
        </p:nvSpPr>
        <p:spPr>
          <a:xfrm>
            <a:off x="2330450" y="5946775"/>
            <a:ext cx="3587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2320925" y="6061075"/>
            <a:ext cx="3683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Arial"/>
                <a:cs typeface="Arial"/>
              </a:rPr>
              <a:t>POSNR</a:t>
            </a:r>
            <a:endParaRPr sz="750">
              <a:latin typeface="Arial"/>
              <a:cs typeface="Arial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2320925" y="6175375"/>
            <a:ext cx="3587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Arial"/>
                <a:cs typeface="Arial"/>
              </a:rPr>
              <a:t>ETENR</a:t>
            </a:r>
            <a:endParaRPr sz="750">
              <a:latin typeface="Arial"/>
              <a:cs typeface="Arial"/>
            </a:endParaRPr>
          </a:p>
        </p:txBody>
      </p:sp>
      <p:sp>
        <p:nvSpPr>
          <p:cNvPr id="105" name="object 105" descr=""/>
          <p:cNvSpPr/>
          <p:nvPr/>
        </p:nvSpPr>
        <p:spPr>
          <a:xfrm>
            <a:off x="5800725" y="1016000"/>
            <a:ext cx="1152525" cy="419100"/>
          </a:xfrm>
          <a:custGeom>
            <a:avLst/>
            <a:gdLst/>
            <a:ahLst/>
            <a:cxnLst/>
            <a:rect l="l" t="t" r="r" b="b"/>
            <a:pathLst>
              <a:path w="1152525" h="419100">
                <a:moveTo>
                  <a:pt x="209550" y="419100"/>
                </a:moveTo>
                <a:lnTo>
                  <a:pt x="990600" y="419100"/>
                </a:lnTo>
                <a:lnTo>
                  <a:pt x="1038225" y="400050"/>
                </a:lnTo>
                <a:lnTo>
                  <a:pt x="1076325" y="371475"/>
                </a:lnTo>
                <a:lnTo>
                  <a:pt x="1104900" y="342900"/>
                </a:lnTo>
                <a:lnTo>
                  <a:pt x="1133475" y="304800"/>
                </a:lnTo>
                <a:lnTo>
                  <a:pt x="1152525" y="257175"/>
                </a:lnTo>
                <a:lnTo>
                  <a:pt x="1152525" y="161925"/>
                </a:lnTo>
                <a:lnTo>
                  <a:pt x="1133475" y="123825"/>
                </a:lnTo>
                <a:lnTo>
                  <a:pt x="1104900" y="76200"/>
                </a:lnTo>
                <a:lnTo>
                  <a:pt x="1076325" y="47625"/>
                </a:lnTo>
                <a:lnTo>
                  <a:pt x="1038225" y="19050"/>
                </a:lnTo>
                <a:lnTo>
                  <a:pt x="942975" y="0"/>
                </a:lnTo>
                <a:lnTo>
                  <a:pt x="209550" y="0"/>
                </a:lnTo>
                <a:lnTo>
                  <a:pt x="161925" y="9525"/>
                </a:lnTo>
                <a:lnTo>
                  <a:pt x="123825" y="19050"/>
                </a:lnTo>
                <a:lnTo>
                  <a:pt x="76200" y="47625"/>
                </a:lnTo>
                <a:lnTo>
                  <a:pt x="47625" y="76200"/>
                </a:lnTo>
                <a:lnTo>
                  <a:pt x="19050" y="123825"/>
                </a:lnTo>
                <a:lnTo>
                  <a:pt x="9525" y="161925"/>
                </a:lnTo>
                <a:lnTo>
                  <a:pt x="0" y="209550"/>
                </a:lnTo>
                <a:lnTo>
                  <a:pt x="19050" y="304800"/>
                </a:lnTo>
                <a:lnTo>
                  <a:pt x="47625" y="342900"/>
                </a:lnTo>
                <a:lnTo>
                  <a:pt x="76200" y="371475"/>
                </a:lnTo>
                <a:lnTo>
                  <a:pt x="123825" y="400050"/>
                </a:lnTo>
                <a:lnTo>
                  <a:pt x="161925" y="419100"/>
                </a:lnTo>
                <a:lnTo>
                  <a:pt x="209550" y="419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 txBox="1"/>
          <p:nvPr/>
        </p:nvSpPr>
        <p:spPr>
          <a:xfrm>
            <a:off x="5902325" y="993775"/>
            <a:ext cx="1092200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VEPO</a:t>
            </a:r>
            <a:endParaRPr sz="900">
              <a:latin typeface="Arial"/>
              <a:cs typeface="Arial"/>
            </a:endParaRPr>
          </a:p>
          <a:p>
            <a:pPr marL="127000" marR="5080" indent="-114300">
              <a:lnSpc>
                <a:spcPts val="1050"/>
              </a:lnSpc>
              <a:spcBef>
                <a:spcPts val="105"/>
              </a:spcBef>
            </a:pPr>
            <a:r>
              <a:rPr dirty="0" sz="900" spc="85">
                <a:latin typeface="Arial"/>
                <a:cs typeface="Arial"/>
              </a:rPr>
              <a:t>(SD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60">
                <a:latin typeface="Arial"/>
                <a:cs typeface="Arial"/>
              </a:rPr>
              <a:t>Doc:Shipping </a:t>
            </a:r>
            <a:r>
              <a:rPr dirty="0" sz="900" spc="75">
                <a:latin typeface="Arial"/>
                <a:cs typeface="Arial"/>
              </a:rPr>
              <a:t>Item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content)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7" name="object 107" descr=""/>
          <p:cNvGrpSpPr/>
          <p:nvPr/>
        </p:nvGrpSpPr>
        <p:grpSpPr>
          <a:xfrm>
            <a:off x="5248275" y="1235075"/>
            <a:ext cx="1814830" cy="1157605"/>
            <a:chOff x="5248275" y="1235075"/>
            <a:chExt cx="1814830" cy="1157605"/>
          </a:xfrm>
        </p:grpSpPr>
        <p:sp>
          <p:nvSpPr>
            <p:cNvPr id="108" name="object 108" descr=""/>
            <p:cNvSpPr/>
            <p:nvPr/>
          </p:nvSpPr>
          <p:spPr>
            <a:xfrm>
              <a:off x="5400675" y="1282700"/>
              <a:ext cx="381000" cy="838200"/>
            </a:xfrm>
            <a:custGeom>
              <a:avLst/>
              <a:gdLst/>
              <a:ahLst/>
              <a:cxnLst/>
              <a:rect l="l" t="t" r="r" b="b"/>
              <a:pathLst>
                <a:path w="381000" h="838200">
                  <a:moveTo>
                    <a:pt x="0" y="838200"/>
                  </a:moveTo>
                  <a:lnTo>
                    <a:pt x="381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43575" y="1235075"/>
              <a:ext cx="66675" cy="66675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5248275" y="1577975"/>
              <a:ext cx="685800" cy="238125"/>
            </a:xfrm>
            <a:custGeom>
              <a:avLst/>
              <a:gdLst/>
              <a:ahLst/>
              <a:cxnLst/>
              <a:rect l="l" t="t" r="r" b="b"/>
              <a:pathLst>
                <a:path w="685800" h="238125">
                  <a:moveTo>
                    <a:pt x="6858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685800" y="23812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5905500" y="1958975"/>
              <a:ext cx="1152525" cy="428625"/>
            </a:xfrm>
            <a:custGeom>
              <a:avLst/>
              <a:gdLst/>
              <a:ahLst/>
              <a:cxnLst/>
              <a:rect l="l" t="t" r="r" b="b"/>
              <a:pathLst>
                <a:path w="1152525" h="428625">
                  <a:moveTo>
                    <a:pt x="209550" y="428625"/>
                  </a:moveTo>
                  <a:lnTo>
                    <a:pt x="942975" y="428625"/>
                  </a:lnTo>
                  <a:lnTo>
                    <a:pt x="990600" y="419100"/>
                  </a:lnTo>
                  <a:lnTo>
                    <a:pt x="1038225" y="400050"/>
                  </a:lnTo>
                  <a:lnTo>
                    <a:pt x="1076325" y="381000"/>
                  </a:lnTo>
                  <a:lnTo>
                    <a:pt x="1114425" y="342900"/>
                  </a:lnTo>
                  <a:lnTo>
                    <a:pt x="1133475" y="304800"/>
                  </a:lnTo>
                  <a:lnTo>
                    <a:pt x="1152525" y="257175"/>
                  </a:lnTo>
                  <a:lnTo>
                    <a:pt x="1152525" y="161925"/>
                  </a:lnTo>
                  <a:lnTo>
                    <a:pt x="1114425" y="85725"/>
                  </a:lnTo>
                  <a:lnTo>
                    <a:pt x="1076325" y="47625"/>
                  </a:lnTo>
                  <a:lnTo>
                    <a:pt x="1038225" y="28575"/>
                  </a:lnTo>
                  <a:lnTo>
                    <a:pt x="990600" y="9525"/>
                  </a:lnTo>
                  <a:lnTo>
                    <a:pt x="942975" y="0"/>
                  </a:lnTo>
                  <a:lnTo>
                    <a:pt x="209550" y="0"/>
                  </a:lnTo>
                  <a:lnTo>
                    <a:pt x="161925" y="9525"/>
                  </a:lnTo>
                  <a:lnTo>
                    <a:pt x="123825" y="28575"/>
                  </a:lnTo>
                  <a:lnTo>
                    <a:pt x="76200" y="47625"/>
                  </a:lnTo>
                  <a:lnTo>
                    <a:pt x="19050" y="123825"/>
                  </a:lnTo>
                  <a:lnTo>
                    <a:pt x="9525" y="161925"/>
                  </a:lnTo>
                  <a:lnTo>
                    <a:pt x="0" y="209550"/>
                  </a:lnTo>
                  <a:lnTo>
                    <a:pt x="19050" y="304800"/>
                  </a:lnTo>
                  <a:lnTo>
                    <a:pt x="76200" y="381000"/>
                  </a:lnTo>
                  <a:lnTo>
                    <a:pt x="123825" y="400050"/>
                  </a:lnTo>
                  <a:lnTo>
                    <a:pt x="161925" y="419100"/>
                  </a:lnTo>
                  <a:lnTo>
                    <a:pt x="209550" y="4286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 descr=""/>
          <p:cNvSpPr txBox="1"/>
          <p:nvPr/>
        </p:nvSpPr>
        <p:spPr>
          <a:xfrm>
            <a:off x="6007100" y="1936750"/>
            <a:ext cx="1092200" cy="4483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VEKP</a:t>
            </a:r>
            <a:endParaRPr sz="900">
              <a:latin typeface="Arial"/>
              <a:cs typeface="Arial"/>
            </a:endParaRPr>
          </a:p>
          <a:p>
            <a:pPr marL="145415" marR="5080" indent="-133350">
              <a:lnSpc>
                <a:spcPct val="104200"/>
              </a:lnSpc>
            </a:pPr>
            <a:r>
              <a:rPr dirty="0" sz="900" spc="85">
                <a:latin typeface="Arial"/>
                <a:cs typeface="Arial"/>
              </a:rPr>
              <a:t>(SD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60">
                <a:latin typeface="Arial"/>
                <a:cs typeface="Arial"/>
              </a:rPr>
              <a:t>Doc:Shipping </a:t>
            </a:r>
            <a:r>
              <a:rPr dirty="0" sz="900" spc="65">
                <a:latin typeface="Arial"/>
                <a:cs typeface="Arial"/>
              </a:rPr>
              <a:t>Unit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60">
                <a:latin typeface="Arial"/>
                <a:cs typeface="Arial"/>
              </a:rPr>
              <a:t>Header)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3" name="object 113" descr=""/>
          <p:cNvGrpSpPr/>
          <p:nvPr/>
        </p:nvGrpSpPr>
        <p:grpSpPr>
          <a:xfrm>
            <a:off x="6076950" y="1444625"/>
            <a:ext cx="714375" cy="514350"/>
            <a:chOff x="6076950" y="1444625"/>
            <a:chExt cx="714375" cy="514350"/>
          </a:xfrm>
        </p:grpSpPr>
        <p:sp>
          <p:nvSpPr>
            <p:cNvPr id="114" name="object 114" descr=""/>
            <p:cNvSpPr/>
            <p:nvPr/>
          </p:nvSpPr>
          <p:spPr>
            <a:xfrm>
              <a:off x="6391275" y="1492250"/>
              <a:ext cx="85725" cy="409575"/>
            </a:xfrm>
            <a:custGeom>
              <a:avLst/>
              <a:gdLst/>
              <a:ahLst/>
              <a:cxnLst/>
              <a:rect l="l" t="t" r="r" b="b"/>
              <a:pathLst>
                <a:path w="85725" h="409575">
                  <a:moveTo>
                    <a:pt x="0" y="0"/>
                  </a:moveTo>
                  <a:lnTo>
                    <a:pt x="85725" y="4095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2700" y="1444625"/>
              <a:ext cx="66675" cy="57150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38900" y="1901825"/>
              <a:ext cx="76200" cy="57150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6076950" y="1577975"/>
              <a:ext cx="714375" cy="238125"/>
            </a:xfrm>
            <a:custGeom>
              <a:avLst/>
              <a:gdLst/>
              <a:ahLst/>
              <a:cxnLst/>
              <a:rect l="l" t="t" r="r" b="b"/>
              <a:pathLst>
                <a:path w="714375" h="238125">
                  <a:moveTo>
                    <a:pt x="714375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714375" y="238125"/>
                  </a:lnTo>
                  <a:lnTo>
                    <a:pt x="714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 descr=""/>
          <p:cNvSpPr txBox="1"/>
          <p:nvPr/>
        </p:nvSpPr>
        <p:spPr>
          <a:xfrm>
            <a:off x="6064250" y="1565275"/>
            <a:ext cx="7670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VEPO-VENUM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6111875" y="1679575"/>
            <a:ext cx="6635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VEKP-</a:t>
            </a:r>
            <a:r>
              <a:rPr dirty="0" sz="750" spc="-10">
                <a:latin typeface="Arial"/>
                <a:cs typeface="Arial"/>
              </a:rPr>
              <a:t>VENUM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20" name="object 120" descr=""/>
          <p:cNvGrpSpPr/>
          <p:nvPr/>
        </p:nvGrpSpPr>
        <p:grpSpPr>
          <a:xfrm>
            <a:off x="5314950" y="2111375"/>
            <a:ext cx="3014980" cy="3329304"/>
            <a:chOff x="5314950" y="2111375"/>
            <a:chExt cx="3014980" cy="3329304"/>
          </a:xfrm>
        </p:grpSpPr>
        <p:sp>
          <p:nvSpPr>
            <p:cNvPr id="121" name="object 121" descr=""/>
            <p:cNvSpPr/>
            <p:nvPr/>
          </p:nvSpPr>
          <p:spPr>
            <a:xfrm>
              <a:off x="7277100" y="4797425"/>
              <a:ext cx="1047750" cy="638175"/>
            </a:xfrm>
            <a:custGeom>
              <a:avLst/>
              <a:gdLst/>
              <a:ahLst/>
              <a:cxnLst/>
              <a:rect l="l" t="t" r="r" b="b"/>
              <a:pathLst>
                <a:path w="1047750" h="638175">
                  <a:moveTo>
                    <a:pt x="257175" y="638175"/>
                  </a:moveTo>
                  <a:lnTo>
                    <a:pt x="781050" y="638175"/>
                  </a:lnTo>
                  <a:lnTo>
                    <a:pt x="828675" y="628650"/>
                  </a:lnTo>
                  <a:lnTo>
                    <a:pt x="923925" y="590550"/>
                  </a:lnTo>
                  <a:lnTo>
                    <a:pt x="962025" y="552450"/>
                  </a:lnTo>
                  <a:lnTo>
                    <a:pt x="1019175" y="457200"/>
                  </a:lnTo>
                  <a:lnTo>
                    <a:pt x="1038225" y="400050"/>
                  </a:lnTo>
                  <a:lnTo>
                    <a:pt x="1047750" y="352425"/>
                  </a:lnTo>
                  <a:lnTo>
                    <a:pt x="1047750" y="285750"/>
                  </a:lnTo>
                  <a:lnTo>
                    <a:pt x="1038225" y="228600"/>
                  </a:lnTo>
                  <a:lnTo>
                    <a:pt x="1019175" y="180975"/>
                  </a:lnTo>
                  <a:lnTo>
                    <a:pt x="990600" y="123825"/>
                  </a:lnTo>
                  <a:lnTo>
                    <a:pt x="962025" y="85725"/>
                  </a:lnTo>
                  <a:lnTo>
                    <a:pt x="923925" y="47625"/>
                  </a:lnTo>
                  <a:lnTo>
                    <a:pt x="876300" y="19050"/>
                  </a:lnTo>
                  <a:lnTo>
                    <a:pt x="781050" y="0"/>
                  </a:lnTo>
                  <a:lnTo>
                    <a:pt x="257175" y="0"/>
                  </a:lnTo>
                  <a:lnTo>
                    <a:pt x="161925" y="19050"/>
                  </a:lnTo>
                  <a:lnTo>
                    <a:pt x="123825" y="47625"/>
                  </a:lnTo>
                  <a:lnTo>
                    <a:pt x="47625" y="123825"/>
                  </a:lnTo>
                  <a:lnTo>
                    <a:pt x="19050" y="180975"/>
                  </a:lnTo>
                  <a:lnTo>
                    <a:pt x="9525" y="228600"/>
                  </a:lnTo>
                  <a:lnTo>
                    <a:pt x="0" y="285750"/>
                  </a:lnTo>
                  <a:lnTo>
                    <a:pt x="0" y="352425"/>
                  </a:lnTo>
                  <a:lnTo>
                    <a:pt x="9525" y="400050"/>
                  </a:lnTo>
                  <a:lnTo>
                    <a:pt x="19050" y="457200"/>
                  </a:lnTo>
                  <a:lnTo>
                    <a:pt x="47625" y="504825"/>
                  </a:lnTo>
                  <a:lnTo>
                    <a:pt x="85725" y="552450"/>
                  </a:lnTo>
                  <a:lnTo>
                    <a:pt x="123825" y="590550"/>
                  </a:lnTo>
                  <a:lnTo>
                    <a:pt x="161925" y="609600"/>
                  </a:lnTo>
                  <a:lnTo>
                    <a:pt x="209550" y="628650"/>
                  </a:lnTo>
                  <a:lnTo>
                    <a:pt x="257175" y="638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14950" y="2111375"/>
              <a:ext cx="133350" cy="95250"/>
            </a:xfrm>
            <a:prstGeom prst="rect">
              <a:avLst/>
            </a:prstGeom>
          </p:spPr>
        </p:pic>
      </p:grpSp>
      <p:sp>
        <p:nvSpPr>
          <p:cNvPr id="123" name="object 123" descr=""/>
          <p:cNvSpPr txBox="1"/>
          <p:nvPr/>
        </p:nvSpPr>
        <p:spPr>
          <a:xfrm>
            <a:off x="7302500" y="4956175"/>
            <a:ext cx="1101725" cy="295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>
              <a:lnSpc>
                <a:spcPts val="1065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VBRP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00" spc="50">
                <a:latin typeface="Arial"/>
                <a:cs typeface="Arial"/>
              </a:rPr>
              <a:t>(Billing: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Item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45">
                <a:latin typeface="Arial"/>
                <a:cs typeface="Arial"/>
              </a:rPr>
              <a:t>data)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4" name="object 124" descr=""/>
          <p:cNvGrpSpPr/>
          <p:nvPr/>
        </p:nvGrpSpPr>
        <p:grpSpPr>
          <a:xfrm>
            <a:off x="7248525" y="3235325"/>
            <a:ext cx="676275" cy="1562100"/>
            <a:chOff x="7248525" y="3235325"/>
            <a:chExt cx="676275" cy="1562100"/>
          </a:xfrm>
        </p:grpSpPr>
        <p:sp>
          <p:nvSpPr>
            <p:cNvPr id="125" name="object 125" descr=""/>
            <p:cNvSpPr/>
            <p:nvPr/>
          </p:nvSpPr>
          <p:spPr>
            <a:xfrm>
              <a:off x="7581900" y="3273425"/>
              <a:ext cx="190500" cy="1476375"/>
            </a:xfrm>
            <a:custGeom>
              <a:avLst/>
              <a:gdLst/>
              <a:ahLst/>
              <a:cxnLst/>
              <a:rect l="l" t="t" r="r" b="b"/>
              <a:pathLst>
                <a:path w="190500" h="1476375">
                  <a:moveTo>
                    <a:pt x="190500" y="0"/>
                  </a:moveTo>
                  <a:lnTo>
                    <a:pt x="133350" y="114300"/>
                  </a:lnTo>
                  <a:lnTo>
                    <a:pt x="85725" y="228600"/>
                  </a:lnTo>
                  <a:lnTo>
                    <a:pt x="47625" y="352425"/>
                  </a:lnTo>
                  <a:lnTo>
                    <a:pt x="19050" y="485775"/>
                  </a:lnTo>
                  <a:lnTo>
                    <a:pt x="0" y="609600"/>
                  </a:lnTo>
                  <a:lnTo>
                    <a:pt x="0" y="866775"/>
                  </a:lnTo>
                  <a:lnTo>
                    <a:pt x="19050" y="990600"/>
                  </a:lnTo>
                  <a:lnTo>
                    <a:pt x="47625" y="1123950"/>
                  </a:lnTo>
                  <a:lnTo>
                    <a:pt x="85725" y="1247775"/>
                  </a:lnTo>
                  <a:lnTo>
                    <a:pt x="133350" y="1362075"/>
                  </a:lnTo>
                  <a:lnTo>
                    <a:pt x="190500" y="14763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34300" y="3235325"/>
              <a:ext cx="76200" cy="57150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34300" y="4740275"/>
              <a:ext cx="76200" cy="57150"/>
            </a:xfrm>
            <a:prstGeom prst="rect">
              <a:avLst/>
            </a:prstGeom>
          </p:spPr>
        </p:pic>
        <p:sp>
          <p:nvSpPr>
            <p:cNvPr id="128" name="object 128" descr=""/>
            <p:cNvSpPr/>
            <p:nvPr/>
          </p:nvSpPr>
          <p:spPr>
            <a:xfrm>
              <a:off x="7248525" y="4054475"/>
              <a:ext cx="676275" cy="238125"/>
            </a:xfrm>
            <a:custGeom>
              <a:avLst/>
              <a:gdLst/>
              <a:ahLst/>
              <a:cxnLst/>
              <a:rect l="l" t="t" r="r" b="b"/>
              <a:pathLst>
                <a:path w="676275" h="238125">
                  <a:moveTo>
                    <a:pt x="676275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676275" y="238125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 descr=""/>
          <p:cNvSpPr txBox="1"/>
          <p:nvPr/>
        </p:nvSpPr>
        <p:spPr>
          <a:xfrm>
            <a:off x="7245350" y="4032250"/>
            <a:ext cx="7289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VBRK-VBELN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130" name="object 130" descr=""/>
          <p:cNvSpPr txBox="1"/>
          <p:nvPr/>
        </p:nvSpPr>
        <p:spPr>
          <a:xfrm>
            <a:off x="7283450" y="4146550"/>
            <a:ext cx="6546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VBRP-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31" name="object 131" descr=""/>
          <p:cNvGrpSpPr/>
          <p:nvPr/>
        </p:nvGrpSpPr>
        <p:grpSpPr>
          <a:xfrm>
            <a:off x="4329112" y="963612"/>
            <a:ext cx="1162050" cy="533400"/>
            <a:chOff x="4329112" y="963612"/>
            <a:chExt cx="1162050" cy="533400"/>
          </a:xfrm>
        </p:grpSpPr>
        <p:sp>
          <p:nvSpPr>
            <p:cNvPr id="132" name="object 132" descr=""/>
            <p:cNvSpPr/>
            <p:nvPr/>
          </p:nvSpPr>
          <p:spPr>
            <a:xfrm>
              <a:off x="4333875" y="968375"/>
              <a:ext cx="1152525" cy="523875"/>
            </a:xfrm>
            <a:custGeom>
              <a:avLst/>
              <a:gdLst/>
              <a:ahLst/>
              <a:cxnLst/>
              <a:rect l="l" t="t" r="r" b="b"/>
              <a:pathLst>
                <a:path w="1152525" h="523875">
                  <a:moveTo>
                    <a:pt x="942975" y="0"/>
                  </a:moveTo>
                  <a:lnTo>
                    <a:pt x="209550" y="0"/>
                  </a:lnTo>
                  <a:lnTo>
                    <a:pt x="114300" y="38100"/>
                  </a:lnTo>
                  <a:lnTo>
                    <a:pt x="38100" y="114300"/>
                  </a:lnTo>
                  <a:lnTo>
                    <a:pt x="0" y="209550"/>
                  </a:lnTo>
                  <a:lnTo>
                    <a:pt x="0" y="314325"/>
                  </a:lnTo>
                  <a:lnTo>
                    <a:pt x="38100" y="409575"/>
                  </a:lnTo>
                  <a:lnTo>
                    <a:pt x="76200" y="447675"/>
                  </a:lnTo>
                  <a:lnTo>
                    <a:pt x="114300" y="476250"/>
                  </a:lnTo>
                  <a:lnTo>
                    <a:pt x="161925" y="504825"/>
                  </a:lnTo>
                  <a:lnTo>
                    <a:pt x="257175" y="523875"/>
                  </a:lnTo>
                  <a:lnTo>
                    <a:pt x="895350" y="523875"/>
                  </a:lnTo>
                  <a:lnTo>
                    <a:pt x="990600" y="504825"/>
                  </a:lnTo>
                  <a:lnTo>
                    <a:pt x="1038225" y="476250"/>
                  </a:lnTo>
                  <a:lnTo>
                    <a:pt x="1076325" y="447675"/>
                  </a:lnTo>
                  <a:lnTo>
                    <a:pt x="1104900" y="409575"/>
                  </a:lnTo>
                  <a:lnTo>
                    <a:pt x="1133475" y="361950"/>
                  </a:lnTo>
                  <a:lnTo>
                    <a:pt x="1152525" y="314325"/>
                  </a:lnTo>
                  <a:lnTo>
                    <a:pt x="1152525" y="209550"/>
                  </a:lnTo>
                  <a:lnTo>
                    <a:pt x="1133475" y="161925"/>
                  </a:lnTo>
                  <a:lnTo>
                    <a:pt x="1104900" y="114300"/>
                  </a:lnTo>
                  <a:lnTo>
                    <a:pt x="1076325" y="76200"/>
                  </a:lnTo>
                  <a:lnTo>
                    <a:pt x="1038225" y="38100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4333875" y="968375"/>
              <a:ext cx="1152525" cy="523875"/>
            </a:xfrm>
            <a:custGeom>
              <a:avLst/>
              <a:gdLst/>
              <a:ahLst/>
              <a:cxnLst/>
              <a:rect l="l" t="t" r="r" b="b"/>
              <a:pathLst>
                <a:path w="1152525" h="523875">
                  <a:moveTo>
                    <a:pt x="257175" y="523875"/>
                  </a:moveTo>
                  <a:lnTo>
                    <a:pt x="895350" y="523875"/>
                  </a:lnTo>
                  <a:lnTo>
                    <a:pt x="990600" y="504825"/>
                  </a:lnTo>
                  <a:lnTo>
                    <a:pt x="1038225" y="476250"/>
                  </a:lnTo>
                  <a:lnTo>
                    <a:pt x="1076325" y="447675"/>
                  </a:lnTo>
                  <a:lnTo>
                    <a:pt x="1104900" y="409575"/>
                  </a:lnTo>
                  <a:lnTo>
                    <a:pt x="1133475" y="361950"/>
                  </a:lnTo>
                  <a:lnTo>
                    <a:pt x="1152525" y="314325"/>
                  </a:lnTo>
                  <a:lnTo>
                    <a:pt x="1152525" y="209550"/>
                  </a:lnTo>
                  <a:lnTo>
                    <a:pt x="1133475" y="161925"/>
                  </a:lnTo>
                  <a:lnTo>
                    <a:pt x="1104900" y="114300"/>
                  </a:lnTo>
                  <a:lnTo>
                    <a:pt x="1076325" y="76200"/>
                  </a:lnTo>
                  <a:lnTo>
                    <a:pt x="1038225" y="38100"/>
                  </a:lnTo>
                  <a:lnTo>
                    <a:pt x="942975" y="0"/>
                  </a:lnTo>
                  <a:lnTo>
                    <a:pt x="209550" y="0"/>
                  </a:lnTo>
                  <a:lnTo>
                    <a:pt x="114300" y="38100"/>
                  </a:lnTo>
                  <a:lnTo>
                    <a:pt x="38100" y="114300"/>
                  </a:lnTo>
                  <a:lnTo>
                    <a:pt x="0" y="209550"/>
                  </a:lnTo>
                  <a:lnTo>
                    <a:pt x="0" y="314325"/>
                  </a:lnTo>
                  <a:lnTo>
                    <a:pt x="38100" y="409575"/>
                  </a:lnTo>
                  <a:lnTo>
                    <a:pt x="76200" y="447675"/>
                  </a:lnTo>
                  <a:lnTo>
                    <a:pt x="114300" y="476250"/>
                  </a:lnTo>
                  <a:lnTo>
                    <a:pt x="161925" y="504825"/>
                  </a:lnTo>
                  <a:lnTo>
                    <a:pt x="257175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4" name="object 134" descr=""/>
          <p:cNvSpPr txBox="1"/>
          <p:nvPr/>
        </p:nvSpPr>
        <p:spPr>
          <a:xfrm>
            <a:off x="4425950" y="993775"/>
            <a:ext cx="1092200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VBLK</a:t>
            </a:r>
            <a:endParaRPr sz="900">
              <a:latin typeface="Arial"/>
              <a:cs typeface="Arial"/>
            </a:endParaRPr>
          </a:p>
          <a:p>
            <a:pPr marL="269240" marR="5080" indent="-257175">
              <a:lnSpc>
                <a:spcPts val="1050"/>
              </a:lnSpc>
              <a:spcBef>
                <a:spcPts val="105"/>
              </a:spcBef>
            </a:pPr>
            <a:r>
              <a:rPr dirty="0" sz="900" spc="70">
                <a:latin typeface="Arial"/>
                <a:cs typeface="Arial"/>
              </a:rPr>
              <a:t>(SD:Delivery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Note </a:t>
            </a:r>
            <a:r>
              <a:rPr dirty="0" sz="900" spc="65">
                <a:latin typeface="Arial"/>
                <a:cs typeface="Arial"/>
              </a:rPr>
              <a:t>Header)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5" name="object 135" descr=""/>
          <p:cNvGrpSpPr/>
          <p:nvPr/>
        </p:nvGrpSpPr>
        <p:grpSpPr>
          <a:xfrm>
            <a:off x="4562475" y="1501775"/>
            <a:ext cx="767080" cy="681355"/>
            <a:chOff x="4562475" y="1501775"/>
            <a:chExt cx="767080" cy="681355"/>
          </a:xfrm>
        </p:grpSpPr>
        <p:sp>
          <p:nvSpPr>
            <p:cNvPr id="136" name="object 136" descr=""/>
            <p:cNvSpPr/>
            <p:nvPr/>
          </p:nvSpPr>
          <p:spPr>
            <a:xfrm>
              <a:off x="4857750" y="1539875"/>
              <a:ext cx="466725" cy="638175"/>
            </a:xfrm>
            <a:custGeom>
              <a:avLst/>
              <a:gdLst/>
              <a:ahLst/>
              <a:cxnLst/>
              <a:rect l="l" t="t" r="r" b="b"/>
              <a:pathLst>
                <a:path w="466725" h="638175">
                  <a:moveTo>
                    <a:pt x="466725" y="638175"/>
                  </a:moveTo>
                  <a:lnTo>
                    <a:pt x="400050" y="628650"/>
                  </a:lnTo>
                  <a:lnTo>
                    <a:pt x="266700" y="590550"/>
                  </a:lnTo>
                  <a:lnTo>
                    <a:pt x="152400" y="514350"/>
                  </a:lnTo>
                  <a:lnTo>
                    <a:pt x="104775" y="457200"/>
                  </a:lnTo>
                  <a:lnTo>
                    <a:pt x="66675" y="400050"/>
                  </a:lnTo>
                  <a:lnTo>
                    <a:pt x="38100" y="342900"/>
                  </a:lnTo>
                  <a:lnTo>
                    <a:pt x="9525" y="276225"/>
                  </a:lnTo>
                  <a:lnTo>
                    <a:pt x="0" y="209550"/>
                  </a:lnTo>
                  <a:lnTo>
                    <a:pt x="0" y="133350"/>
                  </a:lnTo>
                  <a:lnTo>
                    <a:pt x="9525" y="66675"/>
                  </a:lnTo>
                  <a:lnTo>
                    <a:pt x="285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7750" y="1501775"/>
              <a:ext cx="66675" cy="57150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4562475" y="1787525"/>
              <a:ext cx="685800" cy="238125"/>
            </a:xfrm>
            <a:custGeom>
              <a:avLst/>
              <a:gdLst/>
              <a:ahLst/>
              <a:cxnLst/>
              <a:rect l="l" t="t" r="r" b="b"/>
              <a:pathLst>
                <a:path w="685800" h="238125">
                  <a:moveTo>
                    <a:pt x="6858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685800" y="23812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 descr=""/>
          <p:cNvSpPr txBox="1"/>
          <p:nvPr/>
        </p:nvSpPr>
        <p:spPr>
          <a:xfrm>
            <a:off x="4559300" y="1565275"/>
            <a:ext cx="1423670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5175" marR="5080" indent="-6667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VEPO-VBELN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LIKP-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750"/>
              </a:lnSpc>
            </a:pPr>
            <a:r>
              <a:rPr dirty="0" sz="750">
                <a:latin typeface="Arial"/>
                <a:cs typeface="Arial"/>
              </a:rPr>
              <a:t>VEPO-VBELN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140" name="object 140" descr=""/>
          <p:cNvSpPr txBox="1"/>
          <p:nvPr/>
        </p:nvSpPr>
        <p:spPr>
          <a:xfrm>
            <a:off x="4606925" y="1889125"/>
            <a:ext cx="6451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VBLK-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41" name="object 141" descr=""/>
          <p:cNvGrpSpPr/>
          <p:nvPr/>
        </p:nvGrpSpPr>
        <p:grpSpPr>
          <a:xfrm>
            <a:off x="6115050" y="4778375"/>
            <a:ext cx="1162050" cy="466725"/>
            <a:chOff x="6115050" y="4778375"/>
            <a:chExt cx="1162050" cy="466725"/>
          </a:xfrm>
        </p:grpSpPr>
        <p:sp>
          <p:nvSpPr>
            <p:cNvPr id="142" name="object 142" descr=""/>
            <p:cNvSpPr/>
            <p:nvPr/>
          </p:nvSpPr>
          <p:spPr>
            <a:xfrm>
              <a:off x="6172200" y="4911725"/>
              <a:ext cx="1047750" cy="190500"/>
            </a:xfrm>
            <a:custGeom>
              <a:avLst/>
              <a:gdLst/>
              <a:ahLst/>
              <a:cxnLst/>
              <a:rect l="l" t="t" r="r" b="b"/>
              <a:pathLst>
                <a:path w="1047750" h="190500">
                  <a:moveTo>
                    <a:pt x="0" y="0"/>
                  </a:moveTo>
                  <a:lnTo>
                    <a:pt x="1047750" y="1905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115050" y="4892675"/>
              <a:ext cx="76200" cy="57150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200900" y="5083175"/>
              <a:ext cx="76200" cy="47625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6381750" y="4778375"/>
              <a:ext cx="628650" cy="466725"/>
            </a:xfrm>
            <a:custGeom>
              <a:avLst/>
              <a:gdLst/>
              <a:ahLst/>
              <a:cxnLst/>
              <a:rect l="l" t="t" r="r" b="b"/>
              <a:pathLst>
                <a:path w="628650" h="466725">
                  <a:moveTo>
                    <a:pt x="628650" y="0"/>
                  </a:moveTo>
                  <a:lnTo>
                    <a:pt x="0" y="0"/>
                  </a:lnTo>
                  <a:lnTo>
                    <a:pt x="0" y="466725"/>
                  </a:lnTo>
                  <a:lnTo>
                    <a:pt x="628650" y="466725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6" name="object 146" descr=""/>
          <p:cNvSpPr txBox="1"/>
          <p:nvPr/>
        </p:nvSpPr>
        <p:spPr>
          <a:xfrm>
            <a:off x="6378575" y="4765675"/>
            <a:ext cx="680720" cy="2444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22225" marR="5080" indent="-9525">
              <a:lnSpc>
                <a:spcPts val="830"/>
              </a:lnSpc>
              <a:spcBef>
                <a:spcPts val="185"/>
              </a:spcBef>
            </a:pPr>
            <a:r>
              <a:rPr dirty="0" sz="750">
                <a:latin typeface="Arial"/>
                <a:cs typeface="Arial"/>
              </a:rPr>
              <a:t>LIPS-VBELN</a:t>
            </a:r>
            <a:r>
              <a:rPr dirty="0" sz="750" spc="1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VBRP-</a:t>
            </a:r>
            <a:r>
              <a:rPr dirty="0" sz="750" spc="-10">
                <a:latin typeface="Arial"/>
                <a:cs typeface="Arial"/>
              </a:rPr>
              <a:t>VGBEL</a:t>
            </a:r>
            <a:endParaRPr sz="750">
              <a:latin typeface="Arial"/>
              <a:cs typeface="Arial"/>
            </a:endParaRPr>
          </a:p>
        </p:txBody>
      </p:sp>
      <p:sp>
        <p:nvSpPr>
          <p:cNvPr id="147" name="object 147" descr=""/>
          <p:cNvSpPr txBox="1"/>
          <p:nvPr/>
        </p:nvSpPr>
        <p:spPr>
          <a:xfrm>
            <a:off x="6378575" y="4984750"/>
            <a:ext cx="6731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LIPS-</a:t>
            </a:r>
            <a:r>
              <a:rPr dirty="0" sz="750" spc="-10">
                <a:latin typeface="Arial"/>
                <a:cs typeface="Arial"/>
              </a:rPr>
              <a:t>POSNR=</a:t>
            </a:r>
            <a:endParaRPr sz="750">
              <a:latin typeface="Arial"/>
              <a:cs typeface="Arial"/>
            </a:endParaRPr>
          </a:p>
        </p:txBody>
      </p:sp>
      <p:sp>
        <p:nvSpPr>
          <p:cNvPr id="148" name="object 148" descr=""/>
          <p:cNvSpPr txBox="1"/>
          <p:nvPr/>
        </p:nvSpPr>
        <p:spPr>
          <a:xfrm>
            <a:off x="6378575" y="5099050"/>
            <a:ext cx="6731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VBRP-</a:t>
            </a:r>
            <a:r>
              <a:rPr dirty="0" sz="750" spc="-10">
                <a:latin typeface="Arial"/>
                <a:cs typeface="Arial"/>
              </a:rPr>
              <a:t>VGPOS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49" name="object 149" descr=""/>
          <p:cNvGrpSpPr/>
          <p:nvPr/>
        </p:nvGrpSpPr>
        <p:grpSpPr>
          <a:xfrm>
            <a:off x="8220075" y="5988050"/>
            <a:ext cx="1362075" cy="1228725"/>
            <a:chOff x="8220075" y="5988050"/>
            <a:chExt cx="1362075" cy="1228725"/>
          </a:xfrm>
        </p:grpSpPr>
        <p:sp>
          <p:nvSpPr>
            <p:cNvPr id="150" name="object 150" descr=""/>
            <p:cNvSpPr/>
            <p:nvPr/>
          </p:nvSpPr>
          <p:spPr>
            <a:xfrm>
              <a:off x="8324850" y="6092825"/>
              <a:ext cx="1257300" cy="1123950"/>
            </a:xfrm>
            <a:custGeom>
              <a:avLst/>
              <a:gdLst/>
              <a:ahLst/>
              <a:cxnLst/>
              <a:rect l="l" t="t" r="r" b="b"/>
              <a:pathLst>
                <a:path w="1257300" h="1123950">
                  <a:moveTo>
                    <a:pt x="1257300" y="0"/>
                  </a:moveTo>
                  <a:lnTo>
                    <a:pt x="0" y="0"/>
                  </a:lnTo>
                  <a:lnTo>
                    <a:pt x="0" y="1123950"/>
                  </a:lnTo>
                  <a:lnTo>
                    <a:pt x="1257300" y="1123950"/>
                  </a:lnTo>
                  <a:lnTo>
                    <a:pt x="125730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8220075" y="5988050"/>
              <a:ext cx="1257300" cy="1123950"/>
            </a:xfrm>
            <a:custGeom>
              <a:avLst/>
              <a:gdLst/>
              <a:ahLst/>
              <a:cxnLst/>
              <a:rect l="l" t="t" r="r" b="b"/>
              <a:pathLst>
                <a:path w="1257300" h="1123950">
                  <a:moveTo>
                    <a:pt x="1257300" y="0"/>
                  </a:moveTo>
                  <a:lnTo>
                    <a:pt x="0" y="0"/>
                  </a:lnTo>
                  <a:lnTo>
                    <a:pt x="0" y="1123950"/>
                  </a:lnTo>
                  <a:lnTo>
                    <a:pt x="1257300" y="1123950"/>
                  </a:lnTo>
                  <a:lnTo>
                    <a:pt x="1257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2" name="object 152" descr=""/>
          <p:cNvSpPr txBox="1"/>
          <p:nvPr/>
        </p:nvSpPr>
        <p:spPr>
          <a:xfrm>
            <a:off x="8220075" y="5988050"/>
            <a:ext cx="1257300" cy="1123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88925" rIns="0" bIns="0" rtlCol="0" vert="horz">
            <a:spAutoFit/>
          </a:bodyPr>
          <a:lstStyle/>
          <a:p>
            <a:pPr algn="ctr" marR="10795">
              <a:lnSpc>
                <a:spcPct val="100000"/>
              </a:lnSpc>
              <a:spcBef>
                <a:spcPts val="2275"/>
              </a:spcBef>
            </a:pPr>
            <a:r>
              <a:rPr dirty="0" sz="2150" spc="-25" b="1">
                <a:latin typeface="Arial"/>
                <a:cs typeface="Arial"/>
              </a:rPr>
              <a:t>SD</a:t>
            </a:r>
            <a:endParaRPr sz="215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  <a:spcBef>
                <a:spcPts val="120"/>
              </a:spcBef>
            </a:pPr>
            <a:r>
              <a:rPr dirty="0" sz="1100" spc="-100">
                <a:latin typeface="Arial"/>
                <a:cs typeface="Arial"/>
              </a:rPr>
              <a:t>Table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Mapping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3" name="object 153" descr=""/>
          <p:cNvSpPr/>
          <p:nvPr/>
        </p:nvSpPr>
        <p:spPr>
          <a:xfrm>
            <a:off x="4229100" y="59690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ln w="38100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4229100" y="73977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ln w="38100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 descr=""/>
          <p:cNvSpPr/>
          <p:nvPr/>
        </p:nvSpPr>
        <p:spPr>
          <a:xfrm>
            <a:off x="7172325" y="70167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ln w="38100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6" name="object 156" descr=""/>
          <p:cNvGrpSpPr/>
          <p:nvPr/>
        </p:nvGrpSpPr>
        <p:grpSpPr>
          <a:xfrm>
            <a:off x="1281112" y="382587"/>
            <a:ext cx="5910580" cy="5167630"/>
            <a:chOff x="1281112" y="382587"/>
            <a:chExt cx="5910580" cy="5167630"/>
          </a:xfrm>
        </p:grpSpPr>
        <p:sp>
          <p:nvSpPr>
            <p:cNvPr id="157" name="object 157" descr=""/>
            <p:cNvSpPr/>
            <p:nvPr/>
          </p:nvSpPr>
          <p:spPr>
            <a:xfrm>
              <a:off x="4229100" y="844550"/>
              <a:ext cx="2943225" cy="4686300"/>
            </a:xfrm>
            <a:custGeom>
              <a:avLst/>
              <a:gdLst/>
              <a:ahLst/>
              <a:cxnLst/>
              <a:rect l="l" t="t" r="r" b="b"/>
              <a:pathLst>
                <a:path w="2943225" h="4686300">
                  <a:moveTo>
                    <a:pt x="0" y="47625"/>
                  </a:moveTo>
                  <a:lnTo>
                    <a:pt x="0" y="114300"/>
                  </a:lnTo>
                </a:path>
                <a:path w="2943225" h="4686300">
                  <a:moveTo>
                    <a:pt x="0" y="190500"/>
                  </a:moveTo>
                  <a:lnTo>
                    <a:pt x="0" y="266700"/>
                  </a:lnTo>
                </a:path>
                <a:path w="2943225" h="4686300">
                  <a:moveTo>
                    <a:pt x="0" y="333375"/>
                  </a:moveTo>
                  <a:lnTo>
                    <a:pt x="0" y="409575"/>
                  </a:lnTo>
                </a:path>
                <a:path w="2943225" h="4686300">
                  <a:moveTo>
                    <a:pt x="0" y="485775"/>
                  </a:moveTo>
                  <a:lnTo>
                    <a:pt x="0" y="552450"/>
                  </a:lnTo>
                </a:path>
                <a:path w="2943225" h="4686300">
                  <a:moveTo>
                    <a:pt x="0" y="628650"/>
                  </a:moveTo>
                  <a:lnTo>
                    <a:pt x="0" y="704850"/>
                  </a:lnTo>
                </a:path>
                <a:path w="2943225" h="4686300">
                  <a:moveTo>
                    <a:pt x="0" y="771525"/>
                  </a:moveTo>
                  <a:lnTo>
                    <a:pt x="0" y="847725"/>
                  </a:lnTo>
                </a:path>
                <a:path w="2943225" h="4686300">
                  <a:moveTo>
                    <a:pt x="0" y="914400"/>
                  </a:moveTo>
                  <a:lnTo>
                    <a:pt x="0" y="990600"/>
                  </a:lnTo>
                </a:path>
                <a:path w="2943225" h="4686300">
                  <a:moveTo>
                    <a:pt x="0" y="1066800"/>
                  </a:moveTo>
                  <a:lnTo>
                    <a:pt x="0" y="1133475"/>
                  </a:lnTo>
                </a:path>
                <a:path w="2943225" h="4686300">
                  <a:moveTo>
                    <a:pt x="0" y="1209675"/>
                  </a:moveTo>
                  <a:lnTo>
                    <a:pt x="0" y="1285875"/>
                  </a:lnTo>
                </a:path>
                <a:path w="2943225" h="4686300">
                  <a:moveTo>
                    <a:pt x="0" y="1352550"/>
                  </a:moveTo>
                  <a:lnTo>
                    <a:pt x="0" y="1428750"/>
                  </a:lnTo>
                </a:path>
                <a:path w="2943225" h="4686300">
                  <a:moveTo>
                    <a:pt x="0" y="1504950"/>
                  </a:moveTo>
                  <a:lnTo>
                    <a:pt x="0" y="1571625"/>
                  </a:lnTo>
                </a:path>
                <a:path w="2943225" h="4686300">
                  <a:moveTo>
                    <a:pt x="0" y="1647825"/>
                  </a:moveTo>
                  <a:lnTo>
                    <a:pt x="0" y="1724025"/>
                  </a:lnTo>
                </a:path>
                <a:path w="2943225" h="4686300">
                  <a:moveTo>
                    <a:pt x="0" y="1790700"/>
                  </a:moveTo>
                  <a:lnTo>
                    <a:pt x="0" y="1866900"/>
                  </a:lnTo>
                </a:path>
                <a:path w="2943225" h="4686300">
                  <a:moveTo>
                    <a:pt x="0" y="1943100"/>
                  </a:moveTo>
                  <a:lnTo>
                    <a:pt x="0" y="2009775"/>
                  </a:lnTo>
                </a:path>
                <a:path w="2943225" h="4686300">
                  <a:moveTo>
                    <a:pt x="0" y="2085975"/>
                  </a:moveTo>
                  <a:lnTo>
                    <a:pt x="0" y="2162175"/>
                  </a:lnTo>
                </a:path>
                <a:path w="2943225" h="4686300">
                  <a:moveTo>
                    <a:pt x="0" y="2228850"/>
                  </a:moveTo>
                  <a:lnTo>
                    <a:pt x="0" y="2305050"/>
                  </a:lnTo>
                </a:path>
                <a:path w="2943225" h="4686300">
                  <a:moveTo>
                    <a:pt x="0" y="2371725"/>
                  </a:moveTo>
                  <a:lnTo>
                    <a:pt x="0" y="2447925"/>
                  </a:lnTo>
                </a:path>
                <a:path w="2943225" h="4686300">
                  <a:moveTo>
                    <a:pt x="0" y="2524125"/>
                  </a:moveTo>
                  <a:lnTo>
                    <a:pt x="0" y="2590800"/>
                  </a:lnTo>
                </a:path>
                <a:path w="2943225" h="4686300">
                  <a:moveTo>
                    <a:pt x="0" y="2667000"/>
                  </a:moveTo>
                  <a:lnTo>
                    <a:pt x="0" y="2743200"/>
                  </a:lnTo>
                </a:path>
                <a:path w="2943225" h="4686300">
                  <a:moveTo>
                    <a:pt x="0" y="2809875"/>
                  </a:moveTo>
                  <a:lnTo>
                    <a:pt x="0" y="2886075"/>
                  </a:lnTo>
                </a:path>
                <a:path w="2943225" h="4686300">
                  <a:moveTo>
                    <a:pt x="0" y="2962275"/>
                  </a:moveTo>
                  <a:lnTo>
                    <a:pt x="0" y="3028950"/>
                  </a:lnTo>
                </a:path>
                <a:path w="2943225" h="4686300">
                  <a:moveTo>
                    <a:pt x="0" y="3105150"/>
                  </a:moveTo>
                  <a:lnTo>
                    <a:pt x="0" y="3181350"/>
                  </a:lnTo>
                </a:path>
                <a:path w="2943225" h="4686300">
                  <a:moveTo>
                    <a:pt x="0" y="3248025"/>
                  </a:moveTo>
                  <a:lnTo>
                    <a:pt x="0" y="3324225"/>
                  </a:lnTo>
                </a:path>
                <a:path w="2943225" h="4686300">
                  <a:moveTo>
                    <a:pt x="0" y="3400425"/>
                  </a:moveTo>
                  <a:lnTo>
                    <a:pt x="0" y="3467100"/>
                  </a:lnTo>
                </a:path>
                <a:path w="2943225" h="4686300">
                  <a:moveTo>
                    <a:pt x="0" y="3543300"/>
                  </a:moveTo>
                  <a:lnTo>
                    <a:pt x="0" y="3609975"/>
                  </a:lnTo>
                </a:path>
                <a:path w="2943225" h="4686300">
                  <a:moveTo>
                    <a:pt x="0" y="3686175"/>
                  </a:moveTo>
                  <a:lnTo>
                    <a:pt x="0" y="3762375"/>
                  </a:lnTo>
                </a:path>
                <a:path w="2943225" h="4686300">
                  <a:moveTo>
                    <a:pt x="0" y="3829050"/>
                  </a:moveTo>
                  <a:lnTo>
                    <a:pt x="0" y="3905250"/>
                  </a:lnTo>
                </a:path>
                <a:path w="2943225" h="4686300">
                  <a:moveTo>
                    <a:pt x="0" y="3981450"/>
                  </a:moveTo>
                  <a:lnTo>
                    <a:pt x="0" y="4048125"/>
                  </a:lnTo>
                </a:path>
                <a:path w="2943225" h="4686300">
                  <a:moveTo>
                    <a:pt x="0" y="4124325"/>
                  </a:moveTo>
                  <a:lnTo>
                    <a:pt x="0" y="4200525"/>
                  </a:lnTo>
                </a:path>
                <a:path w="2943225" h="4686300">
                  <a:moveTo>
                    <a:pt x="0" y="4267200"/>
                  </a:moveTo>
                  <a:lnTo>
                    <a:pt x="0" y="4343400"/>
                  </a:lnTo>
                </a:path>
                <a:path w="2943225" h="4686300">
                  <a:moveTo>
                    <a:pt x="0" y="4419600"/>
                  </a:moveTo>
                  <a:lnTo>
                    <a:pt x="0" y="4486275"/>
                  </a:lnTo>
                </a:path>
                <a:path w="2943225" h="4686300">
                  <a:moveTo>
                    <a:pt x="0" y="4562475"/>
                  </a:moveTo>
                  <a:lnTo>
                    <a:pt x="0" y="4591050"/>
                  </a:lnTo>
                </a:path>
                <a:path w="2943225" h="4686300">
                  <a:moveTo>
                    <a:pt x="2943225" y="0"/>
                  </a:moveTo>
                  <a:lnTo>
                    <a:pt x="2943225" y="76200"/>
                  </a:lnTo>
                </a:path>
                <a:path w="2943225" h="4686300">
                  <a:moveTo>
                    <a:pt x="2943225" y="152400"/>
                  </a:moveTo>
                  <a:lnTo>
                    <a:pt x="2943225" y="219075"/>
                  </a:lnTo>
                </a:path>
                <a:path w="2943225" h="4686300">
                  <a:moveTo>
                    <a:pt x="2943225" y="295275"/>
                  </a:moveTo>
                  <a:lnTo>
                    <a:pt x="2943225" y="371475"/>
                  </a:lnTo>
                </a:path>
                <a:path w="2943225" h="4686300">
                  <a:moveTo>
                    <a:pt x="2943225" y="438150"/>
                  </a:moveTo>
                  <a:lnTo>
                    <a:pt x="2943225" y="514350"/>
                  </a:lnTo>
                </a:path>
                <a:path w="2943225" h="4686300">
                  <a:moveTo>
                    <a:pt x="2943225" y="581025"/>
                  </a:moveTo>
                  <a:lnTo>
                    <a:pt x="2943225" y="657225"/>
                  </a:lnTo>
                </a:path>
                <a:path w="2943225" h="4686300">
                  <a:moveTo>
                    <a:pt x="2943225" y="733425"/>
                  </a:moveTo>
                  <a:lnTo>
                    <a:pt x="2943225" y="800100"/>
                  </a:lnTo>
                </a:path>
                <a:path w="2943225" h="4686300">
                  <a:moveTo>
                    <a:pt x="2943225" y="876300"/>
                  </a:moveTo>
                  <a:lnTo>
                    <a:pt x="2943225" y="952500"/>
                  </a:lnTo>
                </a:path>
                <a:path w="2943225" h="4686300">
                  <a:moveTo>
                    <a:pt x="2943225" y="1019175"/>
                  </a:moveTo>
                  <a:lnTo>
                    <a:pt x="2943225" y="1095375"/>
                  </a:lnTo>
                </a:path>
                <a:path w="2943225" h="4686300">
                  <a:moveTo>
                    <a:pt x="2943225" y="1171575"/>
                  </a:moveTo>
                  <a:lnTo>
                    <a:pt x="2943225" y="1238250"/>
                  </a:lnTo>
                </a:path>
                <a:path w="2943225" h="4686300">
                  <a:moveTo>
                    <a:pt x="2943225" y="1314450"/>
                  </a:moveTo>
                  <a:lnTo>
                    <a:pt x="2943225" y="1390650"/>
                  </a:lnTo>
                </a:path>
                <a:path w="2943225" h="4686300">
                  <a:moveTo>
                    <a:pt x="2943225" y="1457325"/>
                  </a:moveTo>
                  <a:lnTo>
                    <a:pt x="2943225" y="1533525"/>
                  </a:lnTo>
                </a:path>
                <a:path w="2943225" h="4686300">
                  <a:moveTo>
                    <a:pt x="2943225" y="1609725"/>
                  </a:moveTo>
                  <a:lnTo>
                    <a:pt x="2943225" y="1676400"/>
                  </a:lnTo>
                </a:path>
                <a:path w="2943225" h="4686300">
                  <a:moveTo>
                    <a:pt x="2943225" y="1752600"/>
                  </a:moveTo>
                  <a:lnTo>
                    <a:pt x="2943225" y="1828800"/>
                  </a:lnTo>
                </a:path>
                <a:path w="2943225" h="4686300">
                  <a:moveTo>
                    <a:pt x="2943225" y="1895475"/>
                  </a:moveTo>
                  <a:lnTo>
                    <a:pt x="2943225" y="1971675"/>
                  </a:lnTo>
                </a:path>
                <a:path w="2943225" h="4686300">
                  <a:moveTo>
                    <a:pt x="2943225" y="2038350"/>
                  </a:moveTo>
                  <a:lnTo>
                    <a:pt x="2943225" y="2114550"/>
                  </a:lnTo>
                </a:path>
                <a:path w="2943225" h="4686300">
                  <a:moveTo>
                    <a:pt x="2943225" y="2190750"/>
                  </a:moveTo>
                  <a:lnTo>
                    <a:pt x="2943225" y="2257425"/>
                  </a:lnTo>
                </a:path>
                <a:path w="2943225" h="4686300">
                  <a:moveTo>
                    <a:pt x="2943225" y="2333625"/>
                  </a:moveTo>
                  <a:lnTo>
                    <a:pt x="2943225" y="2409825"/>
                  </a:lnTo>
                </a:path>
                <a:path w="2943225" h="4686300">
                  <a:moveTo>
                    <a:pt x="2943225" y="2476500"/>
                  </a:moveTo>
                  <a:lnTo>
                    <a:pt x="2943225" y="2552700"/>
                  </a:lnTo>
                </a:path>
                <a:path w="2943225" h="4686300">
                  <a:moveTo>
                    <a:pt x="2943225" y="2628900"/>
                  </a:moveTo>
                  <a:lnTo>
                    <a:pt x="2943225" y="2695575"/>
                  </a:lnTo>
                </a:path>
                <a:path w="2943225" h="4686300">
                  <a:moveTo>
                    <a:pt x="2943225" y="2771775"/>
                  </a:moveTo>
                  <a:lnTo>
                    <a:pt x="2943225" y="2847975"/>
                  </a:lnTo>
                </a:path>
                <a:path w="2943225" h="4686300">
                  <a:moveTo>
                    <a:pt x="2943225" y="2914650"/>
                  </a:moveTo>
                  <a:lnTo>
                    <a:pt x="2943225" y="2990850"/>
                  </a:lnTo>
                </a:path>
                <a:path w="2943225" h="4686300">
                  <a:moveTo>
                    <a:pt x="2943225" y="3067050"/>
                  </a:moveTo>
                  <a:lnTo>
                    <a:pt x="2943225" y="3133725"/>
                  </a:lnTo>
                </a:path>
                <a:path w="2943225" h="4686300">
                  <a:moveTo>
                    <a:pt x="2943225" y="3209925"/>
                  </a:moveTo>
                  <a:lnTo>
                    <a:pt x="2943225" y="3276600"/>
                  </a:lnTo>
                </a:path>
                <a:path w="2943225" h="4686300">
                  <a:moveTo>
                    <a:pt x="2943225" y="3352800"/>
                  </a:moveTo>
                  <a:lnTo>
                    <a:pt x="2943225" y="3429000"/>
                  </a:lnTo>
                </a:path>
                <a:path w="2943225" h="4686300">
                  <a:moveTo>
                    <a:pt x="2943225" y="3495675"/>
                  </a:moveTo>
                  <a:lnTo>
                    <a:pt x="2943225" y="3571875"/>
                  </a:lnTo>
                </a:path>
                <a:path w="2943225" h="4686300">
                  <a:moveTo>
                    <a:pt x="2943225" y="3648075"/>
                  </a:moveTo>
                  <a:lnTo>
                    <a:pt x="2943225" y="3714750"/>
                  </a:lnTo>
                </a:path>
                <a:path w="2943225" h="4686300">
                  <a:moveTo>
                    <a:pt x="2943225" y="3790950"/>
                  </a:moveTo>
                  <a:lnTo>
                    <a:pt x="2943225" y="3867150"/>
                  </a:lnTo>
                </a:path>
                <a:path w="2943225" h="4686300">
                  <a:moveTo>
                    <a:pt x="2943225" y="3933825"/>
                  </a:moveTo>
                  <a:lnTo>
                    <a:pt x="2943225" y="4010025"/>
                  </a:lnTo>
                </a:path>
                <a:path w="2943225" h="4686300">
                  <a:moveTo>
                    <a:pt x="2943225" y="4086225"/>
                  </a:moveTo>
                  <a:lnTo>
                    <a:pt x="2943225" y="4152900"/>
                  </a:lnTo>
                </a:path>
                <a:path w="2943225" h="4686300">
                  <a:moveTo>
                    <a:pt x="2943225" y="4229100"/>
                  </a:moveTo>
                  <a:lnTo>
                    <a:pt x="2943225" y="4305300"/>
                  </a:lnTo>
                </a:path>
                <a:path w="2943225" h="4686300">
                  <a:moveTo>
                    <a:pt x="2943225" y="4371975"/>
                  </a:moveTo>
                  <a:lnTo>
                    <a:pt x="2943225" y="4448175"/>
                  </a:lnTo>
                </a:path>
                <a:path w="2943225" h="4686300">
                  <a:moveTo>
                    <a:pt x="2943225" y="4514850"/>
                  </a:moveTo>
                  <a:lnTo>
                    <a:pt x="2943225" y="4591050"/>
                  </a:lnTo>
                </a:path>
                <a:path w="2943225" h="4686300">
                  <a:moveTo>
                    <a:pt x="2943225" y="4667250"/>
                  </a:moveTo>
                  <a:lnTo>
                    <a:pt x="2943225" y="4686300"/>
                  </a:lnTo>
                </a:path>
              </a:pathLst>
            </a:custGeom>
            <a:ln w="381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390650" y="492125"/>
              <a:ext cx="1685925" cy="419100"/>
            </a:xfrm>
            <a:custGeom>
              <a:avLst/>
              <a:gdLst/>
              <a:ahLst/>
              <a:cxnLst/>
              <a:rect l="l" t="t" r="r" b="b"/>
              <a:pathLst>
                <a:path w="1685925" h="419100">
                  <a:moveTo>
                    <a:pt x="16859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23825" y="390525"/>
                  </a:lnTo>
                  <a:lnTo>
                    <a:pt x="238125" y="409575"/>
                  </a:lnTo>
                  <a:lnTo>
                    <a:pt x="361950" y="419100"/>
                  </a:lnTo>
                  <a:lnTo>
                    <a:pt x="485775" y="419100"/>
                  </a:lnTo>
                  <a:lnTo>
                    <a:pt x="609600" y="409575"/>
                  </a:lnTo>
                  <a:lnTo>
                    <a:pt x="723900" y="390525"/>
                  </a:lnTo>
                  <a:lnTo>
                    <a:pt x="847725" y="371475"/>
                  </a:lnTo>
                  <a:lnTo>
                    <a:pt x="962025" y="342900"/>
                  </a:lnTo>
                  <a:lnTo>
                    <a:pt x="1085850" y="323850"/>
                  </a:lnTo>
                  <a:lnTo>
                    <a:pt x="1200150" y="314325"/>
                  </a:lnTo>
                  <a:lnTo>
                    <a:pt x="1323975" y="314325"/>
                  </a:lnTo>
                  <a:lnTo>
                    <a:pt x="1447800" y="323850"/>
                  </a:lnTo>
                  <a:lnTo>
                    <a:pt x="1562100" y="342900"/>
                  </a:lnTo>
                  <a:lnTo>
                    <a:pt x="1685925" y="371475"/>
                  </a:lnTo>
                  <a:lnTo>
                    <a:pt x="16859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285875" y="387350"/>
              <a:ext cx="1685925" cy="419100"/>
            </a:xfrm>
            <a:custGeom>
              <a:avLst/>
              <a:gdLst/>
              <a:ahLst/>
              <a:cxnLst/>
              <a:rect l="l" t="t" r="r" b="b"/>
              <a:pathLst>
                <a:path w="1685925" h="419100">
                  <a:moveTo>
                    <a:pt x="16859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23825" y="390525"/>
                  </a:lnTo>
                  <a:lnTo>
                    <a:pt x="238125" y="409575"/>
                  </a:lnTo>
                  <a:lnTo>
                    <a:pt x="361950" y="419100"/>
                  </a:lnTo>
                  <a:lnTo>
                    <a:pt x="476250" y="419100"/>
                  </a:lnTo>
                  <a:lnTo>
                    <a:pt x="600075" y="409575"/>
                  </a:lnTo>
                  <a:lnTo>
                    <a:pt x="723900" y="390525"/>
                  </a:lnTo>
                  <a:lnTo>
                    <a:pt x="838200" y="371475"/>
                  </a:lnTo>
                  <a:lnTo>
                    <a:pt x="962025" y="342900"/>
                  </a:lnTo>
                  <a:lnTo>
                    <a:pt x="1076325" y="323850"/>
                  </a:lnTo>
                  <a:lnTo>
                    <a:pt x="1200150" y="314325"/>
                  </a:lnTo>
                  <a:lnTo>
                    <a:pt x="1323975" y="314325"/>
                  </a:lnTo>
                  <a:lnTo>
                    <a:pt x="1447800" y="323850"/>
                  </a:lnTo>
                  <a:lnTo>
                    <a:pt x="1562100" y="342900"/>
                  </a:lnTo>
                  <a:lnTo>
                    <a:pt x="1685925" y="371475"/>
                  </a:lnTo>
                  <a:lnTo>
                    <a:pt x="16859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285875" y="387350"/>
              <a:ext cx="1685925" cy="419100"/>
            </a:xfrm>
            <a:custGeom>
              <a:avLst/>
              <a:gdLst/>
              <a:ahLst/>
              <a:cxnLst/>
              <a:rect l="l" t="t" r="r" b="b"/>
              <a:pathLst>
                <a:path w="1685925" h="419100">
                  <a:moveTo>
                    <a:pt x="0" y="371475"/>
                  </a:moveTo>
                  <a:lnTo>
                    <a:pt x="0" y="0"/>
                  </a:lnTo>
                  <a:lnTo>
                    <a:pt x="1685925" y="0"/>
                  </a:lnTo>
                  <a:lnTo>
                    <a:pt x="1685925" y="371475"/>
                  </a:lnTo>
                  <a:lnTo>
                    <a:pt x="1562100" y="342900"/>
                  </a:lnTo>
                  <a:lnTo>
                    <a:pt x="1447800" y="323850"/>
                  </a:lnTo>
                  <a:lnTo>
                    <a:pt x="1323975" y="314325"/>
                  </a:lnTo>
                  <a:lnTo>
                    <a:pt x="1200150" y="314325"/>
                  </a:lnTo>
                  <a:lnTo>
                    <a:pt x="1076325" y="323850"/>
                  </a:lnTo>
                  <a:lnTo>
                    <a:pt x="962025" y="342900"/>
                  </a:lnTo>
                  <a:lnTo>
                    <a:pt x="838200" y="371475"/>
                  </a:lnTo>
                  <a:lnTo>
                    <a:pt x="723900" y="390525"/>
                  </a:lnTo>
                  <a:lnTo>
                    <a:pt x="600075" y="409575"/>
                  </a:lnTo>
                  <a:lnTo>
                    <a:pt x="476250" y="419100"/>
                  </a:lnTo>
                  <a:lnTo>
                    <a:pt x="361950" y="419100"/>
                  </a:lnTo>
                  <a:lnTo>
                    <a:pt x="238125" y="409575"/>
                  </a:lnTo>
                  <a:lnTo>
                    <a:pt x="123825" y="390525"/>
                  </a:lnTo>
                  <a:lnTo>
                    <a:pt x="0" y="3714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1" name="object 161" descr=""/>
          <p:cNvSpPr txBox="1"/>
          <p:nvPr/>
        </p:nvSpPr>
        <p:spPr>
          <a:xfrm>
            <a:off x="1520825" y="450850"/>
            <a:ext cx="13976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75">
                <a:latin typeface="Arial"/>
                <a:cs typeface="Arial"/>
              </a:rPr>
              <a:t>Sales/Order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 spc="80">
                <a:latin typeface="Arial"/>
                <a:cs typeface="Arial"/>
              </a:rPr>
              <a:t>Document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2" name="object 162" descr=""/>
          <p:cNvGrpSpPr/>
          <p:nvPr/>
        </p:nvGrpSpPr>
        <p:grpSpPr>
          <a:xfrm>
            <a:off x="5062537" y="382587"/>
            <a:ext cx="1795780" cy="528955"/>
            <a:chOff x="5062537" y="382587"/>
            <a:chExt cx="1795780" cy="528955"/>
          </a:xfrm>
        </p:grpSpPr>
        <p:sp>
          <p:nvSpPr>
            <p:cNvPr id="163" name="object 163" descr=""/>
            <p:cNvSpPr/>
            <p:nvPr/>
          </p:nvSpPr>
          <p:spPr>
            <a:xfrm>
              <a:off x="5172075" y="492125"/>
              <a:ext cx="1685925" cy="419100"/>
            </a:xfrm>
            <a:custGeom>
              <a:avLst/>
              <a:gdLst/>
              <a:ahLst/>
              <a:cxnLst/>
              <a:rect l="l" t="t" r="r" b="b"/>
              <a:pathLst>
                <a:path w="1685925" h="419100">
                  <a:moveTo>
                    <a:pt x="16859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23825" y="390525"/>
                  </a:lnTo>
                  <a:lnTo>
                    <a:pt x="238125" y="409575"/>
                  </a:lnTo>
                  <a:lnTo>
                    <a:pt x="361950" y="419100"/>
                  </a:lnTo>
                  <a:lnTo>
                    <a:pt x="485775" y="419100"/>
                  </a:lnTo>
                  <a:lnTo>
                    <a:pt x="600075" y="409575"/>
                  </a:lnTo>
                  <a:lnTo>
                    <a:pt x="723900" y="390525"/>
                  </a:lnTo>
                  <a:lnTo>
                    <a:pt x="838200" y="371475"/>
                  </a:lnTo>
                  <a:lnTo>
                    <a:pt x="962025" y="342900"/>
                  </a:lnTo>
                  <a:lnTo>
                    <a:pt x="1076325" y="323850"/>
                  </a:lnTo>
                  <a:lnTo>
                    <a:pt x="1200150" y="314325"/>
                  </a:lnTo>
                  <a:lnTo>
                    <a:pt x="1323975" y="314325"/>
                  </a:lnTo>
                  <a:lnTo>
                    <a:pt x="1447800" y="323850"/>
                  </a:lnTo>
                  <a:lnTo>
                    <a:pt x="1562100" y="342900"/>
                  </a:lnTo>
                  <a:lnTo>
                    <a:pt x="1685925" y="371475"/>
                  </a:lnTo>
                  <a:lnTo>
                    <a:pt x="16859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5067300" y="387350"/>
              <a:ext cx="1676400" cy="419100"/>
            </a:xfrm>
            <a:custGeom>
              <a:avLst/>
              <a:gdLst/>
              <a:ahLst/>
              <a:cxnLst/>
              <a:rect l="l" t="t" r="r" b="b"/>
              <a:pathLst>
                <a:path w="1676400" h="419100">
                  <a:moveTo>
                    <a:pt x="1676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14300" y="390525"/>
                  </a:lnTo>
                  <a:lnTo>
                    <a:pt x="238125" y="409575"/>
                  </a:lnTo>
                  <a:lnTo>
                    <a:pt x="361950" y="419100"/>
                  </a:lnTo>
                  <a:lnTo>
                    <a:pt x="476250" y="419100"/>
                  </a:lnTo>
                  <a:lnTo>
                    <a:pt x="600075" y="409575"/>
                  </a:lnTo>
                  <a:lnTo>
                    <a:pt x="723900" y="390525"/>
                  </a:lnTo>
                  <a:lnTo>
                    <a:pt x="838200" y="371475"/>
                  </a:lnTo>
                  <a:lnTo>
                    <a:pt x="962025" y="342900"/>
                  </a:lnTo>
                  <a:lnTo>
                    <a:pt x="1076325" y="323850"/>
                  </a:lnTo>
                  <a:lnTo>
                    <a:pt x="1200150" y="314325"/>
                  </a:lnTo>
                  <a:lnTo>
                    <a:pt x="1323975" y="314325"/>
                  </a:lnTo>
                  <a:lnTo>
                    <a:pt x="1438275" y="323850"/>
                  </a:lnTo>
                  <a:lnTo>
                    <a:pt x="1562100" y="342900"/>
                  </a:lnTo>
                  <a:lnTo>
                    <a:pt x="1676400" y="371475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5067300" y="387350"/>
              <a:ext cx="1676400" cy="419100"/>
            </a:xfrm>
            <a:custGeom>
              <a:avLst/>
              <a:gdLst/>
              <a:ahLst/>
              <a:cxnLst/>
              <a:rect l="l" t="t" r="r" b="b"/>
              <a:pathLst>
                <a:path w="1676400" h="419100">
                  <a:moveTo>
                    <a:pt x="0" y="371475"/>
                  </a:moveTo>
                  <a:lnTo>
                    <a:pt x="0" y="0"/>
                  </a:lnTo>
                  <a:lnTo>
                    <a:pt x="1676400" y="0"/>
                  </a:lnTo>
                  <a:lnTo>
                    <a:pt x="1676400" y="371475"/>
                  </a:lnTo>
                  <a:lnTo>
                    <a:pt x="1562100" y="342900"/>
                  </a:lnTo>
                  <a:lnTo>
                    <a:pt x="1438275" y="323850"/>
                  </a:lnTo>
                  <a:lnTo>
                    <a:pt x="1323975" y="314325"/>
                  </a:lnTo>
                  <a:lnTo>
                    <a:pt x="1200150" y="314325"/>
                  </a:lnTo>
                  <a:lnTo>
                    <a:pt x="1076325" y="323850"/>
                  </a:lnTo>
                  <a:lnTo>
                    <a:pt x="962025" y="342900"/>
                  </a:lnTo>
                  <a:lnTo>
                    <a:pt x="838200" y="371475"/>
                  </a:lnTo>
                  <a:lnTo>
                    <a:pt x="723900" y="390525"/>
                  </a:lnTo>
                  <a:lnTo>
                    <a:pt x="600075" y="409575"/>
                  </a:lnTo>
                  <a:lnTo>
                    <a:pt x="476250" y="419100"/>
                  </a:lnTo>
                  <a:lnTo>
                    <a:pt x="361950" y="419100"/>
                  </a:lnTo>
                  <a:lnTo>
                    <a:pt x="238125" y="409575"/>
                  </a:lnTo>
                  <a:lnTo>
                    <a:pt x="114300" y="390525"/>
                  </a:lnTo>
                  <a:lnTo>
                    <a:pt x="0" y="3714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 descr=""/>
          <p:cNvSpPr txBox="1"/>
          <p:nvPr/>
        </p:nvSpPr>
        <p:spPr>
          <a:xfrm>
            <a:off x="5149850" y="450850"/>
            <a:ext cx="17214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65">
                <a:latin typeface="Arial"/>
                <a:cs typeface="Arial"/>
              </a:rPr>
              <a:t>Shipping/Delivery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Document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7" name="object 167" descr=""/>
          <p:cNvGrpSpPr/>
          <p:nvPr/>
        </p:nvGrpSpPr>
        <p:grpSpPr>
          <a:xfrm>
            <a:off x="7796212" y="382587"/>
            <a:ext cx="1786255" cy="528955"/>
            <a:chOff x="7796212" y="382587"/>
            <a:chExt cx="1786255" cy="528955"/>
          </a:xfrm>
        </p:grpSpPr>
        <p:sp>
          <p:nvSpPr>
            <p:cNvPr id="168" name="object 168" descr=""/>
            <p:cNvSpPr/>
            <p:nvPr/>
          </p:nvSpPr>
          <p:spPr>
            <a:xfrm>
              <a:off x="7905750" y="492125"/>
              <a:ext cx="1676400" cy="419100"/>
            </a:xfrm>
            <a:custGeom>
              <a:avLst/>
              <a:gdLst/>
              <a:ahLst/>
              <a:cxnLst/>
              <a:rect l="l" t="t" r="r" b="b"/>
              <a:pathLst>
                <a:path w="1676400" h="419100">
                  <a:moveTo>
                    <a:pt x="1676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14300" y="390525"/>
                  </a:lnTo>
                  <a:lnTo>
                    <a:pt x="238125" y="409575"/>
                  </a:lnTo>
                  <a:lnTo>
                    <a:pt x="352425" y="419100"/>
                  </a:lnTo>
                  <a:lnTo>
                    <a:pt x="476250" y="419100"/>
                  </a:lnTo>
                  <a:lnTo>
                    <a:pt x="600075" y="409575"/>
                  </a:lnTo>
                  <a:lnTo>
                    <a:pt x="714375" y="390525"/>
                  </a:lnTo>
                  <a:lnTo>
                    <a:pt x="838200" y="371475"/>
                  </a:lnTo>
                  <a:lnTo>
                    <a:pt x="952500" y="342900"/>
                  </a:lnTo>
                  <a:lnTo>
                    <a:pt x="1076325" y="323850"/>
                  </a:lnTo>
                  <a:lnTo>
                    <a:pt x="1200150" y="314325"/>
                  </a:lnTo>
                  <a:lnTo>
                    <a:pt x="1314450" y="314325"/>
                  </a:lnTo>
                  <a:lnTo>
                    <a:pt x="1438275" y="323850"/>
                  </a:lnTo>
                  <a:lnTo>
                    <a:pt x="1562100" y="342900"/>
                  </a:lnTo>
                  <a:lnTo>
                    <a:pt x="1676400" y="371475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7800975" y="387350"/>
              <a:ext cx="1676400" cy="419100"/>
            </a:xfrm>
            <a:custGeom>
              <a:avLst/>
              <a:gdLst/>
              <a:ahLst/>
              <a:cxnLst/>
              <a:rect l="l" t="t" r="r" b="b"/>
              <a:pathLst>
                <a:path w="1676400" h="419100">
                  <a:moveTo>
                    <a:pt x="1676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14300" y="390525"/>
                  </a:lnTo>
                  <a:lnTo>
                    <a:pt x="238125" y="409575"/>
                  </a:lnTo>
                  <a:lnTo>
                    <a:pt x="352425" y="419100"/>
                  </a:lnTo>
                  <a:lnTo>
                    <a:pt x="476250" y="419100"/>
                  </a:lnTo>
                  <a:lnTo>
                    <a:pt x="600075" y="409575"/>
                  </a:lnTo>
                  <a:lnTo>
                    <a:pt x="714375" y="390525"/>
                  </a:lnTo>
                  <a:lnTo>
                    <a:pt x="838200" y="371475"/>
                  </a:lnTo>
                  <a:lnTo>
                    <a:pt x="952500" y="342900"/>
                  </a:lnTo>
                  <a:lnTo>
                    <a:pt x="1076325" y="323850"/>
                  </a:lnTo>
                  <a:lnTo>
                    <a:pt x="1200150" y="314325"/>
                  </a:lnTo>
                  <a:lnTo>
                    <a:pt x="1314450" y="314325"/>
                  </a:lnTo>
                  <a:lnTo>
                    <a:pt x="1438275" y="323850"/>
                  </a:lnTo>
                  <a:lnTo>
                    <a:pt x="1552575" y="342900"/>
                  </a:lnTo>
                  <a:lnTo>
                    <a:pt x="1676400" y="371475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7800975" y="387350"/>
              <a:ext cx="1676400" cy="419100"/>
            </a:xfrm>
            <a:custGeom>
              <a:avLst/>
              <a:gdLst/>
              <a:ahLst/>
              <a:cxnLst/>
              <a:rect l="l" t="t" r="r" b="b"/>
              <a:pathLst>
                <a:path w="1676400" h="419100">
                  <a:moveTo>
                    <a:pt x="0" y="371475"/>
                  </a:moveTo>
                  <a:lnTo>
                    <a:pt x="0" y="0"/>
                  </a:lnTo>
                  <a:lnTo>
                    <a:pt x="1676400" y="0"/>
                  </a:lnTo>
                  <a:lnTo>
                    <a:pt x="1676400" y="371475"/>
                  </a:lnTo>
                  <a:lnTo>
                    <a:pt x="1552575" y="342900"/>
                  </a:lnTo>
                  <a:lnTo>
                    <a:pt x="1438275" y="323850"/>
                  </a:lnTo>
                  <a:lnTo>
                    <a:pt x="1314450" y="314325"/>
                  </a:lnTo>
                  <a:lnTo>
                    <a:pt x="1200150" y="314325"/>
                  </a:lnTo>
                  <a:lnTo>
                    <a:pt x="1076325" y="323850"/>
                  </a:lnTo>
                  <a:lnTo>
                    <a:pt x="952500" y="342900"/>
                  </a:lnTo>
                  <a:lnTo>
                    <a:pt x="838200" y="371475"/>
                  </a:lnTo>
                  <a:lnTo>
                    <a:pt x="714375" y="390525"/>
                  </a:lnTo>
                  <a:lnTo>
                    <a:pt x="600075" y="409575"/>
                  </a:lnTo>
                  <a:lnTo>
                    <a:pt x="476250" y="419100"/>
                  </a:lnTo>
                  <a:lnTo>
                    <a:pt x="352425" y="419100"/>
                  </a:lnTo>
                  <a:lnTo>
                    <a:pt x="238125" y="409575"/>
                  </a:lnTo>
                  <a:lnTo>
                    <a:pt x="114300" y="390525"/>
                  </a:lnTo>
                  <a:lnTo>
                    <a:pt x="0" y="3714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 descr=""/>
          <p:cNvSpPr txBox="1"/>
          <p:nvPr/>
        </p:nvSpPr>
        <p:spPr>
          <a:xfrm>
            <a:off x="8178800" y="450850"/>
            <a:ext cx="10255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0">
                <a:latin typeface="Arial"/>
                <a:cs typeface="Arial"/>
              </a:rPr>
              <a:t>Billing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Document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172" name="object 172" descr=""/>
          <p:cNvSpPr/>
          <p:nvPr/>
        </p:nvSpPr>
        <p:spPr>
          <a:xfrm>
            <a:off x="2543175" y="911225"/>
            <a:ext cx="1057275" cy="419100"/>
          </a:xfrm>
          <a:custGeom>
            <a:avLst/>
            <a:gdLst/>
            <a:ahLst/>
            <a:cxnLst/>
            <a:rect l="l" t="t" r="r" b="b"/>
            <a:pathLst>
              <a:path w="1057275" h="419100">
                <a:moveTo>
                  <a:pt x="219075" y="419100"/>
                </a:moveTo>
                <a:lnTo>
                  <a:pt x="885825" y="419100"/>
                </a:lnTo>
                <a:lnTo>
                  <a:pt x="933450" y="400050"/>
                </a:lnTo>
                <a:lnTo>
                  <a:pt x="1009650" y="342900"/>
                </a:lnTo>
                <a:lnTo>
                  <a:pt x="1028700" y="304800"/>
                </a:lnTo>
                <a:lnTo>
                  <a:pt x="1047750" y="257175"/>
                </a:lnTo>
                <a:lnTo>
                  <a:pt x="1057275" y="209550"/>
                </a:lnTo>
                <a:lnTo>
                  <a:pt x="1047750" y="161925"/>
                </a:lnTo>
                <a:lnTo>
                  <a:pt x="1028700" y="123825"/>
                </a:lnTo>
                <a:lnTo>
                  <a:pt x="1009650" y="76200"/>
                </a:lnTo>
                <a:lnTo>
                  <a:pt x="933450" y="19050"/>
                </a:lnTo>
                <a:lnTo>
                  <a:pt x="885825" y="9525"/>
                </a:lnTo>
                <a:lnTo>
                  <a:pt x="847725" y="0"/>
                </a:lnTo>
                <a:lnTo>
                  <a:pt x="219075" y="0"/>
                </a:lnTo>
                <a:lnTo>
                  <a:pt x="123825" y="19050"/>
                </a:lnTo>
                <a:lnTo>
                  <a:pt x="47625" y="76200"/>
                </a:lnTo>
                <a:lnTo>
                  <a:pt x="28575" y="123825"/>
                </a:lnTo>
                <a:lnTo>
                  <a:pt x="9525" y="161925"/>
                </a:lnTo>
                <a:lnTo>
                  <a:pt x="0" y="209550"/>
                </a:lnTo>
                <a:lnTo>
                  <a:pt x="9525" y="257175"/>
                </a:lnTo>
                <a:lnTo>
                  <a:pt x="28575" y="304800"/>
                </a:lnTo>
                <a:lnTo>
                  <a:pt x="47625" y="342900"/>
                </a:lnTo>
                <a:lnTo>
                  <a:pt x="123825" y="400050"/>
                </a:lnTo>
                <a:lnTo>
                  <a:pt x="171450" y="419100"/>
                </a:lnTo>
                <a:lnTo>
                  <a:pt x="219075" y="419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 descr=""/>
          <p:cNvSpPr txBox="1"/>
          <p:nvPr/>
        </p:nvSpPr>
        <p:spPr>
          <a:xfrm>
            <a:off x="2663825" y="889000"/>
            <a:ext cx="958850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VBLB</a:t>
            </a:r>
            <a:endParaRPr sz="900">
              <a:latin typeface="Arial"/>
              <a:cs typeface="Arial"/>
            </a:endParaRPr>
          </a:p>
          <a:p>
            <a:pPr marL="259715" marR="5080" indent="-247650">
              <a:lnSpc>
                <a:spcPts val="1050"/>
              </a:lnSpc>
              <a:spcBef>
                <a:spcPts val="105"/>
              </a:spcBef>
            </a:pPr>
            <a:r>
              <a:rPr dirty="0" sz="900" spc="85">
                <a:latin typeface="Arial"/>
                <a:cs typeface="Arial"/>
              </a:rPr>
              <a:t>(Release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Order </a:t>
            </a:r>
            <a:r>
              <a:rPr dirty="0" sz="900" spc="70">
                <a:latin typeface="Arial"/>
                <a:cs typeface="Arial"/>
              </a:rPr>
              <a:t>Data)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4" name="object 174" descr=""/>
          <p:cNvGrpSpPr/>
          <p:nvPr/>
        </p:nvGrpSpPr>
        <p:grpSpPr>
          <a:xfrm>
            <a:off x="2066925" y="1330325"/>
            <a:ext cx="1009650" cy="952500"/>
            <a:chOff x="2066925" y="1330325"/>
            <a:chExt cx="1009650" cy="952500"/>
          </a:xfrm>
        </p:grpSpPr>
        <p:sp>
          <p:nvSpPr>
            <p:cNvPr id="175" name="object 175" descr=""/>
            <p:cNvSpPr/>
            <p:nvPr/>
          </p:nvSpPr>
          <p:spPr>
            <a:xfrm>
              <a:off x="2095500" y="1349375"/>
              <a:ext cx="923925" cy="876300"/>
            </a:xfrm>
            <a:custGeom>
              <a:avLst/>
              <a:gdLst/>
              <a:ahLst/>
              <a:cxnLst/>
              <a:rect l="l" t="t" r="r" b="b"/>
              <a:pathLst>
                <a:path w="923925" h="876300">
                  <a:moveTo>
                    <a:pt x="0" y="876300"/>
                  </a:moveTo>
                  <a:lnTo>
                    <a:pt x="47625" y="762000"/>
                  </a:lnTo>
                  <a:lnTo>
                    <a:pt x="95250" y="657225"/>
                  </a:lnTo>
                  <a:lnTo>
                    <a:pt x="161925" y="552450"/>
                  </a:lnTo>
                  <a:lnTo>
                    <a:pt x="238125" y="457200"/>
                  </a:lnTo>
                  <a:lnTo>
                    <a:pt x="314325" y="371475"/>
                  </a:lnTo>
                  <a:lnTo>
                    <a:pt x="400050" y="295275"/>
                  </a:lnTo>
                  <a:lnTo>
                    <a:pt x="495300" y="219075"/>
                  </a:lnTo>
                  <a:lnTo>
                    <a:pt x="704850" y="85725"/>
                  </a:lnTo>
                  <a:lnTo>
                    <a:pt x="809625" y="38100"/>
                  </a:lnTo>
                  <a:lnTo>
                    <a:pt x="92392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00375" y="1330325"/>
              <a:ext cx="76200" cy="47625"/>
            </a:xfrm>
            <a:prstGeom prst="rect">
              <a:avLst/>
            </a:prstGeom>
          </p:spPr>
        </p:pic>
        <p:pic>
          <p:nvPicPr>
            <p:cNvPr id="177" name="object 17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66925" y="2216150"/>
              <a:ext cx="66675" cy="66675"/>
            </a:xfrm>
            <a:prstGeom prst="rect">
              <a:avLst/>
            </a:prstGeom>
          </p:spPr>
        </p:pic>
        <p:sp>
          <p:nvSpPr>
            <p:cNvPr id="178" name="object 178" descr=""/>
            <p:cNvSpPr/>
            <p:nvPr/>
          </p:nvSpPr>
          <p:spPr>
            <a:xfrm>
              <a:off x="2171700" y="1530350"/>
              <a:ext cx="638175" cy="247650"/>
            </a:xfrm>
            <a:custGeom>
              <a:avLst/>
              <a:gdLst/>
              <a:ahLst/>
              <a:cxnLst/>
              <a:rect l="l" t="t" r="r" b="b"/>
              <a:pathLst>
                <a:path w="638175" h="247650">
                  <a:moveTo>
                    <a:pt x="638175" y="0"/>
                  </a:moveTo>
                  <a:lnTo>
                    <a:pt x="0" y="0"/>
                  </a:lnTo>
                  <a:lnTo>
                    <a:pt x="0" y="247650"/>
                  </a:lnTo>
                  <a:lnTo>
                    <a:pt x="638175" y="2476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9" name="object 179" descr=""/>
          <p:cNvSpPr txBox="1"/>
          <p:nvPr/>
        </p:nvSpPr>
        <p:spPr>
          <a:xfrm>
            <a:off x="2159000" y="1517650"/>
            <a:ext cx="6921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VBLB-</a:t>
            </a:r>
            <a:r>
              <a:rPr dirty="0" sz="750" spc="-10">
                <a:latin typeface="Arial"/>
                <a:cs typeface="Arial"/>
              </a:rPr>
              <a:t>VBELN=</a:t>
            </a:r>
            <a:endParaRPr sz="750">
              <a:latin typeface="Arial"/>
              <a:cs typeface="Arial"/>
            </a:endParaRPr>
          </a:p>
        </p:txBody>
      </p:sp>
      <p:sp>
        <p:nvSpPr>
          <p:cNvPr id="180" name="object 180" descr=""/>
          <p:cNvSpPr txBox="1"/>
          <p:nvPr/>
        </p:nvSpPr>
        <p:spPr>
          <a:xfrm>
            <a:off x="2178050" y="1631950"/>
            <a:ext cx="6540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VBAK-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1" name="object 181" descr=""/>
          <p:cNvGrpSpPr/>
          <p:nvPr/>
        </p:nvGrpSpPr>
        <p:grpSpPr>
          <a:xfrm>
            <a:off x="3071812" y="5002212"/>
            <a:ext cx="1057275" cy="647700"/>
            <a:chOff x="3071812" y="5002212"/>
            <a:chExt cx="1057275" cy="647700"/>
          </a:xfrm>
        </p:grpSpPr>
        <p:sp>
          <p:nvSpPr>
            <p:cNvPr id="182" name="object 182" descr=""/>
            <p:cNvSpPr/>
            <p:nvPr/>
          </p:nvSpPr>
          <p:spPr>
            <a:xfrm>
              <a:off x="3076575" y="5006975"/>
              <a:ext cx="1047750" cy="638175"/>
            </a:xfrm>
            <a:custGeom>
              <a:avLst/>
              <a:gdLst/>
              <a:ahLst/>
              <a:cxnLst/>
              <a:rect l="l" t="t" r="r" b="b"/>
              <a:pathLst>
                <a:path w="1047750" h="638175">
                  <a:moveTo>
                    <a:pt x="781050" y="0"/>
                  </a:moveTo>
                  <a:lnTo>
                    <a:pt x="257175" y="0"/>
                  </a:lnTo>
                  <a:lnTo>
                    <a:pt x="161925" y="19050"/>
                  </a:lnTo>
                  <a:lnTo>
                    <a:pt x="123825" y="47625"/>
                  </a:lnTo>
                  <a:lnTo>
                    <a:pt x="47625" y="123825"/>
                  </a:lnTo>
                  <a:lnTo>
                    <a:pt x="19050" y="180975"/>
                  </a:lnTo>
                  <a:lnTo>
                    <a:pt x="9525" y="228600"/>
                  </a:lnTo>
                  <a:lnTo>
                    <a:pt x="0" y="285750"/>
                  </a:lnTo>
                  <a:lnTo>
                    <a:pt x="0" y="352425"/>
                  </a:lnTo>
                  <a:lnTo>
                    <a:pt x="9525" y="400050"/>
                  </a:lnTo>
                  <a:lnTo>
                    <a:pt x="19050" y="457200"/>
                  </a:lnTo>
                  <a:lnTo>
                    <a:pt x="47625" y="504825"/>
                  </a:lnTo>
                  <a:lnTo>
                    <a:pt x="85725" y="552450"/>
                  </a:lnTo>
                  <a:lnTo>
                    <a:pt x="123825" y="590550"/>
                  </a:lnTo>
                  <a:lnTo>
                    <a:pt x="161925" y="609600"/>
                  </a:lnTo>
                  <a:lnTo>
                    <a:pt x="209550" y="628650"/>
                  </a:lnTo>
                  <a:lnTo>
                    <a:pt x="257175" y="638175"/>
                  </a:lnTo>
                  <a:lnTo>
                    <a:pt x="781050" y="638175"/>
                  </a:lnTo>
                  <a:lnTo>
                    <a:pt x="828675" y="628650"/>
                  </a:lnTo>
                  <a:lnTo>
                    <a:pt x="923925" y="590550"/>
                  </a:lnTo>
                  <a:lnTo>
                    <a:pt x="962025" y="552450"/>
                  </a:lnTo>
                  <a:lnTo>
                    <a:pt x="1019175" y="457200"/>
                  </a:lnTo>
                  <a:lnTo>
                    <a:pt x="1038225" y="400050"/>
                  </a:lnTo>
                  <a:lnTo>
                    <a:pt x="1047750" y="352425"/>
                  </a:lnTo>
                  <a:lnTo>
                    <a:pt x="1047750" y="285750"/>
                  </a:lnTo>
                  <a:lnTo>
                    <a:pt x="1038225" y="228600"/>
                  </a:lnTo>
                  <a:lnTo>
                    <a:pt x="1019175" y="180975"/>
                  </a:lnTo>
                  <a:lnTo>
                    <a:pt x="990600" y="123825"/>
                  </a:lnTo>
                  <a:lnTo>
                    <a:pt x="962025" y="85725"/>
                  </a:lnTo>
                  <a:lnTo>
                    <a:pt x="923925" y="47625"/>
                  </a:lnTo>
                  <a:lnTo>
                    <a:pt x="876300" y="19050"/>
                  </a:lnTo>
                  <a:lnTo>
                    <a:pt x="781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3076575" y="5006975"/>
              <a:ext cx="1047750" cy="638175"/>
            </a:xfrm>
            <a:custGeom>
              <a:avLst/>
              <a:gdLst/>
              <a:ahLst/>
              <a:cxnLst/>
              <a:rect l="l" t="t" r="r" b="b"/>
              <a:pathLst>
                <a:path w="1047750" h="638175">
                  <a:moveTo>
                    <a:pt x="257175" y="638175"/>
                  </a:moveTo>
                  <a:lnTo>
                    <a:pt x="781050" y="638175"/>
                  </a:lnTo>
                  <a:lnTo>
                    <a:pt x="828675" y="628650"/>
                  </a:lnTo>
                  <a:lnTo>
                    <a:pt x="923925" y="590550"/>
                  </a:lnTo>
                  <a:lnTo>
                    <a:pt x="962025" y="552450"/>
                  </a:lnTo>
                  <a:lnTo>
                    <a:pt x="1019175" y="457200"/>
                  </a:lnTo>
                  <a:lnTo>
                    <a:pt x="1038225" y="400050"/>
                  </a:lnTo>
                  <a:lnTo>
                    <a:pt x="1047750" y="352425"/>
                  </a:lnTo>
                  <a:lnTo>
                    <a:pt x="1047750" y="285750"/>
                  </a:lnTo>
                  <a:lnTo>
                    <a:pt x="1038225" y="228600"/>
                  </a:lnTo>
                  <a:lnTo>
                    <a:pt x="1019175" y="180975"/>
                  </a:lnTo>
                  <a:lnTo>
                    <a:pt x="990600" y="123825"/>
                  </a:lnTo>
                  <a:lnTo>
                    <a:pt x="962025" y="85725"/>
                  </a:lnTo>
                  <a:lnTo>
                    <a:pt x="923925" y="47625"/>
                  </a:lnTo>
                  <a:lnTo>
                    <a:pt x="876300" y="19050"/>
                  </a:lnTo>
                  <a:lnTo>
                    <a:pt x="781050" y="0"/>
                  </a:lnTo>
                  <a:lnTo>
                    <a:pt x="257175" y="0"/>
                  </a:lnTo>
                  <a:lnTo>
                    <a:pt x="161925" y="19050"/>
                  </a:lnTo>
                  <a:lnTo>
                    <a:pt x="123825" y="47625"/>
                  </a:lnTo>
                  <a:lnTo>
                    <a:pt x="47625" y="123825"/>
                  </a:lnTo>
                  <a:lnTo>
                    <a:pt x="19050" y="180975"/>
                  </a:lnTo>
                  <a:lnTo>
                    <a:pt x="9525" y="228600"/>
                  </a:lnTo>
                  <a:lnTo>
                    <a:pt x="0" y="285750"/>
                  </a:lnTo>
                  <a:lnTo>
                    <a:pt x="0" y="352425"/>
                  </a:lnTo>
                  <a:lnTo>
                    <a:pt x="9525" y="400050"/>
                  </a:lnTo>
                  <a:lnTo>
                    <a:pt x="19050" y="457200"/>
                  </a:lnTo>
                  <a:lnTo>
                    <a:pt x="47625" y="504825"/>
                  </a:lnTo>
                  <a:lnTo>
                    <a:pt x="85725" y="552450"/>
                  </a:lnTo>
                  <a:lnTo>
                    <a:pt x="123825" y="590550"/>
                  </a:lnTo>
                  <a:lnTo>
                    <a:pt x="161925" y="609600"/>
                  </a:lnTo>
                  <a:lnTo>
                    <a:pt x="209550" y="628650"/>
                  </a:lnTo>
                  <a:lnTo>
                    <a:pt x="257175" y="638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 descr=""/>
          <p:cNvSpPr txBox="1"/>
          <p:nvPr/>
        </p:nvSpPr>
        <p:spPr>
          <a:xfrm>
            <a:off x="3187700" y="5089525"/>
            <a:ext cx="939800" cy="4483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VBKD</a:t>
            </a:r>
            <a:endParaRPr sz="900">
              <a:latin typeface="Arial"/>
              <a:cs typeface="Arial"/>
            </a:endParaRPr>
          </a:p>
          <a:p>
            <a:pPr marL="12700" marR="5080" indent="95250">
              <a:lnSpc>
                <a:spcPct val="104200"/>
              </a:lnSpc>
            </a:pPr>
            <a:r>
              <a:rPr dirty="0" sz="900" spc="70">
                <a:latin typeface="Arial"/>
                <a:cs typeface="Arial"/>
              </a:rPr>
              <a:t>(Sales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Doc: </a:t>
            </a:r>
            <a:r>
              <a:rPr dirty="0" sz="900" spc="80">
                <a:latin typeface="Arial"/>
                <a:cs typeface="Arial"/>
              </a:rPr>
              <a:t>Business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65">
                <a:latin typeface="Arial"/>
                <a:cs typeface="Arial"/>
              </a:rPr>
              <a:t>Data)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5" name="object 185" descr=""/>
          <p:cNvGrpSpPr/>
          <p:nvPr/>
        </p:nvGrpSpPr>
        <p:grpSpPr>
          <a:xfrm>
            <a:off x="3333750" y="3854450"/>
            <a:ext cx="704850" cy="1157605"/>
            <a:chOff x="3333750" y="3854450"/>
            <a:chExt cx="704850" cy="1157605"/>
          </a:xfrm>
        </p:grpSpPr>
        <p:sp>
          <p:nvSpPr>
            <p:cNvPr id="186" name="object 186" descr=""/>
            <p:cNvSpPr/>
            <p:nvPr/>
          </p:nvSpPr>
          <p:spPr>
            <a:xfrm>
              <a:off x="3429000" y="3892550"/>
              <a:ext cx="257175" cy="1000125"/>
            </a:xfrm>
            <a:custGeom>
              <a:avLst/>
              <a:gdLst/>
              <a:ahLst/>
              <a:cxnLst/>
              <a:rect l="l" t="t" r="r" b="b"/>
              <a:pathLst>
                <a:path w="257175" h="1000125">
                  <a:moveTo>
                    <a:pt x="209550" y="1000125"/>
                  </a:moveTo>
                  <a:lnTo>
                    <a:pt x="238125" y="895350"/>
                  </a:lnTo>
                  <a:lnTo>
                    <a:pt x="257175" y="790575"/>
                  </a:lnTo>
                  <a:lnTo>
                    <a:pt x="257175" y="571500"/>
                  </a:lnTo>
                  <a:lnTo>
                    <a:pt x="238125" y="466725"/>
                  </a:lnTo>
                  <a:lnTo>
                    <a:pt x="209550" y="371475"/>
                  </a:lnTo>
                  <a:lnTo>
                    <a:pt x="171450" y="266700"/>
                  </a:lnTo>
                  <a:lnTo>
                    <a:pt x="123825" y="171450"/>
                  </a:lnTo>
                  <a:lnTo>
                    <a:pt x="66675" y="85725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7" name="object 18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586162" y="4878387"/>
              <a:ext cx="95250" cy="133350"/>
            </a:xfrm>
            <a:prstGeom prst="rect">
              <a:avLst/>
            </a:prstGeom>
          </p:spPr>
        </p:pic>
        <p:sp>
          <p:nvSpPr>
            <p:cNvPr id="188" name="object 188" descr=""/>
            <p:cNvSpPr/>
            <p:nvPr/>
          </p:nvSpPr>
          <p:spPr>
            <a:xfrm>
              <a:off x="3390900" y="385445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19050" y="66675"/>
                  </a:lnTo>
                  <a:lnTo>
                    <a:pt x="66675" y="28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3333750" y="4206875"/>
              <a:ext cx="704850" cy="571500"/>
            </a:xfrm>
            <a:custGeom>
              <a:avLst/>
              <a:gdLst/>
              <a:ahLst/>
              <a:cxnLst/>
              <a:rect l="l" t="t" r="r" b="b"/>
              <a:pathLst>
                <a:path w="704850" h="571500">
                  <a:moveTo>
                    <a:pt x="70485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704850" y="571500"/>
                  </a:lnTo>
                  <a:lnTo>
                    <a:pt x="704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 descr=""/>
          <p:cNvSpPr txBox="1"/>
          <p:nvPr/>
        </p:nvSpPr>
        <p:spPr>
          <a:xfrm>
            <a:off x="3340100" y="4184650"/>
            <a:ext cx="7289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VBKD-VBELN</a:t>
            </a:r>
            <a:r>
              <a:rPr dirty="0" sz="750" spc="114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191" name="object 191" descr=""/>
          <p:cNvSpPr txBox="1"/>
          <p:nvPr/>
        </p:nvSpPr>
        <p:spPr>
          <a:xfrm>
            <a:off x="3387725" y="4298950"/>
            <a:ext cx="6540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VBAP-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  <a:p>
            <a:pPr algn="ctr" marR="30480">
              <a:lnSpc>
                <a:spcPct val="100000"/>
              </a:lnSpc>
            </a:pPr>
            <a:r>
              <a:rPr dirty="0" sz="750" spc="-25">
                <a:latin typeface="Arial"/>
                <a:cs typeface="Arial"/>
              </a:rPr>
              <a:t>and</a:t>
            </a:r>
            <a:endParaRPr sz="750">
              <a:latin typeface="Arial"/>
              <a:cs typeface="Arial"/>
            </a:endParaRPr>
          </a:p>
        </p:txBody>
      </p:sp>
      <p:sp>
        <p:nvSpPr>
          <p:cNvPr id="192" name="object 192" descr=""/>
          <p:cNvSpPr txBox="1"/>
          <p:nvPr/>
        </p:nvSpPr>
        <p:spPr>
          <a:xfrm>
            <a:off x="3330575" y="4527550"/>
            <a:ext cx="74866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VBKD-POSNR</a:t>
            </a:r>
            <a:r>
              <a:rPr dirty="0" sz="750" spc="6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193" name="object 193" descr=""/>
          <p:cNvSpPr txBox="1"/>
          <p:nvPr/>
        </p:nvSpPr>
        <p:spPr>
          <a:xfrm>
            <a:off x="3368675" y="4632325"/>
            <a:ext cx="6635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VBAP-</a:t>
            </a:r>
            <a:r>
              <a:rPr dirty="0" sz="750" spc="-10">
                <a:latin typeface="Arial"/>
                <a:cs typeface="Arial"/>
              </a:rPr>
              <a:t>POSNR</a:t>
            </a:r>
            <a:endParaRPr sz="750">
              <a:latin typeface="Arial"/>
              <a:cs typeface="Arial"/>
            </a:endParaRPr>
          </a:p>
        </p:txBody>
      </p:sp>
      <p:sp>
        <p:nvSpPr>
          <p:cNvPr id="194" name="object 194" descr=""/>
          <p:cNvSpPr/>
          <p:nvPr/>
        </p:nvSpPr>
        <p:spPr>
          <a:xfrm>
            <a:off x="657225" y="3749675"/>
            <a:ext cx="1047750" cy="419100"/>
          </a:xfrm>
          <a:custGeom>
            <a:avLst/>
            <a:gdLst/>
            <a:ahLst/>
            <a:cxnLst/>
            <a:rect l="l" t="t" r="r" b="b"/>
            <a:pathLst>
              <a:path w="1047750" h="419100">
                <a:moveTo>
                  <a:pt x="209550" y="419100"/>
                </a:moveTo>
                <a:lnTo>
                  <a:pt x="885825" y="419100"/>
                </a:lnTo>
                <a:lnTo>
                  <a:pt x="933450" y="400050"/>
                </a:lnTo>
                <a:lnTo>
                  <a:pt x="971550" y="371475"/>
                </a:lnTo>
                <a:lnTo>
                  <a:pt x="1000125" y="342900"/>
                </a:lnTo>
                <a:lnTo>
                  <a:pt x="1028700" y="304800"/>
                </a:lnTo>
                <a:lnTo>
                  <a:pt x="1047750" y="257175"/>
                </a:lnTo>
                <a:lnTo>
                  <a:pt x="1047750" y="161925"/>
                </a:lnTo>
                <a:lnTo>
                  <a:pt x="1028700" y="114300"/>
                </a:lnTo>
                <a:lnTo>
                  <a:pt x="1000125" y="76200"/>
                </a:lnTo>
                <a:lnTo>
                  <a:pt x="971550" y="47625"/>
                </a:lnTo>
                <a:lnTo>
                  <a:pt x="933450" y="19050"/>
                </a:lnTo>
                <a:lnTo>
                  <a:pt x="838200" y="0"/>
                </a:lnTo>
                <a:lnTo>
                  <a:pt x="209550" y="0"/>
                </a:lnTo>
                <a:lnTo>
                  <a:pt x="114300" y="19050"/>
                </a:lnTo>
                <a:lnTo>
                  <a:pt x="76200" y="47625"/>
                </a:lnTo>
                <a:lnTo>
                  <a:pt x="47625" y="76200"/>
                </a:lnTo>
                <a:lnTo>
                  <a:pt x="19050" y="114300"/>
                </a:lnTo>
                <a:lnTo>
                  <a:pt x="0" y="209550"/>
                </a:lnTo>
                <a:lnTo>
                  <a:pt x="19050" y="304800"/>
                </a:lnTo>
                <a:lnTo>
                  <a:pt x="47625" y="342900"/>
                </a:lnTo>
                <a:lnTo>
                  <a:pt x="76200" y="371475"/>
                </a:lnTo>
                <a:lnTo>
                  <a:pt x="114300" y="400050"/>
                </a:lnTo>
                <a:lnTo>
                  <a:pt x="161925" y="419100"/>
                </a:lnTo>
                <a:lnTo>
                  <a:pt x="209550" y="419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5" descr=""/>
          <p:cNvSpPr txBox="1"/>
          <p:nvPr/>
        </p:nvSpPr>
        <p:spPr>
          <a:xfrm>
            <a:off x="777876" y="3727450"/>
            <a:ext cx="901700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2565">
              <a:lnSpc>
                <a:spcPts val="1065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VKDFS</a:t>
            </a:r>
            <a:endParaRPr sz="900">
              <a:latin typeface="Arial"/>
              <a:cs typeface="Arial"/>
            </a:endParaRPr>
          </a:p>
          <a:p>
            <a:pPr algn="ctr" marR="30480">
              <a:lnSpc>
                <a:spcPts val="1065"/>
              </a:lnSpc>
            </a:pPr>
            <a:r>
              <a:rPr dirty="0" sz="900" spc="70">
                <a:latin typeface="Arial"/>
                <a:cs typeface="Arial"/>
              </a:rPr>
              <a:t>(SD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Index: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900" spc="55">
                <a:latin typeface="Arial"/>
                <a:cs typeface="Arial"/>
              </a:rPr>
              <a:t>Billing</a:t>
            </a:r>
            <a:r>
              <a:rPr dirty="0" sz="900" spc="40">
                <a:latin typeface="Arial"/>
                <a:cs typeface="Arial"/>
              </a:rPr>
              <a:t> Initiator)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6" name="object 196" descr=""/>
          <p:cNvGrpSpPr/>
          <p:nvPr/>
        </p:nvGrpSpPr>
        <p:grpSpPr>
          <a:xfrm>
            <a:off x="652462" y="2911475"/>
            <a:ext cx="1433830" cy="2052955"/>
            <a:chOff x="652462" y="2911475"/>
            <a:chExt cx="1433830" cy="2052955"/>
          </a:xfrm>
        </p:grpSpPr>
        <p:sp>
          <p:nvSpPr>
            <p:cNvPr id="197" name="object 197" descr=""/>
            <p:cNvSpPr/>
            <p:nvPr/>
          </p:nvSpPr>
          <p:spPr>
            <a:xfrm>
              <a:off x="1704975" y="2959100"/>
              <a:ext cx="352425" cy="1000125"/>
            </a:xfrm>
            <a:custGeom>
              <a:avLst/>
              <a:gdLst/>
              <a:ahLst/>
              <a:cxnLst/>
              <a:rect l="l" t="t" r="r" b="b"/>
              <a:pathLst>
                <a:path w="352425" h="1000125">
                  <a:moveTo>
                    <a:pt x="0" y="1000125"/>
                  </a:moveTo>
                  <a:lnTo>
                    <a:pt x="35242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2019300" y="29114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57150" y="0"/>
                  </a:moveTo>
                  <a:lnTo>
                    <a:pt x="0" y="47625"/>
                  </a:lnTo>
                  <a:lnTo>
                    <a:pt x="66675" y="6667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657225" y="4378325"/>
              <a:ext cx="1047750" cy="581025"/>
            </a:xfrm>
            <a:custGeom>
              <a:avLst/>
              <a:gdLst/>
              <a:ahLst/>
              <a:cxnLst/>
              <a:rect l="l" t="t" r="r" b="b"/>
              <a:pathLst>
                <a:path w="1047750" h="581025">
                  <a:moveTo>
                    <a:pt x="257175" y="581025"/>
                  </a:moveTo>
                  <a:lnTo>
                    <a:pt x="790575" y="581025"/>
                  </a:lnTo>
                  <a:lnTo>
                    <a:pt x="838200" y="571500"/>
                  </a:lnTo>
                  <a:lnTo>
                    <a:pt x="933450" y="533400"/>
                  </a:lnTo>
                  <a:lnTo>
                    <a:pt x="971550" y="495300"/>
                  </a:lnTo>
                  <a:lnTo>
                    <a:pt x="1009650" y="447675"/>
                  </a:lnTo>
                  <a:lnTo>
                    <a:pt x="1028700" y="400050"/>
                  </a:lnTo>
                  <a:lnTo>
                    <a:pt x="1047750" y="342900"/>
                  </a:lnTo>
                  <a:lnTo>
                    <a:pt x="1047750" y="238125"/>
                  </a:lnTo>
                  <a:lnTo>
                    <a:pt x="1028700" y="180975"/>
                  </a:lnTo>
                  <a:lnTo>
                    <a:pt x="1009650" y="133350"/>
                  </a:lnTo>
                  <a:lnTo>
                    <a:pt x="971550" y="85725"/>
                  </a:lnTo>
                  <a:lnTo>
                    <a:pt x="933450" y="47625"/>
                  </a:lnTo>
                  <a:lnTo>
                    <a:pt x="838200" y="9525"/>
                  </a:lnTo>
                  <a:lnTo>
                    <a:pt x="790575" y="0"/>
                  </a:lnTo>
                  <a:lnTo>
                    <a:pt x="257175" y="0"/>
                  </a:lnTo>
                  <a:lnTo>
                    <a:pt x="209550" y="9525"/>
                  </a:lnTo>
                  <a:lnTo>
                    <a:pt x="114300" y="47625"/>
                  </a:lnTo>
                  <a:lnTo>
                    <a:pt x="76200" y="85725"/>
                  </a:lnTo>
                  <a:lnTo>
                    <a:pt x="38100" y="133350"/>
                  </a:lnTo>
                  <a:lnTo>
                    <a:pt x="19050" y="180975"/>
                  </a:lnTo>
                  <a:lnTo>
                    <a:pt x="0" y="238125"/>
                  </a:lnTo>
                  <a:lnTo>
                    <a:pt x="0" y="342900"/>
                  </a:lnTo>
                  <a:lnTo>
                    <a:pt x="19050" y="400050"/>
                  </a:lnTo>
                  <a:lnTo>
                    <a:pt x="38100" y="447675"/>
                  </a:lnTo>
                  <a:lnTo>
                    <a:pt x="76200" y="495300"/>
                  </a:lnTo>
                  <a:lnTo>
                    <a:pt x="114300" y="533400"/>
                  </a:lnTo>
                  <a:lnTo>
                    <a:pt x="209550" y="571500"/>
                  </a:lnTo>
                  <a:lnTo>
                    <a:pt x="257175" y="5810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 descr=""/>
          <p:cNvSpPr txBox="1"/>
          <p:nvPr/>
        </p:nvSpPr>
        <p:spPr>
          <a:xfrm>
            <a:off x="854075" y="4365625"/>
            <a:ext cx="739775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VAPMA</a:t>
            </a:r>
            <a:endParaRPr sz="900">
              <a:latin typeface="Arial"/>
              <a:cs typeface="Arial"/>
            </a:endParaRPr>
          </a:p>
          <a:p>
            <a:pPr marL="12700" marR="5080" indent="38100">
              <a:lnSpc>
                <a:spcPct val="100699"/>
              </a:lnSpc>
              <a:spcBef>
                <a:spcPts val="35"/>
              </a:spcBef>
            </a:pPr>
            <a:r>
              <a:rPr dirty="0" sz="900" spc="70">
                <a:latin typeface="Arial"/>
                <a:cs typeface="Arial"/>
              </a:rPr>
              <a:t>(SD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Index: </a:t>
            </a:r>
            <a:r>
              <a:rPr dirty="0" sz="900" spc="70">
                <a:latin typeface="Arial"/>
                <a:cs typeface="Arial"/>
              </a:rPr>
              <a:t>Order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50">
                <a:latin typeface="Arial"/>
                <a:cs typeface="Arial"/>
              </a:rPr>
              <a:t>Items </a:t>
            </a:r>
            <a:r>
              <a:rPr dirty="0" sz="900" spc="90">
                <a:latin typeface="Arial"/>
                <a:cs typeface="Arial"/>
              </a:rPr>
              <a:t>by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Material)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1" name="object 201" descr=""/>
          <p:cNvGrpSpPr/>
          <p:nvPr/>
        </p:nvGrpSpPr>
        <p:grpSpPr>
          <a:xfrm>
            <a:off x="652462" y="2911475"/>
            <a:ext cx="1443355" cy="2891155"/>
            <a:chOff x="652462" y="2911475"/>
            <a:chExt cx="1443355" cy="2891155"/>
          </a:xfrm>
        </p:grpSpPr>
        <p:sp>
          <p:nvSpPr>
            <p:cNvPr id="202" name="object 202" descr=""/>
            <p:cNvSpPr/>
            <p:nvPr/>
          </p:nvSpPr>
          <p:spPr>
            <a:xfrm>
              <a:off x="1704975" y="2959100"/>
              <a:ext cx="361950" cy="1714500"/>
            </a:xfrm>
            <a:custGeom>
              <a:avLst/>
              <a:gdLst/>
              <a:ahLst/>
              <a:cxnLst/>
              <a:rect l="l" t="t" r="r" b="b"/>
              <a:pathLst>
                <a:path w="361950" h="1714500">
                  <a:moveTo>
                    <a:pt x="0" y="1714500"/>
                  </a:moveTo>
                  <a:lnTo>
                    <a:pt x="3619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2028825" y="29114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47625" y="0"/>
                  </a:moveTo>
                  <a:lnTo>
                    <a:pt x="0" y="57150"/>
                  </a:lnTo>
                  <a:lnTo>
                    <a:pt x="66675" y="66675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657225" y="5216525"/>
              <a:ext cx="1047750" cy="581025"/>
            </a:xfrm>
            <a:custGeom>
              <a:avLst/>
              <a:gdLst/>
              <a:ahLst/>
              <a:cxnLst/>
              <a:rect l="l" t="t" r="r" b="b"/>
              <a:pathLst>
                <a:path w="1047750" h="581025">
                  <a:moveTo>
                    <a:pt x="257175" y="581025"/>
                  </a:moveTo>
                  <a:lnTo>
                    <a:pt x="838200" y="581025"/>
                  </a:lnTo>
                  <a:lnTo>
                    <a:pt x="885825" y="561975"/>
                  </a:lnTo>
                  <a:lnTo>
                    <a:pt x="933450" y="533400"/>
                  </a:lnTo>
                  <a:lnTo>
                    <a:pt x="1009650" y="457200"/>
                  </a:lnTo>
                  <a:lnTo>
                    <a:pt x="1028700" y="400050"/>
                  </a:lnTo>
                  <a:lnTo>
                    <a:pt x="1047750" y="352425"/>
                  </a:lnTo>
                  <a:lnTo>
                    <a:pt x="1047750" y="238125"/>
                  </a:lnTo>
                  <a:lnTo>
                    <a:pt x="1028700" y="180975"/>
                  </a:lnTo>
                  <a:lnTo>
                    <a:pt x="1009650" y="133350"/>
                  </a:lnTo>
                  <a:lnTo>
                    <a:pt x="971550" y="85725"/>
                  </a:lnTo>
                  <a:lnTo>
                    <a:pt x="933450" y="47625"/>
                  </a:lnTo>
                  <a:lnTo>
                    <a:pt x="838200" y="9525"/>
                  </a:lnTo>
                  <a:lnTo>
                    <a:pt x="790575" y="0"/>
                  </a:lnTo>
                  <a:lnTo>
                    <a:pt x="257175" y="0"/>
                  </a:lnTo>
                  <a:lnTo>
                    <a:pt x="209550" y="9525"/>
                  </a:lnTo>
                  <a:lnTo>
                    <a:pt x="114300" y="47625"/>
                  </a:lnTo>
                  <a:lnTo>
                    <a:pt x="76200" y="85725"/>
                  </a:lnTo>
                  <a:lnTo>
                    <a:pt x="38100" y="133350"/>
                  </a:lnTo>
                  <a:lnTo>
                    <a:pt x="19050" y="180975"/>
                  </a:lnTo>
                  <a:lnTo>
                    <a:pt x="0" y="238125"/>
                  </a:lnTo>
                  <a:lnTo>
                    <a:pt x="0" y="352425"/>
                  </a:lnTo>
                  <a:lnTo>
                    <a:pt x="19050" y="400050"/>
                  </a:lnTo>
                  <a:lnTo>
                    <a:pt x="38100" y="457200"/>
                  </a:lnTo>
                  <a:lnTo>
                    <a:pt x="114300" y="533400"/>
                  </a:lnTo>
                  <a:lnTo>
                    <a:pt x="161925" y="561975"/>
                  </a:lnTo>
                  <a:lnTo>
                    <a:pt x="209550" y="581025"/>
                  </a:lnTo>
                  <a:lnTo>
                    <a:pt x="257175" y="5810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 descr=""/>
          <p:cNvSpPr txBox="1"/>
          <p:nvPr/>
        </p:nvSpPr>
        <p:spPr>
          <a:xfrm>
            <a:off x="711201" y="5203825"/>
            <a:ext cx="1083310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24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VAKPA</a:t>
            </a:r>
            <a:endParaRPr sz="900">
              <a:latin typeface="Arial"/>
              <a:cs typeface="Arial"/>
            </a:endParaRPr>
          </a:p>
          <a:p>
            <a:pPr marL="240665" marR="272415" indent="-47625">
              <a:lnSpc>
                <a:spcPts val="1050"/>
              </a:lnSpc>
              <a:spcBef>
                <a:spcPts val="105"/>
              </a:spcBef>
            </a:pPr>
            <a:r>
              <a:rPr dirty="0" sz="900" spc="70">
                <a:latin typeface="Arial"/>
                <a:cs typeface="Arial"/>
              </a:rPr>
              <a:t>(SD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Index: </a:t>
            </a:r>
            <a:r>
              <a:rPr dirty="0" sz="900" spc="85">
                <a:latin typeface="Arial"/>
                <a:cs typeface="Arial"/>
              </a:rPr>
              <a:t>Order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65">
                <a:latin typeface="Arial"/>
                <a:cs typeface="Arial"/>
              </a:rPr>
              <a:t>by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80">
                <a:latin typeface="Arial"/>
                <a:cs typeface="Arial"/>
              </a:rPr>
              <a:t>Partner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65">
                <a:latin typeface="Arial"/>
                <a:cs typeface="Arial"/>
              </a:rPr>
              <a:t>Function)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6" name="object 206" descr=""/>
          <p:cNvGrpSpPr/>
          <p:nvPr/>
        </p:nvGrpSpPr>
        <p:grpSpPr>
          <a:xfrm>
            <a:off x="1700212" y="1011237"/>
            <a:ext cx="7781925" cy="4505325"/>
            <a:chOff x="1700212" y="1011237"/>
            <a:chExt cx="7781925" cy="4505325"/>
          </a:xfrm>
        </p:grpSpPr>
        <p:sp>
          <p:nvSpPr>
            <p:cNvPr id="207" name="object 207" descr=""/>
            <p:cNvSpPr/>
            <p:nvPr/>
          </p:nvSpPr>
          <p:spPr>
            <a:xfrm>
              <a:off x="1704975" y="2968625"/>
              <a:ext cx="361950" cy="2543175"/>
            </a:xfrm>
            <a:custGeom>
              <a:avLst/>
              <a:gdLst/>
              <a:ahLst/>
              <a:cxnLst/>
              <a:rect l="l" t="t" r="r" b="b"/>
              <a:pathLst>
                <a:path w="361950" h="2543175">
                  <a:moveTo>
                    <a:pt x="0" y="2543175"/>
                  </a:moveTo>
                  <a:lnTo>
                    <a:pt x="3619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2028825" y="29114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47625" y="0"/>
                  </a:moveTo>
                  <a:lnTo>
                    <a:pt x="0" y="57150"/>
                  </a:lnTo>
                  <a:lnTo>
                    <a:pt x="66675" y="66675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704975" y="2949575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0" y="381000"/>
                  </a:moveTo>
                  <a:lnTo>
                    <a:pt x="3333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2009775" y="29114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0" y="19050"/>
                  </a:lnTo>
                  <a:lnTo>
                    <a:pt x="47625" y="666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8429625" y="1016000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257175" y="628650"/>
                  </a:moveTo>
                  <a:lnTo>
                    <a:pt x="828675" y="628650"/>
                  </a:lnTo>
                  <a:lnTo>
                    <a:pt x="876300" y="609600"/>
                  </a:lnTo>
                  <a:lnTo>
                    <a:pt x="923925" y="581025"/>
                  </a:lnTo>
                  <a:lnTo>
                    <a:pt x="962025" y="552450"/>
                  </a:lnTo>
                  <a:lnTo>
                    <a:pt x="1019175" y="457200"/>
                  </a:lnTo>
                  <a:lnTo>
                    <a:pt x="1038225" y="400050"/>
                  </a:lnTo>
                  <a:lnTo>
                    <a:pt x="1047750" y="342900"/>
                  </a:lnTo>
                  <a:lnTo>
                    <a:pt x="1047750" y="285750"/>
                  </a:lnTo>
                  <a:lnTo>
                    <a:pt x="1038225" y="228600"/>
                  </a:lnTo>
                  <a:lnTo>
                    <a:pt x="1019175" y="171450"/>
                  </a:lnTo>
                  <a:lnTo>
                    <a:pt x="990600" y="123825"/>
                  </a:lnTo>
                  <a:lnTo>
                    <a:pt x="962025" y="85725"/>
                  </a:lnTo>
                  <a:lnTo>
                    <a:pt x="923925" y="47625"/>
                  </a:lnTo>
                  <a:lnTo>
                    <a:pt x="876300" y="19050"/>
                  </a:lnTo>
                  <a:lnTo>
                    <a:pt x="781050" y="0"/>
                  </a:lnTo>
                  <a:lnTo>
                    <a:pt x="257175" y="0"/>
                  </a:lnTo>
                  <a:lnTo>
                    <a:pt x="161925" y="19050"/>
                  </a:lnTo>
                  <a:lnTo>
                    <a:pt x="123825" y="47625"/>
                  </a:lnTo>
                  <a:lnTo>
                    <a:pt x="47625" y="123825"/>
                  </a:lnTo>
                  <a:lnTo>
                    <a:pt x="28575" y="171450"/>
                  </a:lnTo>
                  <a:lnTo>
                    <a:pt x="9525" y="228600"/>
                  </a:lnTo>
                  <a:lnTo>
                    <a:pt x="0" y="285750"/>
                  </a:lnTo>
                  <a:lnTo>
                    <a:pt x="0" y="342900"/>
                  </a:lnTo>
                  <a:lnTo>
                    <a:pt x="9525" y="400050"/>
                  </a:lnTo>
                  <a:lnTo>
                    <a:pt x="28575" y="457200"/>
                  </a:lnTo>
                  <a:lnTo>
                    <a:pt x="47625" y="504825"/>
                  </a:lnTo>
                  <a:lnTo>
                    <a:pt x="85725" y="552450"/>
                  </a:lnTo>
                  <a:lnTo>
                    <a:pt x="161925" y="609600"/>
                  </a:lnTo>
                  <a:lnTo>
                    <a:pt x="209550" y="628650"/>
                  </a:lnTo>
                  <a:lnTo>
                    <a:pt x="257175" y="6286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2" name="object 212" descr=""/>
          <p:cNvSpPr txBox="1"/>
          <p:nvPr/>
        </p:nvSpPr>
        <p:spPr>
          <a:xfrm>
            <a:off x="8512175" y="1031875"/>
            <a:ext cx="1006475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0">
              <a:lnSpc>
                <a:spcPts val="1065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VBSK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ts val="1065"/>
              </a:lnSpc>
            </a:pPr>
            <a:r>
              <a:rPr dirty="0" sz="900" spc="65">
                <a:latin typeface="Arial"/>
                <a:cs typeface="Arial"/>
              </a:rPr>
              <a:t>(Collective</a:t>
            </a:r>
            <a:r>
              <a:rPr dirty="0" sz="900" spc="60">
                <a:latin typeface="Arial"/>
                <a:cs typeface="Arial"/>
              </a:rPr>
              <a:t> Proc.</a:t>
            </a:r>
            <a:endParaRPr sz="900">
              <a:latin typeface="Arial"/>
              <a:cs typeface="Arial"/>
            </a:endParaRPr>
          </a:p>
          <a:p>
            <a:pPr algn="ctr" marL="41275" marR="33655">
              <a:lnSpc>
                <a:spcPct val="104200"/>
              </a:lnSpc>
            </a:pPr>
            <a:r>
              <a:rPr dirty="0" sz="900" spc="60">
                <a:latin typeface="Arial"/>
                <a:cs typeface="Arial"/>
              </a:rPr>
              <a:t>for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100">
                <a:latin typeface="Arial"/>
                <a:cs typeface="Arial"/>
              </a:rPr>
              <a:t>a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80">
                <a:latin typeface="Arial"/>
                <a:cs typeface="Arial"/>
              </a:rPr>
              <a:t>Sales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70">
                <a:latin typeface="Arial"/>
                <a:cs typeface="Arial"/>
              </a:rPr>
              <a:t>Doc </a:t>
            </a:r>
            <a:r>
              <a:rPr dirty="0" sz="900" spc="65">
                <a:latin typeface="Arial"/>
                <a:cs typeface="Arial"/>
              </a:rPr>
              <a:t>Header)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213" name="object 213" descr=""/>
          <p:cNvSpPr/>
          <p:nvPr/>
        </p:nvSpPr>
        <p:spPr>
          <a:xfrm>
            <a:off x="8429625" y="1958975"/>
            <a:ext cx="1047750" cy="638175"/>
          </a:xfrm>
          <a:custGeom>
            <a:avLst/>
            <a:gdLst/>
            <a:ahLst/>
            <a:cxnLst/>
            <a:rect l="l" t="t" r="r" b="b"/>
            <a:pathLst>
              <a:path w="1047750" h="638175">
                <a:moveTo>
                  <a:pt x="257175" y="638175"/>
                </a:moveTo>
                <a:lnTo>
                  <a:pt x="781050" y="638175"/>
                </a:lnTo>
                <a:lnTo>
                  <a:pt x="876300" y="619125"/>
                </a:lnTo>
                <a:lnTo>
                  <a:pt x="923925" y="590550"/>
                </a:lnTo>
                <a:lnTo>
                  <a:pt x="962025" y="552450"/>
                </a:lnTo>
                <a:lnTo>
                  <a:pt x="1019175" y="457200"/>
                </a:lnTo>
                <a:lnTo>
                  <a:pt x="1038225" y="400050"/>
                </a:lnTo>
                <a:lnTo>
                  <a:pt x="1047750" y="352425"/>
                </a:lnTo>
                <a:lnTo>
                  <a:pt x="1047750" y="285750"/>
                </a:lnTo>
                <a:lnTo>
                  <a:pt x="1038225" y="238125"/>
                </a:lnTo>
                <a:lnTo>
                  <a:pt x="1019175" y="180975"/>
                </a:lnTo>
                <a:lnTo>
                  <a:pt x="962025" y="85725"/>
                </a:lnTo>
                <a:lnTo>
                  <a:pt x="923925" y="47625"/>
                </a:lnTo>
                <a:lnTo>
                  <a:pt x="828675" y="9525"/>
                </a:lnTo>
                <a:lnTo>
                  <a:pt x="781050" y="0"/>
                </a:lnTo>
                <a:lnTo>
                  <a:pt x="257175" y="0"/>
                </a:lnTo>
                <a:lnTo>
                  <a:pt x="209550" y="9525"/>
                </a:lnTo>
                <a:lnTo>
                  <a:pt x="161925" y="28575"/>
                </a:lnTo>
                <a:lnTo>
                  <a:pt x="123825" y="47625"/>
                </a:lnTo>
                <a:lnTo>
                  <a:pt x="85725" y="85725"/>
                </a:lnTo>
                <a:lnTo>
                  <a:pt x="47625" y="133350"/>
                </a:lnTo>
                <a:lnTo>
                  <a:pt x="28575" y="180975"/>
                </a:lnTo>
                <a:lnTo>
                  <a:pt x="9525" y="238125"/>
                </a:lnTo>
                <a:lnTo>
                  <a:pt x="0" y="285750"/>
                </a:lnTo>
                <a:lnTo>
                  <a:pt x="0" y="352425"/>
                </a:lnTo>
                <a:lnTo>
                  <a:pt x="9525" y="400050"/>
                </a:lnTo>
                <a:lnTo>
                  <a:pt x="28575" y="457200"/>
                </a:lnTo>
                <a:lnTo>
                  <a:pt x="47625" y="504825"/>
                </a:lnTo>
                <a:lnTo>
                  <a:pt x="85725" y="552450"/>
                </a:lnTo>
                <a:lnTo>
                  <a:pt x="123825" y="590550"/>
                </a:lnTo>
                <a:lnTo>
                  <a:pt x="161925" y="619125"/>
                </a:lnTo>
                <a:lnTo>
                  <a:pt x="257175" y="6381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4" name="object 214" descr=""/>
          <p:cNvSpPr txBox="1"/>
          <p:nvPr/>
        </p:nvSpPr>
        <p:spPr>
          <a:xfrm>
            <a:off x="8464550" y="2041525"/>
            <a:ext cx="1120775" cy="4483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VBSS</a:t>
            </a:r>
            <a:endParaRPr sz="900">
              <a:latin typeface="Arial"/>
              <a:cs typeface="Arial"/>
            </a:endParaRPr>
          </a:p>
          <a:p>
            <a:pPr marL="12700" marR="5080" indent="28575">
              <a:lnSpc>
                <a:spcPct val="104200"/>
              </a:lnSpc>
            </a:pPr>
            <a:r>
              <a:rPr dirty="0" sz="900" spc="65">
                <a:latin typeface="Arial"/>
                <a:cs typeface="Arial"/>
              </a:rPr>
              <a:t>(Collective </a:t>
            </a:r>
            <a:r>
              <a:rPr dirty="0" sz="900" spc="55">
                <a:latin typeface="Arial"/>
                <a:cs typeface="Arial"/>
              </a:rPr>
              <a:t>Proc.: </a:t>
            </a:r>
            <a:r>
              <a:rPr dirty="0" sz="900" spc="75">
                <a:latin typeface="Arial"/>
                <a:cs typeface="Arial"/>
              </a:rPr>
              <a:t>Sales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70">
                <a:latin typeface="Arial"/>
                <a:cs typeface="Arial"/>
              </a:rPr>
              <a:t>Documents)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15" name="object 215" descr=""/>
          <p:cNvGrpSpPr/>
          <p:nvPr/>
        </p:nvGrpSpPr>
        <p:grpSpPr>
          <a:xfrm>
            <a:off x="7800975" y="1325562"/>
            <a:ext cx="1681480" cy="2638425"/>
            <a:chOff x="7800975" y="1325562"/>
            <a:chExt cx="1681480" cy="2638425"/>
          </a:xfrm>
        </p:grpSpPr>
        <p:pic>
          <p:nvPicPr>
            <p:cNvPr id="216" name="object 21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920162" y="1644650"/>
              <a:ext cx="66675" cy="319087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7839075" y="1330325"/>
              <a:ext cx="590550" cy="1428750"/>
            </a:xfrm>
            <a:custGeom>
              <a:avLst/>
              <a:gdLst/>
              <a:ahLst/>
              <a:cxnLst/>
              <a:rect l="l" t="t" r="r" b="b"/>
              <a:pathLst>
                <a:path w="590550" h="1428750">
                  <a:moveTo>
                    <a:pt x="590550" y="0"/>
                  </a:moveTo>
                  <a:lnTo>
                    <a:pt x="571500" y="161925"/>
                  </a:lnTo>
                  <a:lnTo>
                    <a:pt x="514350" y="466725"/>
                  </a:lnTo>
                  <a:lnTo>
                    <a:pt x="466725" y="619125"/>
                  </a:lnTo>
                  <a:lnTo>
                    <a:pt x="409575" y="771525"/>
                  </a:lnTo>
                  <a:lnTo>
                    <a:pt x="342900" y="914400"/>
                  </a:lnTo>
                  <a:lnTo>
                    <a:pt x="276225" y="1047750"/>
                  </a:lnTo>
                  <a:lnTo>
                    <a:pt x="190500" y="1181100"/>
                  </a:lnTo>
                  <a:lnTo>
                    <a:pt x="95250" y="1314450"/>
                  </a:lnTo>
                  <a:lnTo>
                    <a:pt x="0" y="14287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800975" y="2730500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19050" y="0"/>
                  </a:moveTo>
                  <a:lnTo>
                    <a:pt x="0" y="76200"/>
                  </a:lnTo>
                  <a:lnTo>
                    <a:pt x="66675" y="4762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8429625" y="3540125"/>
              <a:ext cx="1047750" cy="419100"/>
            </a:xfrm>
            <a:custGeom>
              <a:avLst/>
              <a:gdLst/>
              <a:ahLst/>
              <a:cxnLst/>
              <a:rect l="l" t="t" r="r" b="b"/>
              <a:pathLst>
                <a:path w="1047750" h="419100">
                  <a:moveTo>
                    <a:pt x="209550" y="419100"/>
                  </a:moveTo>
                  <a:lnTo>
                    <a:pt x="885825" y="419100"/>
                  </a:lnTo>
                  <a:lnTo>
                    <a:pt x="923925" y="400050"/>
                  </a:lnTo>
                  <a:lnTo>
                    <a:pt x="971550" y="371475"/>
                  </a:lnTo>
                  <a:lnTo>
                    <a:pt x="1000125" y="342900"/>
                  </a:lnTo>
                  <a:lnTo>
                    <a:pt x="1028700" y="295275"/>
                  </a:lnTo>
                  <a:lnTo>
                    <a:pt x="1038225" y="257175"/>
                  </a:lnTo>
                  <a:lnTo>
                    <a:pt x="1047750" y="209550"/>
                  </a:lnTo>
                  <a:lnTo>
                    <a:pt x="1028700" y="114300"/>
                  </a:lnTo>
                  <a:lnTo>
                    <a:pt x="1000125" y="76200"/>
                  </a:lnTo>
                  <a:lnTo>
                    <a:pt x="971550" y="47625"/>
                  </a:lnTo>
                  <a:lnTo>
                    <a:pt x="923925" y="19050"/>
                  </a:lnTo>
                  <a:lnTo>
                    <a:pt x="885825" y="9525"/>
                  </a:lnTo>
                  <a:lnTo>
                    <a:pt x="838200" y="0"/>
                  </a:lnTo>
                  <a:lnTo>
                    <a:pt x="209550" y="0"/>
                  </a:lnTo>
                  <a:lnTo>
                    <a:pt x="114300" y="19050"/>
                  </a:lnTo>
                  <a:lnTo>
                    <a:pt x="76200" y="47625"/>
                  </a:lnTo>
                  <a:lnTo>
                    <a:pt x="47625" y="76200"/>
                  </a:lnTo>
                  <a:lnTo>
                    <a:pt x="19050" y="114300"/>
                  </a:lnTo>
                  <a:lnTo>
                    <a:pt x="0" y="161925"/>
                  </a:lnTo>
                  <a:lnTo>
                    <a:pt x="0" y="257175"/>
                  </a:lnTo>
                  <a:lnTo>
                    <a:pt x="19050" y="295275"/>
                  </a:lnTo>
                  <a:lnTo>
                    <a:pt x="47625" y="342900"/>
                  </a:lnTo>
                  <a:lnTo>
                    <a:pt x="76200" y="371475"/>
                  </a:lnTo>
                  <a:lnTo>
                    <a:pt x="114300" y="400050"/>
                  </a:lnTo>
                  <a:lnTo>
                    <a:pt x="161925" y="419100"/>
                  </a:lnTo>
                  <a:lnTo>
                    <a:pt x="20955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0" name="object 220" descr=""/>
          <p:cNvSpPr txBox="1"/>
          <p:nvPr/>
        </p:nvSpPr>
        <p:spPr>
          <a:xfrm>
            <a:off x="8483600" y="3584575"/>
            <a:ext cx="1082675" cy="305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NAST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 spc="90">
                <a:latin typeface="Arial"/>
                <a:cs typeface="Arial"/>
              </a:rPr>
              <a:t>(Message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60">
                <a:latin typeface="Arial"/>
                <a:cs typeface="Arial"/>
              </a:rPr>
              <a:t>Status)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1" name="object 221" descr=""/>
          <p:cNvGrpSpPr/>
          <p:nvPr/>
        </p:nvGrpSpPr>
        <p:grpSpPr>
          <a:xfrm>
            <a:off x="8320087" y="2697162"/>
            <a:ext cx="1162050" cy="843280"/>
            <a:chOff x="8320087" y="2697162"/>
            <a:chExt cx="1162050" cy="843280"/>
          </a:xfrm>
        </p:grpSpPr>
        <p:sp>
          <p:nvSpPr>
            <p:cNvPr id="222" name="object 222" descr=""/>
            <p:cNvSpPr/>
            <p:nvPr/>
          </p:nvSpPr>
          <p:spPr>
            <a:xfrm>
              <a:off x="8324850" y="3016250"/>
              <a:ext cx="581025" cy="485775"/>
            </a:xfrm>
            <a:custGeom>
              <a:avLst/>
              <a:gdLst/>
              <a:ahLst/>
              <a:cxnLst/>
              <a:rect l="l" t="t" r="r" b="b"/>
              <a:pathLst>
                <a:path w="581025" h="485775">
                  <a:moveTo>
                    <a:pt x="0" y="0"/>
                  </a:moveTo>
                  <a:lnTo>
                    <a:pt x="581025" y="485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8877300" y="3473450"/>
              <a:ext cx="76200" cy="66675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47625" y="0"/>
                  </a:moveTo>
                  <a:lnTo>
                    <a:pt x="0" y="47625"/>
                  </a:lnTo>
                  <a:lnTo>
                    <a:pt x="76200" y="66675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8429625" y="2701925"/>
              <a:ext cx="1047750" cy="419100"/>
            </a:xfrm>
            <a:custGeom>
              <a:avLst/>
              <a:gdLst/>
              <a:ahLst/>
              <a:cxnLst/>
              <a:rect l="l" t="t" r="r" b="b"/>
              <a:pathLst>
                <a:path w="1047750" h="419100">
                  <a:moveTo>
                    <a:pt x="885825" y="0"/>
                  </a:moveTo>
                  <a:lnTo>
                    <a:pt x="161925" y="0"/>
                  </a:lnTo>
                  <a:lnTo>
                    <a:pt x="114300" y="19050"/>
                  </a:lnTo>
                  <a:lnTo>
                    <a:pt x="76200" y="38100"/>
                  </a:lnTo>
                  <a:lnTo>
                    <a:pt x="19050" y="114300"/>
                  </a:lnTo>
                  <a:lnTo>
                    <a:pt x="0" y="161925"/>
                  </a:lnTo>
                  <a:lnTo>
                    <a:pt x="0" y="257175"/>
                  </a:lnTo>
                  <a:lnTo>
                    <a:pt x="19050" y="295275"/>
                  </a:lnTo>
                  <a:lnTo>
                    <a:pt x="76200" y="371475"/>
                  </a:lnTo>
                  <a:lnTo>
                    <a:pt x="114300" y="400050"/>
                  </a:lnTo>
                  <a:lnTo>
                    <a:pt x="209550" y="419100"/>
                  </a:lnTo>
                  <a:lnTo>
                    <a:pt x="838200" y="419100"/>
                  </a:lnTo>
                  <a:lnTo>
                    <a:pt x="885825" y="409575"/>
                  </a:lnTo>
                  <a:lnTo>
                    <a:pt x="923925" y="400050"/>
                  </a:lnTo>
                  <a:lnTo>
                    <a:pt x="971550" y="371475"/>
                  </a:lnTo>
                  <a:lnTo>
                    <a:pt x="1028700" y="295275"/>
                  </a:lnTo>
                  <a:lnTo>
                    <a:pt x="1038225" y="257175"/>
                  </a:lnTo>
                  <a:lnTo>
                    <a:pt x="1047750" y="209550"/>
                  </a:lnTo>
                  <a:lnTo>
                    <a:pt x="1028700" y="114300"/>
                  </a:lnTo>
                  <a:lnTo>
                    <a:pt x="971550" y="38100"/>
                  </a:lnTo>
                  <a:lnTo>
                    <a:pt x="923925" y="19050"/>
                  </a:lnTo>
                  <a:lnTo>
                    <a:pt x="885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8429625" y="2701925"/>
              <a:ext cx="1047750" cy="419100"/>
            </a:xfrm>
            <a:custGeom>
              <a:avLst/>
              <a:gdLst/>
              <a:ahLst/>
              <a:cxnLst/>
              <a:rect l="l" t="t" r="r" b="b"/>
              <a:pathLst>
                <a:path w="1047750" h="419100">
                  <a:moveTo>
                    <a:pt x="209550" y="419100"/>
                  </a:moveTo>
                  <a:lnTo>
                    <a:pt x="838200" y="419100"/>
                  </a:lnTo>
                  <a:lnTo>
                    <a:pt x="885825" y="409575"/>
                  </a:lnTo>
                  <a:lnTo>
                    <a:pt x="923925" y="400050"/>
                  </a:lnTo>
                  <a:lnTo>
                    <a:pt x="971550" y="371475"/>
                  </a:lnTo>
                  <a:lnTo>
                    <a:pt x="1028700" y="295275"/>
                  </a:lnTo>
                  <a:lnTo>
                    <a:pt x="1038225" y="257175"/>
                  </a:lnTo>
                  <a:lnTo>
                    <a:pt x="1047750" y="209550"/>
                  </a:lnTo>
                  <a:lnTo>
                    <a:pt x="1028700" y="114300"/>
                  </a:lnTo>
                  <a:lnTo>
                    <a:pt x="971550" y="38100"/>
                  </a:lnTo>
                  <a:lnTo>
                    <a:pt x="923925" y="19050"/>
                  </a:lnTo>
                  <a:lnTo>
                    <a:pt x="885825" y="0"/>
                  </a:lnTo>
                  <a:lnTo>
                    <a:pt x="161925" y="0"/>
                  </a:lnTo>
                  <a:lnTo>
                    <a:pt x="114300" y="19050"/>
                  </a:lnTo>
                  <a:lnTo>
                    <a:pt x="76200" y="38100"/>
                  </a:lnTo>
                  <a:lnTo>
                    <a:pt x="19050" y="114300"/>
                  </a:lnTo>
                  <a:lnTo>
                    <a:pt x="0" y="161925"/>
                  </a:lnTo>
                  <a:lnTo>
                    <a:pt x="0" y="257175"/>
                  </a:lnTo>
                  <a:lnTo>
                    <a:pt x="19050" y="295275"/>
                  </a:lnTo>
                  <a:lnTo>
                    <a:pt x="76200" y="371475"/>
                  </a:lnTo>
                  <a:lnTo>
                    <a:pt x="114300" y="400050"/>
                  </a:lnTo>
                  <a:lnTo>
                    <a:pt x="20955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226" descr=""/>
          <p:cNvSpPr txBox="1"/>
          <p:nvPr/>
        </p:nvSpPr>
        <p:spPr>
          <a:xfrm>
            <a:off x="8550276" y="2679700"/>
            <a:ext cx="901700" cy="438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2565">
              <a:lnSpc>
                <a:spcPts val="1065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VKDFS</a:t>
            </a:r>
            <a:endParaRPr sz="900">
              <a:latin typeface="Arial"/>
              <a:cs typeface="Arial"/>
            </a:endParaRPr>
          </a:p>
          <a:p>
            <a:pPr algn="ctr" marR="30480">
              <a:lnSpc>
                <a:spcPts val="1065"/>
              </a:lnSpc>
            </a:pPr>
            <a:r>
              <a:rPr dirty="0" sz="900" spc="70">
                <a:latin typeface="Arial"/>
                <a:cs typeface="Arial"/>
              </a:rPr>
              <a:t>(SD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Index: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900" spc="55">
                <a:latin typeface="Arial"/>
                <a:cs typeface="Arial"/>
              </a:rPr>
              <a:t>Billing</a:t>
            </a:r>
            <a:r>
              <a:rPr dirty="0" sz="900" spc="40">
                <a:latin typeface="Arial"/>
                <a:cs typeface="Arial"/>
              </a:rPr>
              <a:t> Initiator)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7" name="object 227" descr=""/>
          <p:cNvGrpSpPr/>
          <p:nvPr/>
        </p:nvGrpSpPr>
        <p:grpSpPr>
          <a:xfrm>
            <a:off x="8324850" y="2906712"/>
            <a:ext cx="1157605" cy="1895475"/>
            <a:chOff x="8324850" y="2906712"/>
            <a:chExt cx="1157605" cy="1895475"/>
          </a:xfrm>
        </p:grpSpPr>
        <p:sp>
          <p:nvSpPr>
            <p:cNvPr id="228" name="object 228" descr=""/>
            <p:cNvSpPr/>
            <p:nvPr/>
          </p:nvSpPr>
          <p:spPr>
            <a:xfrm>
              <a:off x="8362950" y="29114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0" y="666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8324850" y="29495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19050" y="0"/>
                  </a:moveTo>
                  <a:lnTo>
                    <a:pt x="0" y="66675"/>
                  </a:lnTo>
                  <a:lnTo>
                    <a:pt x="66675" y="381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8429625" y="41687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257175" y="628650"/>
                  </a:moveTo>
                  <a:lnTo>
                    <a:pt x="828675" y="628650"/>
                  </a:lnTo>
                  <a:lnTo>
                    <a:pt x="876300" y="609600"/>
                  </a:lnTo>
                  <a:lnTo>
                    <a:pt x="923925" y="581025"/>
                  </a:lnTo>
                  <a:lnTo>
                    <a:pt x="962025" y="552450"/>
                  </a:lnTo>
                  <a:lnTo>
                    <a:pt x="1019175" y="457200"/>
                  </a:lnTo>
                  <a:lnTo>
                    <a:pt x="1038225" y="400050"/>
                  </a:lnTo>
                  <a:lnTo>
                    <a:pt x="1047750" y="342900"/>
                  </a:lnTo>
                  <a:lnTo>
                    <a:pt x="1047750" y="285750"/>
                  </a:lnTo>
                  <a:lnTo>
                    <a:pt x="1038225" y="228600"/>
                  </a:lnTo>
                  <a:lnTo>
                    <a:pt x="1019175" y="171450"/>
                  </a:lnTo>
                  <a:lnTo>
                    <a:pt x="990600" y="123825"/>
                  </a:lnTo>
                  <a:lnTo>
                    <a:pt x="962025" y="85725"/>
                  </a:lnTo>
                  <a:lnTo>
                    <a:pt x="923925" y="47625"/>
                  </a:lnTo>
                  <a:lnTo>
                    <a:pt x="876300" y="19050"/>
                  </a:lnTo>
                  <a:lnTo>
                    <a:pt x="781050" y="0"/>
                  </a:lnTo>
                  <a:lnTo>
                    <a:pt x="257175" y="0"/>
                  </a:lnTo>
                  <a:lnTo>
                    <a:pt x="161925" y="19050"/>
                  </a:lnTo>
                  <a:lnTo>
                    <a:pt x="123825" y="47625"/>
                  </a:lnTo>
                  <a:lnTo>
                    <a:pt x="47625" y="123825"/>
                  </a:lnTo>
                  <a:lnTo>
                    <a:pt x="28575" y="171450"/>
                  </a:lnTo>
                  <a:lnTo>
                    <a:pt x="9525" y="228600"/>
                  </a:lnTo>
                  <a:lnTo>
                    <a:pt x="0" y="285750"/>
                  </a:lnTo>
                  <a:lnTo>
                    <a:pt x="0" y="342900"/>
                  </a:lnTo>
                  <a:lnTo>
                    <a:pt x="9525" y="400050"/>
                  </a:lnTo>
                  <a:lnTo>
                    <a:pt x="28575" y="457200"/>
                  </a:lnTo>
                  <a:lnTo>
                    <a:pt x="47625" y="504825"/>
                  </a:lnTo>
                  <a:lnTo>
                    <a:pt x="85725" y="552450"/>
                  </a:lnTo>
                  <a:lnTo>
                    <a:pt x="161925" y="609600"/>
                  </a:lnTo>
                  <a:lnTo>
                    <a:pt x="209550" y="628650"/>
                  </a:lnTo>
                  <a:lnTo>
                    <a:pt x="257175" y="6286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1" name="object 231" descr=""/>
          <p:cNvSpPr txBox="1"/>
          <p:nvPr/>
        </p:nvSpPr>
        <p:spPr>
          <a:xfrm>
            <a:off x="8521701" y="4184650"/>
            <a:ext cx="967740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1615">
              <a:lnSpc>
                <a:spcPts val="1065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VRPMA</a:t>
            </a:r>
            <a:endParaRPr sz="900">
              <a:latin typeface="Arial"/>
              <a:cs typeface="Arial"/>
            </a:endParaRPr>
          </a:p>
          <a:p>
            <a:pPr algn="ctr" marR="39370">
              <a:lnSpc>
                <a:spcPts val="1065"/>
              </a:lnSpc>
            </a:pPr>
            <a:r>
              <a:rPr dirty="0" sz="900" spc="70">
                <a:latin typeface="Arial"/>
                <a:cs typeface="Arial"/>
              </a:rPr>
              <a:t>(SD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Index:</a:t>
            </a:r>
            <a:endParaRPr sz="900">
              <a:latin typeface="Arial"/>
              <a:cs typeface="Arial"/>
            </a:endParaRPr>
          </a:p>
          <a:p>
            <a:pPr algn="ctr" marL="12065" marR="5080">
              <a:lnSpc>
                <a:spcPct val="104200"/>
              </a:lnSpc>
            </a:pPr>
            <a:r>
              <a:rPr dirty="0" sz="900" spc="50">
                <a:latin typeface="Arial"/>
                <a:cs typeface="Arial"/>
              </a:rPr>
              <a:t>Billing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70">
                <a:latin typeface="Arial"/>
                <a:cs typeface="Arial"/>
              </a:rPr>
              <a:t>Items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40">
                <a:latin typeface="Arial"/>
                <a:cs typeface="Arial"/>
              </a:rPr>
              <a:t>per </a:t>
            </a:r>
            <a:r>
              <a:rPr dirty="0" sz="900" spc="55">
                <a:latin typeface="Arial"/>
                <a:cs typeface="Arial"/>
              </a:rPr>
              <a:t>Material)</a:t>
            </a:r>
            <a:endParaRPr sz="900">
              <a:latin typeface="Arial"/>
              <a:cs typeface="Arial"/>
            </a:endParaRPr>
          </a:p>
        </p:txBody>
      </p:sp>
      <p:sp>
        <p:nvSpPr>
          <p:cNvPr id="232" name="object 232" descr=""/>
          <p:cNvSpPr/>
          <p:nvPr/>
        </p:nvSpPr>
        <p:spPr>
          <a:xfrm>
            <a:off x="8429625" y="4902200"/>
            <a:ext cx="1047750" cy="628650"/>
          </a:xfrm>
          <a:custGeom>
            <a:avLst/>
            <a:gdLst/>
            <a:ahLst/>
            <a:cxnLst/>
            <a:rect l="l" t="t" r="r" b="b"/>
            <a:pathLst>
              <a:path w="1047750" h="628650">
                <a:moveTo>
                  <a:pt x="257175" y="628650"/>
                </a:moveTo>
                <a:lnTo>
                  <a:pt x="828675" y="628650"/>
                </a:lnTo>
                <a:lnTo>
                  <a:pt x="876300" y="609600"/>
                </a:lnTo>
                <a:lnTo>
                  <a:pt x="923925" y="581025"/>
                </a:lnTo>
                <a:lnTo>
                  <a:pt x="962025" y="552450"/>
                </a:lnTo>
                <a:lnTo>
                  <a:pt x="1019175" y="457200"/>
                </a:lnTo>
                <a:lnTo>
                  <a:pt x="1038225" y="400050"/>
                </a:lnTo>
                <a:lnTo>
                  <a:pt x="1047750" y="342900"/>
                </a:lnTo>
                <a:lnTo>
                  <a:pt x="1047750" y="285750"/>
                </a:lnTo>
                <a:lnTo>
                  <a:pt x="1038225" y="228600"/>
                </a:lnTo>
                <a:lnTo>
                  <a:pt x="1019175" y="180975"/>
                </a:lnTo>
                <a:lnTo>
                  <a:pt x="990600" y="123825"/>
                </a:lnTo>
                <a:lnTo>
                  <a:pt x="962025" y="85725"/>
                </a:lnTo>
                <a:lnTo>
                  <a:pt x="923925" y="47625"/>
                </a:lnTo>
                <a:lnTo>
                  <a:pt x="828675" y="9525"/>
                </a:lnTo>
                <a:lnTo>
                  <a:pt x="781050" y="0"/>
                </a:lnTo>
                <a:lnTo>
                  <a:pt x="257175" y="0"/>
                </a:lnTo>
                <a:lnTo>
                  <a:pt x="209550" y="9525"/>
                </a:lnTo>
                <a:lnTo>
                  <a:pt x="161925" y="28575"/>
                </a:lnTo>
                <a:lnTo>
                  <a:pt x="123825" y="47625"/>
                </a:lnTo>
                <a:lnTo>
                  <a:pt x="47625" y="123825"/>
                </a:lnTo>
                <a:lnTo>
                  <a:pt x="28575" y="180975"/>
                </a:lnTo>
                <a:lnTo>
                  <a:pt x="9525" y="228600"/>
                </a:lnTo>
                <a:lnTo>
                  <a:pt x="0" y="285750"/>
                </a:lnTo>
                <a:lnTo>
                  <a:pt x="0" y="342900"/>
                </a:lnTo>
                <a:lnTo>
                  <a:pt x="9525" y="400050"/>
                </a:lnTo>
                <a:lnTo>
                  <a:pt x="28575" y="457200"/>
                </a:lnTo>
                <a:lnTo>
                  <a:pt x="47625" y="504825"/>
                </a:lnTo>
                <a:lnTo>
                  <a:pt x="85725" y="552450"/>
                </a:lnTo>
                <a:lnTo>
                  <a:pt x="161925" y="609600"/>
                </a:lnTo>
                <a:lnTo>
                  <a:pt x="209550" y="628650"/>
                </a:lnTo>
                <a:lnTo>
                  <a:pt x="257175" y="6286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3" name="object 233" descr=""/>
          <p:cNvSpPr txBox="1"/>
          <p:nvPr/>
        </p:nvSpPr>
        <p:spPr>
          <a:xfrm>
            <a:off x="8540751" y="4918075"/>
            <a:ext cx="930275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090">
              <a:lnSpc>
                <a:spcPts val="1065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VRKPA</a:t>
            </a:r>
            <a:endParaRPr sz="900">
              <a:latin typeface="Arial"/>
              <a:cs typeface="Arial"/>
            </a:endParaRPr>
          </a:p>
          <a:p>
            <a:pPr algn="ctr" marR="40005">
              <a:lnSpc>
                <a:spcPts val="1065"/>
              </a:lnSpc>
            </a:pPr>
            <a:r>
              <a:rPr dirty="0" sz="900" spc="70">
                <a:latin typeface="Arial"/>
                <a:cs typeface="Arial"/>
              </a:rPr>
              <a:t>(SD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Index:</a:t>
            </a:r>
            <a:endParaRPr sz="900">
              <a:latin typeface="Arial"/>
              <a:cs typeface="Arial"/>
            </a:endParaRPr>
          </a:p>
          <a:p>
            <a:pPr algn="ctr" marL="12700" marR="5080">
              <a:lnSpc>
                <a:spcPct val="104200"/>
              </a:lnSpc>
            </a:pPr>
            <a:r>
              <a:rPr dirty="0" sz="900" spc="55">
                <a:latin typeface="Arial"/>
                <a:cs typeface="Arial"/>
              </a:rPr>
              <a:t>Bills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90">
                <a:latin typeface="Arial"/>
                <a:cs typeface="Arial"/>
              </a:rPr>
              <a:t>by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60">
                <a:latin typeface="Arial"/>
                <a:cs typeface="Arial"/>
              </a:rPr>
              <a:t>Partner </a:t>
            </a:r>
            <a:r>
              <a:rPr dirty="0" sz="900" spc="65">
                <a:latin typeface="Arial"/>
                <a:cs typeface="Arial"/>
              </a:rPr>
              <a:t>Function)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34" name="object 234" descr=""/>
          <p:cNvGrpSpPr/>
          <p:nvPr/>
        </p:nvGrpSpPr>
        <p:grpSpPr>
          <a:xfrm>
            <a:off x="5900737" y="3225800"/>
            <a:ext cx="2543175" cy="1995805"/>
            <a:chOff x="5900737" y="3225800"/>
            <a:chExt cx="2543175" cy="1995805"/>
          </a:xfrm>
        </p:grpSpPr>
        <p:sp>
          <p:nvSpPr>
            <p:cNvPr id="235" name="object 235" descr=""/>
            <p:cNvSpPr/>
            <p:nvPr/>
          </p:nvSpPr>
          <p:spPr>
            <a:xfrm>
              <a:off x="7820025" y="3273425"/>
              <a:ext cx="552450" cy="1095375"/>
            </a:xfrm>
            <a:custGeom>
              <a:avLst/>
              <a:gdLst/>
              <a:ahLst/>
              <a:cxnLst/>
              <a:rect l="l" t="t" r="r" b="b"/>
              <a:pathLst>
                <a:path w="552450" h="1095375">
                  <a:moveTo>
                    <a:pt x="552450" y="109537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339137" y="4354512"/>
              <a:ext cx="95250" cy="133350"/>
            </a:xfrm>
            <a:prstGeom prst="rect">
              <a:avLst/>
            </a:prstGeom>
          </p:spPr>
        </p:pic>
        <p:sp>
          <p:nvSpPr>
            <p:cNvPr id="237" name="object 237" descr=""/>
            <p:cNvSpPr/>
            <p:nvPr/>
          </p:nvSpPr>
          <p:spPr>
            <a:xfrm>
              <a:off x="7800975" y="3225800"/>
              <a:ext cx="57150" cy="66675"/>
            </a:xfrm>
            <a:custGeom>
              <a:avLst/>
              <a:gdLst/>
              <a:ahLst/>
              <a:cxnLst/>
              <a:rect l="l" t="t" r="r" b="b"/>
              <a:pathLst>
                <a:path w="57150" h="66675">
                  <a:moveTo>
                    <a:pt x="0" y="0"/>
                  </a:moveTo>
                  <a:lnTo>
                    <a:pt x="0" y="66675"/>
                  </a:lnTo>
                  <a:lnTo>
                    <a:pt x="5715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7810500" y="3273425"/>
              <a:ext cx="581025" cy="1828800"/>
            </a:xfrm>
            <a:custGeom>
              <a:avLst/>
              <a:gdLst/>
              <a:ahLst/>
              <a:cxnLst/>
              <a:rect l="l" t="t" r="r" b="b"/>
              <a:pathLst>
                <a:path w="581025" h="1828800">
                  <a:moveTo>
                    <a:pt x="581025" y="18288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9" name="object 23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348662" y="5078412"/>
              <a:ext cx="95250" cy="142875"/>
            </a:xfrm>
            <a:prstGeom prst="rect">
              <a:avLst/>
            </a:prstGeom>
          </p:spPr>
        </p:pic>
        <p:sp>
          <p:nvSpPr>
            <p:cNvPr id="240" name="object 240" descr=""/>
            <p:cNvSpPr/>
            <p:nvPr/>
          </p:nvSpPr>
          <p:spPr>
            <a:xfrm>
              <a:off x="7791450" y="3225800"/>
              <a:ext cx="57150" cy="66675"/>
            </a:xfrm>
            <a:custGeom>
              <a:avLst/>
              <a:gdLst/>
              <a:ahLst/>
              <a:cxnLst/>
              <a:rect l="l" t="t" r="r" b="b"/>
              <a:pathLst>
                <a:path w="57150" h="66675">
                  <a:moveTo>
                    <a:pt x="9525" y="0"/>
                  </a:moveTo>
                  <a:lnTo>
                    <a:pt x="0" y="66675"/>
                  </a:lnTo>
                  <a:lnTo>
                    <a:pt x="57150" y="476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5905500" y="3959225"/>
              <a:ext cx="1181100" cy="419100"/>
            </a:xfrm>
            <a:custGeom>
              <a:avLst/>
              <a:gdLst/>
              <a:ahLst/>
              <a:cxnLst/>
              <a:rect l="l" t="t" r="r" b="b"/>
              <a:pathLst>
                <a:path w="1181100" h="419100">
                  <a:moveTo>
                    <a:pt x="209550" y="419100"/>
                  </a:moveTo>
                  <a:lnTo>
                    <a:pt x="1019175" y="419100"/>
                  </a:lnTo>
                  <a:lnTo>
                    <a:pt x="1057275" y="400050"/>
                  </a:lnTo>
                  <a:lnTo>
                    <a:pt x="1133475" y="342900"/>
                  </a:lnTo>
                  <a:lnTo>
                    <a:pt x="1162050" y="304800"/>
                  </a:lnTo>
                  <a:lnTo>
                    <a:pt x="1181100" y="209550"/>
                  </a:lnTo>
                  <a:lnTo>
                    <a:pt x="1162050" y="114300"/>
                  </a:lnTo>
                  <a:lnTo>
                    <a:pt x="1133475" y="76200"/>
                  </a:lnTo>
                  <a:lnTo>
                    <a:pt x="1057275" y="19050"/>
                  </a:lnTo>
                  <a:lnTo>
                    <a:pt x="1019175" y="9525"/>
                  </a:lnTo>
                  <a:lnTo>
                    <a:pt x="971550" y="0"/>
                  </a:lnTo>
                  <a:lnTo>
                    <a:pt x="209550" y="0"/>
                  </a:lnTo>
                  <a:lnTo>
                    <a:pt x="161925" y="9525"/>
                  </a:lnTo>
                  <a:lnTo>
                    <a:pt x="123825" y="19050"/>
                  </a:lnTo>
                  <a:lnTo>
                    <a:pt x="76200" y="47625"/>
                  </a:lnTo>
                  <a:lnTo>
                    <a:pt x="47625" y="76200"/>
                  </a:lnTo>
                  <a:lnTo>
                    <a:pt x="19050" y="114300"/>
                  </a:lnTo>
                  <a:lnTo>
                    <a:pt x="0" y="209550"/>
                  </a:lnTo>
                  <a:lnTo>
                    <a:pt x="19050" y="304800"/>
                  </a:lnTo>
                  <a:lnTo>
                    <a:pt x="47625" y="342900"/>
                  </a:lnTo>
                  <a:lnTo>
                    <a:pt x="76200" y="371475"/>
                  </a:lnTo>
                  <a:lnTo>
                    <a:pt x="123825" y="400050"/>
                  </a:lnTo>
                  <a:lnTo>
                    <a:pt x="161925" y="419100"/>
                  </a:lnTo>
                  <a:lnTo>
                    <a:pt x="20955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2" name="object 242" descr=""/>
          <p:cNvSpPr txBox="1"/>
          <p:nvPr/>
        </p:nvSpPr>
        <p:spPr>
          <a:xfrm>
            <a:off x="5988050" y="4003675"/>
            <a:ext cx="1159510" cy="305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VTTK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 spc="75">
                <a:latin typeface="Arial"/>
                <a:cs typeface="Arial"/>
              </a:rPr>
              <a:t>(Shipment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65">
                <a:latin typeface="Arial"/>
                <a:cs typeface="Arial"/>
              </a:rPr>
              <a:t>Header)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243" name="object 243" descr=""/>
          <p:cNvSpPr/>
          <p:nvPr/>
        </p:nvSpPr>
        <p:spPr>
          <a:xfrm>
            <a:off x="6038850" y="3016250"/>
            <a:ext cx="1000125" cy="419100"/>
          </a:xfrm>
          <a:custGeom>
            <a:avLst/>
            <a:gdLst/>
            <a:ahLst/>
            <a:cxnLst/>
            <a:rect l="l" t="t" r="r" b="b"/>
            <a:pathLst>
              <a:path w="1000125" h="419100">
                <a:moveTo>
                  <a:pt x="209550" y="419100"/>
                </a:moveTo>
                <a:lnTo>
                  <a:pt x="790575" y="419100"/>
                </a:lnTo>
                <a:lnTo>
                  <a:pt x="838200" y="409575"/>
                </a:lnTo>
                <a:lnTo>
                  <a:pt x="876300" y="400050"/>
                </a:lnTo>
                <a:lnTo>
                  <a:pt x="952500" y="342900"/>
                </a:lnTo>
                <a:lnTo>
                  <a:pt x="971550" y="295275"/>
                </a:lnTo>
                <a:lnTo>
                  <a:pt x="990600" y="257175"/>
                </a:lnTo>
                <a:lnTo>
                  <a:pt x="1000125" y="209550"/>
                </a:lnTo>
                <a:lnTo>
                  <a:pt x="990600" y="161925"/>
                </a:lnTo>
                <a:lnTo>
                  <a:pt x="971550" y="114300"/>
                </a:lnTo>
                <a:lnTo>
                  <a:pt x="952500" y="76200"/>
                </a:lnTo>
                <a:lnTo>
                  <a:pt x="876300" y="19050"/>
                </a:lnTo>
                <a:lnTo>
                  <a:pt x="838200" y="0"/>
                </a:lnTo>
                <a:lnTo>
                  <a:pt x="161925" y="0"/>
                </a:lnTo>
                <a:lnTo>
                  <a:pt x="114300" y="19050"/>
                </a:lnTo>
                <a:lnTo>
                  <a:pt x="76200" y="47625"/>
                </a:lnTo>
                <a:lnTo>
                  <a:pt x="47625" y="76200"/>
                </a:lnTo>
                <a:lnTo>
                  <a:pt x="19050" y="114300"/>
                </a:lnTo>
                <a:lnTo>
                  <a:pt x="0" y="161925"/>
                </a:lnTo>
                <a:lnTo>
                  <a:pt x="0" y="257175"/>
                </a:lnTo>
                <a:lnTo>
                  <a:pt x="19050" y="295275"/>
                </a:lnTo>
                <a:lnTo>
                  <a:pt x="47625" y="342900"/>
                </a:lnTo>
                <a:lnTo>
                  <a:pt x="76200" y="371475"/>
                </a:lnTo>
                <a:lnTo>
                  <a:pt x="114300" y="400050"/>
                </a:lnTo>
                <a:lnTo>
                  <a:pt x="209550" y="419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4" name="object 244" descr=""/>
          <p:cNvSpPr txBox="1"/>
          <p:nvPr/>
        </p:nvSpPr>
        <p:spPr>
          <a:xfrm>
            <a:off x="6102350" y="3060700"/>
            <a:ext cx="958850" cy="305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latin typeface="Arial"/>
                <a:cs typeface="Arial"/>
              </a:rPr>
              <a:t>VTTP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 spc="65">
                <a:latin typeface="Arial"/>
                <a:cs typeface="Arial"/>
              </a:rPr>
              <a:t>(Shipment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45">
                <a:latin typeface="Arial"/>
                <a:cs typeface="Arial"/>
              </a:rPr>
              <a:t>Item)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5" name="object 245" descr=""/>
          <p:cNvGrpSpPr/>
          <p:nvPr/>
        </p:nvGrpSpPr>
        <p:grpSpPr>
          <a:xfrm>
            <a:off x="6467475" y="3444875"/>
            <a:ext cx="104775" cy="514350"/>
            <a:chOff x="6467475" y="3444875"/>
            <a:chExt cx="104775" cy="514350"/>
          </a:xfrm>
        </p:grpSpPr>
        <p:sp>
          <p:nvSpPr>
            <p:cNvPr id="246" name="object 246" descr=""/>
            <p:cNvSpPr/>
            <p:nvPr/>
          </p:nvSpPr>
          <p:spPr>
            <a:xfrm>
              <a:off x="6515100" y="3487737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w="0" h="419100">
                  <a:moveTo>
                    <a:pt x="0" y="328612"/>
                  </a:moveTo>
                  <a:lnTo>
                    <a:pt x="0" y="419100"/>
                  </a:lnTo>
                </a:path>
                <a:path w="0" h="419100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476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7" name="object 24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496050" y="3444875"/>
              <a:ext cx="76200" cy="57150"/>
            </a:xfrm>
            <a:prstGeom prst="rect">
              <a:avLst/>
            </a:prstGeom>
          </p:spPr>
        </p:pic>
        <p:pic>
          <p:nvPicPr>
            <p:cNvPr id="248" name="object 24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67475" y="3902075"/>
              <a:ext cx="76200" cy="57150"/>
            </a:xfrm>
            <a:prstGeom prst="rect">
              <a:avLst/>
            </a:prstGeom>
          </p:spPr>
        </p:pic>
      </p:grpSp>
      <p:sp>
        <p:nvSpPr>
          <p:cNvPr id="249" name="object 249" descr=""/>
          <p:cNvSpPr txBox="1"/>
          <p:nvPr/>
        </p:nvSpPr>
        <p:spPr>
          <a:xfrm>
            <a:off x="6159500" y="3565525"/>
            <a:ext cx="755650" cy="2444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60325" marR="5080" indent="-47625">
              <a:lnSpc>
                <a:spcPts val="830"/>
              </a:lnSpc>
              <a:spcBef>
                <a:spcPts val="185"/>
              </a:spcBef>
            </a:pPr>
            <a:r>
              <a:rPr dirty="0" sz="750">
                <a:latin typeface="Arial"/>
                <a:cs typeface="Arial"/>
              </a:rPr>
              <a:t>VTTK-TKNUM</a:t>
            </a:r>
            <a:r>
              <a:rPr dirty="0" sz="750" spc="215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VTTP-</a:t>
            </a:r>
            <a:r>
              <a:rPr dirty="0" sz="750" spc="-10">
                <a:latin typeface="Arial"/>
                <a:cs typeface="Arial"/>
              </a:rPr>
              <a:t>TKNUM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50" name="object 250" descr=""/>
          <p:cNvGrpSpPr/>
          <p:nvPr/>
        </p:nvGrpSpPr>
        <p:grpSpPr>
          <a:xfrm>
            <a:off x="5886450" y="2492375"/>
            <a:ext cx="666750" cy="528955"/>
            <a:chOff x="5886450" y="2492375"/>
            <a:chExt cx="666750" cy="528955"/>
          </a:xfrm>
        </p:grpSpPr>
        <p:sp>
          <p:nvSpPr>
            <p:cNvPr id="251" name="object 251" descr=""/>
            <p:cNvSpPr/>
            <p:nvPr/>
          </p:nvSpPr>
          <p:spPr>
            <a:xfrm>
              <a:off x="5953125" y="2530475"/>
              <a:ext cx="581025" cy="485775"/>
            </a:xfrm>
            <a:custGeom>
              <a:avLst/>
              <a:gdLst/>
              <a:ahLst/>
              <a:cxnLst/>
              <a:rect l="l" t="t" r="r" b="b"/>
              <a:pathLst>
                <a:path w="581025" h="485775">
                  <a:moveTo>
                    <a:pt x="581025" y="48577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5905500" y="2492375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28575" y="57150"/>
                  </a:lnTo>
                  <a:lnTo>
                    <a:pt x="7620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5886450" y="2625725"/>
              <a:ext cx="666750" cy="247650"/>
            </a:xfrm>
            <a:custGeom>
              <a:avLst/>
              <a:gdLst/>
              <a:ahLst/>
              <a:cxnLst/>
              <a:rect l="l" t="t" r="r" b="b"/>
              <a:pathLst>
                <a:path w="666750" h="247650">
                  <a:moveTo>
                    <a:pt x="666750" y="0"/>
                  </a:moveTo>
                  <a:lnTo>
                    <a:pt x="0" y="0"/>
                  </a:lnTo>
                  <a:lnTo>
                    <a:pt x="0" y="247650"/>
                  </a:lnTo>
                  <a:lnTo>
                    <a:pt x="666750" y="247650"/>
                  </a:lnTo>
                  <a:lnTo>
                    <a:pt x="666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4" name="object 254" descr=""/>
          <p:cNvSpPr txBox="1"/>
          <p:nvPr/>
        </p:nvSpPr>
        <p:spPr>
          <a:xfrm>
            <a:off x="5883275" y="2613025"/>
            <a:ext cx="72771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VTTP-VBELN</a:t>
            </a:r>
            <a:r>
              <a:rPr dirty="0" sz="750" spc="210">
                <a:latin typeface="Arial"/>
                <a:cs typeface="Arial"/>
              </a:rPr>
              <a:t> </a:t>
            </a:r>
            <a:r>
              <a:rPr dirty="0" sz="750" spc="-50">
                <a:latin typeface="Arial"/>
                <a:cs typeface="Arial"/>
              </a:rPr>
              <a:t>=</a:t>
            </a:r>
            <a:endParaRPr sz="750">
              <a:latin typeface="Arial"/>
              <a:cs typeface="Arial"/>
            </a:endParaRPr>
          </a:p>
        </p:txBody>
      </p:sp>
      <p:sp>
        <p:nvSpPr>
          <p:cNvPr id="255" name="object 255" descr=""/>
          <p:cNvSpPr txBox="1"/>
          <p:nvPr/>
        </p:nvSpPr>
        <p:spPr>
          <a:xfrm>
            <a:off x="5940425" y="2727325"/>
            <a:ext cx="6064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LIKP-</a:t>
            </a:r>
            <a:r>
              <a:rPr dirty="0" sz="750" spc="-10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467225" y="3216275"/>
            <a:ext cx="219075" cy="895350"/>
          </a:xfrm>
          <a:custGeom>
            <a:avLst/>
            <a:gdLst/>
            <a:ahLst/>
            <a:cxnLst/>
            <a:rect l="l" t="t" r="r" b="b"/>
            <a:pathLst>
              <a:path w="219075" h="895350">
                <a:moveTo>
                  <a:pt x="219075" y="895350"/>
                </a:moveTo>
                <a:lnTo>
                  <a:pt x="114300" y="685800"/>
                </a:lnTo>
                <a:lnTo>
                  <a:pt x="0" y="895350"/>
                </a:lnTo>
              </a:path>
              <a:path w="219075" h="895350">
                <a:moveTo>
                  <a:pt x="114300" y="0"/>
                </a:moveTo>
                <a:lnTo>
                  <a:pt x="114300" y="8953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581525" y="4702175"/>
            <a:ext cx="2924175" cy="714375"/>
          </a:xfrm>
          <a:custGeom>
            <a:avLst/>
            <a:gdLst/>
            <a:ahLst/>
            <a:cxnLst/>
            <a:rect l="l" t="t" r="r" b="b"/>
            <a:pathLst>
              <a:path w="2924175" h="714375">
                <a:moveTo>
                  <a:pt x="2924175" y="504825"/>
                </a:moveTo>
                <a:lnTo>
                  <a:pt x="2695575" y="571500"/>
                </a:lnTo>
                <a:lnTo>
                  <a:pt x="2886075" y="714375"/>
                </a:lnTo>
              </a:path>
              <a:path w="2924175" h="714375">
                <a:moveTo>
                  <a:pt x="0" y="0"/>
                </a:moveTo>
                <a:lnTo>
                  <a:pt x="2905125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581525" y="1920875"/>
            <a:ext cx="0" cy="695325"/>
          </a:xfrm>
          <a:custGeom>
            <a:avLst/>
            <a:gdLst/>
            <a:ahLst/>
            <a:cxnLst/>
            <a:rect l="l" t="t" r="r" b="b"/>
            <a:pathLst>
              <a:path w="0" h="695325">
                <a:moveTo>
                  <a:pt x="0" y="69532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838450" y="2749550"/>
            <a:ext cx="857250" cy="1524000"/>
          </a:xfrm>
          <a:custGeom>
            <a:avLst/>
            <a:gdLst/>
            <a:ahLst/>
            <a:cxnLst/>
            <a:rect l="l" t="t" r="r" b="b"/>
            <a:pathLst>
              <a:path w="857250" h="1524000">
                <a:moveTo>
                  <a:pt x="85725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457825" y="2254250"/>
            <a:ext cx="1228725" cy="495300"/>
          </a:xfrm>
          <a:custGeom>
            <a:avLst/>
            <a:gdLst/>
            <a:ahLst/>
            <a:cxnLst/>
            <a:rect l="l" t="t" r="r" b="b"/>
            <a:pathLst>
              <a:path w="1228725" h="495300">
                <a:moveTo>
                  <a:pt x="0" y="495300"/>
                </a:moveTo>
                <a:lnTo>
                  <a:pt x="12287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81525" y="4702175"/>
            <a:ext cx="2352675" cy="1771650"/>
          </a:xfrm>
          <a:custGeom>
            <a:avLst/>
            <a:gdLst/>
            <a:ahLst/>
            <a:cxnLst/>
            <a:rect l="l" t="t" r="r" b="b"/>
            <a:pathLst>
              <a:path w="2352675" h="1771650">
                <a:moveTo>
                  <a:pt x="2352675" y="1590675"/>
                </a:moveTo>
                <a:lnTo>
                  <a:pt x="2114550" y="1552575"/>
                </a:lnTo>
                <a:lnTo>
                  <a:pt x="2228850" y="1771650"/>
                </a:lnTo>
              </a:path>
              <a:path w="2352675" h="1771650">
                <a:moveTo>
                  <a:pt x="0" y="0"/>
                </a:moveTo>
                <a:lnTo>
                  <a:pt x="2295525" y="16859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790825" y="835025"/>
            <a:ext cx="904875" cy="1914525"/>
          </a:xfrm>
          <a:custGeom>
            <a:avLst/>
            <a:gdLst/>
            <a:ahLst/>
            <a:cxnLst/>
            <a:rect l="l" t="t" r="r" b="b"/>
            <a:pathLst>
              <a:path w="904875" h="1914525">
                <a:moveTo>
                  <a:pt x="0" y="0"/>
                </a:moveTo>
                <a:lnTo>
                  <a:pt x="904875" y="1914525"/>
                </a:lnTo>
                <a:lnTo>
                  <a:pt x="0" y="12763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695700" y="2616200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VBAK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(Sales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Document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:Header)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690937" y="2878137"/>
            <a:ext cx="1771650" cy="390525"/>
            <a:chOff x="3690937" y="2878137"/>
            <a:chExt cx="1771650" cy="390525"/>
          </a:xfrm>
        </p:grpSpPr>
        <p:sp>
          <p:nvSpPr>
            <p:cNvPr id="11" name="object 11" descr=""/>
            <p:cNvSpPr/>
            <p:nvPr/>
          </p:nvSpPr>
          <p:spPr>
            <a:xfrm>
              <a:off x="3695700" y="2882900"/>
              <a:ext cx="1762125" cy="381000"/>
            </a:xfrm>
            <a:custGeom>
              <a:avLst/>
              <a:gdLst/>
              <a:ahLst/>
              <a:cxnLst/>
              <a:rect l="l" t="t" r="r" b="b"/>
              <a:pathLst>
                <a:path w="1762125" h="381000">
                  <a:moveTo>
                    <a:pt x="176212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142875" y="352425"/>
                  </a:lnTo>
                  <a:lnTo>
                    <a:pt x="295275" y="371475"/>
                  </a:lnTo>
                  <a:lnTo>
                    <a:pt x="438150" y="381000"/>
                  </a:lnTo>
                  <a:lnTo>
                    <a:pt x="590550" y="371475"/>
                  </a:lnTo>
                  <a:lnTo>
                    <a:pt x="733425" y="352425"/>
                  </a:lnTo>
                  <a:lnTo>
                    <a:pt x="885825" y="333375"/>
                  </a:lnTo>
                  <a:lnTo>
                    <a:pt x="1028700" y="304800"/>
                  </a:lnTo>
                  <a:lnTo>
                    <a:pt x="1171575" y="285750"/>
                  </a:lnTo>
                  <a:lnTo>
                    <a:pt x="1466850" y="285750"/>
                  </a:lnTo>
                  <a:lnTo>
                    <a:pt x="1619250" y="304800"/>
                  </a:lnTo>
                  <a:lnTo>
                    <a:pt x="1762125" y="333375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695700" y="2882900"/>
              <a:ext cx="1762125" cy="381000"/>
            </a:xfrm>
            <a:custGeom>
              <a:avLst/>
              <a:gdLst/>
              <a:ahLst/>
              <a:cxnLst/>
              <a:rect l="l" t="t" r="r" b="b"/>
              <a:pathLst>
                <a:path w="1762125" h="381000">
                  <a:moveTo>
                    <a:pt x="0" y="333375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333375"/>
                  </a:lnTo>
                  <a:lnTo>
                    <a:pt x="1619250" y="304800"/>
                  </a:lnTo>
                  <a:lnTo>
                    <a:pt x="1466850" y="285750"/>
                  </a:lnTo>
                  <a:lnTo>
                    <a:pt x="1171575" y="285750"/>
                  </a:lnTo>
                  <a:lnTo>
                    <a:pt x="1028700" y="304800"/>
                  </a:lnTo>
                  <a:lnTo>
                    <a:pt x="885825" y="333375"/>
                  </a:lnTo>
                  <a:lnTo>
                    <a:pt x="733425" y="352425"/>
                  </a:lnTo>
                  <a:lnTo>
                    <a:pt x="590550" y="371475"/>
                  </a:lnTo>
                  <a:lnTo>
                    <a:pt x="438150" y="381000"/>
                  </a:lnTo>
                  <a:lnTo>
                    <a:pt x="295275" y="371475"/>
                  </a:lnTo>
                  <a:lnTo>
                    <a:pt x="142875" y="352425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711575" y="2889250"/>
            <a:ext cx="8737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</a:t>
            </a:r>
            <a:endParaRPr sz="7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695700" y="4111625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VBAP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(Sales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Document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: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Item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Info)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690937" y="4373562"/>
            <a:ext cx="1771650" cy="390525"/>
            <a:chOff x="3690937" y="4373562"/>
            <a:chExt cx="1771650" cy="390525"/>
          </a:xfrm>
        </p:grpSpPr>
        <p:sp>
          <p:nvSpPr>
            <p:cNvPr id="16" name="object 16" descr=""/>
            <p:cNvSpPr/>
            <p:nvPr/>
          </p:nvSpPr>
          <p:spPr>
            <a:xfrm>
              <a:off x="3695700" y="4378325"/>
              <a:ext cx="1762125" cy="381000"/>
            </a:xfrm>
            <a:custGeom>
              <a:avLst/>
              <a:gdLst/>
              <a:ahLst/>
              <a:cxnLst/>
              <a:rect l="l" t="t" r="r" b="b"/>
              <a:pathLst>
                <a:path w="1762125" h="381000">
                  <a:moveTo>
                    <a:pt x="1762125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142875" y="352425"/>
                  </a:lnTo>
                  <a:lnTo>
                    <a:pt x="295275" y="371475"/>
                  </a:lnTo>
                  <a:lnTo>
                    <a:pt x="438150" y="381000"/>
                  </a:lnTo>
                  <a:lnTo>
                    <a:pt x="590550" y="371475"/>
                  </a:lnTo>
                  <a:lnTo>
                    <a:pt x="733425" y="352425"/>
                  </a:lnTo>
                  <a:lnTo>
                    <a:pt x="885825" y="323850"/>
                  </a:lnTo>
                  <a:lnTo>
                    <a:pt x="1171575" y="285750"/>
                  </a:lnTo>
                  <a:lnTo>
                    <a:pt x="1466850" y="285750"/>
                  </a:lnTo>
                  <a:lnTo>
                    <a:pt x="1619250" y="304800"/>
                  </a:lnTo>
                  <a:lnTo>
                    <a:pt x="1762125" y="323850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695700" y="4378325"/>
              <a:ext cx="1762125" cy="381000"/>
            </a:xfrm>
            <a:custGeom>
              <a:avLst/>
              <a:gdLst/>
              <a:ahLst/>
              <a:cxnLst/>
              <a:rect l="l" t="t" r="r" b="b"/>
              <a:pathLst>
                <a:path w="1762125" h="381000">
                  <a:moveTo>
                    <a:pt x="0" y="323850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323850"/>
                  </a:lnTo>
                  <a:lnTo>
                    <a:pt x="1619250" y="304800"/>
                  </a:lnTo>
                  <a:lnTo>
                    <a:pt x="1466850" y="285750"/>
                  </a:lnTo>
                  <a:lnTo>
                    <a:pt x="1171575" y="285750"/>
                  </a:lnTo>
                  <a:lnTo>
                    <a:pt x="885825" y="323850"/>
                  </a:lnTo>
                  <a:lnTo>
                    <a:pt x="733425" y="352425"/>
                  </a:lnTo>
                  <a:lnTo>
                    <a:pt x="590550" y="371475"/>
                  </a:lnTo>
                  <a:lnTo>
                    <a:pt x="438150" y="381000"/>
                  </a:lnTo>
                  <a:lnTo>
                    <a:pt x="295275" y="371475"/>
                  </a:lnTo>
                  <a:lnTo>
                    <a:pt x="142875" y="352425"/>
                  </a:lnTo>
                  <a:lnTo>
                    <a:pt x="0" y="3238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711575" y="4384675"/>
            <a:ext cx="8737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(POSNR)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829300" y="2940050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VBUP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(Item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Status)</a:t>
            </a:r>
            <a:endParaRPr sz="75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5829300" y="3206750"/>
            <a:ext cx="1762125" cy="371475"/>
          </a:xfrm>
          <a:custGeom>
            <a:avLst/>
            <a:gdLst/>
            <a:ahLst/>
            <a:cxnLst/>
            <a:rect l="l" t="t" r="r" b="b"/>
            <a:pathLst>
              <a:path w="1762125" h="371475">
                <a:moveTo>
                  <a:pt x="0" y="323850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323850"/>
                </a:lnTo>
                <a:lnTo>
                  <a:pt x="1476375" y="285750"/>
                </a:lnTo>
                <a:lnTo>
                  <a:pt x="1323975" y="276225"/>
                </a:lnTo>
                <a:lnTo>
                  <a:pt x="1171575" y="285750"/>
                </a:lnTo>
                <a:lnTo>
                  <a:pt x="885825" y="323850"/>
                </a:lnTo>
                <a:lnTo>
                  <a:pt x="733425" y="352425"/>
                </a:lnTo>
                <a:lnTo>
                  <a:pt x="447675" y="371475"/>
                </a:lnTo>
                <a:lnTo>
                  <a:pt x="295275" y="361950"/>
                </a:lnTo>
                <a:lnTo>
                  <a:pt x="152400" y="352425"/>
                </a:lnTo>
                <a:lnTo>
                  <a:pt x="0" y="323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5845175" y="3203575"/>
            <a:ext cx="8737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(POSNR)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3214687" y="5278437"/>
            <a:ext cx="1771650" cy="285750"/>
            <a:chOff x="3214687" y="5278437"/>
            <a:chExt cx="1771650" cy="285750"/>
          </a:xfrm>
        </p:grpSpPr>
        <p:sp>
          <p:nvSpPr>
            <p:cNvPr id="23" name="object 23" descr=""/>
            <p:cNvSpPr/>
            <p:nvPr/>
          </p:nvSpPr>
          <p:spPr>
            <a:xfrm>
              <a:off x="3219450" y="5283200"/>
              <a:ext cx="1762125" cy="276225"/>
            </a:xfrm>
            <a:custGeom>
              <a:avLst/>
              <a:gdLst/>
              <a:ahLst/>
              <a:cxnLst/>
              <a:rect l="l" t="t" r="r" b="b"/>
              <a:pathLst>
                <a:path w="1762125" h="276225">
                  <a:moveTo>
                    <a:pt x="17621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762125" y="276225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219450" y="5283200"/>
              <a:ext cx="1762125" cy="276225"/>
            </a:xfrm>
            <a:custGeom>
              <a:avLst/>
              <a:gdLst/>
              <a:ahLst/>
              <a:cxnLst/>
              <a:rect l="l" t="t" r="r" b="b"/>
              <a:pathLst>
                <a:path w="1762125" h="276225">
                  <a:moveTo>
                    <a:pt x="0" y="276225"/>
                  </a:moveTo>
                  <a:lnTo>
                    <a:pt x="1762125" y="276225"/>
                  </a:lnTo>
                  <a:lnTo>
                    <a:pt x="17621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225800" y="5289550"/>
            <a:ext cx="16643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VBEP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(Sales</a:t>
            </a:r>
            <a:r>
              <a:rPr dirty="0" sz="750" spc="6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Document</a:t>
            </a:r>
            <a:r>
              <a:rPr dirty="0" sz="750" spc="6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:</a:t>
            </a:r>
            <a:r>
              <a:rPr dirty="0" sz="750" spc="6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Schedule</a:t>
            </a:r>
            <a:r>
              <a:rPr dirty="0" sz="750" spc="6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Lines)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3214687" y="5554662"/>
            <a:ext cx="1771650" cy="485775"/>
            <a:chOff x="3214687" y="5554662"/>
            <a:chExt cx="1771650" cy="485775"/>
          </a:xfrm>
        </p:grpSpPr>
        <p:sp>
          <p:nvSpPr>
            <p:cNvPr id="27" name="object 27" descr=""/>
            <p:cNvSpPr/>
            <p:nvPr/>
          </p:nvSpPr>
          <p:spPr>
            <a:xfrm>
              <a:off x="3219450" y="5559425"/>
              <a:ext cx="1762125" cy="476250"/>
            </a:xfrm>
            <a:custGeom>
              <a:avLst/>
              <a:gdLst/>
              <a:ahLst/>
              <a:cxnLst/>
              <a:rect l="l" t="t" r="r" b="b"/>
              <a:pathLst>
                <a:path w="1762125" h="476250">
                  <a:moveTo>
                    <a:pt x="176212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123825" y="447675"/>
                  </a:lnTo>
                  <a:lnTo>
                    <a:pt x="247650" y="466725"/>
                  </a:lnTo>
                  <a:lnTo>
                    <a:pt x="371475" y="476250"/>
                  </a:lnTo>
                  <a:lnTo>
                    <a:pt x="504825" y="476250"/>
                  </a:lnTo>
                  <a:lnTo>
                    <a:pt x="628650" y="466725"/>
                  </a:lnTo>
                  <a:lnTo>
                    <a:pt x="752475" y="447675"/>
                  </a:lnTo>
                  <a:lnTo>
                    <a:pt x="1000125" y="390525"/>
                  </a:lnTo>
                  <a:lnTo>
                    <a:pt x="1133475" y="361950"/>
                  </a:lnTo>
                  <a:lnTo>
                    <a:pt x="1504950" y="361950"/>
                  </a:lnTo>
                  <a:lnTo>
                    <a:pt x="1638300" y="390525"/>
                  </a:lnTo>
                  <a:lnTo>
                    <a:pt x="1762125" y="419100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219450" y="5559425"/>
              <a:ext cx="1762125" cy="476250"/>
            </a:xfrm>
            <a:custGeom>
              <a:avLst/>
              <a:gdLst/>
              <a:ahLst/>
              <a:cxnLst/>
              <a:rect l="l" t="t" r="r" b="b"/>
              <a:pathLst>
                <a:path w="1762125" h="476250">
                  <a:moveTo>
                    <a:pt x="0" y="419100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419100"/>
                  </a:lnTo>
                  <a:lnTo>
                    <a:pt x="1638300" y="390525"/>
                  </a:lnTo>
                  <a:lnTo>
                    <a:pt x="1504950" y="361950"/>
                  </a:lnTo>
                  <a:lnTo>
                    <a:pt x="1133475" y="361950"/>
                  </a:lnTo>
                  <a:lnTo>
                    <a:pt x="1000125" y="390525"/>
                  </a:lnTo>
                  <a:lnTo>
                    <a:pt x="752475" y="447675"/>
                  </a:lnTo>
                  <a:lnTo>
                    <a:pt x="628650" y="466725"/>
                  </a:lnTo>
                  <a:lnTo>
                    <a:pt x="504825" y="476250"/>
                  </a:lnTo>
                  <a:lnTo>
                    <a:pt x="371475" y="476250"/>
                  </a:lnTo>
                  <a:lnTo>
                    <a:pt x="247650" y="466725"/>
                  </a:lnTo>
                  <a:lnTo>
                    <a:pt x="123825" y="447675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3225800" y="5556250"/>
            <a:ext cx="104457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589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(POSNR)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Schedle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(ETENR)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986462" y="6383337"/>
            <a:ext cx="1771650" cy="266700"/>
            <a:chOff x="5986462" y="6383337"/>
            <a:chExt cx="1771650" cy="266700"/>
          </a:xfrm>
        </p:grpSpPr>
        <p:sp>
          <p:nvSpPr>
            <p:cNvPr id="31" name="object 31" descr=""/>
            <p:cNvSpPr/>
            <p:nvPr/>
          </p:nvSpPr>
          <p:spPr>
            <a:xfrm>
              <a:off x="5991225" y="6388100"/>
              <a:ext cx="1762125" cy="257175"/>
            </a:xfrm>
            <a:custGeom>
              <a:avLst/>
              <a:gdLst/>
              <a:ahLst/>
              <a:cxnLst/>
              <a:rect l="l" t="t" r="r" b="b"/>
              <a:pathLst>
                <a:path w="1762125" h="257175">
                  <a:moveTo>
                    <a:pt x="176212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1762125" y="257175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991225" y="6388100"/>
              <a:ext cx="1762125" cy="257175"/>
            </a:xfrm>
            <a:custGeom>
              <a:avLst/>
              <a:gdLst/>
              <a:ahLst/>
              <a:cxnLst/>
              <a:rect l="l" t="t" r="r" b="b"/>
              <a:pathLst>
                <a:path w="1762125" h="257175">
                  <a:moveTo>
                    <a:pt x="0" y="257175"/>
                  </a:moveTo>
                  <a:lnTo>
                    <a:pt x="1762125" y="257175"/>
                  </a:lnTo>
                  <a:lnTo>
                    <a:pt x="176212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5995987" y="6384925"/>
            <a:ext cx="17526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VBPA</a:t>
            </a:r>
            <a:endParaRPr sz="7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(Sales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Document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:Partner)</a:t>
            </a:r>
            <a:endParaRPr sz="750">
              <a:latin typeface="Arial"/>
              <a:cs typeface="Arial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7486650" y="5178425"/>
            <a:ext cx="1762125" cy="266700"/>
          </a:xfrm>
          <a:custGeom>
            <a:avLst/>
            <a:gdLst/>
            <a:ahLst/>
            <a:cxnLst/>
            <a:rect l="l" t="t" r="r" b="b"/>
            <a:pathLst>
              <a:path w="1762125" h="266700">
                <a:moveTo>
                  <a:pt x="1762125" y="0"/>
                </a:moveTo>
                <a:lnTo>
                  <a:pt x="0" y="0"/>
                </a:lnTo>
                <a:lnTo>
                  <a:pt x="0" y="266700"/>
                </a:lnTo>
                <a:lnTo>
                  <a:pt x="1762125" y="266700"/>
                </a:lnTo>
                <a:lnTo>
                  <a:pt x="17621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7486650" y="5178425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VBKD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(Sales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Document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:</a:t>
            </a:r>
            <a:r>
              <a:rPr dirty="0" sz="750" spc="7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Business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Data)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5986462" y="6621462"/>
            <a:ext cx="1771650" cy="485775"/>
            <a:chOff x="5986462" y="6621462"/>
            <a:chExt cx="1771650" cy="485775"/>
          </a:xfrm>
        </p:grpSpPr>
        <p:sp>
          <p:nvSpPr>
            <p:cNvPr id="37" name="object 37" descr=""/>
            <p:cNvSpPr/>
            <p:nvPr/>
          </p:nvSpPr>
          <p:spPr>
            <a:xfrm>
              <a:off x="5991225" y="6626225"/>
              <a:ext cx="1762125" cy="476250"/>
            </a:xfrm>
            <a:custGeom>
              <a:avLst/>
              <a:gdLst/>
              <a:ahLst/>
              <a:cxnLst/>
              <a:rect l="l" t="t" r="r" b="b"/>
              <a:pathLst>
                <a:path w="1762125" h="476250">
                  <a:moveTo>
                    <a:pt x="176212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123825" y="447675"/>
                  </a:lnTo>
                  <a:lnTo>
                    <a:pt x="247650" y="466725"/>
                  </a:lnTo>
                  <a:lnTo>
                    <a:pt x="381000" y="476250"/>
                  </a:lnTo>
                  <a:lnTo>
                    <a:pt x="504825" y="476250"/>
                  </a:lnTo>
                  <a:lnTo>
                    <a:pt x="628650" y="466725"/>
                  </a:lnTo>
                  <a:lnTo>
                    <a:pt x="762000" y="447675"/>
                  </a:lnTo>
                  <a:lnTo>
                    <a:pt x="1009650" y="390525"/>
                  </a:lnTo>
                  <a:lnTo>
                    <a:pt x="1133475" y="371475"/>
                  </a:lnTo>
                  <a:lnTo>
                    <a:pt x="1257300" y="361950"/>
                  </a:lnTo>
                  <a:lnTo>
                    <a:pt x="1390650" y="361950"/>
                  </a:lnTo>
                  <a:lnTo>
                    <a:pt x="1514475" y="371475"/>
                  </a:lnTo>
                  <a:lnTo>
                    <a:pt x="1638300" y="390525"/>
                  </a:lnTo>
                  <a:lnTo>
                    <a:pt x="1762125" y="419100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991225" y="6626225"/>
              <a:ext cx="1762125" cy="476250"/>
            </a:xfrm>
            <a:custGeom>
              <a:avLst/>
              <a:gdLst/>
              <a:ahLst/>
              <a:cxnLst/>
              <a:rect l="l" t="t" r="r" b="b"/>
              <a:pathLst>
                <a:path w="1762125" h="476250">
                  <a:moveTo>
                    <a:pt x="0" y="419100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419100"/>
                  </a:lnTo>
                  <a:lnTo>
                    <a:pt x="1638300" y="390525"/>
                  </a:lnTo>
                  <a:lnTo>
                    <a:pt x="1514475" y="371475"/>
                  </a:lnTo>
                  <a:lnTo>
                    <a:pt x="1390650" y="361950"/>
                  </a:lnTo>
                  <a:lnTo>
                    <a:pt x="1257300" y="361950"/>
                  </a:lnTo>
                  <a:lnTo>
                    <a:pt x="1133475" y="371475"/>
                  </a:lnTo>
                  <a:lnTo>
                    <a:pt x="1009650" y="390525"/>
                  </a:lnTo>
                  <a:lnTo>
                    <a:pt x="762000" y="447675"/>
                  </a:lnTo>
                  <a:lnTo>
                    <a:pt x="628650" y="466725"/>
                  </a:lnTo>
                  <a:lnTo>
                    <a:pt x="504825" y="476250"/>
                  </a:lnTo>
                  <a:lnTo>
                    <a:pt x="381000" y="476250"/>
                  </a:lnTo>
                  <a:lnTo>
                    <a:pt x="247650" y="466725"/>
                  </a:lnTo>
                  <a:lnTo>
                    <a:pt x="123825" y="447675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5997575" y="6623050"/>
            <a:ext cx="120650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3782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(POSNR)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Partner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Function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(PARVW)</a:t>
            </a:r>
            <a:endParaRPr sz="750">
              <a:latin typeface="Arial"/>
              <a:cs typeface="Arial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7486650" y="5445125"/>
            <a:ext cx="1762125" cy="381000"/>
          </a:xfrm>
          <a:custGeom>
            <a:avLst/>
            <a:gdLst/>
            <a:ahLst/>
            <a:cxnLst/>
            <a:rect l="l" t="t" r="r" b="b"/>
            <a:pathLst>
              <a:path w="1762125" h="381000">
                <a:moveTo>
                  <a:pt x="0" y="333375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333375"/>
                </a:lnTo>
                <a:lnTo>
                  <a:pt x="1619250" y="304800"/>
                </a:lnTo>
                <a:lnTo>
                  <a:pt x="1466850" y="285750"/>
                </a:lnTo>
                <a:lnTo>
                  <a:pt x="1171575" y="285750"/>
                </a:lnTo>
                <a:lnTo>
                  <a:pt x="1028700" y="304800"/>
                </a:lnTo>
                <a:lnTo>
                  <a:pt x="885825" y="333375"/>
                </a:lnTo>
                <a:lnTo>
                  <a:pt x="733425" y="352425"/>
                </a:lnTo>
                <a:lnTo>
                  <a:pt x="590550" y="371475"/>
                </a:lnTo>
                <a:lnTo>
                  <a:pt x="438150" y="381000"/>
                </a:lnTo>
                <a:lnTo>
                  <a:pt x="295275" y="371475"/>
                </a:lnTo>
                <a:lnTo>
                  <a:pt x="152400" y="352425"/>
                </a:lnTo>
                <a:lnTo>
                  <a:pt x="0" y="3333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7493000" y="5451475"/>
            <a:ext cx="8737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(POSNR)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3219450" y="6388100"/>
            <a:ext cx="1762125" cy="257175"/>
          </a:xfrm>
          <a:custGeom>
            <a:avLst/>
            <a:gdLst/>
            <a:ahLst/>
            <a:cxnLst/>
            <a:rect l="l" t="t" r="r" b="b"/>
            <a:pathLst>
              <a:path w="1762125" h="257175">
                <a:moveTo>
                  <a:pt x="0" y="257175"/>
                </a:moveTo>
                <a:lnTo>
                  <a:pt x="1762125" y="257175"/>
                </a:lnTo>
                <a:lnTo>
                  <a:pt x="1762125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3224212" y="6384925"/>
            <a:ext cx="17526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VBEH</a:t>
            </a:r>
            <a:endParaRPr sz="7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(Schedule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Line</a:t>
            </a:r>
            <a:r>
              <a:rPr dirty="0" sz="750" spc="-10" b="1">
                <a:latin typeface="Arial"/>
                <a:cs typeface="Arial"/>
              </a:rPr>
              <a:t> History)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3214687" y="6621462"/>
            <a:ext cx="1771650" cy="485775"/>
            <a:chOff x="3214687" y="6621462"/>
            <a:chExt cx="1771650" cy="485775"/>
          </a:xfrm>
        </p:grpSpPr>
        <p:sp>
          <p:nvSpPr>
            <p:cNvPr id="45" name="object 45" descr=""/>
            <p:cNvSpPr/>
            <p:nvPr/>
          </p:nvSpPr>
          <p:spPr>
            <a:xfrm>
              <a:off x="3219450" y="6626225"/>
              <a:ext cx="1762125" cy="476250"/>
            </a:xfrm>
            <a:custGeom>
              <a:avLst/>
              <a:gdLst/>
              <a:ahLst/>
              <a:cxnLst/>
              <a:rect l="l" t="t" r="r" b="b"/>
              <a:pathLst>
                <a:path w="1762125" h="476250">
                  <a:moveTo>
                    <a:pt x="176212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123825" y="447675"/>
                  </a:lnTo>
                  <a:lnTo>
                    <a:pt x="247650" y="466725"/>
                  </a:lnTo>
                  <a:lnTo>
                    <a:pt x="371475" y="476250"/>
                  </a:lnTo>
                  <a:lnTo>
                    <a:pt x="504825" y="476250"/>
                  </a:lnTo>
                  <a:lnTo>
                    <a:pt x="628650" y="466725"/>
                  </a:lnTo>
                  <a:lnTo>
                    <a:pt x="752475" y="447675"/>
                  </a:lnTo>
                  <a:lnTo>
                    <a:pt x="1000125" y="390525"/>
                  </a:lnTo>
                  <a:lnTo>
                    <a:pt x="1133475" y="371475"/>
                  </a:lnTo>
                  <a:lnTo>
                    <a:pt x="1257300" y="361950"/>
                  </a:lnTo>
                  <a:lnTo>
                    <a:pt x="1381125" y="361950"/>
                  </a:lnTo>
                  <a:lnTo>
                    <a:pt x="1504950" y="371475"/>
                  </a:lnTo>
                  <a:lnTo>
                    <a:pt x="1638300" y="390525"/>
                  </a:lnTo>
                  <a:lnTo>
                    <a:pt x="1762125" y="419100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219450" y="6626225"/>
              <a:ext cx="1762125" cy="476250"/>
            </a:xfrm>
            <a:custGeom>
              <a:avLst/>
              <a:gdLst/>
              <a:ahLst/>
              <a:cxnLst/>
              <a:rect l="l" t="t" r="r" b="b"/>
              <a:pathLst>
                <a:path w="1762125" h="476250">
                  <a:moveTo>
                    <a:pt x="0" y="419100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419100"/>
                  </a:lnTo>
                  <a:lnTo>
                    <a:pt x="1638300" y="390525"/>
                  </a:lnTo>
                  <a:lnTo>
                    <a:pt x="1504950" y="371475"/>
                  </a:lnTo>
                  <a:lnTo>
                    <a:pt x="1381125" y="361950"/>
                  </a:lnTo>
                  <a:lnTo>
                    <a:pt x="1257300" y="361950"/>
                  </a:lnTo>
                  <a:lnTo>
                    <a:pt x="1133475" y="371475"/>
                  </a:lnTo>
                  <a:lnTo>
                    <a:pt x="1000125" y="390525"/>
                  </a:lnTo>
                  <a:lnTo>
                    <a:pt x="752475" y="447675"/>
                  </a:lnTo>
                  <a:lnTo>
                    <a:pt x="628650" y="466725"/>
                  </a:lnTo>
                  <a:lnTo>
                    <a:pt x="504825" y="476250"/>
                  </a:lnTo>
                  <a:lnTo>
                    <a:pt x="371475" y="476250"/>
                  </a:lnTo>
                  <a:lnTo>
                    <a:pt x="247650" y="466725"/>
                  </a:lnTo>
                  <a:lnTo>
                    <a:pt x="123825" y="447675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3225800" y="6623050"/>
            <a:ext cx="104457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589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(POSNR)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Schedle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Line</a:t>
            </a:r>
            <a:r>
              <a:rPr dirty="0" sz="750" spc="1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(ETENR)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4333875" y="482600"/>
            <a:ext cx="2343150" cy="428625"/>
            <a:chOff x="4333875" y="482600"/>
            <a:chExt cx="2343150" cy="428625"/>
          </a:xfrm>
        </p:grpSpPr>
        <p:sp>
          <p:nvSpPr>
            <p:cNvPr id="49" name="object 49" descr=""/>
            <p:cNvSpPr/>
            <p:nvPr/>
          </p:nvSpPr>
          <p:spPr>
            <a:xfrm>
              <a:off x="4448175" y="587375"/>
              <a:ext cx="2228850" cy="323850"/>
            </a:xfrm>
            <a:custGeom>
              <a:avLst/>
              <a:gdLst/>
              <a:ahLst/>
              <a:cxnLst/>
              <a:rect l="l" t="t" r="r" b="b"/>
              <a:pathLst>
                <a:path w="2228850" h="323850">
                  <a:moveTo>
                    <a:pt x="222885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2228850" y="323850"/>
                  </a:lnTo>
                  <a:lnTo>
                    <a:pt x="222885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333875" y="482600"/>
              <a:ext cx="2228850" cy="323850"/>
            </a:xfrm>
            <a:custGeom>
              <a:avLst/>
              <a:gdLst/>
              <a:ahLst/>
              <a:cxnLst/>
              <a:rect l="l" t="t" r="r" b="b"/>
              <a:pathLst>
                <a:path w="2228850" h="323850">
                  <a:moveTo>
                    <a:pt x="222885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2228850" y="323850"/>
                  </a:lnTo>
                  <a:lnTo>
                    <a:pt x="2228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/>
          <p:nvPr/>
        </p:nvSpPr>
        <p:spPr>
          <a:xfrm>
            <a:off x="4038600" y="4702175"/>
            <a:ext cx="542925" cy="1685925"/>
          </a:xfrm>
          <a:custGeom>
            <a:avLst/>
            <a:gdLst/>
            <a:ahLst/>
            <a:cxnLst/>
            <a:rect l="l" t="t" r="r" b="b"/>
            <a:pathLst>
              <a:path w="542925" h="1685925">
                <a:moveTo>
                  <a:pt x="57150" y="1685925"/>
                </a:moveTo>
                <a:lnTo>
                  <a:pt x="57150" y="1276350"/>
                </a:lnTo>
              </a:path>
              <a:path w="542925" h="1685925">
                <a:moveTo>
                  <a:pt x="542925" y="0"/>
                </a:moveTo>
                <a:lnTo>
                  <a:pt x="161925" y="457200"/>
                </a:lnTo>
                <a:lnTo>
                  <a:pt x="57150" y="581025"/>
                </a:lnTo>
              </a:path>
              <a:path w="542925" h="1685925">
                <a:moveTo>
                  <a:pt x="161925" y="457200"/>
                </a:moveTo>
                <a:lnTo>
                  <a:pt x="0" y="533400"/>
                </a:lnTo>
              </a:path>
              <a:path w="542925" h="1685925">
                <a:moveTo>
                  <a:pt x="161925" y="457200"/>
                </a:moveTo>
                <a:lnTo>
                  <a:pt x="123825" y="6381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4333875" y="482600"/>
            <a:ext cx="2228850" cy="323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400"/>
              </a:spcBef>
            </a:pPr>
            <a:r>
              <a:rPr dirty="0" sz="1250" spc="-25" b="1">
                <a:latin typeface="Arial"/>
                <a:cs typeface="Arial"/>
              </a:rPr>
              <a:t>SAP</a:t>
            </a:r>
            <a:r>
              <a:rPr dirty="0" sz="1250" spc="-70" b="1">
                <a:latin typeface="Arial"/>
                <a:cs typeface="Arial"/>
              </a:rPr>
              <a:t> </a:t>
            </a:r>
            <a:r>
              <a:rPr dirty="0" sz="1250" spc="-20" b="1">
                <a:latin typeface="Arial"/>
                <a:cs typeface="Arial"/>
              </a:rPr>
              <a:t>SD</a:t>
            </a:r>
            <a:r>
              <a:rPr dirty="0" sz="1250" spc="-70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-</a:t>
            </a:r>
            <a:r>
              <a:rPr dirty="0" sz="1250" spc="-65" b="1">
                <a:latin typeface="Arial"/>
                <a:cs typeface="Arial"/>
              </a:rPr>
              <a:t> </a:t>
            </a:r>
            <a:r>
              <a:rPr dirty="0" sz="1250" spc="-30" b="1">
                <a:latin typeface="Arial"/>
                <a:cs typeface="Arial"/>
              </a:rPr>
              <a:t>Sales</a:t>
            </a:r>
            <a:r>
              <a:rPr dirty="0" sz="1250" spc="-70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Tables</a:t>
            </a:r>
            <a:endParaRPr sz="1250">
              <a:latin typeface="Arial"/>
              <a:cs typeface="Aria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5810250" y="1654175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VBUK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(Header</a:t>
            </a:r>
            <a:r>
              <a:rPr dirty="0" sz="750" spc="8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Status)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5805487" y="1916112"/>
            <a:ext cx="1771650" cy="390525"/>
            <a:chOff x="5805487" y="1916112"/>
            <a:chExt cx="1771650" cy="390525"/>
          </a:xfrm>
        </p:grpSpPr>
        <p:sp>
          <p:nvSpPr>
            <p:cNvPr id="55" name="object 55" descr=""/>
            <p:cNvSpPr/>
            <p:nvPr/>
          </p:nvSpPr>
          <p:spPr>
            <a:xfrm>
              <a:off x="5810250" y="1920875"/>
              <a:ext cx="1762125" cy="381000"/>
            </a:xfrm>
            <a:custGeom>
              <a:avLst/>
              <a:gdLst/>
              <a:ahLst/>
              <a:cxnLst/>
              <a:rect l="l" t="t" r="r" b="b"/>
              <a:pathLst>
                <a:path w="1762125" h="381000">
                  <a:moveTo>
                    <a:pt x="176212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285750" y="371475"/>
                  </a:lnTo>
                  <a:lnTo>
                    <a:pt x="438150" y="381000"/>
                  </a:lnTo>
                  <a:lnTo>
                    <a:pt x="581025" y="371475"/>
                  </a:lnTo>
                  <a:lnTo>
                    <a:pt x="733425" y="352425"/>
                  </a:lnTo>
                  <a:lnTo>
                    <a:pt x="876300" y="333375"/>
                  </a:lnTo>
                  <a:lnTo>
                    <a:pt x="1019175" y="304800"/>
                  </a:lnTo>
                  <a:lnTo>
                    <a:pt x="1171575" y="285750"/>
                  </a:lnTo>
                  <a:lnTo>
                    <a:pt x="1466850" y="285750"/>
                  </a:lnTo>
                  <a:lnTo>
                    <a:pt x="1609725" y="304800"/>
                  </a:lnTo>
                  <a:lnTo>
                    <a:pt x="1762125" y="333375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810250" y="1920875"/>
              <a:ext cx="1762125" cy="381000"/>
            </a:xfrm>
            <a:custGeom>
              <a:avLst/>
              <a:gdLst/>
              <a:ahLst/>
              <a:cxnLst/>
              <a:rect l="l" t="t" r="r" b="b"/>
              <a:pathLst>
                <a:path w="1762125" h="381000">
                  <a:moveTo>
                    <a:pt x="0" y="333375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333375"/>
                  </a:lnTo>
                  <a:lnTo>
                    <a:pt x="1609725" y="304800"/>
                  </a:lnTo>
                  <a:lnTo>
                    <a:pt x="1466850" y="285750"/>
                  </a:lnTo>
                  <a:lnTo>
                    <a:pt x="1171575" y="285750"/>
                  </a:lnTo>
                  <a:lnTo>
                    <a:pt x="1019175" y="304800"/>
                  </a:lnTo>
                  <a:lnTo>
                    <a:pt x="876300" y="333375"/>
                  </a:lnTo>
                  <a:lnTo>
                    <a:pt x="733425" y="352425"/>
                  </a:lnTo>
                  <a:lnTo>
                    <a:pt x="581025" y="371475"/>
                  </a:lnTo>
                  <a:lnTo>
                    <a:pt x="438150" y="381000"/>
                  </a:lnTo>
                  <a:lnTo>
                    <a:pt x="285750" y="371475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5816600" y="1927225"/>
            <a:ext cx="8737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</a:t>
            </a:r>
            <a:endParaRPr sz="750">
              <a:latin typeface="Arial"/>
              <a:cs typeface="Arial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028700" y="701675"/>
            <a:ext cx="1762125" cy="257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750" spc="-10" b="1">
                <a:latin typeface="Arial"/>
                <a:cs typeface="Arial"/>
              </a:rPr>
              <a:t>VKDFS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(SD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Index:Billing</a:t>
            </a:r>
            <a:r>
              <a:rPr dirty="0" sz="750" spc="-10" b="1">
                <a:latin typeface="Arial"/>
                <a:cs typeface="Arial"/>
              </a:rPr>
              <a:t> Initiator)</a:t>
            </a:r>
            <a:endParaRPr sz="750">
              <a:latin typeface="Arial"/>
              <a:cs typeface="Arial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1028700" y="958850"/>
            <a:ext cx="1762125" cy="962025"/>
          </a:xfrm>
          <a:custGeom>
            <a:avLst/>
            <a:gdLst/>
            <a:ahLst/>
            <a:cxnLst/>
            <a:rect l="l" t="t" r="r" b="b"/>
            <a:pathLst>
              <a:path w="1762125" h="962025">
                <a:moveTo>
                  <a:pt x="0" y="847725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847725"/>
                </a:lnTo>
                <a:lnTo>
                  <a:pt x="1676400" y="800100"/>
                </a:lnTo>
                <a:lnTo>
                  <a:pt x="1504950" y="742950"/>
                </a:lnTo>
                <a:lnTo>
                  <a:pt x="1409700" y="733425"/>
                </a:lnTo>
                <a:lnTo>
                  <a:pt x="1323975" y="723900"/>
                </a:lnTo>
                <a:lnTo>
                  <a:pt x="1133475" y="742950"/>
                </a:lnTo>
                <a:lnTo>
                  <a:pt x="962025" y="800100"/>
                </a:lnTo>
                <a:lnTo>
                  <a:pt x="876300" y="847725"/>
                </a:lnTo>
                <a:lnTo>
                  <a:pt x="800100" y="885825"/>
                </a:lnTo>
                <a:lnTo>
                  <a:pt x="714375" y="923925"/>
                </a:lnTo>
                <a:lnTo>
                  <a:pt x="628650" y="942975"/>
                </a:lnTo>
                <a:lnTo>
                  <a:pt x="533400" y="962025"/>
                </a:lnTo>
                <a:lnTo>
                  <a:pt x="352425" y="962025"/>
                </a:lnTo>
                <a:lnTo>
                  <a:pt x="257175" y="942975"/>
                </a:lnTo>
                <a:lnTo>
                  <a:pt x="171450" y="923925"/>
                </a:lnTo>
                <a:lnTo>
                  <a:pt x="76200" y="885825"/>
                </a:lnTo>
                <a:lnTo>
                  <a:pt x="0" y="8477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1035050" y="965200"/>
            <a:ext cx="996950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Billing</a:t>
            </a:r>
            <a:r>
              <a:rPr dirty="0" sz="750" spc="17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Cat</a:t>
            </a:r>
            <a:r>
              <a:rPr dirty="0" sz="750" spc="17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(FKTYP)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Org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(VKORG) </a:t>
            </a:r>
            <a:r>
              <a:rPr dirty="0" sz="750">
                <a:latin typeface="Arial"/>
                <a:cs typeface="Arial"/>
              </a:rPr>
              <a:t>Billing</a:t>
            </a:r>
            <a:r>
              <a:rPr dirty="0" sz="750" spc="16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6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(FKDAT) </a:t>
            </a:r>
            <a:r>
              <a:rPr dirty="0" sz="750">
                <a:latin typeface="Arial"/>
                <a:cs typeface="Arial"/>
              </a:rPr>
              <a:t>Customer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(KUNNR) </a:t>
            </a:r>
            <a:r>
              <a:rPr dirty="0" sz="750">
                <a:latin typeface="Arial"/>
                <a:cs typeface="Arial"/>
              </a:rPr>
              <a:t>Billing</a:t>
            </a:r>
            <a:r>
              <a:rPr dirty="0" sz="750" spc="18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1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(FKART) </a:t>
            </a:r>
            <a:r>
              <a:rPr dirty="0" sz="750">
                <a:latin typeface="Arial"/>
                <a:cs typeface="Arial"/>
              </a:rPr>
              <a:t>Country</a:t>
            </a:r>
            <a:r>
              <a:rPr dirty="0" sz="750" spc="5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(LLAND)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</a:t>
            </a:r>
            <a:endParaRPr sz="750">
              <a:latin typeface="Arial"/>
              <a:cs typeface="Arial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028700" y="1978025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10" b="1">
                <a:latin typeface="Arial"/>
                <a:cs typeface="Arial"/>
              </a:rPr>
              <a:t>VAPMA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(SD</a:t>
            </a:r>
            <a:r>
              <a:rPr dirty="0" sz="750" spc="6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Index:Order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Items</a:t>
            </a:r>
            <a:r>
              <a:rPr dirty="0" sz="750" spc="6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by</a:t>
            </a:r>
            <a:r>
              <a:rPr dirty="0" sz="750" spc="7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Material)</a:t>
            </a:r>
            <a:endParaRPr sz="750">
              <a:latin typeface="Arial"/>
              <a:cs typeface="Arial"/>
            </a:endParaRPr>
          </a:p>
        </p:txBody>
      </p:sp>
      <p:sp>
        <p:nvSpPr>
          <p:cNvPr id="62" name="object 62" descr=""/>
          <p:cNvSpPr/>
          <p:nvPr/>
        </p:nvSpPr>
        <p:spPr>
          <a:xfrm>
            <a:off x="1028700" y="2244725"/>
            <a:ext cx="1762125" cy="1809750"/>
          </a:xfrm>
          <a:custGeom>
            <a:avLst/>
            <a:gdLst/>
            <a:ahLst/>
            <a:cxnLst/>
            <a:rect l="l" t="t" r="r" b="b"/>
            <a:pathLst>
              <a:path w="1762125" h="1809750">
                <a:moveTo>
                  <a:pt x="0" y="1666875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1666875"/>
                </a:lnTo>
                <a:lnTo>
                  <a:pt x="1685925" y="1619250"/>
                </a:lnTo>
                <a:lnTo>
                  <a:pt x="1609725" y="1581150"/>
                </a:lnTo>
                <a:lnTo>
                  <a:pt x="1533525" y="1552575"/>
                </a:lnTo>
                <a:lnTo>
                  <a:pt x="1447800" y="1533525"/>
                </a:lnTo>
                <a:lnTo>
                  <a:pt x="1362075" y="1524000"/>
                </a:lnTo>
                <a:lnTo>
                  <a:pt x="1276350" y="1524000"/>
                </a:lnTo>
                <a:lnTo>
                  <a:pt x="1190625" y="1533525"/>
                </a:lnTo>
                <a:lnTo>
                  <a:pt x="1104900" y="1552575"/>
                </a:lnTo>
                <a:lnTo>
                  <a:pt x="1028700" y="1581150"/>
                </a:lnTo>
                <a:lnTo>
                  <a:pt x="952500" y="1619250"/>
                </a:lnTo>
                <a:lnTo>
                  <a:pt x="876300" y="1666875"/>
                </a:lnTo>
                <a:lnTo>
                  <a:pt x="809625" y="1714500"/>
                </a:lnTo>
                <a:lnTo>
                  <a:pt x="733425" y="1752600"/>
                </a:lnTo>
                <a:lnTo>
                  <a:pt x="657225" y="1781175"/>
                </a:lnTo>
                <a:lnTo>
                  <a:pt x="571500" y="1800225"/>
                </a:lnTo>
                <a:lnTo>
                  <a:pt x="485775" y="1809750"/>
                </a:lnTo>
                <a:lnTo>
                  <a:pt x="400050" y="1809750"/>
                </a:lnTo>
                <a:lnTo>
                  <a:pt x="314325" y="1800225"/>
                </a:lnTo>
                <a:lnTo>
                  <a:pt x="228600" y="1781175"/>
                </a:lnTo>
                <a:lnTo>
                  <a:pt x="152400" y="1752600"/>
                </a:lnTo>
                <a:lnTo>
                  <a:pt x="76200" y="1714500"/>
                </a:lnTo>
                <a:lnTo>
                  <a:pt x="0" y="1666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1035050" y="2251075"/>
            <a:ext cx="1397000" cy="161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2095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Material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(MATNR)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Org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(VKORG)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Trans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Group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(TRVOG)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(AUDAT)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825"/>
              </a:lnSpc>
            </a:pPr>
            <a:r>
              <a:rPr dirty="0" sz="750">
                <a:latin typeface="Arial"/>
                <a:cs typeface="Arial"/>
              </a:rPr>
              <a:t>Distribution</a:t>
            </a:r>
            <a:r>
              <a:rPr dirty="0" sz="750" spc="2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Channel</a:t>
            </a:r>
            <a:r>
              <a:rPr dirty="0" sz="750" spc="2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(VTWEG)</a:t>
            </a:r>
            <a:endParaRPr sz="750">
              <a:latin typeface="Arial"/>
              <a:cs typeface="Arial"/>
            </a:endParaRPr>
          </a:p>
          <a:p>
            <a:pPr marL="12700" marR="20447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Division</a:t>
            </a:r>
            <a:r>
              <a:rPr dirty="0" sz="750" spc="1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(SPART)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(AUART) </a:t>
            </a:r>
            <a:r>
              <a:rPr dirty="0" sz="750">
                <a:latin typeface="Arial"/>
                <a:cs typeface="Arial"/>
              </a:rPr>
              <a:t>Sold-to-Party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(KUNNR)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Office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(VKBUR)</a:t>
            </a:r>
            <a:r>
              <a:rPr dirty="0" sz="750">
                <a:latin typeface="Arial"/>
                <a:cs typeface="Arial"/>
              </a:rPr>
              <a:t> Sales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Group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(VKGRP) </a:t>
            </a:r>
            <a:r>
              <a:rPr dirty="0" sz="750">
                <a:latin typeface="Arial"/>
                <a:cs typeface="Arial"/>
              </a:rPr>
              <a:t>Customer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PO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(BSTNK) </a:t>
            </a:r>
            <a:r>
              <a:rPr dirty="0" sz="750">
                <a:latin typeface="Arial"/>
                <a:cs typeface="Arial"/>
              </a:rPr>
              <a:t>User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Name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(ERNAM)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Ord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(POSNR)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1076325" y="4111625"/>
            <a:ext cx="1762125" cy="323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50"/>
              </a:spcBef>
            </a:pPr>
            <a:r>
              <a:rPr dirty="0" sz="750" spc="-10" b="1">
                <a:latin typeface="Arial"/>
                <a:cs typeface="Arial"/>
              </a:rPr>
              <a:t>VAKPA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(SD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Index:Order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by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Partner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Function)</a:t>
            </a:r>
            <a:endParaRPr sz="750">
              <a:latin typeface="Arial"/>
              <a:cs typeface="Arial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1076325" y="4435475"/>
            <a:ext cx="1762125" cy="1809750"/>
          </a:xfrm>
          <a:custGeom>
            <a:avLst/>
            <a:gdLst/>
            <a:ahLst/>
            <a:cxnLst/>
            <a:rect l="l" t="t" r="r" b="b"/>
            <a:pathLst>
              <a:path w="1762125" h="1809750">
                <a:moveTo>
                  <a:pt x="0" y="1666875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1666875"/>
                </a:lnTo>
                <a:lnTo>
                  <a:pt x="1695450" y="1619250"/>
                </a:lnTo>
                <a:lnTo>
                  <a:pt x="1619250" y="1581150"/>
                </a:lnTo>
                <a:lnTo>
                  <a:pt x="1543050" y="1552575"/>
                </a:lnTo>
                <a:lnTo>
                  <a:pt x="1457325" y="1533525"/>
                </a:lnTo>
                <a:lnTo>
                  <a:pt x="1371600" y="1524000"/>
                </a:lnTo>
                <a:lnTo>
                  <a:pt x="1285875" y="1524000"/>
                </a:lnTo>
                <a:lnTo>
                  <a:pt x="1200150" y="1533525"/>
                </a:lnTo>
                <a:lnTo>
                  <a:pt x="1114425" y="1552575"/>
                </a:lnTo>
                <a:lnTo>
                  <a:pt x="1038225" y="1581150"/>
                </a:lnTo>
                <a:lnTo>
                  <a:pt x="962025" y="1619250"/>
                </a:lnTo>
                <a:lnTo>
                  <a:pt x="885825" y="1666875"/>
                </a:lnTo>
                <a:lnTo>
                  <a:pt x="819150" y="1714500"/>
                </a:lnTo>
                <a:lnTo>
                  <a:pt x="742950" y="1752600"/>
                </a:lnTo>
                <a:lnTo>
                  <a:pt x="657225" y="1781175"/>
                </a:lnTo>
                <a:lnTo>
                  <a:pt x="571500" y="1800225"/>
                </a:lnTo>
                <a:lnTo>
                  <a:pt x="485775" y="1809750"/>
                </a:lnTo>
                <a:lnTo>
                  <a:pt x="400050" y="1809750"/>
                </a:lnTo>
                <a:lnTo>
                  <a:pt x="314325" y="1800225"/>
                </a:lnTo>
                <a:lnTo>
                  <a:pt x="238125" y="1781175"/>
                </a:lnTo>
                <a:lnTo>
                  <a:pt x="152400" y="1752600"/>
                </a:lnTo>
                <a:lnTo>
                  <a:pt x="76200" y="1714500"/>
                </a:lnTo>
                <a:lnTo>
                  <a:pt x="0" y="1666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1092200" y="4441825"/>
            <a:ext cx="1397000" cy="1616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94945">
              <a:lnSpc>
                <a:spcPct val="95800"/>
              </a:lnSpc>
              <a:spcBef>
                <a:spcPts val="135"/>
              </a:spcBef>
            </a:pPr>
            <a:r>
              <a:rPr dirty="0" sz="750">
                <a:latin typeface="Arial"/>
                <a:cs typeface="Arial"/>
              </a:rPr>
              <a:t>Partner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(KUNDE) </a:t>
            </a:r>
            <a:r>
              <a:rPr dirty="0" sz="750">
                <a:latin typeface="Arial"/>
                <a:cs typeface="Arial"/>
              </a:rPr>
              <a:t>Partner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Function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(PARVW)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Org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(VKORG)</a:t>
            </a:r>
            <a:endParaRPr sz="750">
              <a:latin typeface="Arial"/>
              <a:cs typeface="Arial"/>
            </a:endParaRPr>
          </a:p>
          <a:p>
            <a:pPr marL="12700" marR="252095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Trans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Group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(TRVOG)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Date</a:t>
            </a:r>
            <a:r>
              <a:rPr dirty="0" sz="750" spc="1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(AUDAT)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Office</a:t>
            </a:r>
            <a:r>
              <a:rPr dirty="0" sz="750" spc="6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(VKBUR)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Group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(VKGRP)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Distribution</a:t>
            </a:r>
            <a:r>
              <a:rPr dirty="0" sz="750" spc="2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Channel</a:t>
            </a:r>
            <a:r>
              <a:rPr dirty="0" sz="750" spc="2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(VTWEG) </a:t>
            </a:r>
            <a:r>
              <a:rPr dirty="0" sz="750">
                <a:latin typeface="Arial"/>
                <a:cs typeface="Arial"/>
              </a:rPr>
              <a:t>Division</a:t>
            </a:r>
            <a:r>
              <a:rPr dirty="0" sz="750" spc="1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(SPART)</a:t>
            </a:r>
            <a:endParaRPr sz="750">
              <a:latin typeface="Arial"/>
              <a:cs typeface="Arial"/>
            </a:endParaRPr>
          </a:p>
          <a:p>
            <a:pPr marL="12700" marR="20447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Type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(AUART) </a:t>
            </a:r>
            <a:r>
              <a:rPr dirty="0" sz="750">
                <a:latin typeface="Arial"/>
                <a:cs typeface="Arial"/>
              </a:rPr>
              <a:t>Customer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PO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</a:t>
            </a:r>
            <a:r>
              <a:rPr dirty="0" sz="750" spc="5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(BSTNK) </a:t>
            </a:r>
            <a:r>
              <a:rPr dirty="0" sz="750">
                <a:latin typeface="Arial"/>
                <a:cs typeface="Arial"/>
              </a:rPr>
              <a:t>Sold-to-Party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(KUNNR) </a:t>
            </a:r>
            <a:r>
              <a:rPr dirty="0" sz="750">
                <a:latin typeface="Arial"/>
                <a:cs typeface="Arial"/>
              </a:rPr>
              <a:t>User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Name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(ERNAM)</a:t>
            </a:r>
            <a:r>
              <a:rPr dirty="0" sz="750" spc="50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Ord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</a:t>
            </a:r>
            <a:endParaRPr sz="750">
              <a:latin typeface="Arial"/>
              <a:cs typeface="Arial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3695700" y="1092200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STXH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(STXD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SAPscript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text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file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header)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3690937" y="1354137"/>
            <a:ext cx="1771650" cy="657225"/>
            <a:chOff x="3690937" y="1354137"/>
            <a:chExt cx="1771650" cy="657225"/>
          </a:xfrm>
        </p:grpSpPr>
        <p:sp>
          <p:nvSpPr>
            <p:cNvPr id="69" name="object 69" descr=""/>
            <p:cNvSpPr/>
            <p:nvPr/>
          </p:nvSpPr>
          <p:spPr>
            <a:xfrm>
              <a:off x="3695700" y="1358900"/>
              <a:ext cx="1762125" cy="647700"/>
            </a:xfrm>
            <a:custGeom>
              <a:avLst/>
              <a:gdLst/>
              <a:ahLst/>
              <a:cxnLst/>
              <a:rect l="l" t="t" r="r" b="b"/>
              <a:pathLst>
                <a:path w="1762125" h="647700">
                  <a:moveTo>
                    <a:pt x="1762125" y="0"/>
                  </a:moveTo>
                  <a:lnTo>
                    <a:pt x="0" y="0"/>
                  </a:lnTo>
                  <a:lnTo>
                    <a:pt x="0" y="561975"/>
                  </a:lnTo>
                  <a:lnTo>
                    <a:pt x="114300" y="600075"/>
                  </a:lnTo>
                  <a:lnTo>
                    <a:pt x="219075" y="628650"/>
                  </a:lnTo>
                  <a:lnTo>
                    <a:pt x="333375" y="638175"/>
                  </a:lnTo>
                  <a:lnTo>
                    <a:pt x="438150" y="647700"/>
                  </a:lnTo>
                  <a:lnTo>
                    <a:pt x="666750" y="628650"/>
                  </a:lnTo>
                  <a:lnTo>
                    <a:pt x="771525" y="600075"/>
                  </a:lnTo>
                  <a:lnTo>
                    <a:pt x="885825" y="561975"/>
                  </a:lnTo>
                  <a:lnTo>
                    <a:pt x="990600" y="533400"/>
                  </a:lnTo>
                  <a:lnTo>
                    <a:pt x="1104900" y="504825"/>
                  </a:lnTo>
                  <a:lnTo>
                    <a:pt x="1209675" y="495300"/>
                  </a:lnTo>
                  <a:lnTo>
                    <a:pt x="1323975" y="485775"/>
                  </a:lnTo>
                  <a:lnTo>
                    <a:pt x="1438275" y="495300"/>
                  </a:lnTo>
                  <a:lnTo>
                    <a:pt x="1543050" y="504825"/>
                  </a:lnTo>
                  <a:lnTo>
                    <a:pt x="1657350" y="533400"/>
                  </a:lnTo>
                  <a:lnTo>
                    <a:pt x="1762125" y="561975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695700" y="1358900"/>
              <a:ext cx="1762125" cy="647700"/>
            </a:xfrm>
            <a:custGeom>
              <a:avLst/>
              <a:gdLst/>
              <a:ahLst/>
              <a:cxnLst/>
              <a:rect l="l" t="t" r="r" b="b"/>
              <a:pathLst>
                <a:path w="1762125" h="647700">
                  <a:moveTo>
                    <a:pt x="0" y="561975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561975"/>
                  </a:lnTo>
                  <a:lnTo>
                    <a:pt x="1657350" y="533400"/>
                  </a:lnTo>
                  <a:lnTo>
                    <a:pt x="1543050" y="504825"/>
                  </a:lnTo>
                  <a:lnTo>
                    <a:pt x="1438275" y="495300"/>
                  </a:lnTo>
                  <a:lnTo>
                    <a:pt x="1323975" y="485775"/>
                  </a:lnTo>
                  <a:lnTo>
                    <a:pt x="1209675" y="495300"/>
                  </a:lnTo>
                  <a:lnTo>
                    <a:pt x="1104900" y="504825"/>
                  </a:lnTo>
                  <a:lnTo>
                    <a:pt x="990600" y="533400"/>
                  </a:lnTo>
                  <a:lnTo>
                    <a:pt x="885825" y="561975"/>
                  </a:lnTo>
                  <a:lnTo>
                    <a:pt x="771525" y="600075"/>
                  </a:lnTo>
                  <a:lnTo>
                    <a:pt x="666750" y="628650"/>
                  </a:lnTo>
                  <a:lnTo>
                    <a:pt x="438150" y="647700"/>
                  </a:lnTo>
                  <a:lnTo>
                    <a:pt x="333375" y="638175"/>
                  </a:lnTo>
                  <a:lnTo>
                    <a:pt x="219075" y="628650"/>
                  </a:lnTo>
                  <a:lnTo>
                    <a:pt x="114300" y="600075"/>
                  </a:lnTo>
                  <a:lnTo>
                    <a:pt x="0" y="5619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3711575" y="1365250"/>
            <a:ext cx="10445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Texts</a:t>
            </a:r>
            <a:r>
              <a:rPr dirty="0" sz="750" spc="7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(TDOBJECT)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Text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Name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(TDNAME) </a:t>
            </a:r>
            <a:r>
              <a:rPr dirty="0" sz="750">
                <a:latin typeface="Arial"/>
                <a:cs typeface="Arial"/>
              </a:rPr>
              <a:t>Text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Id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(TDID) </a:t>
            </a:r>
            <a:r>
              <a:rPr dirty="0" sz="750">
                <a:latin typeface="Arial"/>
                <a:cs typeface="Arial"/>
              </a:rPr>
              <a:t>Language</a:t>
            </a:r>
            <a:r>
              <a:rPr dirty="0" sz="750" spc="2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(TDSPRAS)</a:t>
            </a:r>
            <a:endParaRPr sz="750">
              <a:latin typeface="Arial"/>
              <a:cs typeface="Arial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7972425" y="777875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STXL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(STXD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SAPscript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text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file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lines)</a:t>
            </a:r>
            <a:endParaRPr sz="750">
              <a:latin typeface="Arial"/>
              <a:cs typeface="Arial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7972425" y="1044575"/>
            <a:ext cx="1762125" cy="847725"/>
          </a:xfrm>
          <a:custGeom>
            <a:avLst/>
            <a:gdLst/>
            <a:ahLst/>
            <a:cxnLst/>
            <a:rect l="l" t="t" r="r" b="b"/>
            <a:pathLst>
              <a:path w="1762125" h="847725">
                <a:moveTo>
                  <a:pt x="0" y="742950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742950"/>
                </a:lnTo>
                <a:lnTo>
                  <a:pt x="1666875" y="704850"/>
                </a:lnTo>
                <a:lnTo>
                  <a:pt x="1571625" y="676275"/>
                </a:lnTo>
                <a:lnTo>
                  <a:pt x="1466850" y="647700"/>
                </a:lnTo>
                <a:lnTo>
                  <a:pt x="1371600" y="638175"/>
                </a:lnTo>
                <a:lnTo>
                  <a:pt x="1266825" y="638175"/>
                </a:lnTo>
                <a:lnTo>
                  <a:pt x="1162050" y="647700"/>
                </a:lnTo>
                <a:lnTo>
                  <a:pt x="971550" y="704850"/>
                </a:lnTo>
                <a:lnTo>
                  <a:pt x="876300" y="742950"/>
                </a:lnTo>
                <a:lnTo>
                  <a:pt x="781050" y="790575"/>
                </a:lnTo>
                <a:lnTo>
                  <a:pt x="685800" y="819150"/>
                </a:lnTo>
                <a:lnTo>
                  <a:pt x="590550" y="838200"/>
                </a:lnTo>
                <a:lnTo>
                  <a:pt x="485775" y="847725"/>
                </a:lnTo>
                <a:lnTo>
                  <a:pt x="381000" y="847725"/>
                </a:lnTo>
                <a:lnTo>
                  <a:pt x="285750" y="838200"/>
                </a:lnTo>
                <a:lnTo>
                  <a:pt x="190500" y="819150"/>
                </a:lnTo>
                <a:lnTo>
                  <a:pt x="85725" y="790575"/>
                </a:lnTo>
                <a:lnTo>
                  <a:pt x="0" y="7429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7978775" y="1041400"/>
            <a:ext cx="104457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Arial"/>
                <a:cs typeface="Arial"/>
              </a:rPr>
              <a:t>(RELID)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Texts</a:t>
            </a:r>
            <a:r>
              <a:rPr dirty="0" sz="750" spc="7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(TDOBJECT)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Text</a:t>
            </a:r>
            <a:r>
              <a:rPr dirty="0" sz="750" spc="9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Name</a:t>
            </a:r>
            <a:r>
              <a:rPr dirty="0" sz="750" spc="9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(TDNAME) </a:t>
            </a:r>
            <a:r>
              <a:rPr dirty="0" sz="750">
                <a:latin typeface="Arial"/>
                <a:cs typeface="Arial"/>
              </a:rPr>
              <a:t>Text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Id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(TDID) </a:t>
            </a:r>
            <a:r>
              <a:rPr dirty="0" sz="750">
                <a:latin typeface="Arial"/>
                <a:cs typeface="Arial"/>
              </a:rPr>
              <a:t>Language</a:t>
            </a:r>
            <a:r>
              <a:rPr dirty="0" sz="750" spc="2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(TDSPRAS) (SRTF2)</a:t>
            </a:r>
            <a:endParaRPr sz="750">
              <a:latin typeface="Arial"/>
              <a:cs typeface="Arial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5457825" y="4206875"/>
            <a:ext cx="1476375" cy="38100"/>
          </a:xfrm>
          <a:custGeom>
            <a:avLst/>
            <a:gdLst/>
            <a:ahLst/>
            <a:cxnLst/>
            <a:rect l="l" t="t" r="r" b="b"/>
            <a:pathLst>
              <a:path w="1476375" h="38100">
                <a:moveTo>
                  <a:pt x="0" y="38100"/>
                </a:moveTo>
                <a:lnTo>
                  <a:pt x="114300" y="38100"/>
                </a:lnTo>
              </a:path>
              <a:path w="1476375" h="38100">
                <a:moveTo>
                  <a:pt x="142875" y="38100"/>
                </a:moveTo>
                <a:lnTo>
                  <a:pt x="161925" y="38100"/>
                </a:lnTo>
              </a:path>
              <a:path w="1476375" h="38100">
                <a:moveTo>
                  <a:pt x="190500" y="38100"/>
                </a:moveTo>
                <a:lnTo>
                  <a:pt x="304800" y="28575"/>
                </a:lnTo>
              </a:path>
              <a:path w="1476375" h="38100">
                <a:moveTo>
                  <a:pt x="333375" y="28575"/>
                </a:moveTo>
                <a:lnTo>
                  <a:pt x="352425" y="28575"/>
                </a:lnTo>
              </a:path>
              <a:path w="1476375" h="38100">
                <a:moveTo>
                  <a:pt x="381000" y="28575"/>
                </a:moveTo>
                <a:lnTo>
                  <a:pt x="495300" y="28575"/>
                </a:lnTo>
              </a:path>
              <a:path w="1476375" h="38100">
                <a:moveTo>
                  <a:pt x="514350" y="28575"/>
                </a:moveTo>
                <a:lnTo>
                  <a:pt x="542925" y="28575"/>
                </a:lnTo>
              </a:path>
              <a:path w="1476375" h="38100">
                <a:moveTo>
                  <a:pt x="561975" y="28575"/>
                </a:moveTo>
                <a:lnTo>
                  <a:pt x="676275" y="19050"/>
                </a:lnTo>
              </a:path>
              <a:path w="1476375" h="38100">
                <a:moveTo>
                  <a:pt x="704850" y="19050"/>
                </a:moveTo>
                <a:lnTo>
                  <a:pt x="723900" y="19050"/>
                </a:lnTo>
              </a:path>
              <a:path w="1476375" h="38100">
                <a:moveTo>
                  <a:pt x="752475" y="19050"/>
                </a:moveTo>
                <a:lnTo>
                  <a:pt x="866775" y="9525"/>
                </a:lnTo>
              </a:path>
              <a:path w="1476375" h="38100">
                <a:moveTo>
                  <a:pt x="895350" y="9525"/>
                </a:moveTo>
                <a:lnTo>
                  <a:pt x="914400" y="9525"/>
                </a:lnTo>
              </a:path>
              <a:path w="1476375" h="38100">
                <a:moveTo>
                  <a:pt x="942975" y="9525"/>
                </a:moveTo>
                <a:lnTo>
                  <a:pt x="1057275" y="9525"/>
                </a:lnTo>
              </a:path>
              <a:path w="1476375" h="38100">
                <a:moveTo>
                  <a:pt x="1076325" y="9525"/>
                </a:moveTo>
                <a:lnTo>
                  <a:pt x="1104900" y="9525"/>
                </a:lnTo>
              </a:path>
              <a:path w="1476375" h="38100">
                <a:moveTo>
                  <a:pt x="1133475" y="9525"/>
                </a:moveTo>
                <a:lnTo>
                  <a:pt x="1238250" y="0"/>
                </a:lnTo>
              </a:path>
              <a:path w="1476375" h="38100">
                <a:moveTo>
                  <a:pt x="1266825" y="0"/>
                </a:moveTo>
                <a:lnTo>
                  <a:pt x="1295400" y="0"/>
                </a:lnTo>
              </a:path>
              <a:path w="1476375" h="38100">
                <a:moveTo>
                  <a:pt x="1314450" y="0"/>
                </a:moveTo>
                <a:lnTo>
                  <a:pt x="1428750" y="0"/>
                </a:lnTo>
              </a:path>
              <a:path w="1476375" h="38100">
                <a:moveTo>
                  <a:pt x="1457325" y="0"/>
                </a:moveTo>
                <a:lnTo>
                  <a:pt x="14763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8420100" y="4149725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 h="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7" name="object 77" descr=""/>
          <p:cNvGrpSpPr/>
          <p:nvPr/>
        </p:nvGrpSpPr>
        <p:grpSpPr>
          <a:xfrm>
            <a:off x="5453062" y="820737"/>
            <a:ext cx="4329430" cy="3415029"/>
            <a:chOff x="5453062" y="820737"/>
            <a:chExt cx="4329430" cy="3415029"/>
          </a:xfrm>
        </p:grpSpPr>
        <p:sp>
          <p:nvSpPr>
            <p:cNvPr id="78" name="object 78" descr=""/>
            <p:cNvSpPr/>
            <p:nvPr/>
          </p:nvSpPr>
          <p:spPr>
            <a:xfrm>
              <a:off x="5457825" y="825500"/>
              <a:ext cx="2524125" cy="400050"/>
            </a:xfrm>
            <a:custGeom>
              <a:avLst/>
              <a:gdLst/>
              <a:ahLst/>
              <a:cxnLst/>
              <a:rect l="l" t="t" r="r" b="b"/>
              <a:pathLst>
                <a:path w="2524125" h="400050">
                  <a:moveTo>
                    <a:pt x="0" y="400050"/>
                  </a:moveTo>
                  <a:lnTo>
                    <a:pt x="2343150" y="104775"/>
                  </a:lnTo>
                  <a:lnTo>
                    <a:pt x="2514600" y="85725"/>
                  </a:lnTo>
                </a:path>
                <a:path w="2524125" h="400050">
                  <a:moveTo>
                    <a:pt x="2343150" y="104775"/>
                  </a:moveTo>
                  <a:lnTo>
                    <a:pt x="2524125" y="161925"/>
                  </a:lnTo>
                </a:path>
                <a:path w="2524125" h="400050">
                  <a:moveTo>
                    <a:pt x="2343150" y="104775"/>
                  </a:moveTo>
                  <a:lnTo>
                    <a:pt x="25050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4050" y="4016375"/>
              <a:ext cx="238125" cy="219075"/>
            </a:xfrm>
            <a:prstGeom prst="rect">
              <a:avLst/>
            </a:prstGeom>
          </p:spPr>
        </p:pic>
      </p:grpSp>
      <p:sp>
        <p:nvSpPr>
          <p:cNvPr id="80" name="object 80" descr=""/>
          <p:cNvSpPr txBox="1"/>
          <p:nvPr/>
        </p:nvSpPr>
        <p:spPr>
          <a:xfrm>
            <a:off x="6959600" y="3927475"/>
            <a:ext cx="25920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5349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To</a:t>
            </a:r>
            <a:r>
              <a:rPr dirty="0" sz="750" spc="17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Shipping</a:t>
            </a:r>
            <a:r>
              <a:rPr dirty="0" sz="750" spc="18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throug</a:t>
            </a:r>
            <a:r>
              <a:rPr dirty="0" sz="750" spc="-10" b="1">
                <a:latin typeface="Arial"/>
                <a:cs typeface="Arial"/>
              </a:rPr>
              <a:t>L</a:t>
            </a:r>
            <a:r>
              <a:rPr dirty="0" sz="750" spc="-10">
                <a:latin typeface="Arial"/>
                <a:cs typeface="Arial"/>
              </a:rPr>
              <a:t>h</a:t>
            </a:r>
            <a:r>
              <a:rPr dirty="0" sz="750" spc="-10" b="1">
                <a:latin typeface="Arial"/>
                <a:cs typeface="Arial"/>
              </a:rPr>
              <a:t>IPS</a:t>
            </a:r>
            <a:endParaRPr sz="750">
              <a:latin typeface="Arial"/>
              <a:cs typeface="Arial"/>
            </a:endParaRPr>
          </a:p>
          <a:p>
            <a:pPr marL="41275">
              <a:lnSpc>
                <a:spcPct val="100000"/>
              </a:lnSpc>
              <a:tabLst>
                <a:tab pos="2578735" algn="l"/>
              </a:tabLst>
            </a:pPr>
            <a:r>
              <a:rPr dirty="0" sz="750">
                <a:latin typeface="Arial"/>
                <a:cs typeface="Arial"/>
              </a:rPr>
              <a:t>LIPS-VGBEL</a:t>
            </a:r>
            <a:r>
              <a:rPr dirty="0" sz="750" spc="2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=</a:t>
            </a:r>
            <a:r>
              <a:rPr dirty="0" sz="750" spc="2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VBAP-VBE</a:t>
            </a:r>
            <a:r>
              <a:rPr dirty="0" u="sng" sz="7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LN</a:t>
            </a:r>
            <a:r>
              <a:rPr dirty="0" u="sng" sz="750" spc="34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none" sz="750" spc="395">
                <a:latin typeface="Arial"/>
                <a:cs typeface="Arial"/>
              </a:rPr>
              <a:t> </a:t>
            </a:r>
            <a:r>
              <a:rPr dirty="0" u="heavy" sz="7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750">
              <a:latin typeface="Arial"/>
              <a:cs typeface="Arial"/>
            </a:endParaRPr>
          </a:p>
          <a:p>
            <a:pPr algn="ctr" marR="1243965">
              <a:lnSpc>
                <a:spcPct val="100000"/>
              </a:lnSpc>
            </a:pPr>
            <a:r>
              <a:rPr dirty="0" sz="750" spc="-25">
                <a:latin typeface="Arial"/>
                <a:cs typeface="Arial"/>
              </a:rPr>
              <a:t>and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LIPS-VGPOS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=</a:t>
            </a:r>
            <a:r>
              <a:rPr dirty="0" sz="750" spc="7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VBAP-</a:t>
            </a:r>
            <a:r>
              <a:rPr dirty="0" sz="750" spc="-10">
                <a:latin typeface="Arial"/>
                <a:cs typeface="Arial"/>
              </a:rPr>
              <a:t>POSNR</a:t>
            </a:r>
            <a:endParaRPr sz="750">
              <a:latin typeface="Arial"/>
              <a:cs typeface="Arial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4581525" y="1787525"/>
            <a:ext cx="4162425" cy="2324100"/>
          </a:xfrm>
          <a:custGeom>
            <a:avLst/>
            <a:gdLst/>
            <a:ahLst/>
            <a:cxnLst/>
            <a:rect l="l" t="t" r="r" b="b"/>
            <a:pathLst>
              <a:path w="4162425" h="2324100">
                <a:moveTo>
                  <a:pt x="0" y="2324100"/>
                </a:moveTo>
                <a:lnTo>
                  <a:pt x="1247775" y="1285875"/>
                </a:lnTo>
              </a:path>
              <a:path w="4162425" h="2324100">
                <a:moveTo>
                  <a:pt x="2105025" y="466725"/>
                </a:moveTo>
                <a:lnTo>
                  <a:pt x="2124075" y="981075"/>
                </a:lnTo>
                <a:lnTo>
                  <a:pt x="2133600" y="1152525"/>
                </a:lnTo>
              </a:path>
              <a:path w="4162425" h="2324100">
                <a:moveTo>
                  <a:pt x="2124075" y="981075"/>
                </a:moveTo>
                <a:lnTo>
                  <a:pt x="2209800" y="1152525"/>
                </a:lnTo>
              </a:path>
              <a:path w="4162425" h="2324100">
                <a:moveTo>
                  <a:pt x="2124075" y="981075"/>
                </a:moveTo>
                <a:lnTo>
                  <a:pt x="2047875" y="1152525"/>
                </a:lnTo>
              </a:path>
              <a:path w="4162425" h="2324100">
                <a:moveTo>
                  <a:pt x="2990850" y="0"/>
                </a:moveTo>
                <a:lnTo>
                  <a:pt x="4162425" y="6191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 txBox="1"/>
          <p:nvPr/>
        </p:nvSpPr>
        <p:spPr>
          <a:xfrm>
            <a:off x="7858125" y="2406650"/>
            <a:ext cx="17621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VBFA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(Sales</a:t>
            </a:r>
            <a:r>
              <a:rPr dirty="0" sz="750" spc="1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Document</a:t>
            </a:r>
            <a:r>
              <a:rPr dirty="0" sz="750" spc="12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Flow)</a:t>
            </a:r>
            <a:endParaRPr sz="750">
              <a:latin typeface="Arial"/>
              <a:cs typeface="Arial"/>
            </a:endParaRPr>
          </a:p>
        </p:txBody>
      </p:sp>
      <p:sp>
        <p:nvSpPr>
          <p:cNvPr id="83" name="object 83" descr=""/>
          <p:cNvSpPr/>
          <p:nvPr/>
        </p:nvSpPr>
        <p:spPr>
          <a:xfrm>
            <a:off x="7858125" y="2673350"/>
            <a:ext cx="1762125" cy="800100"/>
          </a:xfrm>
          <a:custGeom>
            <a:avLst/>
            <a:gdLst/>
            <a:ahLst/>
            <a:cxnLst/>
            <a:rect l="l" t="t" r="r" b="b"/>
            <a:pathLst>
              <a:path w="1762125" h="800100">
                <a:moveTo>
                  <a:pt x="0" y="704850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704850"/>
                </a:lnTo>
                <a:lnTo>
                  <a:pt x="1676400" y="657225"/>
                </a:lnTo>
                <a:lnTo>
                  <a:pt x="1571625" y="628650"/>
                </a:lnTo>
                <a:lnTo>
                  <a:pt x="1476375" y="609600"/>
                </a:lnTo>
                <a:lnTo>
                  <a:pt x="1381125" y="600075"/>
                </a:lnTo>
                <a:lnTo>
                  <a:pt x="1276350" y="600075"/>
                </a:lnTo>
                <a:lnTo>
                  <a:pt x="1171575" y="609600"/>
                </a:lnTo>
                <a:lnTo>
                  <a:pt x="1076325" y="628650"/>
                </a:lnTo>
                <a:lnTo>
                  <a:pt x="981075" y="657225"/>
                </a:lnTo>
                <a:lnTo>
                  <a:pt x="885825" y="704850"/>
                </a:lnTo>
                <a:lnTo>
                  <a:pt x="790575" y="733425"/>
                </a:lnTo>
                <a:lnTo>
                  <a:pt x="695325" y="771525"/>
                </a:lnTo>
                <a:lnTo>
                  <a:pt x="590550" y="790575"/>
                </a:lnTo>
                <a:lnTo>
                  <a:pt x="495300" y="800100"/>
                </a:lnTo>
                <a:lnTo>
                  <a:pt x="390525" y="800100"/>
                </a:lnTo>
                <a:lnTo>
                  <a:pt x="295275" y="790575"/>
                </a:lnTo>
                <a:lnTo>
                  <a:pt x="190500" y="771525"/>
                </a:lnTo>
                <a:lnTo>
                  <a:pt x="95250" y="733425"/>
                </a:lnTo>
                <a:lnTo>
                  <a:pt x="0" y="704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 txBox="1"/>
          <p:nvPr/>
        </p:nvSpPr>
        <p:spPr>
          <a:xfrm>
            <a:off x="7874000" y="2670175"/>
            <a:ext cx="143573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Preceding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(VBELV) </a:t>
            </a:r>
            <a:r>
              <a:rPr dirty="0" sz="750">
                <a:latin typeface="Arial"/>
                <a:cs typeface="Arial"/>
              </a:rPr>
              <a:t>Preceding</a:t>
            </a:r>
            <a:r>
              <a:rPr dirty="0" sz="750" spc="1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1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(POSNV) </a:t>
            </a:r>
            <a:r>
              <a:rPr dirty="0" sz="750">
                <a:latin typeface="Arial"/>
                <a:cs typeface="Arial"/>
              </a:rPr>
              <a:t>Subsequent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Sales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doc</a:t>
            </a:r>
            <a:r>
              <a:rPr dirty="0" sz="750" spc="10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(VBELN) </a:t>
            </a:r>
            <a:r>
              <a:rPr dirty="0" sz="750">
                <a:latin typeface="Arial"/>
                <a:cs typeface="Arial"/>
              </a:rPr>
              <a:t>Subsequent</a:t>
            </a:r>
            <a:r>
              <a:rPr dirty="0" sz="750" spc="8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Item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(POSNN) </a:t>
            </a:r>
            <a:r>
              <a:rPr dirty="0" sz="750">
                <a:latin typeface="Arial"/>
                <a:cs typeface="Arial"/>
              </a:rPr>
              <a:t>Document</a:t>
            </a:r>
            <a:r>
              <a:rPr dirty="0" sz="750" spc="8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Cat</a:t>
            </a:r>
            <a:r>
              <a:rPr dirty="0" sz="750" spc="10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(VBTYP_N)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05475" y="3649662"/>
            <a:ext cx="676275" cy="2705100"/>
            <a:chOff x="5705475" y="3649662"/>
            <a:chExt cx="676275" cy="2705100"/>
          </a:xfrm>
        </p:grpSpPr>
        <p:sp>
          <p:nvSpPr>
            <p:cNvPr id="3" name="object 3" descr=""/>
            <p:cNvSpPr/>
            <p:nvPr/>
          </p:nvSpPr>
          <p:spPr>
            <a:xfrm>
              <a:off x="5810250" y="3654425"/>
              <a:ext cx="381000" cy="2695575"/>
            </a:xfrm>
            <a:custGeom>
              <a:avLst/>
              <a:gdLst/>
              <a:ahLst/>
              <a:cxnLst/>
              <a:rect l="l" t="t" r="r" b="b"/>
              <a:pathLst>
                <a:path w="381000" h="2695575">
                  <a:moveTo>
                    <a:pt x="381000" y="0"/>
                  </a:moveTo>
                  <a:lnTo>
                    <a:pt x="104775" y="2505075"/>
                  </a:lnTo>
                  <a:lnTo>
                    <a:pt x="85725" y="2686050"/>
                  </a:lnTo>
                </a:path>
                <a:path w="381000" h="2695575">
                  <a:moveTo>
                    <a:pt x="104775" y="2505075"/>
                  </a:moveTo>
                  <a:lnTo>
                    <a:pt x="0" y="2676525"/>
                  </a:lnTo>
                </a:path>
                <a:path w="381000" h="2695575">
                  <a:moveTo>
                    <a:pt x="104775" y="2505075"/>
                  </a:moveTo>
                  <a:lnTo>
                    <a:pt x="180975" y="26955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05475" y="4864100"/>
              <a:ext cx="676275" cy="266700"/>
            </a:xfrm>
            <a:custGeom>
              <a:avLst/>
              <a:gdLst/>
              <a:ahLst/>
              <a:cxnLst/>
              <a:rect l="l" t="t" r="r" b="b"/>
              <a:pathLst>
                <a:path w="676275" h="266700">
                  <a:moveTo>
                    <a:pt x="6762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676275" y="266700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5702300" y="4851400"/>
            <a:ext cx="67754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35">
                <a:latin typeface="Arial"/>
                <a:cs typeface="Arial"/>
              </a:rPr>
              <a:t>LIPS-</a:t>
            </a:r>
            <a:r>
              <a:rPr dirty="0" sz="800" spc="-20">
                <a:latin typeface="Arial"/>
                <a:cs typeface="Arial"/>
              </a:rPr>
              <a:t>VBELN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50">
                <a:latin typeface="Arial"/>
                <a:cs typeface="Arial"/>
              </a:rPr>
              <a:t>=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40400" y="4965700"/>
            <a:ext cx="5969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30">
                <a:latin typeface="Arial"/>
                <a:cs typeface="Arial"/>
              </a:rPr>
              <a:t>LIKP-</a:t>
            </a:r>
            <a:r>
              <a:rPr dirty="0" sz="800" spc="-10">
                <a:latin typeface="Arial"/>
                <a:cs typeface="Arial"/>
              </a:rPr>
              <a:t>VBELN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834187" y="2725737"/>
            <a:ext cx="1333500" cy="3762375"/>
            <a:chOff x="6834187" y="2725737"/>
            <a:chExt cx="1333500" cy="3762375"/>
          </a:xfrm>
        </p:grpSpPr>
        <p:sp>
          <p:nvSpPr>
            <p:cNvPr id="8" name="object 8" descr=""/>
            <p:cNvSpPr/>
            <p:nvPr/>
          </p:nvSpPr>
          <p:spPr>
            <a:xfrm>
              <a:off x="6838950" y="2730500"/>
              <a:ext cx="1323975" cy="3752850"/>
            </a:xfrm>
            <a:custGeom>
              <a:avLst/>
              <a:gdLst/>
              <a:ahLst/>
              <a:cxnLst/>
              <a:rect l="l" t="t" r="r" b="b"/>
              <a:pathLst>
                <a:path w="1323975" h="3752850">
                  <a:moveTo>
                    <a:pt x="0" y="3752850"/>
                  </a:moveTo>
                  <a:lnTo>
                    <a:pt x="13239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115175" y="4292600"/>
              <a:ext cx="771525" cy="628650"/>
            </a:xfrm>
            <a:custGeom>
              <a:avLst/>
              <a:gdLst/>
              <a:ahLst/>
              <a:cxnLst/>
              <a:rect l="l" t="t" r="r" b="b"/>
              <a:pathLst>
                <a:path w="771525" h="628650">
                  <a:moveTo>
                    <a:pt x="771525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771525" y="628650"/>
                  </a:lnTo>
                  <a:lnTo>
                    <a:pt x="771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112000" y="4279900"/>
            <a:ext cx="755650" cy="6369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98425" marR="6350" indent="-76200">
              <a:lnSpc>
                <a:spcPts val="900"/>
              </a:lnSpc>
              <a:spcBef>
                <a:spcPts val="204"/>
              </a:spcBef>
            </a:pPr>
            <a:r>
              <a:rPr dirty="0" sz="800" spc="-25">
                <a:latin typeface="Arial"/>
                <a:cs typeface="Arial"/>
              </a:rPr>
              <a:t>VEPO-</a:t>
            </a:r>
            <a:r>
              <a:rPr dirty="0" sz="800" spc="-20">
                <a:latin typeface="Arial"/>
                <a:cs typeface="Arial"/>
              </a:rPr>
              <a:t>VBELN </a:t>
            </a:r>
            <a:r>
              <a:rPr dirty="0" sz="800" spc="-50">
                <a:latin typeface="Arial"/>
                <a:cs typeface="Arial"/>
              </a:rPr>
              <a:t>=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LIPS-</a:t>
            </a:r>
            <a:r>
              <a:rPr dirty="0" sz="800" spc="-10">
                <a:latin typeface="Arial"/>
                <a:cs typeface="Arial"/>
              </a:rPr>
              <a:t>VBELN</a:t>
            </a:r>
            <a:endParaRPr sz="800">
              <a:latin typeface="Arial"/>
              <a:cs typeface="Arial"/>
            </a:endParaRPr>
          </a:p>
          <a:p>
            <a:pPr marL="12700" marR="5080" indent="295275">
              <a:lnSpc>
                <a:spcPts val="980"/>
              </a:lnSpc>
              <a:spcBef>
                <a:spcPts val="10"/>
              </a:spcBef>
            </a:pPr>
            <a:r>
              <a:rPr dirty="0" sz="800" spc="-25">
                <a:latin typeface="Arial"/>
                <a:cs typeface="Arial"/>
              </a:rPr>
              <a:t>and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40">
                <a:latin typeface="Arial"/>
                <a:cs typeface="Arial"/>
              </a:rPr>
              <a:t>VEPO-</a:t>
            </a:r>
            <a:r>
              <a:rPr dirty="0" sz="800" spc="-35">
                <a:latin typeface="Arial"/>
                <a:cs typeface="Arial"/>
              </a:rPr>
              <a:t>POSNR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50">
                <a:latin typeface="Arial"/>
                <a:cs typeface="Arial"/>
              </a:rPr>
              <a:t>=</a:t>
            </a:r>
            <a:endParaRPr sz="800">
              <a:latin typeface="Arial"/>
              <a:cs typeface="Arial"/>
            </a:endParaRPr>
          </a:p>
          <a:p>
            <a:pPr marL="79375">
              <a:lnSpc>
                <a:spcPts val="935"/>
              </a:lnSpc>
            </a:pPr>
            <a:r>
              <a:rPr dirty="0" sz="800" spc="-50">
                <a:latin typeface="Arial"/>
                <a:cs typeface="Arial"/>
              </a:rPr>
              <a:t>LIPS-</a:t>
            </a:r>
            <a:r>
              <a:rPr dirty="0" sz="800" spc="-10">
                <a:latin typeface="Arial"/>
                <a:cs typeface="Arial"/>
              </a:rPr>
              <a:t>POSNR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839200" y="3468687"/>
            <a:ext cx="781050" cy="1047750"/>
            <a:chOff x="8839200" y="3468687"/>
            <a:chExt cx="781050" cy="1047750"/>
          </a:xfrm>
        </p:grpSpPr>
        <p:sp>
          <p:nvSpPr>
            <p:cNvPr id="12" name="object 12" descr=""/>
            <p:cNvSpPr/>
            <p:nvPr/>
          </p:nvSpPr>
          <p:spPr>
            <a:xfrm>
              <a:off x="9020175" y="3473450"/>
              <a:ext cx="342900" cy="1038225"/>
            </a:xfrm>
            <a:custGeom>
              <a:avLst/>
              <a:gdLst/>
              <a:ahLst/>
              <a:cxnLst/>
              <a:rect l="l" t="t" r="r" b="b"/>
              <a:pathLst>
                <a:path w="342900" h="1038225">
                  <a:moveTo>
                    <a:pt x="123825" y="200025"/>
                  </a:moveTo>
                  <a:lnTo>
                    <a:pt x="342900" y="1038225"/>
                  </a:lnTo>
                </a:path>
                <a:path w="342900" h="1038225">
                  <a:moveTo>
                    <a:pt x="123825" y="200025"/>
                  </a:moveTo>
                  <a:lnTo>
                    <a:pt x="85725" y="28575"/>
                  </a:lnTo>
                </a:path>
                <a:path w="342900" h="1038225">
                  <a:moveTo>
                    <a:pt x="123825" y="200025"/>
                  </a:moveTo>
                  <a:lnTo>
                    <a:pt x="0" y="47625"/>
                  </a:lnTo>
                </a:path>
                <a:path w="342900" h="1038225">
                  <a:moveTo>
                    <a:pt x="123825" y="200025"/>
                  </a:moveTo>
                  <a:lnTo>
                    <a:pt x="1714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839200" y="3873500"/>
              <a:ext cx="781050" cy="257175"/>
            </a:xfrm>
            <a:custGeom>
              <a:avLst/>
              <a:gdLst/>
              <a:ahLst/>
              <a:cxnLst/>
              <a:rect l="l" t="t" r="r" b="b"/>
              <a:pathLst>
                <a:path w="781050" h="257175">
                  <a:moveTo>
                    <a:pt x="78105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781050" y="257175"/>
                  </a:lnTo>
                  <a:lnTo>
                    <a:pt x="781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836025" y="3851275"/>
            <a:ext cx="7645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35">
                <a:latin typeface="Arial"/>
                <a:cs typeface="Arial"/>
              </a:rPr>
              <a:t>VEPO-</a:t>
            </a:r>
            <a:r>
              <a:rPr dirty="0" sz="800" spc="-30">
                <a:latin typeface="Arial"/>
                <a:cs typeface="Arial"/>
              </a:rPr>
              <a:t>VENUM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50">
                <a:latin typeface="Arial"/>
                <a:cs typeface="Arial"/>
              </a:rPr>
              <a:t>=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883650" y="3975100"/>
            <a:ext cx="6635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45">
                <a:latin typeface="Arial"/>
                <a:cs typeface="Arial"/>
              </a:rPr>
              <a:t>VEKP-</a:t>
            </a:r>
            <a:r>
              <a:rPr dirty="0" sz="800" spc="-10">
                <a:latin typeface="Arial"/>
                <a:cs typeface="Arial"/>
              </a:rPr>
              <a:t>VENUM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191250" y="2216150"/>
            <a:ext cx="0" cy="800100"/>
          </a:xfrm>
          <a:custGeom>
            <a:avLst/>
            <a:gdLst/>
            <a:ahLst/>
            <a:cxnLst/>
            <a:rect l="l" t="t" r="r" b="b"/>
            <a:pathLst>
              <a:path w="0" h="800100">
                <a:moveTo>
                  <a:pt x="0" y="533400"/>
                </a:moveTo>
                <a:lnTo>
                  <a:pt x="0" y="800100"/>
                </a:lnTo>
              </a:path>
              <a:path w="0" h="800100">
                <a:moveTo>
                  <a:pt x="0" y="0"/>
                </a:moveTo>
                <a:lnTo>
                  <a:pt x="0" y="2762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816600" y="2470150"/>
            <a:ext cx="742315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79375" marR="5080" indent="-66675">
              <a:lnSpc>
                <a:spcPct val="101600"/>
              </a:lnSpc>
              <a:spcBef>
                <a:spcPts val="110"/>
              </a:spcBef>
            </a:pPr>
            <a:r>
              <a:rPr dirty="0" sz="800" spc="-20">
                <a:latin typeface="Arial"/>
                <a:cs typeface="Arial"/>
              </a:rPr>
              <a:t>VBLK-</a:t>
            </a:r>
            <a:r>
              <a:rPr dirty="0" sz="800">
                <a:latin typeface="Arial"/>
                <a:cs typeface="Arial"/>
              </a:rPr>
              <a:t>VBELN </a:t>
            </a:r>
            <a:r>
              <a:rPr dirty="0" sz="800" spc="-50">
                <a:latin typeface="Arial"/>
                <a:cs typeface="Arial"/>
              </a:rPr>
              <a:t>=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LIKP-</a:t>
            </a:r>
            <a:r>
              <a:rPr dirty="0" sz="800" spc="-10">
                <a:latin typeface="Arial"/>
                <a:cs typeface="Arial"/>
              </a:rPr>
              <a:t>VBELN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324350" y="844550"/>
            <a:ext cx="2505075" cy="457200"/>
            <a:chOff x="4324350" y="844550"/>
            <a:chExt cx="2505075" cy="457200"/>
          </a:xfrm>
        </p:grpSpPr>
        <p:sp>
          <p:nvSpPr>
            <p:cNvPr id="19" name="object 19" descr=""/>
            <p:cNvSpPr/>
            <p:nvPr/>
          </p:nvSpPr>
          <p:spPr>
            <a:xfrm>
              <a:off x="4438650" y="958850"/>
              <a:ext cx="2390775" cy="342900"/>
            </a:xfrm>
            <a:custGeom>
              <a:avLst/>
              <a:gdLst/>
              <a:ahLst/>
              <a:cxnLst/>
              <a:rect l="l" t="t" r="r" b="b"/>
              <a:pathLst>
                <a:path w="2390775" h="342900">
                  <a:moveTo>
                    <a:pt x="2390775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390775" y="342900"/>
                  </a:lnTo>
                  <a:lnTo>
                    <a:pt x="239077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324350" y="844550"/>
              <a:ext cx="2390775" cy="342900"/>
            </a:xfrm>
            <a:custGeom>
              <a:avLst/>
              <a:gdLst/>
              <a:ahLst/>
              <a:cxnLst/>
              <a:rect l="l" t="t" r="r" b="b"/>
              <a:pathLst>
                <a:path w="2390775" h="342900">
                  <a:moveTo>
                    <a:pt x="2390775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390775" y="342900"/>
                  </a:lnTo>
                  <a:lnTo>
                    <a:pt x="2390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324350" y="844550"/>
            <a:ext cx="2390775" cy="3429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325"/>
              </a:spcBef>
            </a:pPr>
            <a:r>
              <a:rPr dirty="0" sz="1400" b="1">
                <a:latin typeface="Arial"/>
                <a:cs typeface="Arial"/>
              </a:rPr>
              <a:t>SAP</a:t>
            </a:r>
            <a:r>
              <a:rPr dirty="0" sz="1400" spc="8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SD</a:t>
            </a:r>
            <a:r>
              <a:rPr dirty="0" sz="1400" spc="8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-</a:t>
            </a:r>
            <a:r>
              <a:rPr dirty="0" sz="1400" spc="8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Shipping</a:t>
            </a:r>
            <a:r>
              <a:rPr dirty="0" sz="1400" spc="8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Tables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5233987" y="1525587"/>
            <a:ext cx="1895475" cy="752475"/>
            <a:chOff x="5233987" y="1525587"/>
            <a:chExt cx="1895475" cy="752475"/>
          </a:xfrm>
        </p:grpSpPr>
        <p:sp>
          <p:nvSpPr>
            <p:cNvPr id="23" name="object 23" descr=""/>
            <p:cNvSpPr/>
            <p:nvPr/>
          </p:nvSpPr>
          <p:spPr>
            <a:xfrm>
              <a:off x="5238750" y="1530350"/>
              <a:ext cx="1885950" cy="342900"/>
            </a:xfrm>
            <a:custGeom>
              <a:avLst/>
              <a:gdLst/>
              <a:ahLst/>
              <a:cxnLst/>
              <a:rect l="l" t="t" r="r" b="b"/>
              <a:pathLst>
                <a:path w="1885950" h="342900">
                  <a:moveTo>
                    <a:pt x="0" y="342900"/>
                  </a:moveTo>
                  <a:lnTo>
                    <a:pt x="1885950" y="342900"/>
                  </a:lnTo>
                  <a:lnTo>
                    <a:pt x="188595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238750" y="1816100"/>
              <a:ext cx="1885950" cy="457200"/>
            </a:xfrm>
            <a:custGeom>
              <a:avLst/>
              <a:gdLst/>
              <a:ahLst/>
              <a:cxnLst/>
              <a:rect l="l" t="t" r="r" b="b"/>
              <a:pathLst>
                <a:path w="1885950" h="457200">
                  <a:moveTo>
                    <a:pt x="1885950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133350" y="428625"/>
                  </a:lnTo>
                  <a:lnTo>
                    <a:pt x="266700" y="447675"/>
                  </a:lnTo>
                  <a:lnTo>
                    <a:pt x="409575" y="457200"/>
                  </a:lnTo>
                  <a:lnTo>
                    <a:pt x="542925" y="457200"/>
                  </a:lnTo>
                  <a:lnTo>
                    <a:pt x="676275" y="447675"/>
                  </a:lnTo>
                  <a:lnTo>
                    <a:pt x="809625" y="428625"/>
                  </a:lnTo>
                  <a:lnTo>
                    <a:pt x="952500" y="400050"/>
                  </a:lnTo>
                  <a:lnTo>
                    <a:pt x="1076325" y="381000"/>
                  </a:lnTo>
                  <a:lnTo>
                    <a:pt x="1219200" y="352425"/>
                  </a:lnTo>
                  <a:lnTo>
                    <a:pt x="1352550" y="342900"/>
                  </a:lnTo>
                  <a:lnTo>
                    <a:pt x="1485900" y="342900"/>
                  </a:lnTo>
                  <a:lnTo>
                    <a:pt x="1619250" y="352425"/>
                  </a:lnTo>
                  <a:lnTo>
                    <a:pt x="1762125" y="381000"/>
                  </a:lnTo>
                  <a:lnTo>
                    <a:pt x="1885950" y="400050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238750" y="1816100"/>
              <a:ext cx="1885950" cy="457200"/>
            </a:xfrm>
            <a:custGeom>
              <a:avLst/>
              <a:gdLst/>
              <a:ahLst/>
              <a:cxnLst/>
              <a:rect l="l" t="t" r="r" b="b"/>
              <a:pathLst>
                <a:path w="1885950" h="457200">
                  <a:moveTo>
                    <a:pt x="0" y="400050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400050"/>
                  </a:lnTo>
                  <a:lnTo>
                    <a:pt x="1762125" y="381000"/>
                  </a:lnTo>
                  <a:lnTo>
                    <a:pt x="1619250" y="352425"/>
                  </a:lnTo>
                  <a:lnTo>
                    <a:pt x="1485900" y="342900"/>
                  </a:lnTo>
                  <a:lnTo>
                    <a:pt x="1352550" y="342900"/>
                  </a:lnTo>
                  <a:lnTo>
                    <a:pt x="1219200" y="352425"/>
                  </a:lnTo>
                  <a:lnTo>
                    <a:pt x="1076325" y="381000"/>
                  </a:lnTo>
                  <a:lnTo>
                    <a:pt x="952500" y="400050"/>
                  </a:lnTo>
                  <a:lnTo>
                    <a:pt x="809625" y="428625"/>
                  </a:lnTo>
                  <a:lnTo>
                    <a:pt x="676275" y="447675"/>
                  </a:lnTo>
                  <a:lnTo>
                    <a:pt x="542925" y="457200"/>
                  </a:lnTo>
                  <a:lnTo>
                    <a:pt x="409575" y="457200"/>
                  </a:lnTo>
                  <a:lnTo>
                    <a:pt x="266700" y="447675"/>
                  </a:lnTo>
                  <a:lnTo>
                    <a:pt x="133350" y="428625"/>
                  </a:lnTo>
                  <a:lnTo>
                    <a:pt x="0" y="4000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5254625" y="1527175"/>
            <a:ext cx="1683385" cy="4368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VBLK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(SD:Delivery</a:t>
            </a:r>
            <a:r>
              <a:rPr dirty="0" sz="800" spc="1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Note</a:t>
            </a:r>
            <a:r>
              <a:rPr dirty="0" sz="800" spc="114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Header)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 spc="-10">
                <a:latin typeface="Arial"/>
                <a:cs typeface="Arial"/>
              </a:rPr>
              <a:t>Delivery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Document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(VBELN)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5238750" y="3016250"/>
            <a:ext cx="1885950" cy="285750"/>
          </a:xfrm>
          <a:custGeom>
            <a:avLst/>
            <a:gdLst/>
            <a:ahLst/>
            <a:cxnLst/>
            <a:rect l="l" t="t" r="r" b="b"/>
            <a:pathLst>
              <a:path w="1885950" h="285750">
                <a:moveTo>
                  <a:pt x="1885950" y="0"/>
                </a:moveTo>
                <a:lnTo>
                  <a:pt x="0" y="0"/>
                </a:lnTo>
                <a:lnTo>
                  <a:pt x="0" y="285750"/>
                </a:lnTo>
                <a:lnTo>
                  <a:pt x="1885950" y="285750"/>
                </a:lnTo>
                <a:lnTo>
                  <a:pt x="1885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5238750" y="3016250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28575">
              <a:lnSpc>
                <a:spcPts val="930"/>
              </a:lnSpc>
              <a:spcBef>
                <a:spcPts val="175"/>
              </a:spcBef>
            </a:pPr>
            <a:r>
              <a:rPr dirty="0" sz="800" spc="-20" b="1">
                <a:latin typeface="Arial"/>
                <a:cs typeface="Arial"/>
              </a:rPr>
              <a:t>LIKP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ts val="930"/>
              </a:lnSpc>
            </a:pPr>
            <a:r>
              <a:rPr dirty="0" sz="800" b="1">
                <a:latin typeface="Arial"/>
                <a:cs typeface="Arial"/>
              </a:rPr>
              <a:t>(Sales</a:t>
            </a:r>
            <a:r>
              <a:rPr dirty="0" sz="800" spc="16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Doc:Delivery</a:t>
            </a:r>
            <a:r>
              <a:rPr dirty="0" sz="800" spc="16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Header)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233987" y="3297237"/>
            <a:ext cx="1895475" cy="409575"/>
            <a:chOff x="5233987" y="3297237"/>
            <a:chExt cx="1895475" cy="409575"/>
          </a:xfrm>
        </p:grpSpPr>
        <p:sp>
          <p:nvSpPr>
            <p:cNvPr id="30" name="object 30" descr=""/>
            <p:cNvSpPr/>
            <p:nvPr/>
          </p:nvSpPr>
          <p:spPr>
            <a:xfrm>
              <a:off x="5238750" y="3302000"/>
              <a:ext cx="1885950" cy="400050"/>
            </a:xfrm>
            <a:custGeom>
              <a:avLst/>
              <a:gdLst/>
              <a:ahLst/>
              <a:cxnLst/>
              <a:rect l="l" t="t" r="r" b="b"/>
              <a:pathLst>
                <a:path w="1885950" h="400050">
                  <a:moveTo>
                    <a:pt x="188595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161925" y="381000"/>
                  </a:lnTo>
                  <a:lnTo>
                    <a:pt x="314325" y="400050"/>
                  </a:lnTo>
                  <a:lnTo>
                    <a:pt x="638175" y="400050"/>
                  </a:lnTo>
                  <a:lnTo>
                    <a:pt x="790575" y="381000"/>
                  </a:lnTo>
                  <a:lnTo>
                    <a:pt x="952500" y="352425"/>
                  </a:lnTo>
                  <a:lnTo>
                    <a:pt x="1104900" y="323850"/>
                  </a:lnTo>
                  <a:lnTo>
                    <a:pt x="1257300" y="314325"/>
                  </a:lnTo>
                  <a:lnTo>
                    <a:pt x="1419225" y="304800"/>
                  </a:lnTo>
                  <a:lnTo>
                    <a:pt x="1571625" y="314325"/>
                  </a:lnTo>
                  <a:lnTo>
                    <a:pt x="1733550" y="323850"/>
                  </a:lnTo>
                  <a:lnTo>
                    <a:pt x="1885950" y="352425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238750" y="3302000"/>
              <a:ext cx="1885950" cy="400050"/>
            </a:xfrm>
            <a:custGeom>
              <a:avLst/>
              <a:gdLst/>
              <a:ahLst/>
              <a:cxnLst/>
              <a:rect l="l" t="t" r="r" b="b"/>
              <a:pathLst>
                <a:path w="1885950" h="400050">
                  <a:moveTo>
                    <a:pt x="0" y="352425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352425"/>
                  </a:lnTo>
                  <a:lnTo>
                    <a:pt x="1733550" y="323850"/>
                  </a:lnTo>
                  <a:lnTo>
                    <a:pt x="1571625" y="314325"/>
                  </a:lnTo>
                  <a:lnTo>
                    <a:pt x="1419225" y="304800"/>
                  </a:lnTo>
                  <a:lnTo>
                    <a:pt x="1257300" y="314325"/>
                  </a:lnTo>
                  <a:lnTo>
                    <a:pt x="1104900" y="323850"/>
                  </a:lnTo>
                  <a:lnTo>
                    <a:pt x="952500" y="352425"/>
                  </a:lnTo>
                  <a:lnTo>
                    <a:pt x="790575" y="381000"/>
                  </a:lnTo>
                  <a:lnTo>
                    <a:pt x="638175" y="400050"/>
                  </a:lnTo>
                  <a:lnTo>
                    <a:pt x="314325" y="400050"/>
                  </a:lnTo>
                  <a:lnTo>
                    <a:pt x="161925" y="381000"/>
                  </a:lnTo>
                  <a:lnTo>
                    <a:pt x="0" y="352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5254625" y="3298825"/>
            <a:ext cx="16833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Delivery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Document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(VBELN)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4953000" y="6340475"/>
            <a:ext cx="1885950" cy="285750"/>
          </a:xfrm>
          <a:custGeom>
            <a:avLst/>
            <a:gdLst/>
            <a:ahLst/>
            <a:cxnLst/>
            <a:rect l="l" t="t" r="r" b="b"/>
            <a:pathLst>
              <a:path w="1885950" h="285750">
                <a:moveTo>
                  <a:pt x="1885950" y="0"/>
                </a:moveTo>
                <a:lnTo>
                  <a:pt x="0" y="0"/>
                </a:lnTo>
                <a:lnTo>
                  <a:pt x="0" y="285750"/>
                </a:lnTo>
                <a:lnTo>
                  <a:pt x="1885950" y="285750"/>
                </a:lnTo>
                <a:lnTo>
                  <a:pt x="1885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4953000" y="6340475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LIPS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spc="10" b="1">
                <a:latin typeface="Arial"/>
                <a:cs typeface="Arial"/>
              </a:rPr>
              <a:t>(Sales</a:t>
            </a:r>
            <a:r>
              <a:rPr dirty="0" sz="800" spc="120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Doc:Delivery</a:t>
            </a:r>
            <a:r>
              <a:rPr dirty="0" sz="800" spc="12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Items)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4953000" y="6626225"/>
            <a:ext cx="1885950" cy="400050"/>
          </a:xfrm>
          <a:custGeom>
            <a:avLst/>
            <a:gdLst/>
            <a:ahLst/>
            <a:cxnLst/>
            <a:rect l="l" t="t" r="r" b="b"/>
            <a:pathLst>
              <a:path w="1885950" h="400050">
                <a:moveTo>
                  <a:pt x="0" y="352425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352425"/>
                </a:lnTo>
                <a:lnTo>
                  <a:pt x="1733550" y="323850"/>
                </a:lnTo>
                <a:lnTo>
                  <a:pt x="1581150" y="304800"/>
                </a:lnTo>
                <a:lnTo>
                  <a:pt x="1419225" y="295275"/>
                </a:lnTo>
                <a:lnTo>
                  <a:pt x="1257300" y="304800"/>
                </a:lnTo>
                <a:lnTo>
                  <a:pt x="1104900" y="323850"/>
                </a:lnTo>
                <a:lnTo>
                  <a:pt x="942975" y="352425"/>
                </a:lnTo>
                <a:lnTo>
                  <a:pt x="790575" y="381000"/>
                </a:lnTo>
                <a:lnTo>
                  <a:pt x="628650" y="390525"/>
                </a:lnTo>
                <a:lnTo>
                  <a:pt x="476250" y="400050"/>
                </a:lnTo>
                <a:lnTo>
                  <a:pt x="314325" y="390525"/>
                </a:lnTo>
                <a:lnTo>
                  <a:pt x="161925" y="381000"/>
                </a:lnTo>
                <a:lnTo>
                  <a:pt x="0" y="3524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4968875" y="6623050"/>
            <a:ext cx="1683385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800" spc="-10">
                <a:latin typeface="Arial"/>
                <a:cs typeface="Arial"/>
              </a:rPr>
              <a:t>Delivery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Document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(VBELN) </a:t>
            </a:r>
            <a:r>
              <a:rPr dirty="0" sz="800" spc="-35">
                <a:latin typeface="Arial"/>
                <a:cs typeface="Arial"/>
              </a:rPr>
              <a:t>Item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(POSNR)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8420100" y="4511675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VEKP</a:t>
            </a:r>
            <a:endParaRPr sz="8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(SD</a:t>
            </a:r>
            <a:r>
              <a:rPr dirty="0" sz="800" spc="8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Doc:Shipping</a:t>
            </a:r>
            <a:r>
              <a:rPr dirty="0" sz="800" spc="8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Unit</a:t>
            </a:r>
            <a:r>
              <a:rPr dirty="0" sz="800" spc="8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Header)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8420100" y="4797425"/>
            <a:ext cx="1885950" cy="400050"/>
          </a:xfrm>
          <a:custGeom>
            <a:avLst/>
            <a:gdLst/>
            <a:ahLst/>
            <a:cxnLst/>
            <a:rect l="l" t="t" r="r" b="b"/>
            <a:pathLst>
              <a:path w="1885950" h="400050">
                <a:moveTo>
                  <a:pt x="0" y="342900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342900"/>
                </a:lnTo>
                <a:lnTo>
                  <a:pt x="1724025" y="314325"/>
                </a:lnTo>
                <a:lnTo>
                  <a:pt x="1571625" y="304800"/>
                </a:lnTo>
                <a:lnTo>
                  <a:pt x="1409700" y="295275"/>
                </a:lnTo>
                <a:lnTo>
                  <a:pt x="1247775" y="304800"/>
                </a:lnTo>
                <a:lnTo>
                  <a:pt x="1095375" y="314325"/>
                </a:lnTo>
                <a:lnTo>
                  <a:pt x="942975" y="342900"/>
                </a:lnTo>
                <a:lnTo>
                  <a:pt x="781050" y="371475"/>
                </a:lnTo>
                <a:lnTo>
                  <a:pt x="628650" y="390525"/>
                </a:lnTo>
                <a:lnTo>
                  <a:pt x="466725" y="400050"/>
                </a:lnTo>
                <a:lnTo>
                  <a:pt x="314325" y="390525"/>
                </a:lnTo>
                <a:lnTo>
                  <a:pt x="152400" y="371475"/>
                </a:lnTo>
                <a:lnTo>
                  <a:pt x="0" y="342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8426450" y="4794250"/>
            <a:ext cx="140716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Shipping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Unit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Number(VENUM)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8158162" y="2592387"/>
            <a:ext cx="1895475" cy="1009650"/>
            <a:chOff x="8158162" y="2592387"/>
            <a:chExt cx="1895475" cy="1009650"/>
          </a:xfrm>
        </p:grpSpPr>
        <p:sp>
          <p:nvSpPr>
            <p:cNvPr id="41" name="object 41" descr=""/>
            <p:cNvSpPr/>
            <p:nvPr/>
          </p:nvSpPr>
          <p:spPr>
            <a:xfrm>
              <a:off x="8162925" y="2597150"/>
              <a:ext cx="1885950" cy="276225"/>
            </a:xfrm>
            <a:custGeom>
              <a:avLst/>
              <a:gdLst/>
              <a:ahLst/>
              <a:cxnLst/>
              <a:rect l="l" t="t" r="r" b="b"/>
              <a:pathLst>
                <a:path w="1885950" h="276225">
                  <a:moveTo>
                    <a:pt x="0" y="276225"/>
                  </a:moveTo>
                  <a:lnTo>
                    <a:pt x="1885950" y="276225"/>
                  </a:lnTo>
                  <a:lnTo>
                    <a:pt x="18859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162925" y="2844800"/>
              <a:ext cx="1885950" cy="752475"/>
            </a:xfrm>
            <a:custGeom>
              <a:avLst/>
              <a:gdLst/>
              <a:ahLst/>
              <a:cxnLst/>
              <a:rect l="l" t="t" r="r" b="b"/>
              <a:pathLst>
                <a:path w="1885950" h="752475">
                  <a:moveTo>
                    <a:pt x="1885950" y="0"/>
                  </a:moveTo>
                  <a:lnTo>
                    <a:pt x="0" y="0"/>
                  </a:lnTo>
                  <a:lnTo>
                    <a:pt x="0" y="657225"/>
                  </a:lnTo>
                  <a:lnTo>
                    <a:pt x="114300" y="695325"/>
                  </a:lnTo>
                  <a:lnTo>
                    <a:pt x="228600" y="723900"/>
                  </a:lnTo>
                  <a:lnTo>
                    <a:pt x="342900" y="742950"/>
                  </a:lnTo>
                  <a:lnTo>
                    <a:pt x="466725" y="752475"/>
                  </a:lnTo>
                  <a:lnTo>
                    <a:pt x="590550" y="742950"/>
                  </a:lnTo>
                  <a:lnTo>
                    <a:pt x="704850" y="723900"/>
                  </a:lnTo>
                  <a:lnTo>
                    <a:pt x="828675" y="695325"/>
                  </a:lnTo>
                  <a:lnTo>
                    <a:pt x="942975" y="657225"/>
                  </a:lnTo>
                  <a:lnTo>
                    <a:pt x="1047750" y="619125"/>
                  </a:lnTo>
                  <a:lnTo>
                    <a:pt x="1171575" y="581025"/>
                  </a:lnTo>
                  <a:lnTo>
                    <a:pt x="1285875" y="571500"/>
                  </a:lnTo>
                  <a:lnTo>
                    <a:pt x="1409700" y="561975"/>
                  </a:lnTo>
                  <a:lnTo>
                    <a:pt x="1657350" y="581025"/>
                  </a:lnTo>
                  <a:lnTo>
                    <a:pt x="1885950" y="657225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162925" y="2844800"/>
              <a:ext cx="1885950" cy="752475"/>
            </a:xfrm>
            <a:custGeom>
              <a:avLst/>
              <a:gdLst/>
              <a:ahLst/>
              <a:cxnLst/>
              <a:rect l="l" t="t" r="r" b="b"/>
              <a:pathLst>
                <a:path w="1885950" h="752475">
                  <a:moveTo>
                    <a:pt x="0" y="657225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657225"/>
                  </a:lnTo>
                  <a:lnTo>
                    <a:pt x="1657350" y="581025"/>
                  </a:lnTo>
                  <a:lnTo>
                    <a:pt x="1409700" y="561975"/>
                  </a:lnTo>
                  <a:lnTo>
                    <a:pt x="1285875" y="571500"/>
                  </a:lnTo>
                  <a:lnTo>
                    <a:pt x="1171575" y="581025"/>
                  </a:lnTo>
                  <a:lnTo>
                    <a:pt x="1047750" y="619125"/>
                  </a:lnTo>
                  <a:lnTo>
                    <a:pt x="942975" y="657225"/>
                  </a:lnTo>
                  <a:lnTo>
                    <a:pt x="828675" y="695325"/>
                  </a:lnTo>
                  <a:lnTo>
                    <a:pt x="704850" y="723900"/>
                  </a:lnTo>
                  <a:lnTo>
                    <a:pt x="590550" y="742950"/>
                  </a:lnTo>
                  <a:lnTo>
                    <a:pt x="466725" y="752475"/>
                  </a:lnTo>
                  <a:lnTo>
                    <a:pt x="342900" y="742950"/>
                  </a:lnTo>
                  <a:lnTo>
                    <a:pt x="228600" y="723900"/>
                  </a:lnTo>
                  <a:lnTo>
                    <a:pt x="114300" y="695325"/>
                  </a:lnTo>
                  <a:lnTo>
                    <a:pt x="0" y="657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8169275" y="2584450"/>
            <a:ext cx="1683385" cy="7797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VEPO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(SD</a:t>
            </a:r>
            <a:r>
              <a:rPr dirty="0" sz="800" spc="1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Doc:Shipping</a:t>
            </a:r>
            <a:r>
              <a:rPr dirty="0" sz="800" spc="114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Item</a:t>
            </a:r>
            <a:r>
              <a:rPr dirty="0" sz="800" spc="114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content)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01600"/>
              </a:lnSpc>
              <a:spcBef>
                <a:spcPts val="75"/>
              </a:spcBef>
            </a:pPr>
            <a:r>
              <a:rPr dirty="0" sz="800" spc="-10">
                <a:latin typeface="Arial"/>
                <a:cs typeface="Arial"/>
              </a:rPr>
              <a:t>Delivery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Document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(VBELN) </a:t>
            </a:r>
            <a:r>
              <a:rPr dirty="0" sz="800" spc="-20">
                <a:latin typeface="Arial"/>
                <a:cs typeface="Arial"/>
              </a:rPr>
              <a:t>Delivery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Item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(POSNR)</a:t>
            </a:r>
            <a:endParaRPr sz="800">
              <a:latin typeface="Arial"/>
              <a:cs typeface="Arial"/>
            </a:endParaRPr>
          </a:p>
          <a:p>
            <a:pPr marL="12700" marR="252729">
              <a:lnSpc>
                <a:spcPct val="101600"/>
              </a:lnSpc>
            </a:pPr>
            <a:r>
              <a:rPr dirty="0" sz="800" spc="-25">
                <a:latin typeface="Arial"/>
                <a:cs typeface="Arial"/>
              </a:rPr>
              <a:t>Shipping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Unit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Number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(VENUM) </a:t>
            </a:r>
            <a:r>
              <a:rPr dirty="0" sz="800" spc="-25">
                <a:latin typeface="Arial"/>
                <a:cs typeface="Arial"/>
              </a:rPr>
              <a:t>Shipping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Unit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Item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(VEPOS)</a:t>
            </a:r>
            <a:endParaRPr sz="80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3238500" y="4054475"/>
            <a:ext cx="1885950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ts val="93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VBUK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ts val="930"/>
              </a:lnSpc>
            </a:pPr>
            <a:r>
              <a:rPr dirty="0" sz="800" b="1">
                <a:latin typeface="Arial"/>
                <a:cs typeface="Arial"/>
              </a:rPr>
              <a:t>(Header</a:t>
            </a:r>
            <a:r>
              <a:rPr dirty="0" sz="800" spc="229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Status)</a:t>
            </a:r>
            <a:endParaRPr sz="800">
              <a:latin typeface="Arial"/>
              <a:cs typeface="Arial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3238500" y="4330700"/>
            <a:ext cx="1885950" cy="409575"/>
          </a:xfrm>
          <a:custGeom>
            <a:avLst/>
            <a:gdLst/>
            <a:ahLst/>
            <a:cxnLst/>
            <a:rect l="l" t="t" r="r" b="b"/>
            <a:pathLst>
              <a:path w="1885950" h="409575">
                <a:moveTo>
                  <a:pt x="0" y="352425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352425"/>
                </a:lnTo>
                <a:lnTo>
                  <a:pt x="1733550" y="323850"/>
                </a:lnTo>
                <a:lnTo>
                  <a:pt x="1571625" y="314325"/>
                </a:lnTo>
                <a:lnTo>
                  <a:pt x="1419225" y="304800"/>
                </a:lnTo>
                <a:lnTo>
                  <a:pt x="1257300" y="314325"/>
                </a:lnTo>
                <a:lnTo>
                  <a:pt x="1104900" y="323850"/>
                </a:lnTo>
                <a:lnTo>
                  <a:pt x="942975" y="352425"/>
                </a:lnTo>
                <a:lnTo>
                  <a:pt x="790575" y="381000"/>
                </a:lnTo>
                <a:lnTo>
                  <a:pt x="628650" y="400050"/>
                </a:lnTo>
                <a:lnTo>
                  <a:pt x="476250" y="409575"/>
                </a:lnTo>
                <a:lnTo>
                  <a:pt x="314325" y="400050"/>
                </a:lnTo>
                <a:lnTo>
                  <a:pt x="161925" y="381000"/>
                </a:lnTo>
                <a:lnTo>
                  <a:pt x="0" y="3524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3254375" y="4337050"/>
            <a:ext cx="101663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Delivery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doc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(VBELN)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890587" y="6688137"/>
            <a:ext cx="1338580" cy="114300"/>
            <a:chOff x="890587" y="6688137"/>
            <a:chExt cx="1338580" cy="114300"/>
          </a:xfrm>
        </p:grpSpPr>
        <p:sp>
          <p:nvSpPr>
            <p:cNvPr id="49" name="object 49" descr=""/>
            <p:cNvSpPr/>
            <p:nvPr/>
          </p:nvSpPr>
          <p:spPr>
            <a:xfrm>
              <a:off x="895350" y="6702425"/>
              <a:ext cx="1181100" cy="95250"/>
            </a:xfrm>
            <a:custGeom>
              <a:avLst/>
              <a:gdLst/>
              <a:ahLst/>
              <a:cxnLst/>
              <a:rect l="l" t="t" r="r" b="b"/>
              <a:pathLst>
                <a:path w="1181100" h="95250">
                  <a:moveTo>
                    <a:pt x="0" y="95250"/>
                  </a:moveTo>
                  <a:lnTo>
                    <a:pt x="123825" y="85725"/>
                  </a:lnTo>
                </a:path>
                <a:path w="1181100" h="95250">
                  <a:moveTo>
                    <a:pt x="152400" y="85725"/>
                  </a:moveTo>
                  <a:lnTo>
                    <a:pt x="171450" y="85725"/>
                  </a:lnTo>
                </a:path>
                <a:path w="1181100" h="95250">
                  <a:moveTo>
                    <a:pt x="200025" y="76200"/>
                  </a:moveTo>
                  <a:lnTo>
                    <a:pt x="323850" y="66675"/>
                  </a:lnTo>
                </a:path>
                <a:path w="1181100" h="95250">
                  <a:moveTo>
                    <a:pt x="352425" y="66675"/>
                  </a:moveTo>
                  <a:lnTo>
                    <a:pt x="371475" y="66675"/>
                  </a:lnTo>
                </a:path>
                <a:path w="1181100" h="95250">
                  <a:moveTo>
                    <a:pt x="400050" y="66675"/>
                  </a:moveTo>
                  <a:lnTo>
                    <a:pt x="523875" y="57150"/>
                  </a:lnTo>
                </a:path>
                <a:path w="1181100" h="95250">
                  <a:moveTo>
                    <a:pt x="552450" y="57150"/>
                  </a:moveTo>
                  <a:lnTo>
                    <a:pt x="581025" y="47625"/>
                  </a:lnTo>
                </a:path>
                <a:path w="1181100" h="95250">
                  <a:moveTo>
                    <a:pt x="600075" y="47625"/>
                  </a:moveTo>
                  <a:lnTo>
                    <a:pt x="723900" y="38100"/>
                  </a:lnTo>
                </a:path>
                <a:path w="1181100" h="95250">
                  <a:moveTo>
                    <a:pt x="752475" y="38100"/>
                  </a:moveTo>
                  <a:lnTo>
                    <a:pt x="781050" y="38100"/>
                  </a:lnTo>
                </a:path>
                <a:path w="1181100" h="95250">
                  <a:moveTo>
                    <a:pt x="809625" y="28575"/>
                  </a:moveTo>
                  <a:lnTo>
                    <a:pt x="923925" y="19050"/>
                  </a:lnTo>
                </a:path>
                <a:path w="1181100" h="95250">
                  <a:moveTo>
                    <a:pt x="952500" y="19050"/>
                  </a:moveTo>
                  <a:lnTo>
                    <a:pt x="981075" y="19050"/>
                  </a:lnTo>
                </a:path>
                <a:path w="1181100" h="95250">
                  <a:moveTo>
                    <a:pt x="1009650" y="19050"/>
                  </a:moveTo>
                  <a:lnTo>
                    <a:pt x="1123950" y="9525"/>
                  </a:lnTo>
                </a:path>
                <a:path w="1181100" h="95250">
                  <a:moveTo>
                    <a:pt x="1152525" y="9525"/>
                  </a:moveTo>
                  <a:lnTo>
                    <a:pt x="11811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100262" y="6697662"/>
              <a:ext cx="128905" cy="0"/>
            </a:xfrm>
            <a:custGeom>
              <a:avLst/>
              <a:gdLst/>
              <a:ahLst/>
              <a:cxnLst/>
              <a:rect l="l" t="t" r="r" b="b"/>
              <a:pathLst>
                <a:path w="128905" h="0">
                  <a:moveTo>
                    <a:pt x="0" y="0"/>
                  </a:moveTo>
                  <a:lnTo>
                    <a:pt x="128587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3628866" y="3154362"/>
            <a:ext cx="1614805" cy="3462654"/>
            <a:chOff x="3628866" y="3154362"/>
            <a:chExt cx="1614805" cy="3462654"/>
          </a:xfrm>
        </p:grpSpPr>
        <p:sp>
          <p:nvSpPr>
            <p:cNvPr id="52" name="object 52" descr=""/>
            <p:cNvSpPr/>
            <p:nvPr/>
          </p:nvSpPr>
          <p:spPr>
            <a:xfrm>
              <a:off x="5124449" y="3159125"/>
              <a:ext cx="114300" cy="1038225"/>
            </a:xfrm>
            <a:custGeom>
              <a:avLst/>
              <a:gdLst/>
              <a:ahLst/>
              <a:cxnLst/>
              <a:rect l="l" t="t" r="r" b="b"/>
              <a:pathLst>
                <a:path w="114300" h="1038225">
                  <a:moveTo>
                    <a:pt x="0" y="1038225"/>
                  </a:moveTo>
                  <a:lnTo>
                    <a:pt x="1143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636168" y="658336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0" h="19050">
                  <a:moveTo>
                    <a:pt x="0" y="0"/>
                  </a:moveTo>
                  <a:lnTo>
                    <a:pt x="0" y="19050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657599" y="6511925"/>
              <a:ext cx="981075" cy="76200"/>
            </a:xfrm>
            <a:custGeom>
              <a:avLst/>
              <a:gdLst/>
              <a:ahLst/>
              <a:cxnLst/>
              <a:rect l="l" t="t" r="r" b="b"/>
              <a:pathLst>
                <a:path w="981075" h="76200">
                  <a:moveTo>
                    <a:pt x="0" y="76200"/>
                  </a:moveTo>
                  <a:lnTo>
                    <a:pt x="28575" y="66675"/>
                  </a:lnTo>
                </a:path>
                <a:path w="981075" h="76200">
                  <a:moveTo>
                    <a:pt x="57150" y="66675"/>
                  </a:moveTo>
                  <a:lnTo>
                    <a:pt x="180975" y="57150"/>
                  </a:lnTo>
                </a:path>
                <a:path w="981075" h="76200">
                  <a:moveTo>
                    <a:pt x="209550" y="57150"/>
                  </a:moveTo>
                  <a:lnTo>
                    <a:pt x="228600" y="57150"/>
                  </a:lnTo>
                </a:path>
                <a:path w="981075" h="76200">
                  <a:moveTo>
                    <a:pt x="257175" y="47625"/>
                  </a:moveTo>
                  <a:lnTo>
                    <a:pt x="381000" y="38100"/>
                  </a:lnTo>
                </a:path>
                <a:path w="981075" h="76200">
                  <a:moveTo>
                    <a:pt x="409575" y="38100"/>
                  </a:moveTo>
                  <a:lnTo>
                    <a:pt x="428625" y="38100"/>
                  </a:lnTo>
                </a:path>
                <a:path w="981075" h="76200">
                  <a:moveTo>
                    <a:pt x="457200" y="38100"/>
                  </a:moveTo>
                  <a:lnTo>
                    <a:pt x="581025" y="28575"/>
                  </a:lnTo>
                </a:path>
                <a:path w="981075" h="76200">
                  <a:moveTo>
                    <a:pt x="609600" y="19050"/>
                  </a:moveTo>
                  <a:lnTo>
                    <a:pt x="628650" y="19050"/>
                  </a:lnTo>
                </a:path>
                <a:path w="981075" h="76200">
                  <a:moveTo>
                    <a:pt x="657225" y="19050"/>
                  </a:moveTo>
                  <a:lnTo>
                    <a:pt x="781050" y="9525"/>
                  </a:lnTo>
                </a:path>
                <a:path w="981075" h="76200">
                  <a:moveTo>
                    <a:pt x="809625" y="9525"/>
                  </a:moveTo>
                  <a:lnTo>
                    <a:pt x="828675" y="9525"/>
                  </a:lnTo>
                </a:path>
                <a:path w="981075" h="76200">
                  <a:moveTo>
                    <a:pt x="857250" y="9525"/>
                  </a:moveTo>
                  <a:lnTo>
                    <a:pt x="9810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7249" y="6378575"/>
              <a:ext cx="285750" cy="238125"/>
            </a:xfrm>
            <a:prstGeom prst="rect">
              <a:avLst/>
            </a:prstGeom>
          </p:spPr>
        </p:pic>
      </p:grpSp>
      <p:sp>
        <p:nvSpPr>
          <p:cNvPr id="56" name="object 56" descr=""/>
          <p:cNvSpPr txBox="1"/>
          <p:nvPr/>
        </p:nvSpPr>
        <p:spPr>
          <a:xfrm>
            <a:off x="2225675" y="6365875"/>
            <a:ext cx="1377950" cy="522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31750" marR="5080" indent="19050">
              <a:lnSpc>
                <a:spcPct val="101600"/>
              </a:lnSpc>
              <a:spcBef>
                <a:spcPts val="110"/>
              </a:spcBef>
            </a:pPr>
            <a:r>
              <a:rPr dirty="0" sz="800">
                <a:latin typeface="Arial"/>
                <a:cs typeface="Arial"/>
              </a:rPr>
              <a:t>From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Sales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through</a:t>
            </a:r>
            <a:r>
              <a:rPr dirty="0" sz="800" spc="-10" b="1">
                <a:latin typeface="Arial"/>
                <a:cs typeface="Arial"/>
              </a:rPr>
              <a:t>VBAP </a:t>
            </a:r>
            <a:r>
              <a:rPr dirty="0" sz="800" spc="-25">
                <a:latin typeface="Arial"/>
                <a:cs typeface="Arial"/>
              </a:rPr>
              <a:t>LIPS-</a:t>
            </a:r>
            <a:r>
              <a:rPr dirty="0" sz="800" spc="-10">
                <a:latin typeface="Arial"/>
                <a:cs typeface="Arial"/>
              </a:rPr>
              <a:t>VGBEL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=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VBAP-</a:t>
            </a:r>
            <a:r>
              <a:rPr dirty="0" sz="800" spc="-10">
                <a:latin typeface="Arial"/>
                <a:cs typeface="Arial"/>
              </a:rPr>
              <a:t>VBELN</a:t>
            </a:r>
            <a:endParaRPr sz="800">
              <a:latin typeface="Arial"/>
              <a:cs typeface="Arial"/>
            </a:endParaRPr>
          </a:p>
          <a:p>
            <a:pPr algn="ctr" marL="38100">
              <a:lnSpc>
                <a:spcPct val="100000"/>
              </a:lnSpc>
              <a:spcBef>
                <a:spcPts val="15"/>
              </a:spcBef>
            </a:pPr>
            <a:r>
              <a:rPr dirty="0" sz="800" spc="-25">
                <a:latin typeface="Arial"/>
                <a:cs typeface="Arial"/>
              </a:rPr>
              <a:t>and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800" spc="-35">
                <a:latin typeface="Arial"/>
                <a:cs typeface="Arial"/>
              </a:rPr>
              <a:t>LIPS-</a:t>
            </a:r>
            <a:r>
              <a:rPr dirty="0" sz="800" spc="-20">
                <a:latin typeface="Arial"/>
                <a:cs typeface="Arial"/>
              </a:rPr>
              <a:t>VGPOS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=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VBAP-</a:t>
            </a:r>
            <a:r>
              <a:rPr dirty="0" sz="800" spc="-10">
                <a:latin typeface="Arial"/>
                <a:cs typeface="Arial"/>
              </a:rPr>
              <a:t>POSNR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6834187" y="6478587"/>
            <a:ext cx="3215005" cy="624205"/>
            <a:chOff x="6834187" y="6478587"/>
            <a:chExt cx="3215005" cy="624205"/>
          </a:xfrm>
        </p:grpSpPr>
        <p:sp>
          <p:nvSpPr>
            <p:cNvPr id="58" name="object 58" descr=""/>
            <p:cNvSpPr/>
            <p:nvPr/>
          </p:nvSpPr>
          <p:spPr>
            <a:xfrm>
              <a:off x="6838950" y="6483350"/>
              <a:ext cx="3028950" cy="514350"/>
            </a:xfrm>
            <a:custGeom>
              <a:avLst/>
              <a:gdLst/>
              <a:ahLst/>
              <a:cxnLst/>
              <a:rect l="l" t="t" r="r" b="b"/>
              <a:pathLst>
                <a:path w="3028950" h="514350">
                  <a:moveTo>
                    <a:pt x="0" y="0"/>
                  </a:moveTo>
                  <a:lnTo>
                    <a:pt x="123825" y="19050"/>
                  </a:lnTo>
                </a:path>
                <a:path w="3028950" h="514350">
                  <a:moveTo>
                    <a:pt x="152400" y="28575"/>
                  </a:moveTo>
                  <a:lnTo>
                    <a:pt x="171450" y="28575"/>
                  </a:lnTo>
                </a:path>
                <a:path w="3028950" h="514350">
                  <a:moveTo>
                    <a:pt x="200025" y="38100"/>
                  </a:moveTo>
                  <a:lnTo>
                    <a:pt x="323850" y="57150"/>
                  </a:lnTo>
                </a:path>
                <a:path w="3028950" h="514350">
                  <a:moveTo>
                    <a:pt x="352425" y="57150"/>
                  </a:moveTo>
                  <a:lnTo>
                    <a:pt x="371475" y="57150"/>
                  </a:lnTo>
                </a:path>
                <a:path w="3028950" h="514350">
                  <a:moveTo>
                    <a:pt x="400050" y="66675"/>
                  </a:moveTo>
                  <a:lnTo>
                    <a:pt x="514350" y="85725"/>
                  </a:lnTo>
                </a:path>
                <a:path w="3028950" h="514350">
                  <a:moveTo>
                    <a:pt x="542925" y="95250"/>
                  </a:moveTo>
                  <a:lnTo>
                    <a:pt x="571500" y="95250"/>
                  </a:lnTo>
                </a:path>
                <a:path w="3028950" h="514350">
                  <a:moveTo>
                    <a:pt x="600075" y="104775"/>
                  </a:moveTo>
                  <a:lnTo>
                    <a:pt x="714375" y="123825"/>
                  </a:lnTo>
                </a:path>
                <a:path w="3028950" h="514350">
                  <a:moveTo>
                    <a:pt x="742950" y="123825"/>
                  </a:moveTo>
                  <a:lnTo>
                    <a:pt x="771525" y="123825"/>
                  </a:lnTo>
                </a:path>
                <a:path w="3028950" h="514350">
                  <a:moveTo>
                    <a:pt x="800100" y="133350"/>
                  </a:moveTo>
                  <a:lnTo>
                    <a:pt x="914400" y="152400"/>
                  </a:lnTo>
                </a:path>
                <a:path w="3028950" h="514350">
                  <a:moveTo>
                    <a:pt x="2333625" y="390525"/>
                  </a:moveTo>
                  <a:lnTo>
                    <a:pt x="2352675" y="400050"/>
                  </a:lnTo>
                </a:path>
                <a:path w="3028950" h="514350">
                  <a:moveTo>
                    <a:pt x="2381250" y="400050"/>
                  </a:moveTo>
                  <a:lnTo>
                    <a:pt x="2505075" y="428625"/>
                  </a:lnTo>
                </a:path>
                <a:path w="3028950" h="514350">
                  <a:moveTo>
                    <a:pt x="2524125" y="428625"/>
                  </a:moveTo>
                  <a:lnTo>
                    <a:pt x="2552700" y="428625"/>
                  </a:lnTo>
                </a:path>
                <a:path w="3028950" h="514350">
                  <a:moveTo>
                    <a:pt x="2581275" y="438150"/>
                  </a:moveTo>
                  <a:lnTo>
                    <a:pt x="2695575" y="457200"/>
                  </a:lnTo>
                </a:path>
                <a:path w="3028950" h="514350">
                  <a:moveTo>
                    <a:pt x="2724150" y="457200"/>
                  </a:moveTo>
                  <a:lnTo>
                    <a:pt x="2752725" y="466725"/>
                  </a:lnTo>
                </a:path>
                <a:path w="3028950" h="514350">
                  <a:moveTo>
                    <a:pt x="2781300" y="466725"/>
                  </a:moveTo>
                  <a:lnTo>
                    <a:pt x="2895600" y="495300"/>
                  </a:lnTo>
                </a:path>
                <a:path w="3028950" h="514350">
                  <a:moveTo>
                    <a:pt x="2924175" y="495300"/>
                  </a:moveTo>
                  <a:lnTo>
                    <a:pt x="2952750" y="495300"/>
                  </a:lnTo>
                </a:path>
                <a:path w="3028950" h="514350">
                  <a:moveTo>
                    <a:pt x="2981325" y="504825"/>
                  </a:moveTo>
                  <a:lnTo>
                    <a:pt x="3028950" y="5143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791700" y="6873875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38100" y="0"/>
                  </a:moveTo>
                  <a:lnTo>
                    <a:pt x="47625" y="19050"/>
                  </a:lnTo>
                  <a:lnTo>
                    <a:pt x="47625" y="47625"/>
                  </a:lnTo>
                  <a:lnTo>
                    <a:pt x="57150" y="66675"/>
                  </a:lnTo>
                  <a:lnTo>
                    <a:pt x="57150" y="85725"/>
                  </a:lnTo>
                  <a:lnTo>
                    <a:pt x="47625" y="104775"/>
                  </a:lnTo>
                  <a:lnTo>
                    <a:pt x="47625" y="123825"/>
                  </a:lnTo>
                  <a:lnTo>
                    <a:pt x="38100" y="142875"/>
                  </a:lnTo>
                  <a:lnTo>
                    <a:pt x="38100" y="161925"/>
                  </a:lnTo>
                  <a:lnTo>
                    <a:pt x="28575" y="180975"/>
                  </a:lnTo>
                  <a:lnTo>
                    <a:pt x="28575" y="200025"/>
                  </a:lnTo>
                  <a:lnTo>
                    <a:pt x="0" y="228600"/>
                  </a:lnTo>
                  <a:lnTo>
                    <a:pt x="257175" y="1524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743825" y="6502400"/>
              <a:ext cx="1409700" cy="504825"/>
            </a:xfrm>
            <a:custGeom>
              <a:avLst/>
              <a:gdLst/>
              <a:ahLst/>
              <a:cxnLst/>
              <a:rect l="l" t="t" r="r" b="b"/>
              <a:pathLst>
                <a:path w="1409700" h="504825">
                  <a:moveTo>
                    <a:pt x="1409700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1409700" y="504825"/>
                  </a:lnTo>
                  <a:lnTo>
                    <a:pt x="1409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7740650" y="6480175"/>
            <a:ext cx="1377950" cy="522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28575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Biling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through</a:t>
            </a:r>
            <a:r>
              <a:rPr dirty="0" sz="800" spc="-165">
                <a:latin typeface="Arial"/>
                <a:cs typeface="Arial"/>
              </a:rPr>
              <a:t> </a:t>
            </a:r>
            <a:r>
              <a:rPr dirty="0" sz="800" spc="-20" b="1">
                <a:latin typeface="Arial"/>
                <a:cs typeface="Arial"/>
              </a:rPr>
              <a:t>VBRP</a:t>
            </a:r>
            <a:endParaRPr sz="800">
              <a:latin typeface="Arial"/>
              <a:cs typeface="Arial"/>
            </a:endParaRPr>
          </a:p>
          <a:p>
            <a:pPr algn="ctr" marL="27940">
              <a:lnSpc>
                <a:spcPct val="100000"/>
              </a:lnSpc>
              <a:spcBef>
                <a:spcPts val="15"/>
              </a:spcBef>
            </a:pPr>
            <a:r>
              <a:rPr dirty="0" sz="800" spc="-30">
                <a:latin typeface="Arial"/>
                <a:cs typeface="Arial"/>
              </a:rPr>
              <a:t>VBRP-</a:t>
            </a:r>
            <a:r>
              <a:rPr dirty="0" sz="800" spc="-10">
                <a:latin typeface="Arial"/>
                <a:cs typeface="Arial"/>
              </a:rPr>
              <a:t>VGBEL</a:t>
            </a:r>
            <a:r>
              <a:rPr dirty="0" sz="800" spc="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=</a:t>
            </a:r>
            <a:r>
              <a:rPr dirty="0" sz="800" spc="2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LIPS-</a:t>
            </a:r>
            <a:r>
              <a:rPr dirty="0" sz="800" spc="-10">
                <a:latin typeface="Arial"/>
                <a:cs typeface="Arial"/>
              </a:rPr>
              <a:t>VBELN</a:t>
            </a:r>
            <a:endParaRPr sz="800">
              <a:latin typeface="Arial"/>
              <a:cs typeface="Arial"/>
            </a:endParaRPr>
          </a:p>
          <a:p>
            <a:pPr algn="ctr" marL="38100">
              <a:lnSpc>
                <a:spcPct val="100000"/>
              </a:lnSpc>
              <a:spcBef>
                <a:spcPts val="15"/>
              </a:spcBef>
            </a:pPr>
            <a:r>
              <a:rPr dirty="0" sz="800" spc="-25">
                <a:latin typeface="Arial"/>
                <a:cs typeface="Arial"/>
              </a:rPr>
              <a:t>and</a:t>
            </a:r>
            <a:endParaRPr sz="800">
              <a:latin typeface="Arial"/>
              <a:cs typeface="Arial"/>
            </a:endParaRPr>
          </a:p>
          <a:p>
            <a:pPr algn="ctr" marR="2540">
              <a:lnSpc>
                <a:spcPct val="100000"/>
              </a:lnSpc>
              <a:spcBef>
                <a:spcPts val="15"/>
              </a:spcBef>
            </a:pPr>
            <a:r>
              <a:rPr dirty="0" sz="800" spc="-40">
                <a:latin typeface="Arial"/>
                <a:cs typeface="Arial"/>
              </a:rPr>
              <a:t>VBRP-</a:t>
            </a:r>
            <a:r>
              <a:rPr dirty="0" sz="800" spc="-25">
                <a:latin typeface="Arial"/>
                <a:cs typeface="Arial"/>
              </a:rPr>
              <a:t>VGPOS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=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 spc="-40">
                <a:latin typeface="Arial"/>
                <a:cs typeface="Arial"/>
              </a:rPr>
              <a:t>LIPS-</a:t>
            </a:r>
            <a:r>
              <a:rPr dirty="0" sz="800" spc="-10">
                <a:latin typeface="Arial"/>
                <a:cs typeface="Arial"/>
              </a:rPr>
              <a:t>POSNR</a:t>
            </a:r>
            <a:endParaRPr sz="800">
              <a:latin typeface="Arial"/>
              <a:cs typeface="Arial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3238500" y="5254625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VBUP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(Item</a:t>
            </a:r>
            <a:r>
              <a:rPr dirty="0" sz="800" spc="21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Status)</a:t>
            </a:r>
            <a:endParaRPr sz="800">
              <a:latin typeface="Arial"/>
              <a:cs typeface="Arial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3238500" y="5540375"/>
            <a:ext cx="1885950" cy="400050"/>
          </a:xfrm>
          <a:custGeom>
            <a:avLst/>
            <a:gdLst/>
            <a:ahLst/>
            <a:cxnLst/>
            <a:rect l="l" t="t" r="r" b="b"/>
            <a:pathLst>
              <a:path w="1885950" h="400050">
                <a:moveTo>
                  <a:pt x="0" y="352425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352425"/>
                </a:lnTo>
                <a:lnTo>
                  <a:pt x="1733550" y="323850"/>
                </a:lnTo>
                <a:lnTo>
                  <a:pt x="1571625" y="304800"/>
                </a:lnTo>
                <a:lnTo>
                  <a:pt x="1419225" y="295275"/>
                </a:lnTo>
                <a:lnTo>
                  <a:pt x="1257300" y="304800"/>
                </a:lnTo>
                <a:lnTo>
                  <a:pt x="1104900" y="323850"/>
                </a:lnTo>
                <a:lnTo>
                  <a:pt x="942975" y="352425"/>
                </a:lnTo>
                <a:lnTo>
                  <a:pt x="790575" y="371475"/>
                </a:lnTo>
                <a:lnTo>
                  <a:pt x="628650" y="390525"/>
                </a:lnTo>
                <a:lnTo>
                  <a:pt x="476250" y="400050"/>
                </a:lnTo>
                <a:lnTo>
                  <a:pt x="314325" y="390525"/>
                </a:lnTo>
                <a:lnTo>
                  <a:pt x="161925" y="371475"/>
                </a:lnTo>
                <a:lnTo>
                  <a:pt x="0" y="3524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3254375" y="5537200"/>
            <a:ext cx="988060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800" spc="-10">
                <a:latin typeface="Arial"/>
                <a:cs typeface="Arial"/>
              </a:rPr>
              <a:t>Deliverydoc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(VBELN) </a:t>
            </a:r>
            <a:r>
              <a:rPr dirty="0" sz="800" spc="-35">
                <a:latin typeface="Arial"/>
                <a:cs typeface="Arial"/>
              </a:rPr>
              <a:t>Item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(POSNR)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1428750" y="2058987"/>
            <a:ext cx="4472305" cy="4286250"/>
            <a:chOff x="1428750" y="2058987"/>
            <a:chExt cx="4472305" cy="4286250"/>
          </a:xfrm>
        </p:grpSpPr>
        <p:sp>
          <p:nvSpPr>
            <p:cNvPr id="66" name="object 66" descr=""/>
            <p:cNvSpPr/>
            <p:nvPr/>
          </p:nvSpPr>
          <p:spPr>
            <a:xfrm>
              <a:off x="1752600" y="2063750"/>
              <a:ext cx="4143375" cy="4276725"/>
            </a:xfrm>
            <a:custGeom>
              <a:avLst/>
              <a:gdLst/>
              <a:ahLst/>
              <a:cxnLst/>
              <a:rect l="l" t="t" r="r" b="b"/>
              <a:pathLst>
                <a:path w="4143375" h="4276725">
                  <a:moveTo>
                    <a:pt x="3371850" y="3333750"/>
                  </a:moveTo>
                  <a:lnTo>
                    <a:pt x="4143375" y="4276725"/>
                  </a:lnTo>
                </a:path>
                <a:path w="4143375" h="4276725">
                  <a:moveTo>
                    <a:pt x="2428875" y="2619375"/>
                  </a:moveTo>
                  <a:lnTo>
                    <a:pt x="2428875" y="3009900"/>
                  </a:lnTo>
                  <a:lnTo>
                    <a:pt x="2428875" y="3190875"/>
                  </a:lnTo>
                </a:path>
                <a:path w="4143375" h="4276725">
                  <a:moveTo>
                    <a:pt x="2428875" y="3009900"/>
                  </a:moveTo>
                  <a:lnTo>
                    <a:pt x="2343150" y="3190875"/>
                  </a:lnTo>
                </a:path>
                <a:path w="4143375" h="4276725">
                  <a:moveTo>
                    <a:pt x="2428875" y="3009900"/>
                  </a:moveTo>
                  <a:lnTo>
                    <a:pt x="2514600" y="3190875"/>
                  </a:lnTo>
                </a:path>
                <a:path w="4143375" h="4276725">
                  <a:moveTo>
                    <a:pt x="28575" y="609600"/>
                  </a:moveTo>
                  <a:lnTo>
                    <a:pt x="66675" y="180975"/>
                  </a:lnTo>
                  <a:lnTo>
                    <a:pt x="85725" y="0"/>
                  </a:lnTo>
                </a:path>
                <a:path w="4143375" h="4276725">
                  <a:moveTo>
                    <a:pt x="66675" y="180975"/>
                  </a:moveTo>
                  <a:lnTo>
                    <a:pt x="180975" y="9525"/>
                  </a:lnTo>
                </a:path>
                <a:path w="4143375" h="4276725">
                  <a:moveTo>
                    <a:pt x="66675" y="18097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428750" y="2244725"/>
              <a:ext cx="762000" cy="257175"/>
            </a:xfrm>
            <a:custGeom>
              <a:avLst/>
              <a:gdLst/>
              <a:ahLst/>
              <a:cxnLst/>
              <a:rect l="l" t="t" r="r" b="b"/>
              <a:pathLst>
                <a:path w="762000" h="257175">
                  <a:moveTo>
                    <a:pt x="7620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762000" y="257175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1425575" y="2222500"/>
            <a:ext cx="74485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35">
                <a:latin typeface="Arial"/>
                <a:cs typeface="Arial"/>
              </a:rPr>
              <a:t>VTTK-</a:t>
            </a:r>
            <a:r>
              <a:rPr dirty="0" sz="800" spc="-20">
                <a:latin typeface="Arial"/>
                <a:cs typeface="Arial"/>
              </a:rPr>
              <a:t>TKNUM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50">
                <a:latin typeface="Arial"/>
                <a:cs typeface="Arial"/>
              </a:rPr>
              <a:t>=</a:t>
            </a:r>
            <a:endParaRPr sz="800">
              <a:latin typeface="Arial"/>
              <a:cs typeface="Aria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473200" y="2346325"/>
            <a:ext cx="6445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40">
                <a:latin typeface="Arial"/>
                <a:cs typeface="Arial"/>
              </a:rPr>
              <a:t>VTTP-</a:t>
            </a:r>
            <a:r>
              <a:rPr dirty="0" sz="800" spc="-20">
                <a:latin typeface="Arial"/>
                <a:cs typeface="Arial"/>
              </a:rPr>
              <a:t>TKNUM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2771775" y="1449387"/>
            <a:ext cx="3424554" cy="1571625"/>
            <a:chOff x="2771775" y="1449387"/>
            <a:chExt cx="3424554" cy="1571625"/>
          </a:xfrm>
        </p:grpSpPr>
        <p:sp>
          <p:nvSpPr>
            <p:cNvPr id="71" name="object 71" descr=""/>
            <p:cNvSpPr/>
            <p:nvPr/>
          </p:nvSpPr>
          <p:spPr>
            <a:xfrm>
              <a:off x="2781300" y="1530350"/>
              <a:ext cx="3409950" cy="1485900"/>
            </a:xfrm>
            <a:custGeom>
              <a:avLst/>
              <a:gdLst/>
              <a:ahLst/>
              <a:cxnLst/>
              <a:rect l="l" t="t" r="r" b="b"/>
              <a:pathLst>
                <a:path w="3409950" h="1485900">
                  <a:moveTo>
                    <a:pt x="161925" y="76200"/>
                  </a:moveTo>
                  <a:lnTo>
                    <a:pt x="3409950" y="1485900"/>
                  </a:lnTo>
                </a:path>
                <a:path w="3409950" h="1485900">
                  <a:moveTo>
                    <a:pt x="161925" y="762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781300" y="1611312"/>
              <a:ext cx="167005" cy="0"/>
            </a:xfrm>
            <a:custGeom>
              <a:avLst/>
              <a:gdLst/>
              <a:ahLst/>
              <a:cxnLst/>
              <a:rect l="l" t="t" r="r" b="b"/>
              <a:pathLst>
                <a:path w="167005" h="0">
                  <a:moveTo>
                    <a:pt x="0" y="0"/>
                  </a:moveTo>
                  <a:lnTo>
                    <a:pt x="166687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819400" y="1454150"/>
              <a:ext cx="123825" cy="152400"/>
            </a:xfrm>
            <a:custGeom>
              <a:avLst/>
              <a:gdLst/>
              <a:ahLst/>
              <a:cxnLst/>
              <a:rect l="l" t="t" r="r" b="b"/>
              <a:pathLst>
                <a:path w="123825" h="152400">
                  <a:moveTo>
                    <a:pt x="123825" y="1524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124325" y="2139950"/>
              <a:ext cx="723900" cy="266700"/>
            </a:xfrm>
            <a:custGeom>
              <a:avLst/>
              <a:gdLst/>
              <a:ahLst/>
              <a:cxnLst/>
              <a:rect l="l" t="t" r="r" b="b"/>
              <a:pathLst>
                <a:path w="723900" h="266700">
                  <a:moveTo>
                    <a:pt x="7239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723900" y="26670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4121150" y="2127250"/>
            <a:ext cx="72453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30">
                <a:latin typeface="Arial"/>
                <a:cs typeface="Arial"/>
              </a:rPr>
              <a:t>VTTP-</a:t>
            </a:r>
            <a:r>
              <a:rPr dirty="0" sz="800" spc="-20">
                <a:latin typeface="Arial"/>
                <a:cs typeface="Arial"/>
              </a:rPr>
              <a:t>VBELN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50">
                <a:latin typeface="Arial"/>
                <a:cs typeface="Arial"/>
              </a:rPr>
              <a:t>=</a:t>
            </a:r>
            <a:endParaRPr sz="800">
              <a:latin typeface="Arial"/>
              <a:cs typeface="Arial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4178300" y="2251075"/>
            <a:ext cx="5969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30">
                <a:latin typeface="Arial"/>
                <a:cs typeface="Arial"/>
              </a:rPr>
              <a:t>LIKP-</a:t>
            </a:r>
            <a:r>
              <a:rPr dirty="0" sz="800" spc="-10">
                <a:latin typeface="Arial"/>
                <a:cs typeface="Arial"/>
              </a:rPr>
              <a:t>VBELN</a:t>
            </a:r>
            <a:endParaRPr sz="800">
              <a:latin typeface="Arial"/>
              <a:cs typeface="Arial"/>
            </a:endParaRPr>
          </a:p>
        </p:txBody>
      </p:sp>
      <p:sp>
        <p:nvSpPr>
          <p:cNvPr id="77" name="object 77" descr=""/>
          <p:cNvSpPr/>
          <p:nvPr/>
        </p:nvSpPr>
        <p:spPr>
          <a:xfrm>
            <a:off x="895350" y="1387475"/>
            <a:ext cx="1885950" cy="285750"/>
          </a:xfrm>
          <a:custGeom>
            <a:avLst/>
            <a:gdLst/>
            <a:ahLst/>
            <a:cxnLst/>
            <a:rect l="l" t="t" r="r" b="b"/>
            <a:pathLst>
              <a:path w="1885950" h="285750">
                <a:moveTo>
                  <a:pt x="0" y="285750"/>
                </a:moveTo>
                <a:lnTo>
                  <a:pt x="1885950" y="285750"/>
                </a:lnTo>
                <a:lnTo>
                  <a:pt x="18859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911225" y="1384300"/>
            <a:ext cx="882650" cy="2749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VTTP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00" spc="20" b="1">
                <a:latin typeface="Arial"/>
                <a:cs typeface="Arial"/>
              </a:rPr>
              <a:t>(Shipment</a:t>
            </a:r>
            <a:r>
              <a:rPr dirty="0" sz="800" spc="25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Item)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890587" y="1639887"/>
            <a:ext cx="1895475" cy="495300"/>
            <a:chOff x="890587" y="1639887"/>
            <a:chExt cx="1895475" cy="495300"/>
          </a:xfrm>
        </p:grpSpPr>
        <p:sp>
          <p:nvSpPr>
            <p:cNvPr id="80" name="object 80" descr=""/>
            <p:cNvSpPr/>
            <p:nvPr/>
          </p:nvSpPr>
          <p:spPr>
            <a:xfrm>
              <a:off x="895350" y="1644650"/>
              <a:ext cx="1885950" cy="485775"/>
            </a:xfrm>
            <a:custGeom>
              <a:avLst/>
              <a:gdLst/>
              <a:ahLst/>
              <a:cxnLst/>
              <a:rect l="l" t="t" r="r" b="b"/>
              <a:pathLst>
                <a:path w="1885950" h="485775">
                  <a:moveTo>
                    <a:pt x="188595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133350" y="457200"/>
                  </a:lnTo>
                  <a:lnTo>
                    <a:pt x="266700" y="476250"/>
                  </a:lnTo>
                  <a:lnTo>
                    <a:pt x="409575" y="485775"/>
                  </a:lnTo>
                  <a:lnTo>
                    <a:pt x="542925" y="485775"/>
                  </a:lnTo>
                  <a:lnTo>
                    <a:pt x="676275" y="476250"/>
                  </a:lnTo>
                  <a:lnTo>
                    <a:pt x="809625" y="457200"/>
                  </a:lnTo>
                  <a:lnTo>
                    <a:pt x="942975" y="419100"/>
                  </a:lnTo>
                  <a:lnTo>
                    <a:pt x="1076325" y="400050"/>
                  </a:lnTo>
                  <a:lnTo>
                    <a:pt x="1209675" y="371475"/>
                  </a:lnTo>
                  <a:lnTo>
                    <a:pt x="1352550" y="361950"/>
                  </a:lnTo>
                  <a:lnTo>
                    <a:pt x="1485900" y="361950"/>
                  </a:lnTo>
                  <a:lnTo>
                    <a:pt x="1619250" y="371475"/>
                  </a:lnTo>
                  <a:lnTo>
                    <a:pt x="1752600" y="400050"/>
                  </a:lnTo>
                  <a:lnTo>
                    <a:pt x="1885950" y="419100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895350" y="1644650"/>
              <a:ext cx="1885950" cy="485775"/>
            </a:xfrm>
            <a:custGeom>
              <a:avLst/>
              <a:gdLst/>
              <a:ahLst/>
              <a:cxnLst/>
              <a:rect l="l" t="t" r="r" b="b"/>
              <a:pathLst>
                <a:path w="1885950" h="485775">
                  <a:moveTo>
                    <a:pt x="0" y="419100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419100"/>
                  </a:lnTo>
                  <a:lnTo>
                    <a:pt x="1752600" y="400050"/>
                  </a:lnTo>
                  <a:lnTo>
                    <a:pt x="1619250" y="371475"/>
                  </a:lnTo>
                  <a:lnTo>
                    <a:pt x="1485900" y="361950"/>
                  </a:lnTo>
                  <a:lnTo>
                    <a:pt x="1352550" y="361950"/>
                  </a:lnTo>
                  <a:lnTo>
                    <a:pt x="1209675" y="371475"/>
                  </a:lnTo>
                  <a:lnTo>
                    <a:pt x="1076325" y="400050"/>
                  </a:lnTo>
                  <a:lnTo>
                    <a:pt x="942975" y="419100"/>
                  </a:lnTo>
                  <a:lnTo>
                    <a:pt x="809625" y="457200"/>
                  </a:lnTo>
                  <a:lnTo>
                    <a:pt x="676275" y="476250"/>
                  </a:lnTo>
                  <a:lnTo>
                    <a:pt x="542925" y="485775"/>
                  </a:lnTo>
                  <a:lnTo>
                    <a:pt x="409575" y="485775"/>
                  </a:lnTo>
                  <a:lnTo>
                    <a:pt x="266700" y="476250"/>
                  </a:lnTo>
                  <a:lnTo>
                    <a:pt x="133350" y="457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 txBox="1"/>
          <p:nvPr/>
        </p:nvSpPr>
        <p:spPr>
          <a:xfrm>
            <a:off x="911225" y="1641475"/>
            <a:ext cx="1378585" cy="398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800" spc="-10">
                <a:latin typeface="Arial"/>
                <a:cs typeface="Arial"/>
              </a:rPr>
              <a:t>Delivery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Doc</a:t>
            </a:r>
            <a:r>
              <a:rPr dirty="0" sz="800" spc="-10">
                <a:latin typeface="Arial"/>
                <a:cs typeface="Arial"/>
              </a:rPr>
              <a:t> Number(VBELN) </a:t>
            </a:r>
            <a:r>
              <a:rPr dirty="0" sz="800" spc="-25">
                <a:latin typeface="Arial"/>
                <a:cs typeface="Arial"/>
              </a:rPr>
              <a:t>Shipment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Number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(TKNUM) </a:t>
            </a:r>
            <a:r>
              <a:rPr dirty="0" sz="800" spc="-35">
                <a:latin typeface="Arial"/>
                <a:cs typeface="Arial"/>
              </a:rPr>
              <a:t>Shipment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Item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(TPNUM)</a:t>
            </a:r>
            <a:endParaRPr sz="800">
              <a:latin typeface="Arial"/>
              <a:cs typeface="Arial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838200" y="2673350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VTTK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spc="10" b="1">
                <a:latin typeface="Arial"/>
                <a:cs typeface="Arial"/>
              </a:rPr>
              <a:t>(Shipment</a:t>
            </a:r>
            <a:r>
              <a:rPr dirty="0" sz="800" spc="21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Header)</a:t>
            </a:r>
            <a:endParaRPr sz="800">
              <a:latin typeface="Arial"/>
              <a:cs typeface="Arial"/>
            </a:endParaRPr>
          </a:p>
        </p:txBody>
      </p:sp>
      <p:sp>
        <p:nvSpPr>
          <p:cNvPr id="84" name="object 84" descr=""/>
          <p:cNvSpPr/>
          <p:nvPr/>
        </p:nvSpPr>
        <p:spPr>
          <a:xfrm>
            <a:off x="838200" y="2959100"/>
            <a:ext cx="1885950" cy="409575"/>
          </a:xfrm>
          <a:custGeom>
            <a:avLst/>
            <a:gdLst/>
            <a:ahLst/>
            <a:cxnLst/>
            <a:rect l="l" t="t" r="r" b="b"/>
            <a:pathLst>
              <a:path w="1885950" h="409575">
                <a:moveTo>
                  <a:pt x="0" y="352425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352425"/>
                </a:lnTo>
                <a:lnTo>
                  <a:pt x="1733550" y="323850"/>
                </a:lnTo>
                <a:lnTo>
                  <a:pt x="1571625" y="314325"/>
                </a:lnTo>
                <a:lnTo>
                  <a:pt x="1419225" y="304800"/>
                </a:lnTo>
                <a:lnTo>
                  <a:pt x="1257300" y="314325"/>
                </a:lnTo>
                <a:lnTo>
                  <a:pt x="1104900" y="323850"/>
                </a:lnTo>
                <a:lnTo>
                  <a:pt x="942975" y="352425"/>
                </a:lnTo>
                <a:lnTo>
                  <a:pt x="790575" y="381000"/>
                </a:lnTo>
                <a:lnTo>
                  <a:pt x="628650" y="400050"/>
                </a:lnTo>
                <a:lnTo>
                  <a:pt x="476250" y="409575"/>
                </a:lnTo>
                <a:lnTo>
                  <a:pt x="314325" y="400050"/>
                </a:lnTo>
                <a:lnTo>
                  <a:pt x="161925" y="381000"/>
                </a:lnTo>
                <a:lnTo>
                  <a:pt x="0" y="3524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 txBox="1"/>
          <p:nvPr/>
        </p:nvSpPr>
        <p:spPr>
          <a:xfrm>
            <a:off x="854075" y="2965450"/>
            <a:ext cx="125476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Shipment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Number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(TKNUM)</a:t>
            </a:r>
            <a:endParaRPr sz="800">
              <a:latin typeface="Arial"/>
              <a:cs typeface="Arial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838200" y="3702050"/>
            <a:ext cx="1885950" cy="2952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75"/>
              </a:spcBef>
            </a:pPr>
            <a:r>
              <a:rPr dirty="0" sz="800" spc="-20" b="1">
                <a:latin typeface="Arial"/>
                <a:cs typeface="Arial"/>
              </a:rPr>
              <a:t>VTFA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(Shipment</a:t>
            </a:r>
            <a:r>
              <a:rPr dirty="0" sz="800" spc="17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Doc.</a:t>
            </a:r>
            <a:r>
              <a:rPr dirty="0" sz="800" spc="18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Flow)</a:t>
            </a:r>
            <a:endParaRPr sz="800">
              <a:latin typeface="Arial"/>
              <a:cs typeface="Arial"/>
            </a:endParaRPr>
          </a:p>
        </p:txBody>
      </p:sp>
      <p:sp>
        <p:nvSpPr>
          <p:cNvPr id="87" name="object 87" descr=""/>
          <p:cNvSpPr/>
          <p:nvPr/>
        </p:nvSpPr>
        <p:spPr>
          <a:xfrm>
            <a:off x="838200" y="3997325"/>
            <a:ext cx="1885950" cy="400050"/>
          </a:xfrm>
          <a:custGeom>
            <a:avLst/>
            <a:gdLst/>
            <a:ahLst/>
            <a:cxnLst/>
            <a:rect l="l" t="t" r="r" b="b"/>
            <a:pathLst>
              <a:path w="1885950" h="400050">
                <a:moveTo>
                  <a:pt x="0" y="342900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342900"/>
                </a:lnTo>
                <a:lnTo>
                  <a:pt x="1733550" y="323850"/>
                </a:lnTo>
                <a:lnTo>
                  <a:pt x="1571625" y="304800"/>
                </a:lnTo>
                <a:lnTo>
                  <a:pt x="1419225" y="295275"/>
                </a:lnTo>
                <a:lnTo>
                  <a:pt x="1257300" y="304800"/>
                </a:lnTo>
                <a:lnTo>
                  <a:pt x="1104900" y="323850"/>
                </a:lnTo>
                <a:lnTo>
                  <a:pt x="942975" y="342900"/>
                </a:lnTo>
                <a:lnTo>
                  <a:pt x="790575" y="371475"/>
                </a:lnTo>
                <a:lnTo>
                  <a:pt x="628650" y="390525"/>
                </a:lnTo>
                <a:lnTo>
                  <a:pt x="476250" y="400050"/>
                </a:lnTo>
                <a:lnTo>
                  <a:pt x="314325" y="390525"/>
                </a:lnTo>
                <a:lnTo>
                  <a:pt x="161925" y="371475"/>
                </a:lnTo>
                <a:lnTo>
                  <a:pt x="0" y="342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 txBox="1"/>
          <p:nvPr/>
        </p:nvSpPr>
        <p:spPr>
          <a:xfrm>
            <a:off x="854075" y="3994150"/>
            <a:ext cx="1254760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204"/>
              </a:spcBef>
            </a:pPr>
            <a:r>
              <a:rPr dirty="0" sz="800" spc="-25">
                <a:latin typeface="Arial"/>
                <a:cs typeface="Arial"/>
              </a:rPr>
              <a:t>Shipment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Number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(TKNUM) </a:t>
            </a:r>
            <a:r>
              <a:rPr dirty="0" sz="800">
                <a:latin typeface="Arial"/>
                <a:cs typeface="Arial"/>
              </a:rPr>
              <a:t>Preceeding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Doc.</a:t>
            </a:r>
            <a:r>
              <a:rPr dirty="0" sz="800" spc="-10">
                <a:latin typeface="Arial"/>
                <a:cs typeface="Arial"/>
              </a:rPr>
              <a:t> (VBELV)</a:t>
            </a:r>
            <a:endParaRPr sz="800">
              <a:latin typeface="Arial"/>
              <a:cs typeface="Arial"/>
            </a:endParaRPr>
          </a:p>
        </p:txBody>
      </p:sp>
      <p:sp>
        <p:nvSpPr>
          <p:cNvPr id="89" name="object 89" descr=""/>
          <p:cNvSpPr/>
          <p:nvPr/>
        </p:nvSpPr>
        <p:spPr>
          <a:xfrm>
            <a:off x="1781175" y="3311525"/>
            <a:ext cx="1457325" cy="1543050"/>
          </a:xfrm>
          <a:custGeom>
            <a:avLst/>
            <a:gdLst/>
            <a:ahLst/>
            <a:cxnLst/>
            <a:rect l="l" t="t" r="r" b="b"/>
            <a:pathLst>
              <a:path w="1457325" h="1543050">
                <a:moveTo>
                  <a:pt x="0" y="390525"/>
                </a:moveTo>
                <a:lnTo>
                  <a:pt x="0" y="0"/>
                </a:lnTo>
              </a:path>
              <a:path w="1457325" h="1543050">
                <a:moveTo>
                  <a:pt x="1457325" y="885825"/>
                </a:moveTo>
                <a:lnTo>
                  <a:pt x="142875" y="15430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 txBox="1"/>
          <p:nvPr/>
        </p:nvSpPr>
        <p:spPr>
          <a:xfrm>
            <a:off x="981075" y="4854575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VBFA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spc="10" b="1">
                <a:latin typeface="Arial"/>
                <a:cs typeface="Arial"/>
              </a:rPr>
              <a:t>(Sales</a:t>
            </a:r>
            <a:r>
              <a:rPr dirty="0" sz="800" spc="15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Document</a:t>
            </a:r>
            <a:r>
              <a:rPr dirty="0" sz="800" spc="15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Flow)</a:t>
            </a:r>
            <a:endParaRPr sz="800">
              <a:latin typeface="Arial"/>
              <a:cs typeface="Arial"/>
            </a:endParaRPr>
          </a:p>
        </p:txBody>
      </p:sp>
      <p:sp>
        <p:nvSpPr>
          <p:cNvPr id="91" name="object 91" descr=""/>
          <p:cNvSpPr/>
          <p:nvPr/>
        </p:nvSpPr>
        <p:spPr>
          <a:xfrm>
            <a:off x="981075" y="5140325"/>
            <a:ext cx="1885950" cy="857250"/>
          </a:xfrm>
          <a:custGeom>
            <a:avLst/>
            <a:gdLst/>
            <a:ahLst/>
            <a:cxnLst/>
            <a:rect l="l" t="t" r="r" b="b"/>
            <a:pathLst>
              <a:path w="1885950" h="857250">
                <a:moveTo>
                  <a:pt x="0" y="752475"/>
                </a:moveTo>
                <a:lnTo>
                  <a:pt x="0" y="0"/>
                </a:lnTo>
                <a:lnTo>
                  <a:pt x="1885950" y="0"/>
                </a:lnTo>
                <a:lnTo>
                  <a:pt x="1885950" y="752475"/>
                </a:lnTo>
                <a:lnTo>
                  <a:pt x="1790700" y="704850"/>
                </a:lnTo>
                <a:lnTo>
                  <a:pt x="1685925" y="676275"/>
                </a:lnTo>
                <a:lnTo>
                  <a:pt x="1581150" y="657225"/>
                </a:lnTo>
                <a:lnTo>
                  <a:pt x="1466850" y="638175"/>
                </a:lnTo>
                <a:lnTo>
                  <a:pt x="1362075" y="638175"/>
                </a:lnTo>
                <a:lnTo>
                  <a:pt x="1152525" y="676275"/>
                </a:lnTo>
                <a:lnTo>
                  <a:pt x="1047750" y="704850"/>
                </a:lnTo>
                <a:lnTo>
                  <a:pt x="942975" y="752475"/>
                </a:lnTo>
                <a:lnTo>
                  <a:pt x="847725" y="790575"/>
                </a:lnTo>
                <a:lnTo>
                  <a:pt x="742950" y="819150"/>
                </a:lnTo>
                <a:lnTo>
                  <a:pt x="638175" y="838200"/>
                </a:lnTo>
                <a:lnTo>
                  <a:pt x="523875" y="857250"/>
                </a:lnTo>
                <a:lnTo>
                  <a:pt x="419100" y="857250"/>
                </a:lnTo>
                <a:lnTo>
                  <a:pt x="314325" y="838200"/>
                </a:lnTo>
                <a:lnTo>
                  <a:pt x="200025" y="819150"/>
                </a:lnTo>
                <a:lnTo>
                  <a:pt x="104775" y="790575"/>
                </a:lnTo>
                <a:lnTo>
                  <a:pt x="0" y="7524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 txBox="1"/>
          <p:nvPr/>
        </p:nvSpPr>
        <p:spPr>
          <a:xfrm>
            <a:off x="996950" y="5137150"/>
            <a:ext cx="1483360" cy="636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Preceding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Sales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Doc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(VBELV) </a:t>
            </a:r>
            <a:r>
              <a:rPr dirty="0" sz="800" spc="-20">
                <a:latin typeface="Arial"/>
                <a:cs typeface="Arial"/>
              </a:rPr>
              <a:t>Preceding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Item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(POSNV) </a:t>
            </a:r>
            <a:r>
              <a:rPr dirty="0" sz="800">
                <a:latin typeface="Arial"/>
                <a:cs typeface="Arial"/>
              </a:rPr>
              <a:t>Subsequent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Sales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doc</a:t>
            </a:r>
            <a:r>
              <a:rPr dirty="0" sz="800" spc="-10">
                <a:latin typeface="Arial"/>
                <a:cs typeface="Arial"/>
              </a:rPr>
              <a:t> (VBELN) </a:t>
            </a:r>
            <a:r>
              <a:rPr dirty="0" sz="800" spc="-25">
                <a:latin typeface="Arial"/>
                <a:cs typeface="Arial"/>
              </a:rPr>
              <a:t>Subsequent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Item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(POSNN) Document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Cat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(VBTYP_N)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91050" y="3987800"/>
            <a:ext cx="219075" cy="1219200"/>
          </a:xfrm>
          <a:custGeom>
            <a:avLst/>
            <a:gdLst/>
            <a:ahLst/>
            <a:cxnLst/>
            <a:rect l="l" t="t" r="r" b="b"/>
            <a:pathLst>
              <a:path w="219075" h="1219200">
                <a:moveTo>
                  <a:pt x="219075" y="1219200"/>
                </a:moveTo>
                <a:lnTo>
                  <a:pt x="114300" y="1000125"/>
                </a:lnTo>
                <a:lnTo>
                  <a:pt x="0" y="1209675"/>
                </a:lnTo>
              </a:path>
              <a:path w="219075" h="1219200">
                <a:moveTo>
                  <a:pt x="133350" y="0"/>
                </a:moveTo>
                <a:lnTo>
                  <a:pt x="104775" y="1219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733675" y="1463675"/>
            <a:ext cx="1104900" cy="1943100"/>
          </a:xfrm>
          <a:custGeom>
            <a:avLst/>
            <a:gdLst/>
            <a:ahLst/>
            <a:cxnLst/>
            <a:rect l="l" t="t" r="r" b="b"/>
            <a:pathLst>
              <a:path w="1104900" h="1943100">
                <a:moveTo>
                  <a:pt x="0" y="104775"/>
                </a:moveTo>
                <a:lnTo>
                  <a:pt x="190500" y="238125"/>
                </a:lnTo>
                <a:lnTo>
                  <a:pt x="180975" y="0"/>
                </a:lnTo>
              </a:path>
              <a:path w="1104900" h="1943100">
                <a:moveTo>
                  <a:pt x="1104900" y="1943100"/>
                </a:moveTo>
                <a:lnTo>
                  <a:pt x="95250" y="476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781300" y="3406775"/>
            <a:ext cx="1057275" cy="295275"/>
          </a:xfrm>
          <a:custGeom>
            <a:avLst/>
            <a:gdLst/>
            <a:ahLst/>
            <a:cxnLst/>
            <a:rect l="l" t="t" r="r" b="b"/>
            <a:pathLst>
              <a:path w="1057275" h="295275">
                <a:moveTo>
                  <a:pt x="38100" y="295275"/>
                </a:moveTo>
                <a:lnTo>
                  <a:pt x="228600" y="152400"/>
                </a:lnTo>
                <a:lnTo>
                  <a:pt x="0" y="76200"/>
                </a:lnTo>
              </a:path>
              <a:path w="1057275" h="295275">
                <a:moveTo>
                  <a:pt x="1057275" y="0"/>
                </a:moveTo>
                <a:lnTo>
                  <a:pt x="19050" y="1809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648575" y="1377950"/>
            <a:ext cx="219075" cy="219075"/>
          </a:xfrm>
          <a:custGeom>
            <a:avLst/>
            <a:gdLst/>
            <a:ahLst/>
            <a:cxnLst/>
            <a:rect l="l" t="t" r="r" b="b"/>
            <a:pathLst>
              <a:path w="219075" h="219075">
                <a:moveTo>
                  <a:pt x="219075" y="0"/>
                </a:moveTo>
                <a:lnTo>
                  <a:pt x="0" y="104775"/>
                </a:lnTo>
                <a:lnTo>
                  <a:pt x="209550" y="2190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581650" y="5340350"/>
            <a:ext cx="1152525" cy="1219200"/>
          </a:xfrm>
          <a:custGeom>
            <a:avLst/>
            <a:gdLst/>
            <a:ahLst/>
            <a:cxnLst/>
            <a:rect l="l" t="t" r="r" b="b"/>
            <a:pathLst>
              <a:path w="1152525" h="1219200">
                <a:moveTo>
                  <a:pt x="1152525" y="1076325"/>
                </a:moveTo>
                <a:lnTo>
                  <a:pt x="923925" y="990600"/>
                </a:lnTo>
                <a:lnTo>
                  <a:pt x="1000125" y="1219200"/>
                </a:lnTo>
              </a:path>
              <a:path w="1152525" h="1219200">
                <a:moveTo>
                  <a:pt x="0" y="0"/>
                </a:moveTo>
                <a:lnTo>
                  <a:pt x="1076325" y="1152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134350" y="5016500"/>
            <a:ext cx="666750" cy="828675"/>
          </a:xfrm>
          <a:custGeom>
            <a:avLst/>
            <a:gdLst/>
            <a:ahLst/>
            <a:cxnLst/>
            <a:rect l="l" t="t" r="r" b="b"/>
            <a:pathLst>
              <a:path w="666750" h="828675">
                <a:moveTo>
                  <a:pt x="0" y="0"/>
                </a:moveTo>
                <a:lnTo>
                  <a:pt x="666750" y="8286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610225" y="3406775"/>
            <a:ext cx="1638300" cy="1181100"/>
          </a:xfrm>
          <a:custGeom>
            <a:avLst/>
            <a:gdLst/>
            <a:ahLst/>
            <a:cxnLst/>
            <a:rect l="l" t="t" r="r" b="b"/>
            <a:pathLst>
              <a:path w="1638300" h="1181100">
                <a:moveTo>
                  <a:pt x="0" y="0"/>
                </a:moveTo>
                <a:lnTo>
                  <a:pt x="1638300" y="11811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457700" y="2520950"/>
            <a:ext cx="266700" cy="752475"/>
          </a:xfrm>
          <a:custGeom>
            <a:avLst/>
            <a:gdLst/>
            <a:ahLst/>
            <a:cxnLst/>
            <a:rect l="l" t="t" r="r" b="b"/>
            <a:pathLst>
              <a:path w="266700" h="752475">
                <a:moveTo>
                  <a:pt x="266700" y="75247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610225" y="2111375"/>
            <a:ext cx="1666875" cy="1295400"/>
          </a:xfrm>
          <a:custGeom>
            <a:avLst/>
            <a:gdLst/>
            <a:ahLst/>
            <a:cxnLst/>
            <a:rect l="l" t="t" r="r" b="b"/>
            <a:pathLst>
              <a:path w="1666875" h="1295400">
                <a:moveTo>
                  <a:pt x="0" y="1295400"/>
                </a:moveTo>
                <a:lnTo>
                  <a:pt x="1047750" y="0"/>
                </a:lnTo>
              </a:path>
              <a:path w="1666875" h="1295400">
                <a:moveTo>
                  <a:pt x="0" y="1295400"/>
                </a:moveTo>
                <a:lnTo>
                  <a:pt x="1666875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057275" y="1339850"/>
            <a:ext cx="1771650" cy="352425"/>
          </a:xfrm>
          <a:custGeom>
            <a:avLst/>
            <a:gdLst/>
            <a:ahLst/>
            <a:cxnLst/>
            <a:rect l="l" t="t" r="r" b="b"/>
            <a:pathLst>
              <a:path w="1771650" h="352425">
                <a:moveTo>
                  <a:pt x="1771650" y="0"/>
                </a:moveTo>
                <a:lnTo>
                  <a:pt x="0" y="0"/>
                </a:lnTo>
                <a:lnTo>
                  <a:pt x="0" y="352425"/>
                </a:lnTo>
                <a:lnTo>
                  <a:pt x="1771650" y="352425"/>
                </a:lnTo>
                <a:lnTo>
                  <a:pt x="17716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057275" y="1339850"/>
            <a:ext cx="1771650" cy="3524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10" b="1">
                <a:latin typeface="Arial"/>
                <a:cs typeface="Arial"/>
              </a:rPr>
              <a:t>VRKPA</a:t>
            </a:r>
            <a:endParaRPr sz="750">
              <a:latin typeface="Arial"/>
              <a:cs typeface="Arial"/>
            </a:endParaRPr>
          </a:p>
          <a:p>
            <a:pPr marL="19050" marR="36322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(Sales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Index: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Bills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by</a:t>
            </a:r>
            <a:r>
              <a:rPr dirty="0" sz="750" spc="26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Partner Functions)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2512" y="1687512"/>
            <a:ext cx="1781175" cy="1447800"/>
            <a:chOff x="1052512" y="1687512"/>
            <a:chExt cx="1781175" cy="1447800"/>
          </a:xfrm>
        </p:grpSpPr>
        <p:sp>
          <p:nvSpPr>
            <p:cNvPr id="14" name="object 14" descr=""/>
            <p:cNvSpPr/>
            <p:nvPr/>
          </p:nvSpPr>
          <p:spPr>
            <a:xfrm>
              <a:off x="1057275" y="1692275"/>
              <a:ext cx="1771650" cy="1438275"/>
            </a:xfrm>
            <a:custGeom>
              <a:avLst/>
              <a:gdLst/>
              <a:ahLst/>
              <a:cxnLst/>
              <a:rect l="l" t="t" r="r" b="b"/>
              <a:pathLst>
                <a:path w="1771650" h="1438275">
                  <a:moveTo>
                    <a:pt x="177165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66675" y="1343025"/>
                  </a:lnTo>
                  <a:lnTo>
                    <a:pt x="142875" y="1381125"/>
                  </a:lnTo>
                  <a:lnTo>
                    <a:pt x="314325" y="1438275"/>
                  </a:lnTo>
                  <a:lnTo>
                    <a:pt x="571500" y="1438275"/>
                  </a:lnTo>
                  <a:lnTo>
                    <a:pt x="657225" y="1409700"/>
                  </a:lnTo>
                  <a:lnTo>
                    <a:pt x="733425" y="1381125"/>
                  </a:lnTo>
                  <a:lnTo>
                    <a:pt x="809625" y="1343025"/>
                  </a:lnTo>
                  <a:lnTo>
                    <a:pt x="885825" y="1295400"/>
                  </a:lnTo>
                  <a:lnTo>
                    <a:pt x="952500" y="1247775"/>
                  </a:lnTo>
                  <a:lnTo>
                    <a:pt x="1028700" y="1209675"/>
                  </a:lnTo>
                  <a:lnTo>
                    <a:pt x="1114425" y="1181100"/>
                  </a:lnTo>
                  <a:lnTo>
                    <a:pt x="1200150" y="1162050"/>
                  </a:lnTo>
                  <a:lnTo>
                    <a:pt x="1285875" y="1152525"/>
                  </a:lnTo>
                  <a:lnTo>
                    <a:pt x="1371600" y="1152525"/>
                  </a:lnTo>
                  <a:lnTo>
                    <a:pt x="1457325" y="1162050"/>
                  </a:lnTo>
                  <a:lnTo>
                    <a:pt x="1533525" y="1181100"/>
                  </a:lnTo>
                  <a:lnTo>
                    <a:pt x="1619250" y="1209675"/>
                  </a:lnTo>
                  <a:lnTo>
                    <a:pt x="1695450" y="1247775"/>
                  </a:lnTo>
                  <a:lnTo>
                    <a:pt x="1771650" y="1295400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57275" y="1692275"/>
              <a:ext cx="1771650" cy="1438275"/>
            </a:xfrm>
            <a:custGeom>
              <a:avLst/>
              <a:gdLst/>
              <a:ahLst/>
              <a:cxnLst/>
              <a:rect l="l" t="t" r="r" b="b"/>
              <a:pathLst>
                <a:path w="1771650" h="1438275">
                  <a:moveTo>
                    <a:pt x="0" y="1295400"/>
                  </a:moveTo>
                  <a:lnTo>
                    <a:pt x="0" y="0"/>
                  </a:lnTo>
                  <a:lnTo>
                    <a:pt x="1771650" y="0"/>
                  </a:lnTo>
                  <a:lnTo>
                    <a:pt x="1771650" y="1295400"/>
                  </a:lnTo>
                  <a:lnTo>
                    <a:pt x="1695450" y="1247775"/>
                  </a:lnTo>
                  <a:lnTo>
                    <a:pt x="1619250" y="1209675"/>
                  </a:lnTo>
                  <a:lnTo>
                    <a:pt x="1533525" y="1181100"/>
                  </a:lnTo>
                  <a:lnTo>
                    <a:pt x="1457325" y="1162050"/>
                  </a:lnTo>
                  <a:lnTo>
                    <a:pt x="1371600" y="1152525"/>
                  </a:lnTo>
                  <a:lnTo>
                    <a:pt x="1285875" y="1152525"/>
                  </a:lnTo>
                  <a:lnTo>
                    <a:pt x="1200150" y="1162050"/>
                  </a:lnTo>
                  <a:lnTo>
                    <a:pt x="1114425" y="1181100"/>
                  </a:lnTo>
                  <a:lnTo>
                    <a:pt x="1028700" y="1209675"/>
                  </a:lnTo>
                  <a:lnTo>
                    <a:pt x="952500" y="1247775"/>
                  </a:lnTo>
                  <a:lnTo>
                    <a:pt x="885825" y="1295400"/>
                  </a:lnTo>
                  <a:lnTo>
                    <a:pt x="809625" y="1343025"/>
                  </a:lnTo>
                  <a:lnTo>
                    <a:pt x="733425" y="1381125"/>
                  </a:lnTo>
                  <a:lnTo>
                    <a:pt x="657225" y="1409700"/>
                  </a:lnTo>
                  <a:lnTo>
                    <a:pt x="571500" y="1438275"/>
                  </a:lnTo>
                  <a:lnTo>
                    <a:pt x="314325" y="1438275"/>
                  </a:lnTo>
                  <a:lnTo>
                    <a:pt x="142875" y="1381125"/>
                  </a:lnTo>
                  <a:lnTo>
                    <a:pt x="66675" y="1343025"/>
                  </a:lnTo>
                  <a:lnTo>
                    <a:pt x="0" y="1295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063625" y="1689100"/>
            <a:ext cx="159639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4154">
              <a:lnSpc>
                <a:spcPct val="100000"/>
              </a:lnSpc>
              <a:spcBef>
                <a:spcPts val="100"/>
              </a:spcBef>
            </a:pPr>
            <a:r>
              <a:rPr dirty="0" sz="750" spc="75">
                <a:latin typeface="Arial"/>
                <a:cs typeface="Arial"/>
              </a:rPr>
              <a:t>Partner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14">
                <a:latin typeface="Arial"/>
                <a:cs typeface="Arial"/>
              </a:rPr>
              <a:t>No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(KUNDE) </a:t>
            </a:r>
            <a:r>
              <a:rPr dirty="0" sz="750" spc="65">
                <a:latin typeface="Arial"/>
                <a:cs typeface="Arial"/>
              </a:rPr>
              <a:t>Partner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65">
                <a:latin typeface="Arial"/>
                <a:cs typeface="Arial"/>
              </a:rPr>
              <a:t>Function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(PARVW) </a:t>
            </a:r>
            <a:r>
              <a:rPr dirty="0" sz="750" spc="70">
                <a:latin typeface="Arial"/>
                <a:cs typeface="Arial"/>
              </a:rPr>
              <a:t>Sales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Org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(VKORG)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 spc="60">
                <a:latin typeface="Arial"/>
                <a:cs typeface="Arial"/>
              </a:rPr>
              <a:t>Billing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Date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(FKDAT) </a:t>
            </a:r>
            <a:r>
              <a:rPr dirty="0" sz="750" spc="60">
                <a:latin typeface="Arial"/>
                <a:cs typeface="Arial"/>
              </a:rPr>
              <a:t>Distribution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Channel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(VTWEG) </a:t>
            </a:r>
            <a:r>
              <a:rPr dirty="0" sz="750" spc="55">
                <a:latin typeface="Arial"/>
                <a:cs typeface="Arial"/>
              </a:rPr>
              <a:t>Billing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Type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(FKART)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spc="80">
                <a:latin typeface="Arial"/>
                <a:cs typeface="Arial"/>
              </a:rPr>
              <a:t>Payer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(KUNNR)</a:t>
            </a:r>
            <a:endParaRPr sz="750">
              <a:latin typeface="Arial"/>
              <a:cs typeface="Arial"/>
            </a:endParaRPr>
          </a:p>
          <a:p>
            <a:pPr marL="12700" marR="385445">
              <a:lnSpc>
                <a:spcPct val="100000"/>
              </a:lnSpc>
            </a:pPr>
            <a:r>
              <a:rPr dirty="0" sz="750" spc="70">
                <a:latin typeface="Arial"/>
                <a:cs typeface="Arial"/>
              </a:rPr>
              <a:t>Sold-</a:t>
            </a:r>
            <a:r>
              <a:rPr dirty="0" sz="750" spc="55">
                <a:latin typeface="Arial"/>
                <a:cs typeface="Arial"/>
              </a:rPr>
              <a:t>to-</a:t>
            </a:r>
            <a:r>
              <a:rPr dirty="0" sz="750" spc="75">
                <a:latin typeface="Arial"/>
                <a:cs typeface="Arial"/>
              </a:rPr>
              <a:t>Party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(KUNNR) </a:t>
            </a:r>
            <a:r>
              <a:rPr dirty="0" sz="750" spc="110">
                <a:latin typeface="Arial"/>
                <a:cs typeface="Arial"/>
              </a:rPr>
              <a:t>SD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Doc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Cat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60">
                <a:latin typeface="Arial"/>
                <a:cs typeface="Arial"/>
              </a:rPr>
              <a:t>(VBTYP)</a:t>
            </a:r>
            <a:endParaRPr sz="750">
              <a:latin typeface="Arial"/>
              <a:cs typeface="Arial"/>
            </a:endParaRPr>
          </a:p>
          <a:p>
            <a:pPr marL="12700" marR="471805">
              <a:lnSpc>
                <a:spcPct val="100000"/>
              </a:lnSpc>
            </a:pPr>
            <a:r>
              <a:rPr dirty="0" sz="750" spc="80">
                <a:latin typeface="Arial"/>
                <a:cs typeface="Arial"/>
              </a:rPr>
              <a:t>User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105">
                <a:latin typeface="Arial"/>
                <a:cs typeface="Arial"/>
              </a:rPr>
              <a:t>Name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(ERNAM) </a:t>
            </a:r>
            <a:r>
              <a:rPr dirty="0" sz="750" spc="60">
                <a:latin typeface="Arial"/>
                <a:cs typeface="Arial"/>
              </a:rPr>
              <a:t>Billing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100">
                <a:latin typeface="Arial"/>
                <a:cs typeface="Arial"/>
              </a:rPr>
              <a:t>Doc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(VBELN)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028700" y="3435350"/>
            <a:ext cx="1771650" cy="314325"/>
          </a:xfrm>
          <a:custGeom>
            <a:avLst/>
            <a:gdLst/>
            <a:ahLst/>
            <a:cxnLst/>
            <a:rect l="l" t="t" r="r" b="b"/>
            <a:pathLst>
              <a:path w="1771650" h="314325">
                <a:moveTo>
                  <a:pt x="1771650" y="0"/>
                </a:moveTo>
                <a:lnTo>
                  <a:pt x="0" y="0"/>
                </a:lnTo>
                <a:lnTo>
                  <a:pt x="0" y="314325"/>
                </a:lnTo>
                <a:lnTo>
                  <a:pt x="1771650" y="314325"/>
                </a:lnTo>
                <a:lnTo>
                  <a:pt x="17716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028700" y="3435350"/>
            <a:ext cx="1771650" cy="3143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75"/>
              </a:spcBef>
            </a:pPr>
            <a:r>
              <a:rPr dirty="0" sz="750" spc="-10" b="1">
                <a:latin typeface="Arial"/>
                <a:cs typeface="Arial"/>
              </a:rPr>
              <a:t>VRPMA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(SD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Index:</a:t>
            </a:r>
            <a:r>
              <a:rPr dirty="0" sz="750" spc="5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Billing</a:t>
            </a:r>
            <a:r>
              <a:rPr dirty="0" sz="750" spc="5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Items</a:t>
            </a:r>
            <a:r>
              <a:rPr dirty="0" sz="750" spc="5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per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Material)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028700" y="3749675"/>
            <a:ext cx="1771650" cy="1447800"/>
          </a:xfrm>
          <a:custGeom>
            <a:avLst/>
            <a:gdLst/>
            <a:ahLst/>
            <a:cxnLst/>
            <a:rect l="l" t="t" r="r" b="b"/>
            <a:pathLst>
              <a:path w="1771650" h="1447800">
                <a:moveTo>
                  <a:pt x="0" y="1304925"/>
                </a:moveTo>
                <a:lnTo>
                  <a:pt x="0" y="0"/>
                </a:lnTo>
                <a:lnTo>
                  <a:pt x="1771650" y="0"/>
                </a:lnTo>
                <a:lnTo>
                  <a:pt x="1771650" y="1304925"/>
                </a:lnTo>
                <a:lnTo>
                  <a:pt x="1695450" y="1257300"/>
                </a:lnTo>
                <a:lnTo>
                  <a:pt x="1619250" y="1219200"/>
                </a:lnTo>
                <a:lnTo>
                  <a:pt x="1543050" y="1190625"/>
                </a:lnTo>
                <a:lnTo>
                  <a:pt x="1457325" y="1171575"/>
                </a:lnTo>
                <a:lnTo>
                  <a:pt x="1371600" y="1162050"/>
                </a:lnTo>
                <a:lnTo>
                  <a:pt x="1285875" y="1162050"/>
                </a:lnTo>
                <a:lnTo>
                  <a:pt x="1200150" y="1171575"/>
                </a:lnTo>
                <a:lnTo>
                  <a:pt x="1114425" y="1190625"/>
                </a:lnTo>
                <a:lnTo>
                  <a:pt x="1028700" y="1219200"/>
                </a:lnTo>
                <a:lnTo>
                  <a:pt x="952500" y="1257300"/>
                </a:lnTo>
                <a:lnTo>
                  <a:pt x="885825" y="1304925"/>
                </a:lnTo>
                <a:lnTo>
                  <a:pt x="809625" y="1352550"/>
                </a:lnTo>
                <a:lnTo>
                  <a:pt x="733425" y="1390650"/>
                </a:lnTo>
                <a:lnTo>
                  <a:pt x="657225" y="1419225"/>
                </a:lnTo>
                <a:lnTo>
                  <a:pt x="571500" y="1438275"/>
                </a:lnTo>
                <a:lnTo>
                  <a:pt x="485775" y="1447800"/>
                </a:lnTo>
                <a:lnTo>
                  <a:pt x="400050" y="1447800"/>
                </a:lnTo>
                <a:lnTo>
                  <a:pt x="314325" y="1438275"/>
                </a:lnTo>
                <a:lnTo>
                  <a:pt x="228600" y="1419225"/>
                </a:lnTo>
                <a:lnTo>
                  <a:pt x="152400" y="1390650"/>
                </a:lnTo>
                <a:lnTo>
                  <a:pt x="76200" y="1352550"/>
                </a:lnTo>
                <a:lnTo>
                  <a:pt x="0" y="13049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044575" y="3756025"/>
            <a:ext cx="159639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90855">
              <a:lnSpc>
                <a:spcPct val="100000"/>
              </a:lnSpc>
              <a:spcBef>
                <a:spcPts val="100"/>
              </a:spcBef>
            </a:pPr>
            <a:r>
              <a:rPr dirty="0" sz="750" spc="60">
                <a:latin typeface="Arial"/>
                <a:cs typeface="Arial"/>
              </a:rPr>
              <a:t>Material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110">
                <a:latin typeface="Arial"/>
                <a:cs typeface="Arial"/>
              </a:rPr>
              <a:t>No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(MATNR) </a:t>
            </a:r>
            <a:r>
              <a:rPr dirty="0" sz="750" spc="70">
                <a:latin typeface="Arial"/>
                <a:cs typeface="Arial"/>
              </a:rPr>
              <a:t>Sales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Org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(VKORG) </a:t>
            </a:r>
            <a:r>
              <a:rPr dirty="0" sz="750" spc="60">
                <a:latin typeface="Arial"/>
                <a:cs typeface="Arial"/>
              </a:rPr>
              <a:t>Billing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Date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(FKDAT)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 spc="60">
                <a:latin typeface="Arial"/>
                <a:cs typeface="Arial"/>
              </a:rPr>
              <a:t>Distribution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Channel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(VTWEG) </a:t>
            </a:r>
            <a:r>
              <a:rPr dirty="0" sz="750" spc="55">
                <a:latin typeface="Arial"/>
                <a:cs typeface="Arial"/>
              </a:rPr>
              <a:t>Billing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Type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(FKART)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spc="80">
                <a:latin typeface="Arial"/>
                <a:cs typeface="Arial"/>
              </a:rPr>
              <a:t>Payer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(KUNNR)</a:t>
            </a:r>
            <a:endParaRPr sz="750">
              <a:latin typeface="Arial"/>
              <a:cs typeface="Arial"/>
            </a:endParaRPr>
          </a:p>
          <a:p>
            <a:pPr marL="12700" marR="385445">
              <a:lnSpc>
                <a:spcPct val="100000"/>
              </a:lnSpc>
            </a:pPr>
            <a:r>
              <a:rPr dirty="0" sz="750" spc="70">
                <a:latin typeface="Arial"/>
                <a:cs typeface="Arial"/>
              </a:rPr>
              <a:t>Sold-</a:t>
            </a:r>
            <a:r>
              <a:rPr dirty="0" sz="750" spc="55">
                <a:latin typeface="Arial"/>
                <a:cs typeface="Arial"/>
              </a:rPr>
              <a:t>to-</a:t>
            </a:r>
            <a:r>
              <a:rPr dirty="0" sz="750" spc="75">
                <a:latin typeface="Arial"/>
                <a:cs typeface="Arial"/>
              </a:rPr>
              <a:t>Party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(KUNNR) </a:t>
            </a:r>
            <a:r>
              <a:rPr dirty="0" sz="750" spc="110">
                <a:latin typeface="Arial"/>
                <a:cs typeface="Arial"/>
              </a:rPr>
              <a:t>SD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Doc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Cat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60">
                <a:latin typeface="Arial"/>
                <a:cs typeface="Arial"/>
              </a:rPr>
              <a:t>(VBTYP)</a:t>
            </a:r>
            <a:endParaRPr sz="750">
              <a:latin typeface="Arial"/>
              <a:cs typeface="Arial"/>
            </a:endParaRPr>
          </a:p>
          <a:p>
            <a:pPr marL="12700" marR="471805">
              <a:lnSpc>
                <a:spcPct val="100000"/>
              </a:lnSpc>
            </a:pPr>
            <a:r>
              <a:rPr dirty="0" sz="750" spc="80">
                <a:latin typeface="Arial"/>
                <a:cs typeface="Arial"/>
              </a:rPr>
              <a:t>User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105">
                <a:latin typeface="Arial"/>
                <a:cs typeface="Arial"/>
              </a:rPr>
              <a:t>Name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(ERNAM) </a:t>
            </a:r>
            <a:r>
              <a:rPr dirty="0" sz="750" spc="60">
                <a:latin typeface="Arial"/>
                <a:cs typeface="Arial"/>
              </a:rPr>
              <a:t>Billing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100">
                <a:latin typeface="Arial"/>
                <a:cs typeface="Arial"/>
              </a:rPr>
              <a:t>Doc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(VBELN) </a:t>
            </a:r>
            <a:r>
              <a:rPr dirty="0" sz="750" spc="75">
                <a:latin typeface="Arial"/>
                <a:cs typeface="Arial"/>
              </a:rPr>
              <a:t>Item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(POSNR)</a:t>
            </a:r>
            <a:endParaRPr sz="750">
              <a:latin typeface="Arial"/>
              <a:cs typeface="Arial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3571875" y="1311275"/>
            <a:ext cx="1771650" cy="266700"/>
          </a:xfrm>
          <a:custGeom>
            <a:avLst/>
            <a:gdLst/>
            <a:ahLst/>
            <a:cxnLst/>
            <a:rect l="l" t="t" r="r" b="b"/>
            <a:pathLst>
              <a:path w="1771650" h="266700">
                <a:moveTo>
                  <a:pt x="1771650" y="0"/>
                </a:moveTo>
                <a:lnTo>
                  <a:pt x="0" y="0"/>
                </a:lnTo>
                <a:lnTo>
                  <a:pt x="0" y="266700"/>
                </a:lnTo>
                <a:lnTo>
                  <a:pt x="1771650" y="266700"/>
                </a:lnTo>
                <a:lnTo>
                  <a:pt x="17716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3571875" y="1311275"/>
            <a:ext cx="1771650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50"/>
              </a:spcBef>
            </a:pPr>
            <a:r>
              <a:rPr dirty="0" sz="750" spc="-10" b="1">
                <a:latin typeface="Arial"/>
                <a:cs typeface="Arial"/>
              </a:rPr>
              <a:t>VKDFS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(SD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Index: Billing </a:t>
            </a:r>
            <a:r>
              <a:rPr dirty="0" sz="750" spc="-10" b="1">
                <a:latin typeface="Arial"/>
                <a:cs typeface="Arial"/>
              </a:rPr>
              <a:t>Initiator)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567112" y="1573212"/>
            <a:ext cx="1781175" cy="1085850"/>
            <a:chOff x="3567112" y="1573212"/>
            <a:chExt cx="1781175" cy="1085850"/>
          </a:xfrm>
        </p:grpSpPr>
        <p:sp>
          <p:nvSpPr>
            <p:cNvPr id="24" name="object 24" descr=""/>
            <p:cNvSpPr/>
            <p:nvPr/>
          </p:nvSpPr>
          <p:spPr>
            <a:xfrm>
              <a:off x="3571875" y="1577975"/>
              <a:ext cx="1771650" cy="1076325"/>
            </a:xfrm>
            <a:custGeom>
              <a:avLst/>
              <a:gdLst/>
              <a:ahLst/>
              <a:cxnLst/>
              <a:rect l="l" t="t" r="r" b="b"/>
              <a:pathLst>
                <a:path w="1771650" h="1076325">
                  <a:moveTo>
                    <a:pt x="1771650" y="0"/>
                  </a:moveTo>
                  <a:lnTo>
                    <a:pt x="0" y="0"/>
                  </a:lnTo>
                  <a:lnTo>
                    <a:pt x="0" y="942975"/>
                  </a:lnTo>
                  <a:lnTo>
                    <a:pt x="85725" y="990600"/>
                  </a:lnTo>
                  <a:lnTo>
                    <a:pt x="171450" y="1028700"/>
                  </a:lnTo>
                  <a:lnTo>
                    <a:pt x="257175" y="1057275"/>
                  </a:lnTo>
                  <a:lnTo>
                    <a:pt x="447675" y="1076325"/>
                  </a:lnTo>
                  <a:lnTo>
                    <a:pt x="542925" y="1066800"/>
                  </a:lnTo>
                  <a:lnTo>
                    <a:pt x="628650" y="1057275"/>
                  </a:lnTo>
                  <a:lnTo>
                    <a:pt x="723900" y="1028700"/>
                  </a:lnTo>
                  <a:lnTo>
                    <a:pt x="809625" y="990600"/>
                  </a:lnTo>
                  <a:lnTo>
                    <a:pt x="885825" y="942975"/>
                  </a:lnTo>
                  <a:lnTo>
                    <a:pt x="971550" y="895350"/>
                  </a:lnTo>
                  <a:lnTo>
                    <a:pt x="1057275" y="857250"/>
                  </a:lnTo>
                  <a:lnTo>
                    <a:pt x="1143000" y="828675"/>
                  </a:lnTo>
                  <a:lnTo>
                    <a:pt x="1238250" y="809625"/>
                  </a:lnTo>
                  <a:lnTo>
                    <a:pt x="1419225" y="809625"/>
                  </a:lnTo>
                  <a:lnTo>
                    <a:pt x="1514475" y="828675"/>
                  </a:lnTo>
                  <a:lnTo>
                    <a:pt x="1609725" y="857250"/>
                  </a:lnTo>
                  <a:lnTo>
                    <a:pt x="1695450" y="895350"/>
                  </a:lnTo>
                  <a:lnTo>
                    <a:pt x="1771650" y="942975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571875" y="1577975"/>
              <a:ext cx="1771650" cy="1076325"/>
            </a:xfrm>
            <a:custGeom>
              <a:avLst/>
              <a:gdLst/>
              <a:ahLst/>
              <a:cxnLst/>
              <a:rect l="l" t="t" r="r" b="b"/>
              <a:pathLst>
                <a:path w="1771650" h="1076325">
                  <a:moveTo>
                    <a:pt x="0" y="942975"/>
                  </a:moveTo>
                  <a:lnTo>
                    <a:pt x="0" y="0"/>
                  </a:lnTo>
                  <a:lnTo>
                    <a:pt x="1771650" y="0"/>
                  </a:lnTo>
                  <a:lnTo>
                    <a:pt x="1771650" y="942975"/>
                  </a:lnTo>
                  <a:lnTo>
                    <a:pt x="1695450" y="895350"/>
                  </a:lnTo>
                  <a:lnTo>
                    <a:pt x="1609725" y="857250"/>
                  </a:lnTo>
                  <a:lnTo>
                    <a:pt x="1514475" y="828675"/>
                  </a:lnTo>
                  <a:lnTo>
                    <a:pt x="1419225" y="809625"/>
                  </a:lnTo>
                  <a:lnTo>
                    <a:pt x="1238250" y="809625"/>
                  </a:lnTo>
                  <a:lnTo>
                    <a:pt x="1143000" y="828675"/>
                  </a:lnTo>
                  <a:lnTo>
                    <a:pt x="1057275" y="857250"/>
                  </a:lnTo>
                  <a:lnTo>
                    <a:pt x="971550" y="895350"/>
                  </a:lnTo>
                  <a:lnTo>
                    <a:pt x="885825" y="942975"/>
                  </a:lnTo>
                  <a:lnTo>
                    <a:pt x="809625" y="990600"/>
                  </a:lnTo>
                  <a:lnTo>
                    <a:pt x="723900" y="1028700"/>
                  </a:lnTo>
                  <a:lnTo>
                    <a:pt x="628650" y="1057275"/>
                  </a:lnTo>
                  <a:lnTo>
                    <a:pt x="542925" y="1066800"/>
                  </a:lnTo>
                  <a:lnTo>
                    <a:pt x="447675" y="1076325"/>
                  </a:lnTo>
                  <a:lnTo>
                    <a:pt x="257175" y="1057275"/>
                  </a:lnTo>
                  <a:lnTo>
                    <a:pt x="171450" y="1028700"/>
                  </a:lnTo>
                  <a:lnTo>
                    <a:pt x="85725" y="990600"/>
                  </a:lnTo>
                  <a:lnTo>
                    <a:pt x="0" y="9429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587750" y="1584325"/>
            <a:ext cx="1091565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 spc="55">
                <a:latin typeface="Arial"/>
                <a:cs typeface="Arial"/>
              </a:rPr>
              <a:t>Billing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Cat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(FKTYP) </a:t>
            </a:r>
            <a:r>
              <a:rPr dirty="0" sz="750" spc="70">
                <a:latin typeface="Arial"/>
                <a:cs typeface="Arial"/>
              </a:rPr>
              <a:t>Sales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Org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(VKORG) </a:t>
            </a:r>
            <a:r>
              <a:rPr dirty="0" sz="750" spc="60">
                <a:latin typeface="Arial"/>
                <a:cs typeface="Arial"/>
              </a:rPr>
              <a:t>Billing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Date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(FKDAT) </a:t>
            </a:r>
            <a:r>
              <a:rPr dirty="0" sz="750" spc="100">
                <a:latin typeface="Arial"/>
                <a:cs typeface="Arial"/>
              </a:rPr>
              <a:t>Customer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100">
                <a:latin typeface="Arial"/>
                <a:cs typeface="Arial"/>
              </a:rPr>
              <a:t>(KUNNR) </a:t>
            </a:r>
            <a:r>
              <a:rPr dirty="0" sz="750" spc="55">
                <a:latin typeface="Arial"/>
                <a:cs typeface="Arial"/>
              </a:rPr>
              <a:t>Billing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Type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(FKART) </a:t>
            </a:r>
            <a:r>
              <a:rPr dirty="0" sz="750" spc="75">
                <a:latin typeface="Arial"/>
                <a:cs typeface="Arial"/>
              </a:rPr>
              <a:t>Country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(LLAND) </a:t>
            </a:r>
            <a:r>
              <a:rPr dirty="0" sz="750" spc="85">
                <a:latin typeface="Arial"/>
                <a:cs typeface="Arial"/>
              </a:rPr>
              <a:t>Sales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doc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(VBELN)</a:t>
            </a:r>
            <a:endParaRPr sz="75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838575" y="3273425"/>
            <a:ext cx="1771650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75"/>
              </a:spcBef>
            </a:pPr>
            <a:r>
              <a:rPr dirty="0" sz="750" spc="-20" b="1">
                <a:latin typeface="Arial"/>
                <a:cs typeface="Arial"/>
              </a:rPr>
              <a:t>VBRK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(Billing: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Header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Data)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3833812" y="3535362"/>
            <a:ext cx="1781175" cy="523875"/>
            <a:chOff x="3833812" y="3535362"/>
            <a:chExt cx="1781175" cy="523875"/>
          </a:xfrm>
        </p:grpSpPr>
        <p:sp>
          <p:nvSpPr>
            <p:cNvPr id="29" name="object 29" descr=""/>
            <p:cNvSpPr/>
            <p:nvPr/>
          </p:nvSpPr>
          <p:spPr>
            <a:xfrm>
              <a:off x="3838575" y="3540125"/>
              <a:ext cx="1771650" cy="514350"/>
            </a:xfrm>
            <a:custGeom>
              <a:avLst/>
              <a:gdLst/>
              <a:ahLst/>
              <a:cxnLst/>
              <a:rect l="l" t="t" r="r" b="b"/>
              <a:pathLst>
                <a:path w="1771650" h="514350">
                  <a:moveTo>
                    <a:pt x="17716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33350" y="485775"/>
                  </a:lnTo>
                  <a:lnTo>
                    <a:pt x="257175" y="504825"/>
                  </a:lnTo>
                  <a:lnTo>
                    <a:pt x="381000" y="514350"/>
                  </a:lnTo>
                  <a:lnTo>
                    <a:pt x="514350" y="514350"/>
                  </a:lnTo>
                  <a:lnTo>
                    <a:pt x="638175" y="504825"/>
                  </a:lnTo>
                  <a:lnTo>
                    <a:pt x="762000" y="485775"/>
                  </a:lnTo>
                  <a:lnTo>
                    <a:pt x="885825" y="447675"/>
                  </a:lnTo>
                  <a:lnTo>
                    <a:pt x="1009650" y="419100"/>
                  </a:lnTo>
                  <a:lnTo>
                    <a:pt x="1143000" y="400050"/>
                  </a:lnTo>
                  <a:lnTo>
                    <a:pt x="1266825" y="390525"/>
                  </a:lnTo>
                  <a:lnTo>
                    <a:pt x="1400175" y="390525"/>
                  </a:lnTo>
                  <a:lnTo>
                    <a:pt x="1524000" y="400050"/>
                  </a:lnTo>
                  <a:lnTo>
                    <a:pt x="1647825" y="419100"/>
                  </a:lnTo>
                  <a:lnTo>
                    <a:pt x="1771650" y="447675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838575" y="3540125"/>
              <a:ext cx="1771650" cy="514350"/>
            </a:xfrm>
            <a:custGeom>
              <a:avLst/>
              <a:gdLst/>
              <a:ahLst/>
              <a:cxnLst/>
              <a:rect l="l" t="t" r="r" b="b"/>
              <a:pathLst>
                <a:path w="1771650" h="514350">
                  <a:moveTo>
                    <a:pt x="0" y="447675"/>
                  </a:moveTo>
                  <a:lnTo>
                    <a:pt x="0" y="0"/>
                  </a:lnTo>
                  <a:lnTo>
                    <a:pt x="1771650" y="0"/>
                  </a:lnTo>
                  <a:lnTo>
                    <a:pt x="1771650" y="447675"/>
                  </a:lnTo>
                  <a:lnTo>
                    <a:pt x="1647825" y="419100"/>
                  </a:lnTo>
                  <a:lnTo>
                    <a:pt x="1524000" y="400050"/>
                  </a:lnTo>
                  <a:lnTo>
                    <a:pt x="1400175" y="390525"/>
                  </a:lnTo>
                  <a:lnTo>
                    <a:pt x="1266825" y="390525"/>
                  </a:lnTo>
                  <a:lnTo>
                    <a:pt x="1143000" y="400050"/>
                  </a:lnTo>
                  <a:lnTo>
                    <a:pt x="1009650" y="419100"/>
                  </a:lnTo>
                  <a:lnTo>
                    <a:pt x="885825" y="447675"/>
                  </a:lnTo>
                  <a:lnTo>
                    <a:pt x="762000" y="485775"/>
                  </a:lnTo>
                  <a:lnTo>
                    <a:pt x="638175" y="504825"/>
                  </a:lnTo>
                  <a:lnTo>
                    <a:pt x="514350" y="514350"/>
                  </a:lnTo>
                  <a:lnTo>
                    <a:pt x="381000" y="514350"/>
                  </a:lnTo>
                  <a:lnTo>
                    <a:pt x="257175" y="504825"/>
                  </a:lnTo>
                  <a:lnTo>
                    <a:pt x="133350" y="485775"/>
                  </a:lnTo>
                  <a:lnTo>
                    <a:pt x="0" y="447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854450" y="3536950"/>
            <a:ext cx="10445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60">
                <a:latin typeface="Arial"/>
                <a:cs typeface="Arial"/>
              </a:rPr>
              <a:t>Billing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doc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(VBELN)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7243762" y="4449762"/>
            <a:ext cx="1771650" cy="619125"/>
            <a:chOff x="7243762" y="4449762"/>
            <a:chExt cx="1771650" cy="619125"/>
          </a:xfrm>
        </p:grpSpPr>
        <p:sp>
          <p:nvSpPr>
            <p:cNvPr id="33" name="object 33" descr=""/>
            <p:cNvSpPr/>
            <p:nvPr/>
          </p:nvSpPr>
          <p:spPr>
            <a:xfrm>
              <a:off x="7248525" y="4454525"/>
              <a:ext cx="1762125" cy="266700"/>
            </a:xfrm>
            <a:custGeom>
              <a:avLst/>
              <a:gdLst/>
              <a:ahLst/>
              <a:cxnLst/>
              <a:rect l="l" t="t" r="r" b="b"/>
              <a:pathLst>
                <a:path w="1762125" h="266700">
                  <a:moveTo>
                    <a:pt x="0" y="266700"/>
                  </a:moveTo>
                  <a:lnTo>
                    <a:pt x="1762125" y="266700"/>
                  </a:lnTo>
                  <a:lnTo>
                    <a:pt x="176212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248525" y="4692650"/>
              <a:ext cx="1762125" cy="371475"/>
            </a:xfrm>
            <a:custGeom>
              <a:avLst/>
              <a:gdLst/>
              <a:ahLst/>
              <a:cxnLst/>
              <a:rect l="l" t="t" r="r" b="b"/>
              <a:pathLst>
                <a:path w="1762125" h="371475">
                  <a:moveTo>
                    <a:pt x="1762125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142875" y="352425"/>
                  </a:lnTo>
                  <a:lnTo>
                    <a:pt x="295275" y="371475"/>
                  </a:lnTo>
                  <a:lnTo>
                    <a:pt x="590550" y="371475"/>
                  </a:lnTo>
                  <a:lnTo>
                    <a:pt x="733425" y="352425"/>
                  </a:lnTo>
                  <a:lnTo>
                    <a:pt x="885825" y="323850"/>
                  </a:lnTo>
                  <a:lnTo>
                    <a:pt x="1028700" y="304800"/>
                  </a:lnTo>
                  <a:lnTo>
                    <a:pt x="1181100" y="285750"/>
                  </a:lnTo>
                  <a:lnTo>
                    <a:pt x="1476375" y="285750"/>
                  </a:lnTo>
                  <a:lnTo>
                    <a:pt x="1762125" y="323850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248525" y="4692650"/>
              <a:ext cx="1762125" cy="371475"/>
            </a:xfrm>
            <a:custGeom>
              <a:avLst/>
              <a:gdLst/>
              <a:ahLst/>
              <a:cxnLst/>
              <a:rect l="l" t="t" r="r" b="b"/>
              <a:pathLst>
                <a:path w="1762125" h="371475">
                  <a:moveTo>
                    <a:pt x="0" y="323850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323850"/>
                  </a:lnTo>
                  <a:lnTo>
                    <a:pt x="1476375" y="285750"/>
                  </a:lnTo>
                  <a:lnTo>
                    <a:pt x="1181100" y="285750"/>
                  </a:lnTo>
                  <a:lnTo>
                    <a:pt x="1028700" y="304800"/>
                  </a:lnTo>
                  <a:lnTo>
                    <a:pt x="885825" y="323850"/>
                  </a:lnTo>
                  <a:lnTo>
                    <a:pt x="733425" y="352425"/>
                  </a:lnTo>
                  <a:lnTo>
                    <a:pt x="590550" y="371475"/>
                  </a:lnTo>
                  <a:lnTo>
                    <a:pt x="295275" y="371475"/>
                  </a:lnTo>
                  <a:lnTo>
                    <a:pt x="142875" y="352425"/>
                  </a:lnTo>
                  <a:lnTo>
                    <a:pt x="0" y="3238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7254875" y="4451350"/>
            <a:ext cx="1025525" cy="377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VBUK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(Header</a:t>
            </a:r>
            <a:r>
              <a:rPr dirty="0" sz="750" spc="8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Status)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750" spc="85">
                <a:latin typeface="Arial"/>
                <a:cs typeface="Arial"/>
              </a:rPr>
              <a:t>Sales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doc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(VBELN)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3814762" y="5202237"/>
            <a:ext cx="1771650" cy="752475"/>
            <a:chOff x="3814762" y="5202237"/>
            <a:chExt cx="1771650" cy="752475"/>
          </a:xfrm>
        </p:grpSpPr>
        <p:sp>
          <p:nvSpPr>
            <p:cNvPr id="38" name="object 38" descr=""/>
            <p:cNvSpPr/>
            <p:nvPr/>
          </p:nvSpPr>
          <p:spPr>
            <a:xfrm>
              <a:off x="3819525" y="5207000"/>
              <a:ext cx="1762125" cy="257175"/>
            </a:xfrm>
            <a:custGeom>
              <a:avLst/>
              <a:gdLst/>
              <a:ahLst/>
              <a:cxnLst/>
              <a:rect l="l" t="t" r="r" b="b"/>
              <a:pathLst>
                <a:path w="1762125" h="257175">
                  <a:moveTo>
                    <a:pt x="0" y="257175"/>
                  </a:moveTo>
                  <a:lnTo>
                    <a:pt x="1762125" y="257175"/>
                  </a:lnTo>
                  <a:lnTo>
                    <a:pt x="1762125" y="0"/>
                  </a:lnTo>
                  <a:lnTo>
                    <a:pt x="0" y="0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819525" y="5435600"/>
              <a:ext cx="1762125" cy="514350"/>
            </a:xfrm>
            <a:custGeom>
              <a:avLst/>
              <a:gdLst/>
              <a:ahLst/>
              <a:cxnLst/>
              <a:rect l="l" t="t" r="r" b="b"/>
              <a:pathLst>
                <a:path w="1762125" h="514350">
                  <a:moveTo>
                    <a:pt x="176212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23825" y="485775"/>
                  </a:lnTo>
                  <a:lnTo>
                    <a:pt x="247650" y="504825"/>
                  </a:lnTo>
                  <a:lnTo>
                    <a:pt x="371475" y="514350"/>
                  </a:lnTo>
                  <a:lnTo>
                    <a:pt x="504825" y="514350"/>
                  </a:lnTo>
                  <a:lnTo>
                    <a:pt x="628650" y="504825"/>
                  </a:lnTo>
                  <a:lnTo>
                    <a:pt x="762000" y="485775"/>
                  </a:lnTo>
                  <a:lnTo>
                    <a:pt x="876300" y="457200"/>
                  </a:lnTo>
                  <a:lnTo>
                    <a:pt x="1009650" y="419100"/>
                  </a:lnTo>
                  <a:lnTo>
                    <a:pt x="1133475" y="400050"/>
                  </a:lnTo>
                  <a:lnTo>
                    <a:pt x="1257300" y="390525"/>
                  </a:lnTo>
                  <a:lnTo>
                    <a:pt x="1390650" y="390525"/>
                  </a:lnTo>
                  <a:lnTo>
                    <a:pt x="1514475" y="400050"/>
                  </a:lnTo>
                  <a:lnTo>
                    <a:pt x="1638300" y="419100"/>
                  </a:lnTo>
                  <a:lnTo>
                    <a:pt x="1762125" y="457200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819525" y="5435600"/>
              <a:ext cx="1762125" cy="514350"/>
            </a:xfrm>
            <a:custGeom>
              <a:avLst/>
              <a:gdLst/>
              <a:ahLst/>
              <a:cxnLst/>
              <a:rect l="l" t="t" r="r" b="b"/>
              <a:pathLst>
                <a:path w="1762125" h="514350">
                  <a:moveTo>
                    <a:pt x="0" y="457200"/>
                  </a:moveTo>
                  <a:lnTo>
                    <a:pt x="0" y="0"/>
                  </a:lnTo>
                  <a:lnTo>
                    <a:pt x="1762125" y="0"/>
                  </a:lnTo>
                  <a:lnTo>
                    <a:pt x="1762125" y="457200"/>
                  </a:lnTo>
                  <a:lnTo>
                    <a:pt x="1638300" y="419100"/>
                  </a:lnTo>
                  <a:lnTo>
                    <a:pt x="1514475" y="400050"/>
                  </a:lnTo>
                  <a:lnTo>
                    <a:pt x="1390650" y="390525"/>
                  </a:lnTo>
                  <a:lnTo>
                    <a:pt x="1257300" y="390525"/>
                  </a:lnTo>
                  <a:lnTo>
                    <a:pt x="1133475" y="400050"/>
                  </a:lnTo>
                  <a:lnTo>
                    <a:pt x="1009650" y="419100"/>
                  </a:lnTo>
                  <a:lnTo>
                    <a:pt x="876300" y="457200"/>
                  </a:lnTo>
                  <a:lnTo>
                    <a:pt x="762000" y="485775"/>
                  </a:lnTo>
                  <a:lnTo>
                    <a:pt x="628650" y="504825"/>
                  </a:lnTo>
                  <a:lnTo>
                    <a:pt x="504825" y="514350"/>
                  </a:lnTo>
                  <a:lnTo>
                    <a:pt x="371475" y="514350"/>
                  </a:lnTo>
                  <a:lnTo>
                    <a:pt x="247650" y="504825"/>
                  </a:lnTo>
                  <a:lnTo>
                    <a:pt x="123825" y="485775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3825875" y="5203825"/>
            <a:ext cx="1044575" cy="492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VBRP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(Billing:</a:t>
            </a:r>
            <a:r>
              <a:rPr dirty="0" sz="750" spc="3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Item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Data)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5"/>
              </a:spcBef>
            </a:pPr>
            <a:r>
              <a:rPr dirty="0" sz="750" spc="60">
                <a:latin typeface="Arial"/>
                <a:cs typeface="Arial"/>
              </a:rPr>
              <a:t>Billing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doc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(VBELN) </a:t>
            </a:r>
            <a:r>
              <a:rPr dirty="0" sz="750" spc="75">
                <a:latin typeface="Arial"/>
                <a:cs typeface="Arial"/>
              </a:rPr>
              <a:t>Item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(POSNR)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5767387" y="1658937"/>
            <a:ext cx="1781175" cy="523875"/>
            <a:chOff x="5767387" y="1658937"/>
            <a:chExt cx="1781175" cy="523875"/>
          </a:xfrm>
        </p:grpSpPr>
        <p:sp>
          <p:nvSpPr>
            <p:cNvPr id="43" name="object 43" descr=""/>
            <p:cNvSpPr/>
            <p:nvPr/>
          </p:nvSpPr>
          <p:spPr>
            <a:xfrm>
              <a:off x="5772150" y="1663700"/>
              <a:ext cx="1771650" cy="514350"/>
            </a:xfrm>
            <a:custGeom>
              <a:avLst/>
              <a:gdLst/>
              <a:ahLst/>
              <a:cxnLst/>
              <a:rect l="l" t="t" r="r" b="b"/>
              <a:pathLst>
                <a:path w="1771650" h="514350">
                  <a:moveTo>
                    <a:pt x="17716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47650" y="504825"/>
                  </a:lnTo>
                  <a:lnTo>
                    <a:pt x="381000" y="514350"/>
                  </a:lnTo>
                  <a:lnTo>
                    <a:pt x="504825" y="514350"/>
                  </a:lnTo>
                  <a:lnTo>
                    <a:pt x="638175" y="504825"/>
                  </a:lnTo>
                  <a:lnTo>
                    <a:pt x="1009650" y="419100"/>
                  </a:lnTo>
                  <a:lnTo>
                    <a:pt x="1133475" y="400050"/>
                  </a:lnTo>
                  <a:lnTo>
                    <a:pt x="1266825" y="381000"/>
                  </a:lnTo>
                  <a:lnTo>
                    <a:pt x="1390650" y="381000"/>
                  </a:lnTo>
                  <a:lnTo>
                    <a:pt x="1514475" y="400050"/>
                  </a:lnTo>
                  <a:lnTo>
                    <a:pt x="1647825" y="419100"/>
                  </a:lnTo>
                  <a:lnTo>
                    <a:pt x="1771650" y="447675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772150" y="1663700"/>
              <a:ext cx="1771650" cy="514350"/>
            </a:xfrm>
            <a:custGeom>
              <a:avLst/>
              <a:gdLst/>
              <a:ahLst/>
              <a:cxnLst/>
              <a:rect l="l" t="t" r="r" b="b"/>
              <a:pathLst>
                <a:path w="1771650" h="514350">
                  <a:moveTo>
                    <a:pt x="0" y="447675"/>
                  </a:moveTo>
                  <a:lnTo>
                    <a:pt x="0" y="0"/>
                  </a:lnTo>
                  <a:lnTo>
                    <a:pt x="1771650" y="0"/>
                  </a:lnTo>
                  <a:lnTo>
                    <a:pt x="1771650" y="447675"/>
                  </a:lnTo>
                  <a:lnTo>
                    <a:pt x="1647825" y="419100"/>
                  </a:lnTo>
                  <a:lnTo>
                    <a:pt x="1514475" y="400050"/>
                  </a:lnTo>
                  <a:lnTo>
                    <a:pt x="1390650" y="381000"/>
                  </a:lnTo>
                  <a:lnTo>
                    <a:pt x="1266825" y="381000"/>
                  </a:lnTo>
                  <a:lnTo>
                    <a:pt x="1133475" y="400050"/>
                  </a:lnTo>
                  <a:lnTo>
                    <a:pt x="1009650" y="419100"/>
                  </a:lnTo>
                  <a:lnTo>
                    <a:pt x="638175" y="504825"/>
                  </a:lnTo>
                  <a:lnTo>
                    <a:pt x="504825" y="514350"/>
                  </a:lnTo>
                  <a:lnTo>
                    <a:pt x="381000" y="514350"/>
                  </a:lnTo>
                  <a:lnTo>
                    <a:pt x="247650" y="504825"/>
                  </a:lnTo>
                  <a:lnTo>
                    <a:pt x="0" y="4476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5778500" y="1670050"/>
            <a:ext cx="14147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70">
                <a:latin typeface="Arial"/>
                <a:cs typeface="Arial"/>
              </a:rPr>
              <a:t>Grouped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50">
                <a:latin typeface="Arial"/>
                <a:cs typeface="Arial"/>
              </a:rPr>
              <a:t>Delivery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65">
                <a:latin typeface="Arial"/>
                <a:cs typeface="Arial"/>
              </a:rPr>
              <a:t>(SAMMG)</a:t>
            </a:r>
            <a:endParaRPr sz="75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7277100" y="2730500"/>
            <a:ext cx="176212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NAST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(Billing: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Header</a:t>
            </a:r>
            <a:r>
              <a:rPr dirty="0" sz="750" spc="4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Data)</a:t>
            </a:r>
            <a:endParaRPr sz="750">
              <a:latin typeface="Arial"/>
              <a:cs typeface="Arial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7277100" y="3006725"/>
            <a:ext cx="1762125" cy="1066800"/>
          </a:xfrm>
          <a:custGeom>
            <a:avLst/>
            <a:gdLst/>
            <a:ahLst/>
            <a:cxnLst/>
            <a:rect l="l" t="t" r="r" b="b"/>
            <a:pathLst>
              <a:path w="1762125" h="1066800">
                <a:moveTo>
                  <a:pt x="0" y="933450"/>
                </a:moveTo>
                <a:lnTo>
                  <a:pt x="0" y="0"/>
                </a:lnTo>
                <a:lnTo>
                  <a:pt x="1762125" y="0"/>
                </a:lnTo>
                <a:lnTo>
                  <a:pt x="1762125" y="933450"/>
                </a:lnTo>
                <a:lnTo>
                  <a:pt x="1685925" y="885825"/>
                </a:lnTo>
                <a:lnTo>
                  <a:pt x="1600200" y="847725"/>
                </a:lnTo>
                <a:lnTo>
                  <a:pt x="1504950" y="819150"/>
                </a:lnTo>
                <a:lnTo>
                  <a:pt x="1419225" y="809625"/>
                </a:lnTo>
                <a:lnTo>
                  <a:pt x="1323975" y="800100"/>
                </a:lnTo>
                <a:lnTo>
                  <a:pt x="1133475" y="819150"/>
                </a:lnTo>
                <a:lnTo>
                  <a:pt x="1047750" y="847725"/>
                </a:lnTo>
                <a:lnTo>
                  <a:pt x="962025" y="885825"/>
                </a:lnTo>
                <a:lnTo>
                  <a:pt x="876300" y="933450"/>
                </a:lnTo>
                <a:lnTo>
                  <a:pt x="800100" y="981075"/>
                </a:lnTo>
                <a:lnTo>
                  <a:pt x="714375" y="1019175"/>
                </a:lnTo>
                <a:lnTo>
                  <a:pt x="628650" y="1047750"/>
                </a:lnTo>
                <a:lnTo>
                  <a:pt x="533400" y="1066800"/>
                </a:lnTo>
                <a:lnTo>
                  <a:pt x="342900" y="1066800"/>
                </a:lnTo>
                <a:lnTo>
                  <a:pt x="257175" y="1047750"/>
                </a:lnTo>
                <a:lnTo>
                  <a:pt x="161925" y="1019175"/>
                </a:lnTo>
                <a:lnTo>
                  <a:pt x="76200" y="981075"/>
                </a:lnTo>
                <a:lnTo>
                  <a:pt x="0" y="9334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7283450" y="3003550"/>
            <a:ext cx="122555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0805">
              <a:lnSpc>
                <a:spcPct val="100000"/>
              </a:lnSpc>
              <a:spcBef>
                <a:spcPts val="100"/>
              </a:spcBef>
            </a:pPr>
            <a:r>
              <a:rPr dirty="0" sz="750" spc="65">
                <a:latin typeface="Arial"/>
                <a:cs typeface="Arial"/>
              </a:rPr>
              <a:t>Application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(KAPPL) </a:t>
            </a:r>
            <a:r>
              <a:rPr dirty="0" sz="750" spc="60">
                <a:latin typeface="Arial"/>
                <a:cs typeface="Arial"/>
              </a:rPr>
              <a:t>Object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 spc="55">
                <a:latin typeface="Arial"/>
                <a:cs typeface="Arial"/>
              </a:rPr>
              <a:t>(OBJKY) </a:t>
            </a:r>
            <a:r>
              <a:rPr dirty="0" sz="750" spc="75">
                <a:latin typeface="Arial"/>
                <a:cs typeface="Arial"/>
              </a:rPr>
              <a:t>Output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Type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(KSCHL) </a:t>
            </a:r>
            <a:r>
              <a:rPr dirty="0" sz="750" spc="90">
                <a:latin typeface="Arial"/>
                <a:cs typeface="Arial"/>
              </a:rPr>
              <a:t>Language</a:t>
            </a:r>
            <a:r>
              <a:rPr dirty="0" sz="750" spc="3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(SPRAS)</a:t>
            </a:r>
            <a:endParaRPr sz="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50" spc="100">
                <a:latin typeface="Arial"/>
                <a:cs typeface="Arial"/>
              </a:rPr>
              <a:t>Mess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Partner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(PARNR) </a:t>
            </a:r>
            <a:r>
              <a:rPr dirty="0" sz="750" spc="60">
                <a:latin typeface="Arial"/>
                <a:cs typeface="Arial"/>
              </a:rPr>
              <a:t>Partner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Func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(PARVW) </a:t>
            </a:r>
            <a:r>
              <a:rPr dirty="0" sz="750" spc="75">
                <a:latin typeface="Arial"/>
                <a:cs typeface="Arial"/>
              </a:rPr>
              <a:t>Date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(ERDAT)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spc="100">
                <a:latin typeface="Arial"/>
                <a:cs typeface="Arial"/>
              </a:rPr>
              <a:t>Time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95">
                <a:latin typeface="Arial"/>
                <a:cs typeface="Arial"/>
              </a:rPr>
              <a:t>(ERUHR)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5767387" y="6488112"/>
            <a:ext cx="1781175" cy="276225"/>
            <a:chOff x="5767387" y="6488112"/>
            <a:chExt cx="1781175" cy="276225"/>
          </a:xfrm>
        </p:grpSpPr>
        <p:sp>
          <p:nvSpPr>
            <p:cNvPr id="50" name="object 50" descr=""/>
            <p:cNvSpPr/>
            <p:nvPr/>
          </p:nvSpPr>
          <p:spPr>
            <a:xfrm>
              <a:off x="5772150" y="6492875"/>
              <a:ext cx="1771650" cy="266700"/>
            </a:xfrm>
            <a:custGeom>
              <a:avLst/>
              <a:gdLst/>
              <a:ahLst/>
              <a:cxnLst/>
              <a:rect l="l" t="t" r="r" b="b"/>
              <a:pathLst>
                <a:path w="1771650" h="266700">
                  <a:moveTo>
                    <a:pt x="17716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1771650" y="266700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772150" y="6492875"/>
              <a:ext cx="1771650" cy="266700"/>
            </a:xfrm>
            <a:custGeom>
              <a:avLst/>
              <a:gdLst/>
              <a:ahLst/>
              <a:cxnLst/>
              <a:rect l="l" t="t" r="r" b="b"/>
              <a:pathLst>
                <a:path w="1771650" h="266700">
                  <a:moveTo>
                    <a:pt x="0" y="266700"/>
                  </a:moveTo>
                  <a:lnTo>
                    <a:pt x="1771650" y="266700"/>
                  </a:lnTo>
                  <a:lnTo>
                    <a:pt x="17716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5778500" y="6489700"/>
            <a:ext cx="14357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latin typeface="Arial"/>
                <a:cs typeface="Arial"/>
              </a:rPr>
              <a:t>VBUP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(Sales</a:t>
            </a:r>
            <a:r>
              <a:rPr dirty="0" sz="750" spc="3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Document:</a:t>
            </a:r>
            <a:r>
              <a:rPr dirty="0" sz="750" spc="4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Item</a:t>
            </a:r>
            <a:r>
              <a:rPr dirty="0" sz="750" spc="5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Status)</a:t>
            </a:r>
            <a:endParaRPr sz="750">
              <a:latin typeface="Arial"/>
              <a:cs typeface="Arial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5772150" y="6759575"/>
            <a:ext cx="1771650" cy="371475"/>
          </a:xfrm>
          <a:custGeom>
            <a:avLst/>
            <a:gdLst/>
            <a:ahLst/>
            <a:cxnLst/>
            <a:rect l="l" t="t" r="r" b="b"/>
            <a:pathLst>
              <a:path w="1771650" h="371475">
                <a:moveTo>
                  <a:pt x="0" y="323850"/>
                </a:moveTo>
                <a:lnTo>
                  <a:pt x="0" y="0"/>
                </a:lnTo>
                <a:lnTo>
                  <a:pt x="1771650" y="0"/>
                </a:lnTo>
                <a:lnTo>
                  <a:pt x="1771650" y="323850"/>
                </a:lnTo>
                <a:lnTo>
                  <a:pt x="1619250" y="295275"/>
                </a:lnTo>
                <a:lnTo>
                  <a:pt x="1476375" y="285750"/>
                </a:lnTo>
                <a:lnTo>
                  <a:pt x="1323975" y="276225"/>
                </a:lnTo>
                <a:lnTo>
                  <a:pt x="1181100" y="285750"/>
                </a:lnTo>
                <a:lnTo>
                  <a:pt x="1028700" y="295275"/>
                </a:lnTo>
                <a:lnTo>
                  <a:pt x="885825" y="323850"/>
                </a:lnTo>
                <a:lnTo>
                  <a:pt x="733425" y="352425"/>
                </a:lnTo>
                <a:lnTo>
                  <a:pt x="590550" y="371475"/>
                </a:lnTo>
                <a:lnTo>
                  <a:pt x="295275" y="371475"/>
                </a:lnTo>
                <a:lnTo>
                  <a:pt x="142875" y="352425"/>
                </a:lnTo>
                <a:lnTo>
                  <a:pt x="0" y="323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/>
          <p:nvPr/>
        </p:nvSpPr>
        <p:spPr>
          <a:xfrm>
            <a:off x="5778500" y="6756400"/>
            <a:ext cx="10255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 spc="85">
                <a:latin typeface="Arial"/>
                <a:cs typeface="Arial"/>
              </a:rPr>
              <a:t>Sales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doc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(VBELN) </a:t>
            </a:r>
            <a:r>
              <a:rPr dirty="0" sz="750" spc="75">
                <a:latin typeface="Arial"/>
                <a:cs typeface="Arial"/>
              </a:rPr>
              <a:t>Item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(POSNR)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6577012" y="5011737"/>
            <a:ext cx="3110230" cy="1552575"/>
            <a:chOff x="6577012" y="5011737"/>
            <a:chExt cx="3110230" cy="1552575"/>
          </a:xfrm>
        </p:grpSpPr>
        <p:sp>
          <p:nvSpPr>
            <p:cNvPr id="56" name="object 56" descr=""/>
            <p:cNvSpPr/>
            <p:nvPr/>
          </p:nvSpPr>
          <p:spPr>
            <a:xfrm>
              <a:off x="6581775" y="5016500"/>
              <a:ext cx="1552575" cy="1543050"/>
            </a:xfrm>
            <a:custGeom>
              <a:avLst/>
              <a:gdLst/>
              <a:ahLst/>
              <a:cxnLst/>
              <a:rect l="l" t="t" r="r" b="b"/>
              <a:pathLst>
                <a:path w="1552575" h="1543050">
                  <a:moveTo>
                    <a:pt x="152400" y="1543050"/>
                  </a:moveTo>
                  <a:lnTo>
                    <a:pt x="228600" y="1323975"/>
                  </a:lnTo>
                  <a:lnTo>
                    <a:pt x="0" y="1400175"/>
                  </a:lnTo>
                </a:path>
                <a:path w="1552575" h="1543050">
                  <a:moveTo>
                    <a:pt x="1552575" y="0"/>
                  </a:moveTo>
                  <a:lnTo>
                    <a:pt x="76200" y="14763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915275" y="5845175"/>
              <a:ext cx="1771650" cy="266700"/>
            </a:xfrm>
            <a:custGeom>
              <a:avLst/>
              <a:gdLst/>
              <a:ahLst/>
              <a:cxnLst/>
              <a:rect l="l" t="t" r="r" b="b"/>
              <a:pathLst>
                <a:path w="1771650" h="266700">
                  <a:moveTo>
                    <a:pt x="17716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1771650" y="266700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7915275" y="5845175"/>
            <a:ext cx="1771650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50"/>
              </a:spcBef>
            </a:pPr>
            <a:r>
              <a:rPr dirty="0" sz="750" spc="-20" b="1">
                <a:latin typeface="Arial"/>
                <a:cs typeface="Arial"/>
              </a:rPr>
              <a:t>VBFA</a:t>
            </a:r>
            <a:endParaRPr sz="7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(Sales</a:t>
            </a:r>
            <a:r>
              <a:rPr dirty="0" sz="750" spc="1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Document</a:t>
            </a:r>
            <a:r>
              <a:rPr dirty="0" sz="750" spc="120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Flow)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7910512" y="6107112"/>
            <a:ext cx="1781175" cy="809625"/>
            <a:chOff x="7910512" y="6107112"/>
            <a:chExt cx="1781175" cy="809625"/>
          </a:xfrm>
        </p:grpSpPr>
        <p:sp>
          <p:nvSpPr>
            <p:cNvPr id="60" name="object 60" descr=""/>
            <p:cNvSpPr/>
            <p:nvPr/>
          </p:nvSpPr>
          <p:spPr>
            <a:xfrm>
              <a:off x="7915275" y="6111875"/>
              <a:ext cx="1771650" cy="800100"/>
            </a:xfrm>
            <a:custGeom>
              <a:avLst/>
              <a:gdLst/>
              <a:ahLst/>
              <a:cxnLst/>
              <a:rect l="l" t="t" r="r" b="b"/>
              <a:pathLst>
                <a:path w="1771650" h="800100">
                  <a:moveTo>
                    <a:pt x="1771650" y="0"/>
                  </a:moveTo>
                  <a:lnTo>
                    <a:pt x="0" y="0"/>
                  </a:lnTo>
                  <a:lnTo>
                    <a:pt x="0" y="704850"/>
                  </a:lnTo>
                  <a:lnTo>
                    <a:pt x="95250" y="742950"/>
                  </a:lnTo>
                  <a:lnTo>
                    <a:pt x="190500" y="771525"/>
                  </a:lnTo>
                  <a:lnTo>
                    <a:pt x="295275" y="790575"/>
                  </a:lnTo>
                  <a:lnTo>
                    <a:pt x="390525" y="800100"/>
                  </a:lnTo>
                  <a:lnTo>
                    <a:pt x="495300" y="800100"/>
                  </a:lnTo>
                  <a:lnTo>
                    <a:pt x="600075" y="790575"/>
                  </a:lnTo>
                  <a:lnTo>
                    <a:pt x="695325" y="771525"/>
                  </a:lnTo>
                  <a:lnTo>
                    <a:pt x="790575" y="742950"/>
                  </a:lnTo>
                  <a:lnTo>
                    <a:pt x="981075" y="666750"/>
                  </a:lnTo>
                  <a:lnTo>
                    <a:pt x="1076325" y="638175"/>
                  </a:lnTo>
                  <a:lnTo>
                    <a:pt x="1171575" y="619125"/>
                  </a:lnTo>
                  <a:lnTo>
                    <a:pt x="1276350" y="609600"/>
                  </a:lnTo>
                  <a:lnTo>
                    <a:pt x="1381125" y="609600"/>
                  </a:lnTo>
                  <a:lnTo>
                    <a:pt x="1476375" y="619125"/>
                  </a:lnTo>
                  <a:lnTo>
                    <a:pt x="1581150" y="638175"/>
                  </a:lnTo>
                  <a:lnTo>
                    <a:pt x="1676400" y="666750"/>
                  </a:lnTo>
                  <a:lnTo>
                    <a:pt x="1771650" y="704850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915275" y="6111875"/>
              <a:ext cx="1771650" cy="800100"/>
            </a:xfrm>
            <a:custGeom>
              <a:avLst/>
              <a:gdLst/>
              <a:ahLst/>
              <a:cxnLst/>
              <a:rect l="l" t="t" r="r" b="b"/>
              <a:pathLst>
                <a:path w="1771650" h="800100">
                  <a:moveTo>
                    <a:pt x="0" y="704850"/>
                  </a:moveTo>
                  <a:lnTo>
                    <a:pt x="0" y="0"/>
                  </a:lnTo>
                  <a:lnTo>
                    <a:pt x="1771650" y="0"/>
                  </a:lnTo>
                  <a:lnTo>
                    <a:pt x="1771650" y="704850"/>
                  </a:lnTo>
                  <a:lnTo>
                    <a:pt x="1676400" y="666750"/>
                  </a:lnTo>
                  <a:lnTo>
                    <a:pt x="1581150" y="638175"/>
                  </a:lnTo>
                  <a:lnTo>
                    <a:pt x="1476375" y="619125"/>
                  </a:lnTo>
                  <a:lnTo>
                    <a:pt x="1381125" y="609600"/>
                  </a:lnTo>
                  <a:lnTo>
                    <a:pt x="1276350" y="609600"/>
                  </a:lnTo>
                  <a:lnTo>
                    <a:pt x="1171575" y="619125"/>
                  </a:lnTo>
                  <a:lnTo>
                    <a:pt x="1076325" y="638175"/>
                  </a:lnTo>
                  <a:lnTo>
                    <a:pt x="981075" y="666750"/>
                  </a:lnTo>
                  <a:lnTo>
                    <a:pt x="790575" y="742950"/>
                  </a:lnTo>
                  <a:lnTo>
                    <a:pt x="695325" y="771525"/>
                  </a:lnTo>
                  <a:lnTo>
                    <a:pt x="600075" y="790575"/>
                  </a:lnTo>
                  <a:lnTo>
                    <a:pt x="495300" y="800100"/>
                  </a:lnTo>
                  <a:lnTo>
                    <a:pt x="390525" y="800100"/>
                  </a:lnTo>
                  <a:lnTo>
                    <a:pt x="295275" y="790575"/>
                  </a:lnTo>
                  <a:lnTo>
                    <a:pt x="190500" y="771525"/>
                  </a:lnTo>
                  <a:lnTo>
                    <a:pt x="95250" y="742950"/>
                  </a:lnTo>
                  <a:lnTo>
                    <a:pt x="0" y="7048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7931150" y="6118225"/>
            <a:ext cx="169291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 spc="80">
                <a:latin typeface="Arial"/>
                <a:cs typeface="Arial"/>
              </a:rPr>
              <a:t>Preceding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Sales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 spc="100">
                <a:latin typeface="Arial"/>
                <a:cs typeface="Arial"/>
              </a:rPr>
              <a:t>Doc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(VBELV) Preceding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 spc="70">
                <a:latin typeface="Arial"/>
                <a:cs typeface="Arial"/>
              </a:rPr>
              <a:t>Item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(POSNV) </a:t>
            </a:r>
            <a:r>
              <a:rPr dirty="0" sz="750" spc="90">
                <a:latin typeface="Arial"/>
                <a:cs typeface="Arial"/>
              </a:rPr>
              <a:t>Subsequent</a:t>
            </a:r>
            <a:r>
              <a:rPr dirty="0" sz="750" spc="3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Sales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95">
                <a:latin typeface="Arial"/>
                <a:cs typeface="Arial"/>
              </a:rPr>
              <a:t>doc</a:t>
            </a:r>
            <a:r>
              <a:rPr dirty="0" sz="750" spc="35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(VBELN) Subsequent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Item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(POSNN) </a:t>
            </a:r>
            <a:r>
              <a:rPr dirty="0" sz="750" spc="85">
                <a:latin typeface="Arial"/>
                <a:cs typeface="Arial"/>
              </a:rPr>
              <a:t>Document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 spc="80">
                <a:latin typeface="Arial"/>
                <a:cs typeface="Arial"/>
              </a:rPr>
              <a:t>Cat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 spc="75">
                <a:latin typeface="Arial"/>
                <a:cs typeface="Arial"/>
              </a:rPr>
              <a:t>(VBTYP_N)</a:t>
            </a:r>
            <a:endParaRPr sz="750">
              <a:latin typeface="Arial"/>
              <a:cs typeface="Arial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7858125" y="1682750"/>
            <a:ext cx="1771650" cy="514350"/>
          </a:xfrm>
          <a:custGeom>
            <a:avLst/>
            <a:gdLst/>
            <a:ahLst/>
            <a:cxnLst/>
            <a:rect l="l" t="t" r="r" b="b"/>
            <a:pathLst>
              <a:path w="1771650" h="514350">
                <a:moveTo>
                  <a:pt x="0" y="447675"/>
                </a:moveTo>
                <a:lnTo>
                  <a:pt x="0" y="0"/>
                </a:lnTo>
                <a:lnTo>
                  <a:pt x="1771650" y="0"/>
                </a:lnTo>
                <a:lnTo>
                  <a:pt x="1771650" y="447675"/>
                </a:lnTo>
                <a:lnTo>
                  <a:pt x="1647825" y="419100"/>
                </a:lnTo>
                <a:lnTo>
                  <a:pt x="1524000" y="400050"/>
                </a:lnTo>
                <a:lnTo>
                  <a:pt x="1400175" y="390525"/>
                </a:lnTo>
                <a:lnTo>
                  <a:pt x="1266825" y="390525"/>
                </a:lnTo>
                <a:lnTo>
                  <a:pt x="1143000" y="400050"/>
                </a:lnTo>
                <a:lnTo>
                  <a:pt x="1009650" y="419100"/>
                </a:lnTo>
                <a:lnTo>
                  <a:pt x="885825" y="447675"/>
                </a:lnTo>
                <a:lnTo>
                  <a:pt x="762000" y="485775"/>
                </a:lnTo>
                <a:lnTo>
                  <a:pt x="638175" y="504825"/>
                </a:lnTo>
                <a:lnTo>
                  <a:pt x="514350" y="514350"/>
                </a:lnTo>
                <a:lnTo>
                  <a:pt x="381000" y="514350"/>
                </a:lnTo>
                <a:lnTo>
                  <a:pt x="257175" y="504825"/>
                </a:lnTo>
                <a:lnTo>
                  <a:pt x="133350" y="485775"/>
                </a:lnTo>
                <a:lnTo>
                  <a:pt x="0" y="447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7874000" y="1689100"/>
            <a:ext cx="14147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 spc="70">
                <a:latin typeface="Arial"/>
                <a:cs typeface="Arial"/>
              </a:rPr>
              <a:t>Grouped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50">
                <a:latin typeface="Arial"/>
                <a:cs typeface="Arial"/>
              </a:rPr>
              <a:t>Delivery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65">
                <a:latin typeface="Arial"/>
                <a:cs typeface="Arial"/>
              </a:rPr>
              <a:t>(SAMMG) </a:t>
            </a:r>
            <a:r>
              <a:rPr dirty="0" sz="750" spc="85">
                <a:latin typeface="Arial"/>
                <a:cs typeface="Arial"/>
              </a:rPr>
              <a:t>Sales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90">
                <a:latin typeface="Arial"/>
                <a:cs typeface="Arial"/>
              </a:rPr>
              <a:t>doc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85">
                <a:latin typeface="Arial"/>
                <a:cs typeface="Arial"/>
              </a:rPr>
              <a:t>(VBELN)</a:t>
            </a:r>
            <a:endParaRPr sz="750">
              <a:latin typeface="Arial"/>
              <a:cs typeface="Arial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7858125" y="1301750"/>
            <a:ext cx="1771650" cy="371475"/>
          </a:xfrm>
          <a:custGeom>
            <a:avLst/>
            <a:gdLst/>
            <a:ahLst/>
            <a:cxnLst/>
            <a:rect l="l" t="t" r="r" b="b"/>
            <a:pathLst>
              <a:path w="1771650" h="371475">
                <a:moveTo>
                  <a:pt x="1771650" y="0"/>
                </a:moveTo>
                <a:lnTo>
                  <a:pt x="0" y="0"/>
                </a:lnTo>
                <a:lnTo>
                  <a:pt x="0" y="371475"/>
                </a:lnTo>
                <a:lnTo>
                  <a:pt x="1771650" y="371475"/>
                </a:lnTo>
                <a:lnTo>
                  <a:pt x="17716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6" name="object 66" descr=""/>
          <p:cNvGraphicFramePr>
            <a:graphicFrameLocks noGrp="1"/>
          </p:cNvGraphicFramePr>
          <p:nvPr/>
        </p:nvGraphicFramePr>
        <p:xfrm>
          <a:off x="5767387" y="1277937"/>
          <a:ext cx="3943350" cy="37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/>
                <a:gridCol w="314325"/>
                <a:gridCol w="1771650"/>
              </a:tblGrid>
              <a:tr h="185420">
                <a:tc rowSpan="2"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VBSK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9050" marR="144145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(Collective</a:t>
                      </a:r>
                      <a:r>
                        <a:rPr dirty="0" sz="750" spc="1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Processing</a:t>
                      </a:r>
                      <a:r>
                        <a:rPr dirty="0" sz="750" spc="1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750" spc="1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750" spc="1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Sales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75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Header)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750" spc="-20" b="1">
                          <a:latin typeface="Arial"/>
                          <a:cs typeface="Arial"/>
                        </a:rPr>
                        <a:t>VBSS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8575" marR="344170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(Collective</a:t>
                      </a:r>
                      <a:r>
                        <a:rPr dirty="0" sz="750" spc="1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Processing:</a:t>
                      </a:r>
                      <a:r>
                        <a:rPr dirty="0" sz="750" spc="1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Sales Documents)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7" name="object 67" descr=""/>
          <p:cNvGrpSpPr/>
          <p:nvPr/>
        </p:nvGrpSpPr>
        <p:grpSpPr>
          <a:xfrm>
            <a:off x="4152900" y="482600"/>
            <a:ext cx="2343150" cy="428625"/>
            <a:chOff x="4152900" y="482600"/>
            <a:chExt cx="2343150" cy="428625"/>
          </a:xfrm>
        </p:grpSpPr>
        <p:sp>
          <p:nvSpPr>
            <p:cNvPr id="68" name="object 68" descr=""/>
            <p:cNvSpPr/>
            <p:nvPr/>
          </p:nvSpPr>
          <p:spPr>
            <a:xfrm>
              <a:off x="4257675" y="596900"/>
              <a:ext cx="2238375" cy="314325"/>
            </a:xfrm>
            <a:custGeom>
              <a:avLst/>
              <a:gdLst/>
              <a:ahLst/>
              <a:cxnLst/>
              <a:rect l="l" t="t" r="r" b="b"/>
              <a:pathLst>
                <a:path w="2238375" h="314325">
                  <a:moveTo>
                    <a:pt x="2238375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2238375" y="314325"/>
                  </a:lnTo>
                  <a:lnTo>
                    <a:pt x="2238375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152900" y="482600"/>
              <a:ext cx="2238375" cy="323850"/>
            </a:xfrm>
            <a:custGeom>
              <a:avLst/>
              <a:gdLst/>
              <a:ahLst/>
              <a:cxnLst/>
              <a:rect l="l" t="t" r="r" b="b"/>
              <a:pathLst>
                <a:path w="2238375" h="323850">
                  <a:moveTo>
                    <a:pt x="2238375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2238375" y="323850"/>
                  </a:lnTo>
                  <a:lnTo>
                    <a:pt x="2238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4152900" y="482600"/>
            <a:ext cx="2238375" cy="323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400"/>
              </a:spcBef>
            </a:pPr>
            <a:r>
              <a:rPr dirty="0" sz="1250" spc="-25" b="1">
                <a:latin typeface="Arial"/>
                <a:cs typeface="Arial"/>
              </a:rPr>
              <a:t>SAP</a:t>
            </a:r>
            <a:r>
              <a:rPr dirty="0" sz="1250" spc="-70" b="1">
                <a:latin typeface="Arial"/>
                <a:cs typeface="Arial"/>
              </a:rPr>
              <a:t> </a:t>
            </a:r>
            <a:r>
              <a:rPr dirty="0" sz="1250" spc="-20" b="1">
                <a:latin typeface="Arial"/>
                <a:cs typeface="Arial"/>
              </a:rPr>
              <a:t>SD</a:t>
            </a:r>
            <a:r>
              <a:rPr dirty="0" sz="1250" spc="-70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-</a:t>
            </a:r>
            <a:r>
              <a:rPr dirty="0" sz="1250" spc="-65" b="1">
                <a:latin typeface="Arial"/>
                <a:cs typeface="Arial"/>
              </a:rPr>
              <a:t> </a:t>
            </a:r>
            <a:r>
              <a:rPr dirty="0" sz="1250" spc="-35" b="1">
                <a:latin typeface="Arial"/>
                <a:cs typeface="Arial"/>
              </a:rPr>
              <a:t>Billing</a:t>
            </a:r>
            <a:r>
              <a:rPr dirty="0" sz="1250" spc="-70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Tables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71" name="object 71" descr=""/>
          <p:cNvGrpSpPr/>
          <p:nvPr/>
        </p:nvGrpSpPr>
        <p:grpSpPr>
          <a:xfrm>
            <a:off x="1023937" y="5340350"/>
            <a:ext cx="2795905" cy="1586230"/>
            <a:chOff x="1023937" y="5340350"/>
            <a:chExt cx="2795905" cy="1586230"/>
          </a:xfrm>
        </p:grpSpPr>
        <p:sp>
          <p:nvSpPr>
            <p:cNvPr id="72" name="object 72" descr=""/>
            <p:cNvSpPr/>
            <p:nvPr/>
          </p:nvSpPr>
          <p:spPr>
            <a:xfrm>
              <a:off x="1028700" y="5426075"/>
              <a:ext cx="2628900" cy="1495425"/>
            </a:xfrm>
            <a:custGeom>
              <a:avLst/>
              <a:gdLst/>
              <a:ahLst/>
              <a:cxnLst/>
              <a:rect l="l" t="t" r="r" b="b"/>
              <a:pathLst>
                <a:path w="2628900" h="1495425">
                  <a:moveTo>
                    <a:pt x="0" y="1495425"/>
                  </a:moveTo>
                  <a:lnTo>
                    <a:pt x="104775" y="1438275"/>
                  </a:lnTo>
                </a:path>
                <a:path w="2628900" h="1495425">
                  <a:moveTo>
                    <a:pt x="123825" y="1419225"/>
                  </a:moveTo>
                  <a:lnTo>
                    <a:pt x="142875" y="1409700"/>
                  </a:lnTo>
                </a:path>
                <a:path w="2628900" h="1495425">
                  <a:moveTo>
                    <a:pt x="171450" y="1400175"/>
                  </a:moveTo>
                  <a:lnTo>
                    <a:pt x="266700" y="1343025"/>
                  </a:lnTo>
                </a:path>
                <a:path w="2628900" h="1495425">
                  <a:moveTo>
                    <a:pt x="285750" y="1333500"/>
                  </a:moveTo>
                  <a:lnTo>
                    <a:pt x="314325" y="1314450"/>
                  </a:lnTo>
                </a:path>
                <a:path w="2628900" h="1495425">
                  <a:moveTo>
                    <a:pt x="333375" y="1304925"/>
                  </a:moveTo>
                  <a:lnTo>
                    <a:pt x="428625" y="1247775"/>
                  </a:lnTo>
                </a:path>
                <a:path w="2628900" h="1495425">
                  <a:moveTo>
                    <a:pt x="457200" y="1238250"/>
                  </a:moveTo>
                  <a:lnTo>
                    <a:pt x="476250" y="1219200"/>
                  </a:lnTo>
                </a:path>
                <a:path w="2628900" h="1495425">
                  <a:moveTo>
                    <a:pt x="495300" y="1209675"/>
                  </a:moveTo>
                  <a:lnTo>
                    <a:pt x="600075" y="1152525"/>
                  </a:lnTo>
                </a:path>
                <a:path w="2628900" h="1495425">
                  <a:moveTo>
                    <a:pt x="619125" y="1143000"/>
                  </a:moveTo>
                  <a:lnTo>
                    <a:pt x="638175" y="1133475"/>
                  </a:lnTo>
                </a:path>
                <a:path w="2628900" h="1495425">
                  <a:moveTo>
                    <a:pt x="666750" y="1114425"/>
                  </a:moveTo>
                  <a:lnTo>
                    <a:pt x="762000" y="1057275"/>
                  </a:lnTo>
                </a:path>
                <a:path w="2628900" h="1495425">
                  <a:moveTo>
                    <a:pt x="790575" y="1047750"/>
                  </a:moveTo>
                  <a:lnTo>
                    <a:pt x="809625" y="1038225"/>
                  </a:lnTo>
                </a:path>
                <a:path w="2628900" h="1495425">
                  <a:moveTo>
                    <a:pt x="828675" y="1019175"/>
                  </a:moveTo>
                  <a:lnTo>
                    <a:pt x="933450" y="962025"/>
                  </a:lnTo>
                </a:path>
                <a:path w="2628900" h="1495425">
                  <a:moveTo>
                    <a:pt x="952500" y="952500"/>
                  </a:moveTo>
                  <a:lnTo>
                    <a:pt x="971550" y="942975"/>
                  </a:lnTo>
                </a:path>
                <a:path w="2628900" h="1495425">
                  <a:moveTo>
                    <a:pt x="1781175" y="476250"/>
                  </a:moveTo>
                  <a:lnTo>
                    <a:pt x="1800225" y="466725"/>
                  </a:lnTo>
                </a:path>
                <a:path w="2628900" h="1495425">
                  <a:moveTo>
                    <a:pt x="1828800" y="457200"/>
                  </a:moveTo>
                  <a:lnTo>
                    <a:pt x="1924050" y="400050"/>
                  </a:lnTo>
                </a:path>
                <a:path w="2628900" h="1495425">
                  <a:moveTo>
                    <a:pt x="1943100" y="381000"/>
                  </a:moveTo>
                  <a:lnTo>
                    <a:pt x="1971675" y="371475"/>
                  </a:lnTo>
                </a:path>
                <a:path w="2628900" h="1495425">
                  <a:moveTo>
                    <a:pt x="1990725" y="361950"/>
                  </a:moveTo>
                  <a:lnTo>
                    <a:pt x="2085975" y="304800"/>
                  </a:lnTo>
                </a:path>
                <a:path w="2628900" h="1495425">
                  <a:moveTo>
                    <a:pt x="2114550" y="295275"/>
                  </a:moveTo>
                  <a:lnTo>
                    <a:pt x="2133600" y="276225"/>
                  </a:lnTo>
                </a:path>
                <a:path w="2628900" h="1495425">
                  <a:moveTo>
                    <a:pt x="2152650" y="266700"/>
                  </a:moveTo>
                  <a:lnTo>
                    <a:pt x="2257425" y="209550"/>
                  </a:lnTo>
                </a:path>
                <a:path w="2628900" h="1495425">
                  <a:moveTo>
                    <a:pt x="2276475" y="200025"/>
                  </a:moveTo>
                  <a:lnTo>
                    <a:pt x="2295525" y="180975"/>
                  </a:lnTo>
                </a:path>
                <a:path w="2628900" h="1495425">
                  <a:moveTo>
                    <a:pt x="2324100" y="171450"/>
                  </a:moveTo>
                  <a:lnTo>
                    <a:pt x="2419350" y="114300"/>
                  </a:lnTo>
                </a:path>
                <a:path w="2628900" h="1495425">
                  <a:moveTo>
                    <a:pt x="2447925" y="104775"/>
                  </a:moveTo>
                  <a:lnTo>
                    <a:pt x="2466975" y="95250"/>
                  </a:lnTo>
                </a:path>
                <a:path w="2628900" h="1495425">
                  <a:moveTo>
                    <a:pt x="2486025" y="76200"/>
                  </a:moveTo>
                  <a:lnTo>
                    <a:pt x="2590800" y="19050"/>
                  </a:lnTo>
                </a:path>
                <a:path w="2628900" h="1495425">
                  <a:moveTo>
                    <a:pt x="2609850" y="9525"/>
                  </a:moveTo>
                  <a:lnTo>
                    <a:pt x="26289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571875" y="5340350"/>
              <a:ext cx="247650" cy="200025"/>
            </a:xfrm>
            <a:custGeom>
              <a:avLst/>
              <a:gdLst/>
              <a:ahLst/>
              <a:cxnLst/>
              <a:rect l="l" t="t" r="r" b="b"/>
              <a:pathLst>
                <a:path w="247650" h="200025">
                  <a:moveTo>
                    <a:pt x="247650" y="0"/>
                  </a:moveTo>
                  <a:lnTo>
                    <a:pt x="0" y="9525"/>
                  </a:lnTo>
                  <a:lnTo>
                    <a:pt x="9525" y="19050"/>
                  </a:lnTo>
                  <a:lnTo>
                    <a:pt x="28575" y="28575"/>
                  </a:lnTo>
                  <a:lnTo>
                    <a:pt x="38100" y="38100"/>
                  </a:lnTo>
                  <a:lnTo>
                    <a:pt x="47625" y="57150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76200" y="95250"/>
                  </a:lnTo>
                  <a:lnTo>
                    <a:pt x="95250" y="133350"/>
                  </a:lnTo>
                  <a:lnTo>
                    <a:pt x="95250" y="152400"/>
                  </a:lnTo>
                  <a:lnTo>
                    <a:pt x="104775" y="161925"/>
                  </a:lnTo>
                  <a:lnTo>
                    <a:pt x="104775" y="200025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762125" y="5892800"/>
              <a:ext cx="1323975" cy="466725"/>
            </a:xfrm>
            <a:custGeom>
              <a:avLst/>
              <a:gdLst/>
              <a:ahLst/>
              <a:cxnLst/>
              <a:rect l="l" t="t" r="r" b="b"/>
              <a:pathLst>
                <a:path w="1323975" h="466725">
                  <a:moveTo>
                    <a:pt x="1323975" y="0"/>
                  </a:moveTo>
                  <a:lnTo>
                    <a:pt x="0" y="0"/>
                  </a:lnTo>
                  <a:lnTo>
                    <a:pt x="0" y="466725"/>
                  </a:lnTo>
                  <a:lnTo>
                    <a:pt x="1323975" y="466725"/>
                  </a:lnTo>
                  <a:lnTo>
                    <a:pt x="1323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1825625" y="5880100"/>
            <a:ext cx="12319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703" sz="1125" spc="150">
                <a:latin typeface="Arial"/>
                <a:cs typeface="Arial"/>
              </a:rPr>
              <a:t>From</a:t>
            </a:r>
            <a:r>
              <a:rPr dirty="0" baseline="3703" sz="1125" spc="89">
                <a:latin typeface="Arial"/>
                <a:cs typeface="Arial"/>
              </a:rPr>
              <a:t> </a:t>
            </a:r>
            <a:r>
              <a:rPr dirty="0" baseline="3703" sz="1125" spc="127">
                <a:latin typeface="Arial"/>
                <a:cs typeface="Arial"/>
              </a:rPr>
              <a:t>Shipping</a:t>
            </a:r>
            <a:r>
              <a:rPr dirty="0" baseline="3703" sz="1125" spc="89">
                <a:latin typeface="Arial"/>
                <a:cs typeface="Arial"/>
              </a:rPr>
              <a:t> </a:t>
            </a:r>
            <a:r>
              <a:rPr dirty="0" baseline="3703" sz="1125" spc="-135">
                <a:latin typeface="Arial"/>
                <a:cs typeface="Arial"/>
              </a:rPr>
              <a:t>thro</a:t>
            </a:r>
            <a:r>
              <a:rPr dirty="0" sz="750" spc="-90" b="1">
                <a:latin typeface="Arial"/>
                <a:cs typeface="Arial"/>
              </a:rPr>
              <a:t>L</a:t>
            </a:r>
            <a:r>
              <a:rPr dirty="0" baseline="3703" sz="1125" spc="-135">
                <a:latin typeface="Arial"/>
                <a:cs typeface="Arial"/>
              </a:rPr>
              <a:t>u</a:t>
            </a:r>
            <a:r>
              <a:rPr dirty="0" sz="750" spc="-90" b="1">
                <a:latin typeface="Arial"/>
                <a:cs typeface="Arial"/>
              </a:rPr>
              <a:t>IP</a:t>
            </a:r>
            <a:r>
              <a:rPr dirty="0" baseline="3703" sz="1125" spc="-135">
                <a:latin typeface="Arial"/>
                <a:cs typeface="Arial"/>
              </a:rPr>
              <a:t>g</a:t>
            </a:r>
            <a:r>
              <a:rPr dirty="0" sz="750" spc="-90" b="1">
                <a:latin typeface="Arial"/>
                <a:cs typeface="Arial"/>
              </a:rPr>
              <a:t>S</a:t>
            </a:r>
            <a:r>
              <a:rPr dirty="0" baseline="3703" sz="1125" spc="-135">
                <a:latin typeface="Arial"/>
                <a:cs typeface="Arial"/>
              </a:rPr>
              <a:t>h</a:t>
            </a:r>
            <a:endParaRPr baseline="3703" sz="1125">
              <a:latin typeface="Arial"/>
              <a:cs typeface="Arial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787525" y="5984875"/>
            <a:ext cx="151955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75">
                <a:latin typeface="Arial"/>
                <a:cs typeface="Arial"/>
              </a:rPr>
              <a:t>VBRP-</a:t>
            </a:r>
            <a:r>
              <a:rPr dirty="0" sz="750" spc="95">
                <a:latin typeface="Arial"/>
                <a:cs typeface="Arial"/>
              </a:rPr>
              <a:t>VGBEL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105">
                <a:latin typeface="Arial"/>
                <a:cs typeface="Arial"/>
              </a:rPr>
              <a:t>=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55">
                <a:latin typeface="Arial"/>
                <a:cs typeface="Arial"/>
              </a:rPr>
              <a:t>LIPS-</a:t>
            </a:r>
            <a:r>
              <a:rPr dirty="0" sz="750" spc="75">
                <a:latin typeface="Arial"/>
                <a:cs typeface="Arial"/>
              </a:rPr>
              <a:t>VBELN</a:t>
            </a:r>
            <a:endParaRPr sz="750">
              <a:latin typeface="Arial"/>
              <a:cs typeface="Arial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2330451" y="6108700"/>
            <a:ext cx="2254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80">
                <a:latin typeface="Arial"/>
                <a:cs typeface="Arial"/>
              </a:rPr>
              <a:t>and</a:t>
            </a:r>
            <a:endParaRPr sz="750">
              <a:latin typeface="Arial"/>
              <a:cs typeface="Arial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758951" y="6223000"/>
            <a:ext cx="15767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70">
                <a:latin typeface="Arial"/>
                <a:cs typeface="Arial"/>
              </a:rPr>
              <a:t>VBRP-</a:t>
            </a:r>
            <a:r>
              <a:rPr dirty="0" sz="750" spc="100">
                <a:latin typeface="Arial"/>
                <a:cs typeface="Arial"/>
              </a:rPr>
              <a:t>VGPOS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105">
                <a:latin typeface="Arial"/>
                <a:cs typeface="Arial"/>
              </a:rPr>
              <a:t>=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55">
                <a:latin typeface="Arial"/>
                <a:cs typeface="Arial"/>
              </a:rPr>
              <a:t>LIPS-</a:t>
            </a:r>
            <a:r>
              <a:rPr dirty="0" sz="750" spc="85">
                <a:latin typeface="Arial"/>
                <a:cs typeface="Arial"/>
              </a:rPr>
              <a:t>POSNR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62125" y="1635125"/>
            <a:ext cx="1933575" cy="3495675"/>
          </a:xfrm>
          <a:custGeom>
            <a:avLst/>
            <a:gdLst/>
            <a:ahLst/>
            <a:cxnLst/>
            <a:rect l="l" t="t" r="r" b="b"/>
            <a:pathLst>
              <a:path w="1933575" h="3495675">
                <a:moveTo>
                  <a:pt x="0" y="3495675"/>
                </a:moveTo>
                <a:lnTo>
                  <a:pt x="1933575" y="3495675"/>
                </a:lnTo>
                <a:lnTo>
                  <a:pt x="1933575" y="0"/>
                </a:lnTo>
                <a:lnTo>
                  <a:pt x="0" y="0"/>
                </a:lnTo>
                <a:lnTo>
                  <a:pt x="0" y="3495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86225" y="1635125"/>
            <a:ext cx="1943100" cy="3495675"/>
          </a:xfrm>
          <a:custGeom>
            <a:avLst/>
            <a:gdLst/>
            <a:ahLst/>
            <a:cxnLst/>
            <a:rect l="l" t="t" r="r" b="b"/>
            <a:pathLst>
              <a:path w="1943100" h="3495675">
                <a:moveTo>
                  <a:pt x="0" y="3495675"/>
                </a:moveTo>
                <a:lnTo>
                  <a:pt x="1943100" y="3495675"/>
                </a:lnTo>
                <a:lnTo>
                  <a:pt x="1943100" y="0"/>
                </a:lnTo>
                <a:lnTo>
                  <a:pt x="0" y="0"/>
                </a:lnTo>
                <a:lnTo>
                  <a:pt x="0" y="3495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867400" y="1635125"/>
            <a:ext cx="2676525" cy="3495675"/>
          </a:xfrm>
          <a:custGeom>
            <a:avLst/>
            <a:gdLst/>
            <a:ahLst/>
            <a:cxnLst/>
            <a:rect l="l" t="t" r="r" b="b"/>
            <a:pathLst>
              <a:path w="2676525" h="3495675">
                <a:moveTo>
                  <a:pt x="742950" y="3495675"/>
                </a:moveTo>
                <a:lnTo>
                  <a:pt x="2676525" y="3495675"/>
                </a:lnTo>
                <a:lnTo>
                  <a:pt x="2676525" y="0"/>
                </a:lnTo>
                <a:lnTo>
                  <a:pt x="742950" y="0"/>
                </a:lnTo>
                <a:lnTo>
                  <a:pt x="742950" y="3495675"/>
                </a:lnTo>
                <a:close/>
              </a:path>
              <a:path w="2676525" h="3495675">
                <a:moveTo>
                  <a:pt x="1819275" y="1695450"/>
                </a:moveTo>
                <a:lnTo>
                  <a:pt x="1724025" y="1533525"/>
                </a:lnTo>
                <a:lnTo>
                  <a:pt x="1628775" y="1695450"/>
                </a:lnTo>
              </a:path>
              <a:path w="2676525" h="3495675">
                <a:moveTo>
                  <a:pt x="1724025" y="1152525"/>
                </a:moveTo>
                <a:lnTo>
                  <a:pt x="1724025" y="1695450"/>
                </a:lnTo>
              </a:path>
              <a:path w="2676525" h="3495675">
                <a:moveTo>
                  <a:pt x="923925" y="676275"/>
                </a:moveTo>
                <a:lnTo>
                  <a:pt x="733425" y="752475"/>
                </a:lnTo>
                <a:lnTo>
                  <a:pt x="923925" y="838200"/>
                </a:lnTo>
              </a:path>
              <a:path w="2676525" h="3495675">
                <a:moveTo>
                  <a:pt x="0" y="752475"/>
                </a:moveTo>
                <a:lnTo>
                  <a:pt x="923925" y="7524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1200" y="1250950"/>
            <a:ext cx="1188720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114" b="1" i="1">
                <a:latin typeface="Arial"/>
                <a:cs typeface="Arial"/>
              </a:rPr>
              <a:t>Customer</a:t>
            </a:r>
            <a:r>
              <a:rPr dirty="0" sz="650" spc="75" b="1" i="1">
                <a:latin typeface="Arial"/>
                <a:cs typeface="Arial"/>
              </a:rPr>
              <a:t> </a:t>
            </a:r>
            <a:r>
              <a:rPr dirty="0" sz="650" spc="110" b="1" i="1">
                <a:latin typeface="Arial"/>
                <a:cs typeface="Arial"/>
              </a:rPr>
              <a:t>Master</a:t>
            </a:r>
            <a:r>
              <a:rPr dirty="0" sz="650" spc="80" b="1" i="1">
                <a:latin typeface="Arial"/>
                <a:cs typeface="Arial"/>
              </a:rPr>
              <a:t> </a:t>
            </a:r>
            <a:r>
              <a:rPr dirty="0" sz="650" spc="90" b="1" i="1">
                <a:latin typeface="Arial"/>
                <a:cs typeface="Arial"/>
              </a:rPr>
              <a:t>Data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21525" y="1774825"/>
            <a:ext cx="9588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85" b="1">
                <a:latin typeface="Arial"/>
                <a:cs typeface="Arial"/>
              </a:rPr>
              <a:t>Company</a:t>
            </a:r>
            <a:r>
              <a:rPr dirty="0" sz="600" spc="70" b="1">
                <a:latin typeface="Arial"/>
                <a:cs typeface="Arial"/>
              </a:rPr>
              <a:t> </a:t>
            </a:r>
            <a:r>
              <a:rPr dirty="0" sz="600" spc="90" b="1">
                <a:latin typeface="Arial"/>
                <a:cs typeface="Arial"/>
              </a:rPr>
              <a:t>Code</a:t>
            </a:r>
            <a:r>
              <a:rPr dirty="0" sz="600" spc="70" b="1">
                <a:latin typeface="Arial"/>
                <a:cs typeface="Arial"/>
              </a:rPr>
              <a:t> </a:t>
            </a:r>
            <a:r>
              <a:rPr dirty="0" sz="600" spc="50" b="1">
                <a:latin typeface="Arial"/>
                <a:cs typeface="Arial"/>
              </a:rPr>
              <a:t>Data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21215" y="1793875"/>
            <a:ext cx="62611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80" b="1">
                <a:latin typeface="Arial"/>
                <a:cs typeface="Arial"/>
              </a:rPr>
              <a:t>General</a:t>
            </a:r>
            <a:r>
              <a:rPr dirty="0" sz="600" spc="70" b="1">
                <a:latin typeface="Arial"/>
                <a:cs typeface="Arial"/>
              </a:rPr>
              <a:t> </a:t>
            </a:r>
            <a:r>
              <a:rPr dirty="0" sz="600" spc="60" b="1">
                <a:latin typeface="Arial"/>
                <a:cs typeface="Arial"/>
              </a:rPr>
              <a:t>Data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947862" y="2201862"/>
            <a:ext cx="2333625" cy="1895475"/>
            <a:chOff x="1947862" y="2201862"/>
            <a:chExt cx="2333625" cy="1895475"/>
          </a:xfrm>
        </p:grpSpPr>
        <p:sp>
          <p:nvSpPr>
            <p:cNvPr id="9" name="object 9" descr=""/>
            <p:cNvSpPr/>
            <p:nvPr/>
          </p:nvSpPr>
          <p:spPr>
            <a:xfrm>
              <a:off x="2647950" y="2387600"/>
              <a:ext cx="1628775" cy="1704975"/>
            </a:xfrm>
            <a:custGeom>
              <a:avLst/>
              <a:gdLst/>
              <a:ahLst/>
              <a:cxnLst/>
              <a:rect l="l" t="t" r="r" b="b"/>
              <a:pathLst>
                <a:path w="1628775" h="1704975">
                  <a:moveTo>
                    <a:pt x="0" y="457200"/>
                  </a:moveTo>
                  <a:lnTo>
                    <a:pt x="95250" y="609600"/>
                  </a:lnTo>
                  <a:lnTo>
                    <a:pt x="190500" y="457200"/>
                  </a:lnTo>
                </a:path>
                <a:path w="1628775" h="1704975">
                  <a:moveTo>
                    <a:pt x="95250" y="781050"/>
                  </a:moveTo>
                  <a:lnTo>
                    <a:pt x="95250" y="457200"/>
                  </a:lnTo>
                </a:path>
                <a:path w="1628775" h="1704975">
                  <a:moveTo>
                    <a:pt x="981075" y="923925"/>
                  </a:moveTo>
                  <a:lnTo>
                    <a:pt x="1009650" y="752475"/>
                  </a:lnTo>
                  <a:lnTo>
                    <a:pt x="819150" y="838200"/>
                  </a:lnTo>
                </a:path>
                <a:path w="1628775" h="1704975">
                  <a:moveTo>
                    <a:pt x="1628775" y="0"/>
                  </a:moveTo>
                  <a:lnTo>
                    <a:pt x="895350" y="885825"/>
                  </a:lnTo>
                </a:path>
                <a:path w="1628775" h="1704975">
                  <a:moveTo>
                    <a:pt x="190500" y="1704975"/>
                  </a:moveTo>
                  <a:lnTo>
                    <a:pt x="95250" y="1543050"/>
                  </a:lnTo>
                  <a:lnTo>
                    <a:pt x="0" y="1704975"/>
                  </a:lnTo>
                </a:path>
                <a:path w="1628775" h="1704975">
                  <a:moveTo>
                    <a:pt x="95250" y="1400175"/>
                  </a:moveTo>
                  <a:lnTo>
                    <a:pt x="95250" y="17049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52625" y="2206625"/>
              <a:ext cx="1590675" cy="723900"/>
            </a:xfrm>
            <a:custGeom>
              <a:avLst/>
              <a:gdLst/>
              <a:ahLst/>
              <a:cxnLst/>
              <a:rect l="l" t="t" r="r" b="b"/>
              <a:pathLst>
                <a:path w="1590675" h="723900">
                  <a:moveTo>
                    <a:pt x="1590675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66675" y="666750"/>
                  </a:lnTo>
                  <a:lnTo>
                    <a:pt x="152400" y="695325"/>
                  </a:lnTo>
                  <a:lnTo>
                    <a:pt x="228600" y="704850"/>
                  </a:lnTo>
                  <a:lnTo>
                    <a:pt x="314325" y="714375"/>
                  </a:lnTo>
                  <a:lnTo>
                    <a:pt x="390525" y="723900"/>
                  </a:lnTo>
                  <a:lnTo>
                    <a:pt x="561975" y="704850"/>
                  </a:lnTo>
                  <a:lnTo>
                    <a:pt x="638175" y="695325"/>
                  </a:lnTo>
                  <a:lnTo>
                    <a:pt x="723900" y="666750"/>
                  </a:lnTo>
                  <a:lnTo>
                    <a:pt x="790575" y="638175"/>
                  </a:lnTo>
                  <a:lnTo>
                    <a:pt x="866775" y="600075"/>
                  </a:lnTo>
                  <a:lnTo>
                    <a:pt x="942975" y="581025"/>
                  </a:lnTo>
                  <a:lnTo>
                    <a:pt x="1028700" y="552450"/>
                  </a:lnTo>
                  <a:lnTo>
                    <a:pt x="1104900" y="542925"/>
                  </a:lnTo>
                  <a:lnTo>
                    <a:pt x="1276350" y="542925"/>
                  </a:lnTo>
                  <a:lnTo>
                    <a:pt x="1362075" y="552450"/>
                  </a:lnTo>
                  <a:lnTo>
                    <a:pt x="1438275" y="581025"/>
                  </a:lnTo>
                  <a:lnTo>
                    <a:pt x="1524000" y="600075"/>
                  </a:lnTo>
                  <a:lnTo>
                    <a:pt x="1590675" y="638175"/>
                  </a:lnTo>
                  <a:lnTo>
                    <a:pt x="1590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52625" y="2206625"/>
              <a:ext cx="1590675" cy="723900"/>
            </a:xfrm>
            <a:custGeom>
              <a:avLst/>
              <a:gdLst/>
              <a:ahLst/>
              <a:cxnLst/>
              <a:rect l="l" t="t" r="r" b="b"/>
              <a:pathLst>
                <a:path w="1590675" h="723900">
                  <a:moveTo>
                    <a:pt x="0" y="638175"/>
                  </a:moveTo>
                  <a:lnTo>
                    <a:pt x="0" y="0"/>
                  </a:lnTo>
                  <a:lnTo>
                    <a:pt x="1590675" y="0"/>
                  </a:lnTo>
                  <a:lnTo>
                    <a:pt x="1590675" y="638175"/>
                  </a:lnTo>
                  <a:lnTo>
                    <a:pt x="1524000" y="600075"/>
                  </a:lnTo>
                  <a:lnTo>
                    <a:pt x="1438275" y="581025"/>
                  </a:lnTo>
                  <a:lnTo>
                    <a:pt x="1362075" y="552450"/>
                  </a:lnTo>
                  <a:lnTo>
                    <a:pt x="1276350" y="542925"/>
                  </a:lnTo>
                  <a:lnTo>
                    <a:pt x="1104900" y="542925"/>
                  </a:lnTo>
                  <a:lnTo>
                    <a:pt x="1028700" y="552450"/>
                  </a:lnTo>
                  <a:lnTo>
                    <a:pt x="942975" y="581025"/>
                  </a:lnTo>
                  <a:lnTo>
                    <a:pt x="866775" y="600075"/>
                  </a:lnTo>
                  <a:lnTo>
                    <a:pt x="790575" y="638175"/>
                  </a:lnTo>
                  <a:lnTo>
                    <a:pt x="723900" y="666750"/>
                  </a:lnTo>
                  <a:lnTo>
                    <a:pt x="638175" y="695325"/>
                  </a:lnTo>
                  <a:lnTo>
                    <a:pt x="561975" y="704850"/>
                  </a:lnTo>
                  <a:lnTo>
                    <a:pt x="390525" y="723900"/>
                  </a:lnTo>
                  <a:lnTo>
                    <a:pt x="314325" y="714375"/>
                  </a:lnTo>
                  <a:lnTo>
                    <a:pt x="228600" y="704850"/>
                  </a:lnTo>
                  <a:lnTo>
                    <a:pt x="152400" y="695325"/>
                  </a:lnTo>
                  <a:lnTo>
                    <a:pt x="66675" y="666750"/>
                  </a:lnTo>
                  <a:lnTo>
                    <a:pt x="0" y="6381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368550" y="1793875"/>
            <a:ext cx="7696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80" b="1">
                <a:latin typeface="Arial"/>
                <a:cs typeface="Arial"/>
              </a:rPr>
              <a:t>Sales</a:t>
            </a:r>
            <a:r>
              <a:rPr dirty="0" sz="600" spc="75" b="1">
                <a:latin typeface="Arial"/>
                <a:cs typeface="Arial"/>
              </a:rPr>
              <a:t> </a:t>
            </a:r>
            <a:r>
              <a:rPr dirty="0" sz="600" spc="85" b="1">
                <a:latin typeface="Arial"/>
                <a:cs typeface="Arial"/>
              </a:rPr>
              <a:t>Area</a:t>
            </a:r>
            <a:r>
              <a:rPr dirty="0" sz="600" spc="80" b="1">
                <a:latin typeface="Arial"/>
                <a:cs typeface="Arial"/>
              </a:rPr>
              <a:t> </a:t>
            </a:r>
            <a:r>
              <a:rPr dirty="0" sz="600" spc="65" b="1">
                <a:latin typeface="Arial"/>
                <a:cs typeface="Arial"/>
              </a:rPr>
              <a:t>Data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609975" y="577850"/>
            <a:ext cx="3181350" cy="314325"/>
            <a:chOff x="3609975" y="577850"/>
            <a:chExt cx="3181350" cy="314325"/>
          </a:xfrm>
        </p:grpSpPr>
        <p:sp>
          <p:nvSpPr>
            <p:cNvPr id="14" name="object 14" descr=""/>
            <p:cNvSpPr/>
            <p:nvPr/>
          </p:nvSpPr>
          <p:spPr>
            <a:xfrm>
              <a:off x="3705225" y="654050"/>
              <a:ext cx="3086100" cy="238125"/>
            </a:xfrm>
            <a:custGeom>
              <a:avLst/>
              <a:gdLst/>
              <a:ahLst/>
              <a:cxnLst/>
              <a:rect l="l" t="t" r="r" b="b"/>
              <a:pathLst>
                <a:path w="3086100" h="238125">
                  <a:moveTo>
                    <a:pt x="30861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3086100" y="238125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609975" y="577850"/>
              <a:ext cx="3086100" cy="238125"/>
            </a:xfrm>
            <a:custGeom>
              <a:avLst/>
              <a:gdLst/>
              <a:ahLst/>
              <a:cxnLst/>
              <a:rect l="l" t="t" r="r" b="b"/>
              <a:pathLst>
                <a:path w="3086100" h="238125">
                  <a:moveTo>
                    <a:pt x="30861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3086100" y="238125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609975" y="577850"/>
            <a:ext cx="3086100" cy="2381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250"/>
              </a:spcBef>
            </a:pPr>
            <a:r>
              <a:rPr dirty="0" sz="950" spc="204" b="1">
                <a:latin typeface="Arial"/>
                <a:cs typeface="Arial"/>
              </a:rPr>
              <a:t>SAP</a:t>
            </a:r>
            <a:r>
              <a:rPr dirty="0" sz="950" spc="55" b="1">
                <a:latin typeface="Arial"/>
                <a:cs typeface="Arial"/>
              </a:rPr>
              <a:t> </a:t>
            </a:r>
            <a:r>
              <a:rPr dirty="0" sz="950" spc="215" b="1">
                <a:latin typeface="Arial"/>
                <a:cs typeface="Arial"/>
              </a:rPr>
              <a:t>SD</a:t>
            </a:r>
            <a:r>
              <a:rPr dirty="0" sz="950" spc="60" b="1">
                <a:latin typeface="Arial"/>
                <a:cs typeface="Arial"/>
              </a:rPr>
              <a:t> </a:t>
            </a:r>
            <a:r>
              <a:rPr dirty="0" sz="950" spc="114" b="1">
                <a:latin typeface="Arial"/>
                <a:cs typeface="Arial"/>
              </a:rPr>
              <a:t>-</a:t>
            </a:r>
            <a:r>
              <a:rPr dirty="0" sz="950" spc="60" b="1">
                <a:latin typeface="Arial"/>
                <a:cs typeface="Arial"/>
              </a:rPr>
              <a:t> </a:t>
            </a:r>
            <a:r>
              <a:rPr dirty="0" sz="950" spc="145" b="1">
                <a:latin typeface="Arial"/>
                <a:cs typeface="Arial"/>
              </a:rPr>
              <a:t>Links</a:t>
            </a:r>
            <a:r>
              <a:rPr dirty="0" sz="950" spc="55" b="1">
                <a:latin typeface="Arial"/>
                <a:cs typeface="Arial"/>
              </a:rPr>
              <a:t> </a:t>
            </a:r>
            <a:r>
              <a:rPr dirty="0" sz="950" spc="145" b="1">
                <a:latin typeface="Arial"/>
                <a:cs typeface="Arial"/>
              </a:rPr>
              <a:t>to</a:t>
            </a:r>
            <a:r>
              <a:rPr dirty="0" sz="950" spc="60" b="1">
                <a:latin typeface="Arial"/>
                <a:cs typeface="Arial"/>
              </a:rPr>
              <a:t> </a:t>
            </a:r>
            <a:r>
              <a:rPr dirty="0" sz="950" spc="130" b="1">
                <a:latin typeface="Arial"/>
                <a:cs typeface="Arial"/>
              </a:rPr>
              <a:t>FI</a:t>
            </a:r>
            <a:r>
              <a:rPr dirty="0" sz="950" spc="60" b="1">
                <a:latin typeface="Arial"/>
                <a:cs typeface="Arial"/>
              </a:rPr>
              <a:t> </a:t>
            </a:r>
            <a:r>
              <a:rPr dirty="0" sz="950" spc="125" b="1">
                <a:latin typeface="Arial"/>
                <a:cs typeface="Arial"/>
              </a:rPr>
              <a:t>Tables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58975" y="2207260"/>
            <a:ext cx="1092200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1120">
              <a:lnSpc>
                <a:spcPct val="112500"/>
              </a:lnSpc>
              <a:spcBef>
                <a:spcPts val="95"/>
              </a:spcBef>
            </a:pPr>
            <a:r>
              <a:rPr dirty="0" sz="500" spc="110">
                <a:latin typeface="Arial"/>
                <a:cs typeface="Arial"/>
              </a:rPr>
              <a:t>Customer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30">
                <a:latin typeface="Arial"/>
                <a:cs typeface="Arial"/>
              </a:rPr>
              <a:t>No</a:t>
            </a:r>
            <a:r>
              <a:rPr dirty="0" sz="500" spc="105">
                <a:latin typeface="Arial"/>
                <a:cs typeface="Arial"/>
              </a:rPr>
              <a:t> </a:t>
            </a:r>
            <a:r>
              <a:rPr dirty="0" sz="500" spc="110">
                <a:latin typeface="Arial"/>
                <a:cs typeface="Arial"/>
              </a:rPr>
              <a:t>(KUNNR) </a:t>
            </a:r>
            <a:r>
              <a:rPr dirty="0" sz="500" spc="90">
                <a:latin typeface="Arial"/>
                <a:cs typeface="Arial"/>
              </a:rPr>
              <a:t>Sales</a:t>
            </a:r>
            <a:r>
              <a:rPr dirty="0" sz="500" spc="75">
                <a:latin typeface="Arial"/>
                <a:cs typeface="Arial"/>
              </a:rPr>
              <a:t> </a:t>
            </a:r>
            <a:r>
              <a:rPr dirty="0" sz="500" spc="105">
                <a:latin typeface="Arial"/>
                <a:cs typeface="Arial"/>
              </a:rPr>
              <a:t>Org</a:t>
            </a:r>
            <a:r>
              <a:rPr dirty="0" sz="500" spc="75">
                <a:latin typeface="Arial"/>
                <a:cs typeface="Arial"/>
              </a:rPr>
              <a:t> </a:t>
            </a:r>
            <a:r>
              <a:rPr dirty="0" sz="500" spc="100">
                <a:latin typeface="Arial"/>
                <a:cs typeface="Arial"/>
              </a:rPr>
              <a:t>(VKORG) </a:t>
            </a:r>
            <a:r>
              <a:rPr dirty="0" sz="500" spc="75">
                <a:latin typeface="Arial"/>
                <a:cs typeface="Arial"/>
              </a:rPr>
              <a:t>Distribution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25">
                <a:latin typeface="Arial"/>
                <a:cs typeface="Arial"/>
              </a:rPr>
              <a:t>Ch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05">
                <a:latin typeface="Arial"/>
                <a:cs typeface="Arial"/>
              </a:rPr>
              <a:t>(VTWEG) </a:t>
            </a:r>
            <a:r>
              <a:rPr dirty="0" sz="500" spc="80">
                <a:latin typeface="Arial"/>
                <a:cs typeface="Arial"/>
              </a:rPr>
              <a:t>Division</a:t>
            </a:r>
            <a:r>
              <a:rPr dirty="0" sz="500" spc="105">
                <a:latin typeface="Arial"/>
                <a:cs typeface="Arial"/>
              </a:rPr>
              <a:t> </a:t>
            </a:r>
            <a:r>
              <a:rPr dirty="0" sz="500" spc="100">
                <a:latin typeface="Arial"/>
                <a:cs typeface="Arial"/>
              </a:rPr>
              <a:t>(SPART)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12500"/>
              </a:lnSpc>
            </a:pPr>
            <a:r>
              <a:rPr dirty="0" sz="500" spc="90">
                <a:latin typeface="Arial"/>
                <a:cs typeface="Arial"/>
              </a:rPr>
              <a:t>Partner</a:t>
            </a:r>
            <a:r>
              <a:rPr dirty="0" sz="500" spc="90">
                <a:latin typeface="Arial"/>
                <a:cs typeface="Arial"/>
              </a:rPr>
              <a:t> Function</a:t>
            </a:r>
            <a:r>
              <a:rPr dirty="0" sz="500" spc="90">
                <a:latin typeface="Arial"/>
                <a:cs typeface="Arial"/>
              </a:rPr>
              <a:t> </a:t>
            </a:r>
            <a:r>
              <a:rPr dirty="0" sz="500" spc="105">
                <a:latin typeface="Arial"/>
                <a:cs typeface="Arial"/>
              </a:rPr>
              <a:t>(PARVW) </a:t>
            </a:r>
            <a:r>
              <a:rPr dirty="0" sz="500" spc="90">
                <a:latin typeface="Arial"/>
                <a:cs typeface="Arial"/>
              </a:rPr>
              <a:t>Partner</a:t>
            </a:r>
            <a:r>
              <a:rPr dirty="0" sz="500" spc="90">
                <a:latin typeface="Arial"/>
                <a:cs typeface="Arial"/>
              </a:rPr>
              <a:t> </a:t>
            </a:r>
            <a:r>
              <a:rPr dirty="0" sz="500" spc="95">
                <a:latin typeface="Arial"/>
                <a:cs typeface="Arial"/>
              </a:rPr>
              <a:t>Counter</a:t>
            </a:r>
            <a:r>
              <a:rPr dirty="0" sz="500" spc="90">
                <a:latin typeface="Arial"/>
                <a:cs typeface="Arial"/>
              </a:rPr>
              <a:t> </a:t>
            </a:r>
            <a:r>
              <a:rPr dirty="0" sz="500" spc="95">
                <a:latin typeface="Arial"/>
                <a:cs typeface="Arial"/>
              </a:rPr>
              <a:t>(PARZA)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276725" y="2473325"/>
            <a:ext cx="1590675" cy="333375"/>
          </a:xfrm>
          <a:custGeom>
            <a:avLst/>
            <a:gdLst/>
            <a:ahLst/>
            <a:cxnLst/>
            <a:rect l="l" t="t" r="r" b="b"/>
            <a:pathLst>
              <a:path w="1590675" h="333375">
                <a:moveTo>
                  <a:pt x="0" y="295275"/>
                </a:moveTo>
                <a:lnTo>
                  <a:pt x="0" y="0"/>
                </a:lnTo>
                <a:lnTo>
                  <a:pt x="1590675" y="0"/>
                </a:lnTo>
                <a:lnTo>
                  <a:pt x="1590675" y="295275"/>
                </a:lnTo>
                <a:lnTo>
                  <a:pt x="1485900" y="276225"/>
                </a:lnTo>
                <a:lnTo>
                  <a:pt x="1371600" y="257175"/>
                </a:lnTo>
                <a:lnTo>
                  <a:pt x="1257300" y="247650"/>
                </a:lnTo>
                <a:lnTo>
                  <a:pt x="1133475" y="247650"/>
                </a:lnTo>
                <a:lnTo>
                  <a:pt x="1019175" y="257175"/>
                </a:lnTo>
                <a:lnTo>
                  <a:pt x="914400" y="276225"/>
                </a:lnTo>
                <a:lnTo>
                  <a:pt x="571500" y="333375"/>
                </a:lnTo>
                <a:lnTo>
                  <a:pt x="219075" y="333375"/>
                </a:lnTo>
                <a:lnTo>
                  <a:pt x="104775" y="314325"/>
                </a:lnTo>
                <a:lnTo>
                  <a:pt x="0" y="2952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283075" y="2479675"/>
            <a:ext cx="969010" cy="1054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110">
                <a:latin typeface="Arial"/>
                <a:cs typeface="Arial"/>
              </a:rPr>
              <a:t>Customer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30">
                <a:latin typeface="Arial"/>
                <a:cs typeface="Arial"/>
              </a:rPr>
              <a:t>No</a:t>
            </a:r>
            <a:r>
              <a:rPr dirty="0" sz="500" spc="105">
                <a:latin typeface="Arial"/>
                <a:cs typeface="Arial"/>
              </a:rPr>
              <a:t> </a:t>
            </a:r>
            <a:r>
              <a:rPr dirty="0" sz="500" spc="110">
                <a:latin typeface="Arial"/>
                <a:cs typeface="Arial"/>
              </a:rPr>
              <a:t>(KUNNR)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947862" y="3344862"/>
            <a:ext cx="1600200" cy="504825"/>
            <a:chOff x="1947862" y="3344862"/>
            <a:chExt cx="1600200" cy="504825"/>
          </a:xfrm>
        </p:grpSpPr>
        <p:sp>
          <p:nvSpPr>
            <p:cNvPr id="21" name="object 21" descr=""/>
            <p:cNvSpPr/>
            <p:nvPr/>
          </p:nvSpPr>
          <p:spPr>
            <a:xfrm>
              <a:off x="1952625" y="3349625"/>
              <a:ext cx="1590675" cy="495300"/>
            </a:xfrm>
            <a:custGeom>
              <a:avLst/>
              <a:gdLst/>
              <a:ahLst/>
              <a:cxnLst/>
              <a:rect l="l" t="t" r="r" b="b"/>
              <a:pathLst>
                <a:path w="1590675" h="495300">
                  <a:moveTo>
                    <a:pt x="15906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95250" y="466725"/>
                  </a:lnTo>
                  <a:lnTo>
                    <a:pt x="190500" y="485775"/>
                  </a:lnTo>
                  <a:lnTo>
                    <a:pt x="295275" y="495300"/>
                  </a:lnTo>
                  <a:lnTo>
                    <a:pt x="495300" y="495300"/>
                  </a:lnTo>
                  <a:lnTo>
                    <a:pt x="600075" y="485775"/>
                  </a:lnTo>
                  <a:lnTo>
                    <a:pt x="695325" y="466725"/>
                  </a:lnTo>
                  <a:lnTo>
                    <a:pt x="885825" y="409575"/>
                  </a:lnTo>
                  <a:lnTo>
                    <a:pt x="990600" y="390525"/>
                  </a:lnTo>
                  <a:lnTo>
                    <a:pt x="1095375" y="381000"/>
                  </a:lnTo>
                  <a:lnTo>
                    <a:pt x="1190625" y="371475"/>
                  </a:lnTo>
                  <a:lnTo>
                    <a:pt x="1400175" y="390525"/>
                  </a:lnTo>
                  <a:lnTo>
                    <a:pt x="1495425" y="409575"/>
                  </a:lnTo>
                  <a:lnTo>
                    <a:pt x="1590675" y="438150"/>
                  </a:lnTo>
                  <a:lnTo>
                    <a:pt x="1590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952625" y="3349625"/>
              <a:ext cx="1590675" cy="495300"/>
            </a:xfrm>
            <a:custGeom>
              <a:avLst/>
              <a:gdLst/>
              <a:ahLst/>
              <a:cxnLst/>
              <a:rect l="l" t="t" r="r" b="b"/>
              <a:pathLst>
                <a:path w="1590675" h="495300">
                  <a:moveTo>
                    <a:pt x="0" y="438150"/>
                  </a:moveTo>
                  <a:lnTo>
                    <a:pt x="0" y="0"/>
                  </a:lnTo>
                  <a:lnTo>
                    <a:pt x="1590675" y="0"/>
                  </a:lnTo>
                  <a:lnTo>
                    <a:pt x="1590675" y="438150"/>
                  </a:lnTo>
                  <a:lnTo>
                    <a:pt x="1495425" y="409575"/>
                  </a:lnTo>
                  <a:lnTo>
                    <a:pt x="1400175" y="390525"/>
                  </a:lnTo>
                  <a:lnTo>
                    <a:pt x="1190625" y="371475"/>
                  </a:lnTo>
                  <a:lnTo>
                    <a:pt x="1095375" y="381000"/>
                  </a:lnTo>
                  <a:lnTo>
                    <a:pt x="990600" y="390525"/>
                  </a:lnTo>
                  <a:lnTo>
                    <a:pt x="885825" y="409575"/>
                  </a:lnTo>
                  <a:lnTo>
                    <a:pt x="695325" y="466725"/>
                  </a:lnTo>
                  <a:lnTo>
                    <a:pt x="600075" y="485775"/>
                  </a:lnTo>
                  <a:lnTo>
                    <a:pt x="495300" y="495300"/>
                  </a:lnTo>
                  <a:lnTo>
                    <a:pt x="295275" y="495300"/>
                  </a:lnTo>
                  <a:lnTo>
                    <a:pt x="190500" y="485775"/>
                  </a:lnTo>
                  <a:lnTo>
                    <a:pt x="95250" y="466725"/>
                  </a:lnTo>
                  <a:lnTo>
                    <a:pt x="0" y="438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958975" y="3350259"/>
            <a:ext cx="1025525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5"/>
              </a:spcBef>
            </a:pPr>
            <a:r>
              <a:rPr dirty="0" sz="500" spc="110">
                <a:latin typeface="Arial"/>
                <a:cs typeface="Arial"/>
              </a:rPr>
              <a:t>Customer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30">
                <a:latin typeface="Arial"/>
                <a:cs typeface="Arial"/>
              </a:rPr>
              <a:t>No</a:t>
            </a:r>
            <a:r>
              <a:rPr dirty="0" sz="500" spc="105">
                <a:latin typeface="Arial"/>
                <a:cs typeface="Arial"/>
              </a:rPr>
              <a:t> </a:t>
            </a:r>
            <a:r>
              <a:rPr dirty="0" sz="500" spc="110">
                <a:latin typeface="Arial"/>
                <a:cs typeface="Arial"/>
              </a:rPr>
              <a:t>(KUNNR) </a:t>
            </a:r>
            <a:r>
              <a:rPr dirty="0" sz="500" spc="90">
                <a:latin typeface="Arial"/>
                <a:cs typeface="Arial"/>
              </a:rPr>
              <a:t>Sales</a:t>
            </a:r>
            <a:r>
              <a:rPr dirty="0" sz="500" spc="75">
                <a:latin typeface="Arial"/>
                <a:cs typeface="Arial"/>
              </a:rPr>
              <a:t> </a:t>
            </a:r>
            <a:r>
              <a:rPr dirty="0" sz="500" spc="105">
                <a:latin typeface="Arial"/>
                <a:cs typeface="Arial"/>
              </a:rPr>
              <a:t>Org</a:t>
            </a:r>
            <a:r>
              <a:rPr dirty="0" sz="500" spc="75">
                <a:latin typeface="Arial"/>
                <a:cs typeface="Arial"/>
              </a:rPr>
              <a:t> </a:t>
            </a:r>
            <a:r>
              <a:rPr dirty="0" sz="500" spc="100">
                <a:latin typeface="Arial"/>
                <a:cs typeface="Arial"/>
              </a:rPr>
              <a:t>(VKORG) </a:t>
            </a:r>
            <a:r>
              <a:rPr dirty="0" sz="500" spc="75">
                <a:latin typeface="Arial"/>
                <a:cs typeface="Arial"/>
              </a:rPr>
              <a:t>Distribution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25">
                <a:latin typeface="Arial"/>
                <a:cs typeface="Arial"/>
              </a:rPr>
              <a:t>Ch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05">
                <a:latin typeface="Arial"/>
                <a:cs typeface="Arial"/>
              </a:rPr>
              <a:t>(VTWEG) </a:t>
            </a:r>
            <a:r>
              <a:rPr dirty="0" sz="500" spc="80">
                <a:latin typeface="Arial"/>
                <a:cs typeface="Arial"/>
              </a:rPr>
              <a:t>Division</a:t>
            </a:r>
            <a:r>
              <a:rPr dirty="0" sz="500" spc="105">
                <a:latin typeface="Arial"/>
                <a:cs typeface="Arial"/>
              </a:rPr>
              <a:t> </a:t>
            </a:r>
            <a:r>
              <a:rPr dirty="0" sz="500" spc="100">
                <a:latin typeface="Arial"/>
                <a:cs typeface="Arial"/>
              </a:rPr>
              <a:t>(SPART)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952625" y="2016125"/>
            <a:ext cx="1628775" cy="1905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 marR="30480">
              <a:lnSpc>
                <a:spcPct val="100000"/>
              </a:lnSpc>
              <a:spcBef>
                <a:spcPts val="100"/>
              </a:spcBef>
            </a:pPr>
            <a:r>
              <a:rPr dirty="0" sz="500" spc="110" b="1">
                <a:latin typeface="Arial"/>
                <a:cs typeface="Arial"/>
              </a:rPr>
              <a:t>KNVP</a:t>
            </a:r>
            <a:endParaRPr sz="5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500" spc="110" b="1">
                <a:latin typeface="Arial"/>
                <a:cs typeface="Arial"/>
              </a:rPr>
              <a:t>(Customer</a:t>
            </a:r>
            <a:r>
              <a:rPr dirty="0" sz="500" spc="95" b="1">
                <a:latin typeface="Arial"/>
                <a:cs typeface="Arial"/>
              </a:rPr>
              <a:t> </a:t>
            </a:r>
            <a:r>
              <a:rPr dirty="0" sz="500" spc="105" b="1">
                <a:latin typeface="Arial"/>
                <a:cs typeface="Arial"/>
              </a:rPr>
              <a:t>Master</a:t>
            </a:r>
            <a:r>
              <a:rPr dirty="0" sz="500" spc="95" b="1">
                <a:latin typeface="Arial"/>
                <a:cs typeface="Arial"/>
              </a:rPr>
              <a:t> </a:t>
            </a:r>
            <a:r>
              <a:rPr dirty="0" sz="500" spc="100" b="1">
                <a:latin typeface="Arial"/>
                <a:cs typeface="Arial"/>
              </a:rPr>
              <a:t>Partner</a:t>
            </a:r>
            <a:r>
              <a:rPr dirty="0" sz="500" spc="95" b="1">
                <a:latin typeface="Arial"/>
                <a:cs typeface="Arial"/>
              </a:rPr>
              <a:t> Functions)</a:t>
            </a:r>
            <a:endParaRPr sz="50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4276725" y="2292350"/>
            <a:ext cx="1590675" cy="200025"/>
          </a:xfrm>
          <a:custGeom>
            <a:avLst/>
            <a:gdLst/>
            <a:ahLst/>
            <a:cxnLst/>
            <a:rect l="l" t="t" r="r" b="b"/>
            <a:pathLst>
              <a:path w="1590675" h="200025">
                <a:moveTo>
                  <a:pt x="1590675" y="0"/>
                </a:moveTo>
                <a:lnTo>
                  <a:pt x="0" y="0"/>
                </a:lnTo>
                <a:lnTo>
                  <a:pt x="0" y="200025"/>
                </a:lnTo>
                <a:lnTo>
                  <a:pt x="1590675" y="200025"/>
                </a:lnTo>
                <a:lnTo>
                  <a:pt x="15906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4276725" y="2292350"/>
            <a:ext cx="1590675" cy="2000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500" spc="120" b="1">
                <a:latin typeface="Arial"/>
                <a:cs typeface="Arial"/>
              </a:rPr>
              <a:t>KNA1</a:t>
            </a:r>
            <a:endParaRPr sz="5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500" spc="100" b="1">
                <a:latin typeface="Arial"/>
                <a:cs typeface="Arial"/>
              </a:rPr>
              <a:t>(General</a:t>
            </a:r>
            <a:r>
              <a:rPr dirty="0" sz="500" spc="90" b="1">
                <a:latin typeface="Arial"/>
                <a:cs typeface="Arial"/>
              </a:rPr>
              <a:t> </a:t>
            </a:r>
            <a:r>
              <a:rPr dirty="0" sz="500" spc="110" b="1">
                <a:latin typeface="Arial"/>
                <a:cs typeface="Arial"/>
              </a:rPr>
              <a:t>Data</a:t>
            </a:r>
            <a:r>
              <a:rPr dirty="0" sz="500" spc="95" b="1">
                <a:latin typeface="Arial"/>
                <a:cs typeface="Arial"/>
              </a:rPr>
              <a:t> </a:t>
            </a:r>
            <a:r>
              <a:rPr dirty="0" sz="500" spc="90" b="1">
                <a:latin typeface="Arial"/>
                <a:cs typeface="Arial"/>
              </a:rPr>
              <a:t>in</a:t>
            </a:r>
            <a:r>
              <a:rPr dirty="0" sz="500" spc="95" b="1">
                <a:latin typeface="Arial"/>
                <a:cs typeface="Arial"/>
              </a:rPr>
              <a:t> </a:t>
            </a:r>
            <a:r>
              <a:rPr dirty="0" sz="500" spc="114" b="1">
                <a:latin typeface="Arial"/>
                <a:cs typeface="Arial"/>
              </a:rPr>
              <a:t>Customer</a:t>
            </a:r>
            <a:r>
              <a:rPr dirty="0" sz="500" spc="95" b="1">
                <a:latin typeface="Arial"/>
                <a:cs typeface="Arial"/>
              </a:rPr>
              <a:t> </a:t>
            </a:r>
            <a:r>
              <a:rPr dirty="0" sz="500" spc="90" b="1">
                <a:latin typeface="Arial"/>
                <a:cs typeface="Arial"/>
              </a:rPr>
              <a:t>Master)</a:t>
            </a:r>
            <a:endParaRPr sz="500">
              <a:latin typeface="Arial"/>
              <a:cs typeface="Aria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952625" y="3168650"/>
            <a:ext cx="1590675" cy="200025"/>
          </a:xfrm>
          <a:custGeom>
            <a:avLst/>
            <a:gdLst/>
            <a:ahLst/>
            <a:cxnLst/>
            <a:rect l="l" t="t" r="r" b="b"/>
            <a:pathLst>
              <a:path w="1590675" h="200025">
                <a:moveTo>
                  <a:pt x="1590675" y="0"/>
                </a:moveTo>
                <a:lnTo>
                  <a:pt x="0" y="0"/>
                </a:lnTo>
                <a:lnTo>
                  <a:pt x="0" y="200025"/>
                </a:lnTo>
                <a:lnTo>
                  <a:pt x="1590675" y="200025"/>
                </a:lnTo>
                <a:lnTo>
                  <a:pt x="15906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952625" y="3168650"/>
            <a:ext cx="1590675" cy="2000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75"/>
              </a:spcBef>
            </a:pPr>
            <a:r>
              <a:rPr dirty="0" sz="500" spc="110" b="1">
                <a:latin typeface="Arial"/>
                <a:cs typeface="Arial"/>
              </a:rPr>
              <a:t>KNVV</a:t>
            </a:r>
            <a:endParaRPr sz="5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500" spc="105" b="1">
                <a:latin typeface="Arial"/>
                <a:cs typeface="Arial"/>
              </a:rPr>
              <a:t>(Customer</a:t>
            </a:r>
            <a:r>
              <a:rPr dirty="0" sz="500" spc="80" b="1">
                <a:latin typeface="Arial"/>
                <a:cs typeface="Arial"/>
              </a:rPr>
              <a:t> </a:t>
            </a:r>
            <a:r>
              <a:rPr dirty="0" sz="500" spc="105" b="1">
                <a:latin typeface="Arial"/>
                <a:cs typeface="Arial"/>
              </a:rPr>
              <a:t>Master</a:t>
            </a:r>
            <a:r>
              <a:rPr dirty="0" sz="500" spc="85" b="1">
                <a:latin typeface="Arial"/>
                <a:cs typeface="Arial"/>
              </a:rPr>
              <a:t> </a:t>
            </a:r>
            <a:r>
              <a:rPr dirty="0" sz="500" spc="100" b="1">
                <a:latin typeface="Arial"/>
                <a:cs typeface="Arial"/>
              </a:rPr>
              <a:t>Sales</a:t>
            </a:r>
            <a:r>
              <a:rPr dirty="0" sz="500" spc="85" b="1">
                <a:latin typeface="Arial"/>
                <a:cs typeface="Arial"/>
              </a:rPr>
              <a:t> Data)</a:t>
            </a:r>
            <a:endParaRPr sz="5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952625" y="4092575"/>
            <a:ext cx="1590675" cy="3143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500" spc="125" b="1">
                <a:latin typeface="Arial"/>
                <a:cs typeface="Arial"/>
              </a:rPr>
              <a:t>KNVD</a:t>
            </a:r>
            <a:endParaRPr sz="500">
              <a:latin typeface="Arial"/>
              <a:cs typeface="Arial"/>
            </a:endParaRPr>
          </a:p>
          <a:p>
            <a:pPr marL="19050" marR="239395">
              <a:lnSpc>
                <a:spcPct val="112500"/>
              </a:lnSpc>
            </a:pPr>
            <a:r>
              <a:rPr dirty="0" sz="500" spc="110" b="1">
                <a:latin typeface="Arial"/>
                <a:cs typeface="Arial"/>
              </a:rPr>
              <a:t>(Customer</a:t>
            </a:r>
            <a:r>
              <a:rPr dirty="0" sz="500" spc="85" b="1">
                <a:latin typeface="Arial"/>
                <a:cs typeface="Arial"/>
              </a:rPr>
              <a:t> </a:t>
            </a:r>
            <a:r>
              <a:rPr dirty="0" sz="500" spc="105" b="1">
                <a:latin typeface="Arial"/>
                <a:cs typeface="Arial"/>
              </a:rPr>
              <a:t>master</a:t>
            </a:r>
            <a:r>
              <a:rPr dirty="0" sz="500" spc="95" b="1">
                <a:latin typeface="Arial"/>
                <a:cs typeface="Arial"/>
              </a:rPr>
              <a:t> </a:t>
            </a:r>
            <a:r>
              <a:rPr dirty="0" sz="500" spc="100" b="1">
                <a:latin typeface="Arial"/>
                <a:cs typeface="Arial"/>
              </a:rPr>
              <a:t>record</a:t>
            </a:r>
            <a:r>
              <a:rPr dirty="0" sz="500" spc="100" b="1">
                <a:latin typeface="Arial"/>
                <a:cs typeface="Arial"/>
              </a:rPr>
              <a:t> </a:t>
            </a:r>
            <a:r>
              <a:rPr dirty="0" sz="500" spc="90" b="1">
                <a:latin typeface="Arial"/>
                <a:cs typeface="Arial"/>
              </a:rPr>
              <a:t>sales </a:t>
            </a:r>
            <a:r>
              <a:rPr dirty="0" sz="500" spc="100" b="1">
                <a:latin typeface="Arial"/>
                <a:cs typeface="Arial"/>
              </a:rPr>
              <a:t>request</a:t>
            </a:r>
            <a:r>
              <a:rPr dirty="0" sz="500" spc="114" b="1">
                <a:latin typeface="Arial"/>
                <a:cs typeface="Arial"/>
              </a:rPr>
              <a:t> </a:t>
            </a:r>
            <a:r>
              <a:rPr dirty="0" sz="500" spc="90" b="1">
                <a:latin typeface="Arial"/>
                <a:cs typeface="Arial"/>
              </a:rPr>
              <a:t>form)</a:t>
            </a:r>
            <a:endParaRPr sz="500">
              <a:latin typeface="Arial"/>
              <a:cs typeface="Arial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952625" y="4406900"/>
            <a:ext cx="1590675" cy="561975"/>
          </a:xfrm>
          <a:custGeom>
            <a:avLst/>
            <a:gdLst/>
            <a:ahLst/>
            <a:cxnLst/>
            <a:rect l="l" t="t" r="r" b="b"/>
            <a:pathLst>
              <a:path w="1590675" h="561975">
                <a:moveTo>
                  <a:pt x="0" y="485775"/>
                </a:moveTo>
                <a:lnTo>
                  <a:pt x="0" y="0"/>
                </a:lnTo>
                <a:lnTo>
                  <a:pt x="1590675" y="0"/>
                </a:lnTo>
                <a:lnTo>
                  <a:pt x="1590675" y="485775"/>
                </a:lnTo>
                <a:lnTo>
                  <a:pt x="1504950" y="466725"/>
                </a:lnTo>
                <a:lnTo>
                  <a:pt x="1419225" y="438150"/>
                </a:lnTo>
                <a:lnTo>
                  <a:pt x="1333500" y="428625"/>
                </a:lnTo>
                <a:lnTo>
                  <a:pt x="1238250" y="419100"/>
                </a:lnTo>
                <a:lnTo>
                  <a:pt x="1152525" y="419100"/>
                </a:lnTo>
                <a:lnTo>
                  <a:pt x="1057275" y="428625"/>
                </a:lnTo>
                <a:lnTo>
                  <a:pt x="971550" y="438150"/>
                </a:lnTo>
                <a:lnTo>
                  <a:pt x="876300" y="466725"/>
                </a:lnTo>
                <a:lnTo>
                  <a:pt x="790575" y="485775"/>
                </a:lnTo>
                <a:lnTo>
                  <a:pt x="619125" y="542925"/>
                </a:lnTo>
                <a:lnTo>
                  <a:pt x="533400" y="552450"/>
                </a:lnTo>
                <a:lnTo>
                  <a:pt x="438150" y="561975"/>
                </a:lnTo>
                <a:lnTo>
                  <a:pt x="352425" y="561975"/>
                </a:lnTo>
                <a:lnTo>
                  <a:pt x="257175" y="552450"/>
                </a:lnTo>
                <a:lnTo>
                  <a:pt x="171450" y="542925"/>
                </a:lnTo>
                <a:lnTo>
                  <a:pt x="76200" y="514350"/>
                </a:lnTo>
                <a:lnTo>
                  <a:pt x="0" y="485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958975" y="4407534"/>
            <a:ext cx="1025525" cy="4445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20"/>
              </a:spcBef>
            </a:pPr>
            <a:r>
              <a:rPr dirty="0" sz="500" spc="110">
                <a:latin typeface="Arial"/>
                <a:cs typeface="Arial"/>
              </a:rPr>
              <a:t>Customer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30">
                <a:latin typeface="Arial"/>
                <a:cs typeface="Arial"/>
              </a:rPr>
              <a:t>No</a:t>
            </a:r>
            <a:r>
              <a:rPr dirty="0" sz="500" spc="105">
                <a:latin typeface="Arial"/>
                <a:cs typeface="Arial"/>
              </a:rPr>
              <a:t> </a:t>
            </a:r>
            <a:r>
              <a:rPr dirty="0" sz="500" spc="110">
                <a:latin typeface="Arial"/>
                <a:cs typeface="Arial"/>
              </a:rPr>
              <a:t>(KUNNR) </a:t>
            </a:r>
            <a:r>
              <a:rPr dirty="0" sz="500" spc="90">
                <a:latin typeface="Arial"/>
                <a:cs typeface="Arial"/>
              </a:rPr>
              <a:t>Sales</a:t>
            </a:r>
            <a:r>
              <a:rPr dirty="0" sz="500" spc="75">
                <a:latin typeface="Arial"/>
                <a:cs typeface="Arial"/>
              </a:rPr>
              <a:t> </a:t>
            </a:r>
            <a:r>
              <a:rPr dirty="0" sz="500" spc="105">
                <a:latin typeface="Arial"/>
                <a:cs typeface="Arial"/>
              </a:rPr>
              <a:t>Org</a:t>
            </a:r>
            <a:r>
              <a:rPr dirty="0" sz="500" spc="75">
                <a:latin typeface="Arial"/>
                <a:cs typeface="Arial"/>
              </a:rPr>
              <a:t> </a:t>
            </a:r>
            <a:r>
              <a:rPr dirty="0" sz="500" spc="100">
                <a:latin typeface="Arial"/>
                <a:cs typeface="Arial"/>
              </a:rPr>
              <a:t>(VKORG) </a:t>
            </a:r>
            <a:r>
              <a:rPr dirty="0" sz="500" spc="75">
                <a:latin typeface="Arial"/>
                <a:cs typeface="Arial"/>
              </a:rPr>
              <a:t>Distribution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25">
                <a:latin typeface="Arial"/>
                <a:cs typeface="Arial"/>
              </a:rPr>
              <a:t>Ch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05">
                <a:latin typeface="Arial"/>
                <a:cs typeface="Arial"/>
              </a:rPr>
              <a:t>(VTWEG) </a:t>
            </a:r>
            <a:r>
              <a:rPr dirty="0" sz="500" spc="80">
                <a:latin typeface="Arial"/>
                <a:cs typeface="Arial"/>
              </a:rPr>
              <a:t>Division</a:t>
            </a:r>
            <a:r>
              <a:rPr dirty="0" sz="500" spc="105">
                <a:latin typeface="Arial"/>
                <a:cs typeface="Arial"/>
              </a:rPr>
              <a:t> </a:t>
            </a:r>
            <a:r>
              <a:rPr dirty="0" sz="500" spc="100">
                <a:latin typeface="Arial"/>
                <a:cs typeface="Arial"/>
              </a:rPr>
              <a:t>(SPART)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500" spc="105">
                <a:latin typeface="Arial"/>
                <a:cs typeface="Arial"/>
              </a:rPr>
              <a:t>Output</a:t>
            </a:r>
            <a:r>
              <a:rPr dirty="0" sz="500" spc="95">
                <a:latin typeface="Arial"/>
                <a:cs typeface="Arial"/>
              </a:rPr>
              <a:t> </a:t>
            </a:r>
            <a:r>
              <a:rPr dirty="0" sz="500" spc="114">
                <a:latin typeface="Arial"/>
                <a:cs typeface="Arial"/>
              </a:rPr>
              <a:t>Type</a:t>
            </a:r>
            <a:r>
              <a:rPr dirty="0" sz="500" spc="95">
                <a:latin typeface="Arial"/>
                <a:cs typeface="Arial"/>
              </a:rPr>
              <a:t> </a:t>
            </a:r>
            <a:r>
              <a:rPr dirty="0" sz="500" spc="15">
                <a:latin typeface="Arial"/>
                <a:cs typeface="Arial"/>
              </a:rPr>
              <a:t>(</a:t>
            </a:r>
            <a:endParaRPr sz="5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791325" y="2292350"/>
            <a:ext cx="1600200" cy="2000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500" spc="120" b="1">
                <a:latin typeface="Arial"/>
                <a:cs typeface="Arial"/>
              </a:rPr>
              <a:t>KNB1</a:t>
            </a:r>
            <a:endParaRPr sz="5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500" spc="105" b="1">
                <a:latin typeface="Arial"/>
                <a:cs typeface="Arial"/>
              </a:rPr>
              <a:t>(Customer</a:t>
            </a:r>
            <a:r>
              <a:rPr dirty="0" sz="500" spc="80" b="1">
                <a:latin typeface="Arial"/>
                <a:cs typeface="Arial"/>
              </a:rPr>
              <a:t> </a:t>
            </a:r>
            <a:r>
              <a:rPr dirty="0" sz="500" spc="105" b="1">
                <a:latin typeface="Arial"/>
                <a:cs typeface="Arial"/>
              </a:rPr>
              <a:t>master</a:t>
            </a:r>
            <a:r>
              <a:rPr dirty="0" sz="500" spc="85" b="1">
                <a:latin typeface="Arial"/>
                <a:cs typeface="Arial"/>
              </a:rPr>
              <a:t> </a:t>
            </a:r>
            <a:r>
              <a:rPr dirty="0" sz="500" spc="114" b="1">
                <a:latin typeface="Arial"/>
                <a:cs typeface="Arial"/>
              </a:rPr>
              <a:t>(company</a:t>
            </a:r>
            <a:r>
              <a:rPr dirty="0" sz="500" spc="85" b="1">
                <a:latin typeface="Arial"/>
                <a:cs typeface="Arial"/>
              </a:rPr>
              <a:t> code))</a:t>
            </a:r>
            <a:endParaRPr sz="5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791325" y="3330575"/>
            <a:ext cx="1600200" cy="2000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500" spc="120" b="1">
                <a:latin typeface="Arial"/>
                <a:cs typeface="Arial"/>
              </a:rPr>
              <a:t>KNB5</a:t>
            </a:r>
            <a:endParaRPr sz="5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500" spc="110" b="1">
                <a:latin typeface="Arial"/>
                <a:cs typeface="Arial"/>
              </a:rPr>
              <a:t>(Customer</a:t>
            </a:r>
            <a:r>
              <a:rPr dirty="0" sz="500" spc="95" b="1">
                <a:latin typeface="Arial"/>
                <a:cs typeface="Arial"/>
              </a:rPr>
              <a:t> </a:t>
            </a:r>
            <a:r>
              <a:rPr dirty="0" sz="500" spc="105" b="1">
                <a:latin typeface="Arial"/>
                <a:cs typeface="Arial"/>
              </a:rPr>
              <a:t>master</a:t>
            </a:r>
            <a:r>
              <a:rPr dirty="0" sz="500" spc="95" b="1">
                <a:latin typeface="Arial"/>
                <a:cs typeface="Arial"/>
              </a:rPr>
              <a:t> </a:t>
            </a:r>
            <a:r>
              <a:rPr dirty="0" sz="500" spc="110" b="1">
                <a:latin typeface="Arial"/>
                <a:cs typeface="Arial"/>
              </a:rPr>
              <a:t>(dunning</a:t>
            </a:r>
            <a:r>
              <a:rPr dirty="0" sz="500" spc="95" b="1">
                <a:latin typeface="Arial"/>
                <a:cs typeface="Arial"/>
              </a:rPr>
              <a:t> </a:t>
            </a:r>
            <a:r>
              <a:rPr dirty="0" sz="500" spc="80" b="1">
                <a:latin typeface="Arial"/>
                <a:cs typeface="Arial"/>
              </a:rPr>
              <a:t>data))</a:t>
            </a:r>
            <a:endParaRPr sz="500">
              <a:latin typeface="Arial"/>
              <a:cs typeface="Arial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6791325" y="3530600"/>
            <a:ext cx="1600200" cy="333375"/>
          </a:xfrm>
          <a:custGeom>
            <a:avLst/>
            <a:gdLst/>
            <a:ahLst/>
            <a:cxnLst/>
            <a:rect l="l" t="t" r="r" b="b"/>
            <a:pathLst>
              <a:path w="1600200" h="333375">
                <a:moveTo>
                  <a:pt x="0" y="295275"/>
                </a:moveTo>
                <a:lnTo>
                  <a:pt x="0" y="0"/>
                </a:lnTo>
                <a:lnTo>
                  <a:pt x="1600200" y="0"/>
                </a:lnTo>
                <a:lnTo>
                  <a:pt x="1600200" y="295275"/>
                </a:lnTo>
                <a:lnTo>
                  <a:pt x="1371600" y="257175"/>
                </a:lnTo>
                <a:lnTo>
                  <a:pt x="1257300" y="247650"/>
                </a:lnTo>
                <a:lnTo>
                  <a:pt x="1143000" y="247650"/>
                </a:lnTo>
                <a:lnTo>
                  <a:pt x="1028700" y="257175"/>
                </a:lnTo>
                <a:lnTo>
                  <a:pt x="685800" y="314325"/>
                </a:lnTo>
                <a:lnTo>
                  <a:pt x="457200" y="333375"/>
                </a:lnTo>
                <a:lnTo>
                  <a:pt x="342900" y="333375"/>
                </a:lnTo>
                <a:lnTo>
                  <a:pt x="114300" y="314325"/>
                </a:lnTo>
                <a:lnTo>
                  <a:pt x="0" y="2952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6797675" y="3521709"/>
            <a:ext cx="1035050" cy="282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5"/>
              </a:spcBef>
            </a:pPr>
            <a:r>
              <a:rPr dirty="0" sz="500" spc="110">
                <a:latin typeface="Arial"/>
                <a:cs typeface="Arial"/>
              </a:rPr>
              <a:t>Customer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30">
                <a:latin typeface="Arial"/>
                <a:cs typeface="Arial"/>
              </a:rPr>
              <a:t>No</a:t>
            </a:r>
            <a:r>
              <a:rPr dirty="0" sz="500" spc="105">
                <a:latin typeface="Arial"/>
                <a:cs typeface="Arial"/>
              </a:rPr>
              <a:t> </a:t>
            </a:r>
            <a:r>
              <a:rPr dirty="0" sz="500" spc="110">
                <a:latin typeface="Arial"/>
                <a:cs typeface="Arial"/>
              </a:rPr>
              <a:t>(KUNNR) </a:t>
            </a:r>
            <a:r>
              <a:rPr dirty="0" sz="500" spc="120">
                <a:latin typeface="Arial"/>
                <a:cs typeface="Arial"/>
              </a:rPr>
              <a:t>Companu</a:t>
            </a:r>
            <a:r>
              <a:rPr dirty="0" sz="500" spc="80">
                <a:latin typeface="Arial"/>
                <a:cs typeface="Arial"/>
              </a:rPr>
              <a:t> </a:t>
            </a:r>
            <a:r>
              <a:rPr dirty="0" sz="500" spc="114">
                <a:latin typeface="Arial"/>
                <a:cs typeface="Arial"/>
              </a:rPr>
              <a:t>Code</a:t>
            </a:r>
            <a:r>
              <a:rPr dirty="0" sz="500" spc="80">
                <a:latin typeface="Arial"/>
                <a:cs typeface="Arial"/>
              </a:rPr>
              <a:t> </a:t>
            </a:r>
            <a:r>
              <a:rPr dirty="0" sz="500" spc="95">
                <a:latin typeface="Arial"/>
                <a:cs typeface="Arial"/>
              </a:rPr>
              <a:t>(BUKRS) Dunning</a:t>
            </a:r>
            <a:r>
              <a:rPr dirty="0" sz="500" spc="80">
                <a:latin typeface="Arial"/>
                <a:cs typeface="Arial"/>
              </a:rPr>
              <a:t> </a:t>
            </a:r>
            <a:r>
              <a:rPr dirty="0" sz="500" spc="95">
                <a:latin typeface="Arial"/>
                <a:cs typeface="Arial"/>
              </a:rPr>
              <a:t>Area</a:t>
            </a:r>
            <a:r>
              <a:rPr dirty="0" sz="500" spc="85">
                <a:latin typeface="Arial"/>
                <a:cs typeface="Arial"/>
              </a:rPr>
              <a:t> </a:t>
            </a:r>
            <a:r>
              <a:rPr dirty="0" sz="500" spc="95">
                <a:latin typeface="Arial"/>
                <a:cs typeface="Arial"/>
              </a:rPr>
              <a:t>(MABER)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6786562" y="2487612"/>
            <a:ext cx="1609725" cy="342900"/>
            <a:chOff x="6786562" y="2487612"/>
            <a:chExt cx="1609725" cy="342900"/>
          </a:xfrm>
        </p:grpSpPr>
        <p:sp>
          <p:nvSpPr>
            <p:cNvPr id="37" name="object 37" descr=""/>
            <p:cNvSpPr/>
            <p:nvPr/>
          </p:nvSpPr>
          <p:spPr>
            <a:xfrm>
              <a:off x="6791325" y="2492375"/>
              <a:ext cx="1600200" cy="333375"/>
            </a:xfrm>
            <a:custGeom>
              <a:avLst/>
              <a:gdLst/>
              <a:ahLst/>
              <a:cxnLst/>
              <a:rect l="l" t="t" r="r" b="b"/>
              <a:pathLst>
                <a:path w="1600200" h="333375">
                  <a:moveTo>
                    <a:pt x="16002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114300" y="314325"/>
                  </a:lnTo>
                  <a:lnTo>
                    <a:pt x="342900" y="333375"/>
                  </a:lnTo>
                  <a:lnTo>
                    <a:pt x="457200" y="333375"/>
                  </a:lnTo>
                  <a:lnTo>
                    <a:pt x="685800" y="314325"/>
                  </a:lnTo>
                  <a:lnTo>
                    <a:pt x="1028700" y="257175"/>
                  </a:lnTo>
                  <a:lnTo>
                    <a:pt x="1143000" y="247650"/>
                  </a:lnTo>
                  <a:lnTo>
                    <a:pt x="1257300" y="247650"/>
                  </a:lnTo>
                  <a:lnTo>
                    <a:pt x="1371600" y="257175"/>
                  </a:lnTo>
                  <a:lnTo>
                    <a:pt x="1600200" y="295275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791325" y="2492375"/>
              <a:ext cx="1600200" cy="333375"/>
            </a:xfrm>
            <a:custGeom>
              <a:avLst/>
              <a:gdLst/>
              <a:ahLst/>
              <a:cxnLst/>
              <a:rect l="l" t="t" r="r" b="b"/>
              <a:pathLst>
                <a:path w="1600200" h="333375">
                  <a:moveTo>
                    <a:pt x="0" y="295275"/>
                  </a:moveTo>
                  <a:lnTo>
                    <a:pt x="0" y="0"/>
                  </a:lnTo>
                  <a:lnTo>
                    <a:pt x="1600200" y="0"/>
                  </a:lnTo>
                  <a:lnTo>
                    <a:pt x="1600200" y="295275"/>
                  </a:lnTo>
                  <a:lnTo>
                    <a:pt x="1371600" y="257175"/>
                  </a:lnTo>
                  <a:lnTo>
                    <a:pt x="1257300" y="247650"/>
                  </a:lnTo>
                  <a:lnTo>
                    <a:pt x="1143000" y="247650"/>
                  </a:lnTo>
                  <a:lnTo>
                    <a:pt x="1028700" y="257175"/>
                  </a:lnTo>
                  <a:lnTo>
                    <a:pt x="685800" y="314325"/>
                  </a:lnTo>
                  <a:lnTo>
                    <a:pt x="457200" y="333375"/>
                  </a:lnTo>
                  <a:lnTo>
                    <a:pt x="342900" y="333375"/>
                  </a:lnTo>
                  <a:lnTo>
                    <a:pt x="114300" y="314325"/>
                  </a:lnTo>
                  <a:lnTo>
                    <a:pt x="0" y="2952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6797675" y="2483485"/>
            <a:ext cx="1035050" cy="196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5"/>
              </a:spcBef>
            </a:pPr>
            <a:r>
              <a:rPr dirty="0" sz="500" spc="110">
                <a:latin typeface="Arial"/>
                <a:cs typeface="Arial"/>
              </a:rPr>
              <a:t>Customer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130">
                <a:latin typeface="Arial"/>
                <a:cs typeface="Arial"/>
              </a:rPr>
              <a:t>No</a:t>
            </a:r>
            <a:r>
              <a:rPr dirty="0" sz="500" spc="105">
                <a:latin typeface="Arial"/>
                <a:cs typeface="Arial"/>
              </a:rPr>
              <a:t> </a:t>
            </a:r>
            <a:r>
              <a:rPr dirty="0" sz="500" spc="110">
                <a:latin typeface="Arial"/>
                <a:cs typeface="Arial"/>
              </a:rPr>
              <a:t>(KUNNR) </a:t>
            </a:r>
            <a:r>
              <a:rPr dirty="0" sz="500" spc="114">
                <a:latin typeface="Arial"/>
                <a:cs typeface="Arial"/>
              </a:rPr>
              <a:t>Company</a:t>
            </a:r>
            <a:r>
              <a:rPr dirty="0" sz="500" spc="80">
                <a:latin typeface="Arial"/>
                <a:cs typeface="Arial"/>
              </a:rPr>
              <a:t> </a:t>
            </a:r>
            <a:r>
              <a:rPr dirty="0" sz="500" spc="114">
                <a:latin typeface="Arial"/>
                <a:cs typeface="Arial"/>
              </a:rPr>
              <a:t>Code</a:t>
            </a:r>
            <a:r>
              <a:rPr dirty="0" sz="500" spc="85">
                <a:latin typeface="Arial"/>
                <a:cs typeface="Arial"/>
              </a:rPr>
              <a:t> </a:t>
            </a:r>
            <a:r>
              <a:rPr dirty="0" sz="500" spc="95">
                <a:latin typeface="Arial"/>
                <a:cs typeface="Arial"/>
              </a:rPr>
              <a:t>(BUKRS)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9700" y="2111375"/>
            <a:ext cx="2286000" cy="4676775"/>
          </a:xfrm>
          <a:custGeom>
            <a:avLst/>
            <a:gdLst/>
            <a:ahLst/>
            <a:cxnLst/>
            <a:rect l="l" t="t" r="r" b="b"/>
            <a:pathLst>
              <a:path w="2286000" h="4676775">
                <a:moveTo>
                  <a:pt x="0" y="4676775"/>
                </a:moveTo>
                <a:lnTo>
                  <a:pt x="2286000" y="4676775"/>
                </a:lnTo>
                <a:lnTo>
                  <a:pt x="2286000" y="0"/>
                </a:lnTo>
                <a:lnTo>
                  <a:pt x="0" y="0"/>
                </a:lnTo>
                <a:lnTo>
                  <a:pt x="0" y="4676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152900" y="2111375"/>
            <a:ext cx="4010025" cy="4676775"/>
          </a:xfrm>
          <a:custGeom>
            <a:avLst/>
            <a:gdLst/>
            <a:ahLst/>
            <a:cxnLst/>
            <a:rect l="l" t="t" r="r" b="b"/>
            <a:pathLst>
              <a:path w="4010025" h="4676775">
                <a:moveTo>
                  <a:pt x="0" y="4676775"/>
                </a:moveTo>
                <a:lnTo>
                  <a:pt x="2286000" y="4676775"/>
                </a:lnTo>
                <a:lnTo>
                  <a:pt x="2286000" y="0"/>
                </a:lnTo>
                <a:lnTo>
                  <a:pt x="0" y="0"/>
                </a:lnTo>
                <a:lnTo>
                  <a:pt x="0" y="4676775"/>
                </a:lnTo>
                <a:close/>
              </a:path>
              <a:path w="4010025" h="4676775">
                <a:moveTo>
                  <a:pt x="4010025" y="3114675"/>
                </a:moveTo>
                <a:lnTo>
                  <a:pt x="3905250" y="2886075"/>
                </a:lnTo>
                <a:lnTo>
                  <a:pt x="3781425" y="3114675"/>
                </a:lnTo>
              </a:path>
              <a:path w="4010025" h="4676775">
                <a:moveTo>
                  <a:pt x="3905250" y="2228850"/>
                </a:moveTo>
                <a:lnTo>
                  <a:pt x="3905250" y="3114675"/>
                </a:lnTo>
              </a:path>
              <a:path w="4010025" h="4676775">
                <a:moveTo>
                  <a:pt x="2876550" y="1400175"/>
                </a:moveTo>
                <a:lnTo>
                  <a:pt x="2790825" y="1638300"/>
                </a:lnTo>
                <a:lnTo>
                  <a:pt x="3038475" y="1571625"/>
                </a:lnTo>
              </a:path>
              <a:path w="4010025" h="4676775">
                <a:moveTo>
                  <a:pt x="2095500" y="2286000"/>
                </a:moveTo>
                <a:lnTo>
                  <a:pt x="2962275" y="148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654550" y="1565275"/>
            <a:ext cx="122618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 i="1">
                <a:latin typeface="Arial"/>
                <a:cs typeface="Arial"/>
              </a:rPr>
              <a:t>Material</a:t>
            </a:r>
            <a:r>
              <a:rPr dirty="0" sz="950" spc="95" b="1" i="1">
                <a:latin typeface="Arial"/>
                <a:cs typeface="Arial"/>
              </a:rPr>
              <a:t> </a:t>
            </a:r>
            <a:r>
              <a:rPr dirty="0" sz="950" b="1" i="1">
                <a:latin typeface="Arial"/>
                <a:cs typeface="Arial"/>
              </a:rPr>
              <a:t>Master</a:t>
            </a:r>
            <a:r>
              <a:rPr dirty="0" sz="950" spc="100" b="1" i="1">
                <a:latin typeface="Arial"/>
                <a:cs typeface="Arial"/>
              </a:rPr>
              <a:t> </a:t>
            </a:r>
            <a:r>
              <a:rPr dirty="0" sz="950" spc="-20" b="1" i="1">
                <a:latin typeface="Arial"/>
                <a:cs typeface="Arial"/>
              </a:rPr>
              <a:t>Data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78400" y="2336800"/>
            <a:ext cx="6070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Basic</a:t>
            </a:r>
            <a:r>
              <a:rPr dirty="0" sz="900" spc="-50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504950" y="2711450"/>
            <a:ext cx="3919854" cy="3348354"/>
            <a:chOff x="1504950" y="2711450"/>
            <a:chExt cx="3919854" cy="3348354"/>
          </a:xfrm>
        </p:grpSpPr>
        <p:sp>
          <p:nvSpPr>
            <p:cNvPr id="7" name="object 7" descr=""/>
            <p:cNvSpPr/>
            <p:nvPr/>
          </p:nvSpPr>
          <p:spPr>
            <a:xfrm>
              <a:off x="3295650" y="2797175"/>
              <a:ext cx="2124075" cy="3257550"/>
            </a:xfrm>
            <a:custGeom>
              <a:avLst/>
              <a:gdLst/>
              <a:ahLst/>
              <a:cxnLst/>
              <a:rect l="l" t="t" r="r" b="b"/>
              <a:pathLst>
                <a:path w="2124075" h="3257550">
                  <a:moveTo>
                    <a:pt x="0" y="114300"/>
                  </a:moveTo>
                  <a:lnTo>
                    <a:pt x="219075" y="247650"/>
                  </a:lnTo>
                  <a:lnTo>
                    <a:pt x="200025" y="0"/>
                  </a:lnTo>
                </a:path>
                <a:path w="2124075" h="3257550">
                  <a:moveTo>
                    <a:pt x="1076325" y="1600200"/>
                  </a:moveTo>
                  <a:lnTo>
                    <a:pt x="104775" y="57150"/>
                  </a:lnTo>
                </a:path>
                <a:path w="2124075" h="3257550">
                  <a:moveTo>
                    <a:pt x="1895475" y="657225"/>
                  </a:moveTo>
                  <a:lnTo>
                    <a:pt x="2019300" y="885825"/>
                  </a:lnTo>
                  <a:lnTo>
                    <a:pt x="2124075" y="657225"/>
                  </a:lnTo>
                </a:path>
                <a:path w="2124075" h="3257550">
                  <a:moveTo>
                    <a:pt x="2019300" y="1457325"/>
                  </a:moveTo>
                  <a:lnTo>
                    <a:pt x="2019300" y="657225"/>
                  </a:lnTo>
                </a:path>
                <a:path w="2124075" h="3257550">
                  <a:moveTo>
                    <a:pt x="38100" y="1095375"/>
                  </a:moveTo>
                  <a:lnTo>
                    <a:pt x="295275" y="1123950"/>
                  </a:lnTo>
                  <a:lnTo>
                    <a:pt x="161925" y="904875"/>
                  </a:lnTo>
                </a:path>
                <a:path w="2124075" h="3257550">
                  <a:moveTo>
                    <a:pt x="1076325" y="1600200"/>
                  </a:moveTo>
                  <a:lnTo>
                    <a:pt x="104775" y="1000125"/>
                  </a:lnTo>
                </a:path>
                <a:path w="2124075" h="3257550">
                  <a:moveTo>
                    <a:pt x="200025" y="3257550"/>
                  </a:moveTo>
                  <a:lnTo>
                    <a:pt x="219075" y="3000375"/>
                  </a:lnTo>
                  <a:lnTo>
                    <a:pt x="0" y="3143250"/>
                  </a:lnTo>
                </a:path>
                <a:path w="2124075" h="3257550">
                  <a:moveTo>
                    <a:pt x="1076325" y="1600200"/>
                  </a:moveTo>
                  <a:lnTo>
                    <a:pt x="104775" y="3200400"/>
                  </a:lnTo>
                </a:path>
                <a:path w="2124075" h="3257550">
                  <a:moveTo>
                    <a:pt x="2124075" y="2800350"/>
                  </a:moveTo>
                  <a:lnTo>
                    <a:pt x="2019300" y="2571750"/>
                  </a:lnTo>
                  <a:lnTo>
                    <a:pt x="1895475" y="2800350"/>
                  </a:lnTo>
                </a:path>
                <a:path w="2124075" h="3257550">
                  <a:moveTo>
                    <a:pt x="2019300" y="2085975"/>
                  </a:moveTo>
                  <a:lnTo>
                    <a:pt x="2019300" y="28003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04950" y="2711450"/>
              <a:ext cx="1895475" cy="285750"/>
            </a:xfrm>
            <a:custGeom>
              <a:avLst/>
              <a:gdLst/>
              <a:ahLst/>
              <a:cxnLst/>
              <a:rect l="l" t="t" r="r" b="b"/>
              <a:pathLst>
                <a:path w="1895475" h="285750">
                  <a:moveTo>
                    <a:pt x="1895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1895475" y="285750"/>
                  </a:lnTo>
                  <a:lnTo>
                    <a:pt x="189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178050" y="2317750"/>
            <a:ext cx="6070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Sales </a:t>
            </a:r>
            <a:r>
              <a:rPr dirty="0" sz="900" spc="-20" b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04950" y="2711450"/>
            <a:ext cx="1895475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MARC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spc="10" b="1">
                <a:latin typeface="Arial"/>
                <a:cs typeface="Arial"/>
              </a:rPr>
              <a:t>(Material</a:t>
            </a:r>
            <a:r>
              <a:rPr dirty="0" sz="800" spc="13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Master:</a:t>
            </a:r>
            <a:r>
              <a:rPr dirty="0" sz="800" spc="13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C</a:t>
            </a:r>
            <a:r>
              <a:rPr dirty="0" sz="800" spc="14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Segment)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00187" y="2992437"/>
            <a:ext cx="1905000" cy="552450"/>
            <a:chOff x="1500187" y="2992437"/>
            <a:chExt cx="1905000" cy="552450"/>
          </a:xfrm>
        </p:grpSpPr>
        <p:sp>
          <p:nvSpPr>
            <p:cNvPr id="12" name="object 12" descr=""/>
            <p:cNvSpPr/>
            <p:nvPr/>
          </p:nvSpPr>
          <p:spPr>
            <a:xfrm>
              <a:off x="1504950" y="2997200"/>
              <a:ext cx="1895475" cy="542925"/>
            </a:xfrm>
            <a:custGeom>
              <a:avLst/>
              <a:gdLst/>
              <a:ahLst/>
              <a:cxnLst/>
              <a:rect l="l" t="t" r="r" b="b"/>
              <a:pathLst>
                <a:path w="1895475" h="542925">
                  <a:moveTo>
                    <a:pt x="18954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133350" y="514350"/>
                  </a:lnTo>
                  <a:lnTo>
                    <a:pt x="276225" y="533400"/>
                  </a:lnTo>
                  <a:lnTo>
                    <a:pt x="409575" y="542925"/>
                  </a:lnTo>
                  <a:lnTo>
                    <a:pt x="542925" y="542925"/>
                  </a:lnTo>
                  <a:lnTo>
                    <a:pt x="676275" y="533400"/>
                  </a:lnTo>
                  <a:lnTo>
                    <a:pt x="819150" y="514350"/>
                  </a:lnTo>
                  <a:lnTo>
                    <a:pt x="942975" y="476250"/>
                  </a:lnTo>
                  <a:lnTo>
                    <a:pt x="1209675" y="419100"/>
                  </a:lnTo>
                  <a:lnTo>
                    <a:pt x="1352550" y="409575"/>
                  </a:lnTo>
                  <a:lnTo>
                    <a:pt x="1485900" y="409575"/>
                  </a:lnTo>
                  <a:lnTo>
                    <a:pt x="1619250" y="419100"/>
                  </a:lnTo>
                  <a:lnTo>
                    <a:pt x="1752600" y="447675"/>
                  </a:lnTo>
                  <a:lnTo>
                    <a:pt x="1895475" y="476250"/>
                  </a:lnTo>
                  <a:lnTo>
                    <a:pt x="189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04950" y="2997200"/>
              <a:ext cx="1895475" cy="542925"/>
            </a:xfrm>
            <a:custGeom>
              <a:avLst/>
              <a:gdLst/>
              <a:ahLst/>
              <a:cxnLst/>
              <a:rect l="l" t="t" r="r" b="b"/>
              <a:pathLst>
                <a:path w="1895475" h="542925">
                  <a:moveTo>
                    <a:pt x="0" y="476250"/>
                  </a:moveTo>
                  <a:lnTo>
                    <a:pt x="0" y="0"/>
                  </a:lnTo>
                  <a:lnTo>
                    <a:pt x="1895475" y="0"/>
                  </a:lnTo>
                  <a:lnTo>
                    <a:pt x="1895475" y="476250"/>
                  </a:lnTo>
                  <a:lnTo>
                    <a:pt x="1752600" y="447675"/>
                  </a:lnTo>
                  <a:lnTo>
                    <a:pt x="1619250" y="419100"/>
                  </a:lnTo>
                  <a:lnTo>
                    <a:pt x="1485900" y="409575"/>
                  </a:lnTo>
                  <a:lnTo>
                    <a:pt x="1352550" y="409575"/>
                  </a:lnTo>
                  <a:lnTo>
                    <a:pt x="1209675" y="419100"/>
                  </a:lnTo>
                  <a:lnTo>
                    <a:pt x="942975" y="476250"/>
                  </a:lnTo>
                  <a:lnTo>
                    <a:pt x="819150" y="514350"/>
                  </a:lnTo>
                  <a:lnTo>
                    <a:pt x="676275" y="533400"/>
                  </a:lnTo>
                  <a:lnTo>
                    <a:pt x="542925" y="542925"/>
                  </a:lnTo>
                  <a:lnTo>
                    <a:pt x="409575" y="542925"/>
                  </a:lnTo>
                  <a:lnTo>
                    <a:pt x="276225" y="533400"/>
                  </a:lnTo>
                  <a:lnTo>
                    <a:pt x="133350" y="514350"/>
                  </a:lnTo>
                  <a:lnTo>
                    <a:pt x="0" y="4762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520825" y="2994025"/>
            <a:ext cx="968375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(MATNR) </a:t>
            </a:r>
            <a:r>
              <a:rPr dirty="0" sz="800" spc="-30">
                <a:latin typeface="Arial"/>
                <a:cs typeface="Arial"/>
              </a:rPr>
              <a:t>Plant</a:t>
            </a:r>
            <a:r>
              <a:rPr dirty="0" sz="800" spc="-10">
                <a:latin typeface="Arial"/>
                <a:cs typeface="Arial"/>
              </a:rPr>
              <a:t> (WERKS)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504950" y="3940175"/>
            <a:ext cx="1895475" cy="685800"/>
          </a:xfrm>
          <a:custGeom>
            <a:avLst/>
            <a:gdLst/>
            <a:ahLst/>
            <a:cxnLst/>
            <a:rect l="l" t="t" r="r" b="b"/>
            <a:pathLst>
              <a:path w="1895475" h="685800">
                <a:moveTo>
                  <a:pt x="0" y="600075"/>
                </a:moveTo>
                <a:lnTo>
                  <a:pt x="0" y="0"/>
                </a:lnTo>
                <a:lnTo>
                  <a:pt x="1895475" y="0"/>
                </a:lnTo>
                <a:lnTo>
                  <a:pt x="1895475" y="600075"/>
                </a:lnTo>
                <a:lnTo>
                  <a:pt x="1771650" y="561975"/>
                </a:lnTo>
                <a:lnTo>
                  <a:pt x="1657350" y="533400"/>
                </a:lnTo>
                <a:lnTo>
                  <a:pt x="1543050" y="523875"/>
                </a:lnTo>
                <a:lnTo>
                  <a:pt x="1419225" y="514350"/>
                </a:lnTo>
                <a:lnTo>
                  <a:pt x="1295400" y="523875"/>
                </a:lnTo>
                <a:lnTo>
                  <a:pt x="1181100" y="533400"/>
                </a:lnTo>
                <a:lnTo>
                  <a:pt x="1057275" y="561975"/>
                </a:lnTo>
                <a:lnTo>
                  <a:pt x="828675" y="638175"/>
                </a:lnTo>
                <a:lnTo>
                  <a:pt x="714375" y="666750"/>
                </a:lnTo>
                <a:lnTo>
                  <a:pt x="600075" y="676275"/>
                </a:lnTo>
                <a:lnTo>
                  <a:pt x="476250" y="685800"/>
                </a:lnTo>
                <a:lnTo>
                  <a:pt x="352425" y="676275"/>
                </a:lnTo>
                <a:lnTo>
                  <a:pt x="238125" y="666750"/>
                </a:lnTo>
                <a:lnTo>
                  <a:pt x="123825" y="638175"/>
                </a:lnTo>
                <a:lnTo>
                  <a:pt x="0" y="6000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520825" y="3937000"/>
            <a:ext cx="1283335" cy="522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319405">
              <a:lnSpc>
                <a:spcPct val="101600"/>
              </a:lnSpc>
              <a:spcBef>
                <a:spcPts val="110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(MATNR) </a:t>
            </a:r>
            <a:r>
              <a:rPr dirty="0" sz="800">
                <a:latin typeface="Arial"/>
                <a:cs typeface="Arial"/>
              </a:rPr>
              <a:t>Sales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Org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(VKORG)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01600"/>
              </a:lnSpc>
            </a:pPr>
            <a:r>
              <a:rPr dirty="0" sz="800" spc="-10">
                <a:latin typeface="Arial"/>
                <a:cs typeface="Arial"/>
              </a:rPr>
              <a:t>Distribution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Chan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(VTWEG) Product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Hierarchy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(PRODH)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504950" y="6140450"/>
            <a:ext cx="1895475" cy="542925"/>
          </a:xfrm>
          <a:custGeom>
            <a:avLst/>
            <a:gdLst/>
            <a:ahLst/>
            <a:cxnLst/>
            <a:rect l="l" t="t" r="r" b="b"/>
            <a:pathLst>
              <a:path w="1895475" h="542925">
                <a:moveTo>
                  <a:pt x="0" y="476250"/>
                </a:moveTo>
                <a:lnTo>
                  <a:pt x="0" y="0"/>
                </a:lnTo>
                <a:lnTo>
                  <a:pt x="1895475" y="0"/>
                </a:lnTo>
                <a:lnTo>
                  <a:pt x="1895475" y="476250"/>
                </a:lnTo>
                <a:lnTo>
                  <a:pt x="1752600" y="438150"/>
                </a:lnTo>
                <a:lnTo>
                  <a:pt x="1619250" y="419100"/>
                </a:lnTo>
                <a:lnTo>
                  <a:pt x="1485900" y="409575"/>
                </a:lnTo>
                <a:lnTo>
                  <a:pt x="1352550" y="409575"/>
                </a:lnTo>
                <a:lnTo>
                  <a:pt x="1209675" y="419100"/>
                </a:lnTo>
                <a:lnTo>
                  <a:pt x="1076325" y="438150"/>
                </a:lnTo>
                <a:lnTo>
                  <a:pt x="942975" y="476250"/>
                </a:lnTo>
                <a:lnTo>
                  <a:pt x="819150" y="504825"/>
                </a:lnTo>
                <a:lnTo>
                  <a:pt x="676275" y="533400"/>
                </a:lnTo>
                <a:lnTo>
                  <a:pt x="542925" y="542925"/>
                </a:lnTo>
                <a:lnTo>
                  <a:pt x="409575" y="542925"/>
                </a:lnTo>
                <a:lnTo>
                  <a:pt x="276225" y="533400"/>
                </a:lnTo>
                <a:lnTo>
                  <a:pt x="133350" y="504825"/>
                </a:lnTo>
                <a:lnTo>
                  <a:pt x="0" y="476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520825" y="6137275"/>
            <a:ext cx="968375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(MATNR) </a:t>
            </a:r>
            <a:r>
              <a:rPr dirty="0" sz="800">
                <a:latin typeface="Arial"/>
                <a:cs typeface="Arial"/>
              </a:rPr>
              <a:t>Country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(ALAND)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504950" y="3654425"/>
            <a:ext cx="1895475" cy="285750"/>
          </a:xfrm>
          <a:custGeom>
            <a:avLst/>
            <a:gdLst/>
            <a:ahLst/>
            <a:cxnLst/>
            <a:rect l="l" t="t" r="r" b="b"/>
            <a:pathLst>
              <a:path w="1895475" h="285750">
                <a:moveTo>
                  <a:pt x="1895475" y="0"/>
                </a:moveTo>
                <a:lnTo>
                  <a:pt x="0" y="0"/>
                </a:lnTo>
                <a:lnTo>
                  <a:pt x="0" y="285750"/>
                </a:lnTo>
                <a:lnTo>
                  <a:pt x="1895475" y="285750"/>
                </a:lnTo>
                <a:lnTo>
                  <a:pt x="18954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504950" y="3654425"/>
            <a:ext cx="1895475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MVKE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(Material</a:t>
            </a:r>
            <a:r>
              <a:rPr dirty="0" sz="800" spc="16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Master:</a:t>
            </a:r>
            <a:r>
              <a:rPr dirty="0" sz="800" spc="16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Sales</a:t>
            </a:r>
            <a:r>
              <a:rPr dirty="0" sz="800" spc="16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Data)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504950" y="5854700"/>
            <a:ext cx="1895475" cy="285750"/>
          </a:xfrm>
          <a:custGeom>
            <a:avLst/>
            <a:gdLst/>
            <a:ahLst/>
            <a:cxnLst/>
            <a:rect l="l" t="t" r="r" b="b"/>
            <a:pathLst>
              <a:path w="1895475" h="285750">
                <a:moveTo>
                  <a:pt x="1895475" y="0"/>
                </a:moveTo>
                <a:lnTo>
                  <a:pt x="0" y="0"/>
                </a:lnTo>
                <a:lnTo>
                  <a:pt x="0" y="285750"/>
                </a:lnTo>
                <a:lnTo>
                  <a:pt x="1895475" y="285750"/>
                </a:lnTo>
                <a:lnTo>
                  <a:pt x="18954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504950" y="5854700"/>
            <a:ext cx="1895475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MLAN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spc="10" b="1">
                <a:latin typeface="Arial"/>
                <a:cs typeface="Arial"/>
              </a:rPr>
              <a:t>(Tax</a:t>
            </a:r>
            <a:r>
              <a:rPr dirty="0" sz="800" spc="7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Classification:</a:t>
            </a:r>
            <a:r>
              <a:rPr dirty="0" sz="800" spc="7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Material)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367212" y="3021012"/>
            <a:ext cx="1885950" cy="495300"/>
            <a:chOff x="4367212" y="3021012"/>
            <a:chExt cx="1885950" cy="495300"/>
          </a:xfrm>
        </p:grpSpPr>
        <p:sp>
          <p:nvSpPr>
            <p:cNvPr id="24" name="object 24" descr=""/>
            <p:cNvSpPr/>
            <p:nvPr/>
          </p:nvSpPr>
          <p:spPr>
            <a:xfrm>
              <a:off x="4371975" y="3025775"/>
              <a:ext cx="1876425" cy="485775"/>
            </a:xfrm>
            <a:custGeom>
              <a:avLst/>
              <a:gdLst/>
              <a:ahLst/>
              <a:cxnLst/>
              <a:rect l="l" t="t" r="r" b="b"/>
              <a:pathLst>
                <a:path w="1876425" h="485775">
                  <a:moveTo>
                    <a:pt x="1876425" y="0"/>
                  </a:moveTo>
                  <a:lnTo>
                    <a:pt x="0" y="0"/>
                  </a:lnTo>
                  <a:lnTo>
                    <a:pt x="0" y="428625"/>
                  </a:lnTo>
                  <a:lnTo>
                    <a:pt x="123825" y="457200"/>
                  </a:lnTo>
                  <a:lnTo>
                    <a:pt x="266700" y="476250"/>
                  </a:lnTo>
                  <a:lnTo>
                    <a:pt x="400050" y="485775"/>
                  </a:lnTo>
                  <a:lnTo>
                    <a:pt x="533400" y="485775"/>
                  </a:lnTo>
                  <a:lnTo>
                    <a:pt x="666750" y="476250"/>
                  </a:lnTo>
                  <a:lnTo>
                    <a:pt x="800100" y="457200"/>
                  </a:lnTo>
                  <a:lnTo>
                    <a:pt x="942975" y="428625"/>
                  </a:lnTo>
                  <a:lnTo>
                    <a:pt x="1076325" y="390525"/>
                  </a:lnTo>
                  <a:lnTo>
                    <a:pt x="1209675" y="371475"/>
                  </a:lnTo>
                  <a:lnTo>
                    <a:pt x="1343025" y="361950"/>
                  </a:lnTo>
                  <a:lnTo>
                    <a:pt x="1476375" y="361950"/>
                  </a:lnTo>
                  <a:lnTo>
                    <a:pt x="1619250" y="371475"/>
                  </a:lnTo>
                  <a:lnTo>
                    <a:pt x="1752600" y="390525"/>
                  </a:lnTo>
                  <a:lnTo>
                    <a:pt x="1876425" y="428625"/>
                  </a:lnTo>
                  <a:lnTo>
                    <a:pt x="1876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371975" y="3025775"/>
              <a:ext cx="1876425" cy="485775"/>
            </a:xfrm>
            <a:custGeom>
              <a:avLst/>
              <a:gdLst/>
              <a:ahLst/>
              <a:cxnLst/>
              <a:rect l="l" t="t" r="r" b="b"/>
              <a:pathLst>
                <a:path w="1876425" h="485775">
                  <a:moveTo>
                    <a:pt x="0" y="428625"/>
                  </a:moveTo>
                  <a:lnTo>
                    <a:pt x="0" y="0"/>
                  </a:lnTo>
                  <a:lnTo>
                    <a:pt x="1876425" y="0"/>
                  </a:lnTo>
                  <a:lnTo>
                    <a:pt x="1876425" y="428625"/>
                  </a:lnTo>
                  <a:lnTo>
                    <a:pt x="1752600" y="390525"/>
                  </a:lnTo>
                  <a:lnTo>
                    <a:pt x="1619250" y="371475"/>
                  </a:lnTo>
                  <a:lnTo>
                    <a:pt x="1476375" y="361950"/>
                  </a:lnTo>
                  <a:lnTo>
                    <a:pt x="1343025" y="361950"/>
                  </a:lnTo>
                  <a:lnTo>
                    <a:pt x="1209675" y="371475"/>
                  </a:lnTo>
                  <a:lnTo>
                    <a:pt x="1076325" y="390525"/>
                  </a:lnTo>
                  <a:lnTo>
                    <a:pt x="942975" y="428625"/>
                  </a:lnTo>
                  <a:lnTo>
                    <a:pt x="800100" y="457200"/>
                  </a:lnTo>
                  <a:lnTo>
                    <a:pt x="666750" y="476250"/>
                  </a:lnTo>
                  <a:lnTo>
                    <a:pt x="533400" y="485775"/>
                  </a:lnTo>
                  <a:lnTo>
                    <a:pt x="400050" y="485775"/>
                  </a:lnTo>
                  <a:lnTo>
                    <a:pt x="266700" y="476250"/>
                  </a:lnTo>
                  <a:lnTo>
                    <a:pt x="123825" y="457200"/>
                  </a:lnTo>
                  <a:lnTo>
                    <a:pt x="0" y="4286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378325" y="3032125"/>
            <a:ext cx="96837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204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(MATNR) </a:t>
            </a:r>
            <a:r>
              <a:rPr dirty="0" sz="800" spc="-10">
                <a:latin typeface="Arial"/>
                <a:cs typeface="Arial"/>
              </a:rPr>
              <a:t>Language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(SPRAS)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371975" y="2768600"/>
            <a:ext cx="1876425" cy="285750"/>
          </a:xfrm>
          <a:custGeom>
            <a:avLst/>
            <a:gdLst/>
            <a:ahLst/>
            <a:cxnLst/>
            <a:rect l="l" t="t" r="r" b="b"/>
            <a:pathLst>
              <a:path w="1876425" h="285750">
                <a:moveTo>
                  <a:pt x="1876425" y="0"/>
                </a:moveTo>
                <a:lnTo>
                  <a:pt x="0" y="0"/>
                </a:lnTo>
                <a:lnTo>
                  <a:pt x="0" y="285750"/>
                </a:lnTo>
                <a:lnTo>
                  <a:pt x="1876425" y="285750"/>
                </a:lnTo>
                <a:lnTo>
                  <a:pt x="18764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4371975" y="2768600"/>
            <a:ext cx="1876425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MAKT</a:t>
            </a:r>
            <a:endParaRPr sz="8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15"/>
              </a:spcBef>
            </a:pPr>
            <a:r>
              <a:rPr dirty="0" sz="800" spc="10" b="1">
                <a:latin typeface="Arial"/>
                <a:cs typeface="Arial"/>
              </a:rPr>
              <a:t>(Material</a:t>
            </a:r>
            <a:r>
              <a:rPr dirty="0" sz="800" spc="20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Descriptions)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4367212" y="4506912"/>
            <a:ext cx="1885950" cy="438150"/>
            <a:chOff x="4367212" y="4506912"/>
            <a:chExt cx="1885950" cy="438150"/>
          </a:xfrm>
        </p:grpSpPr>
        <p:sp>
          <p:nvSpPr>
            <p:cNvPr id="30" name="object 30" descr=""/>
            <p:cNvSpPr/>
            <p:nvPr/>
          </p:nvSpPr>
          <p:spPr>
            <a:xfrm>
              <a:off x="4371975" y="4511675"/>
              <a:ext cx="1876425" cy="428625"/>
            </a:xfrm>
            <a:custGeom>
              <a:avLst/>
              <a:gdLst/>
              <a:ahLst/>
              <a:cxnLst/>
              <a:rect l="l" t="t" r="r" b="b"/>
              <a:pathLst>
                <a:path w="1876425" h="428625">
                  <a:moveTo>
                    <a:pt x="18764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52400" y="400050"/>
                  </a:lnTo>
                  <a:lnTo>
                    <a:pt x="304800" y="419100"/>
                  </a:lnTo>
                  <a:lnTo>
                    <a:pt x="466725" y="428625"/>
                  </a:lnTo>
                  <a:lnTo>
                    <a:pt x="628650" y="419100"/>
                  </a:lnTo>
                  <a:lnTo>
                    <a:pt x="781050" y="400050"/>
                  </a:lnTo>
                  <a:lnTo>
                    <a:pt x="942975" y="371475"/>
                  </a:lnTo>
                  <a:lnTo>
                    <a:pt x="1095375" y="342900"/>
                  </a:lnTo>
                  <a:lnTo>
                    <a:pt x="1257300" y="323850"/>
                  </a:lnTo>
                  <a:lnTo>
                    <a:pt x="1571625" y="323850"/>
                  </a:lnTo>
                  <a:lnTo>
                    <a:pt x="1724025" y="342900"/>
                  </a:lnTo>
                  <a:lnTo>
                    <a:pt x="1876425" y="371475"/>
                  </a:lnTo>
                  <a:lnTo>
                    <a:pt x="1876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371975" y="4511675"/>
              <a:ext cx="1876425" cy="428625"/>
            </a:xfrm>
            <a:custGeom>
              <a:avLst/>
              <a:gdLst/>
              <a:ahLst/>
              <a:cxnLst/>
              <a:rect l="l" t="t" r="r" b="b"/>
              <a:pathLst>
                <a:path w="1876425" h="428625">
                  <a:moveTo>
                    <a:pt x="0" y="371475"/>
                  </a:moveTo>
                  <a:lnTo>
                    <a:pt x="0" y="0"/>
                  </a:lnTo>
                  <a:lnTo>
                    <a:pt x="1876425" y="0"/>
                  </a:lnTo>
                  <a:lnTo>
                    <a:pt x="1876425" y="371475"/>
                  </a:lnTo>
                  <a:lnTo>
                    <a:pt x="1724025" y="342900"/>
                  </a:lnTo>
                  <a:lnTo>
                    <a:pt x="1571625" y="323850"/>
                  </a:lnTo>
                  <a:lnTo>
                    <a:pt x="1257300" y="323850"/>
                  </a:lnTo>
                  <a:lnTo>
                    <a:pt x="1095375" y="342900"/>
                  </a:lnTo>
                  <a:lnTo>
                    <a:pt x="942975" y="371475"/>
                  </a:lnTo>
                  <a:lnTo>
                    <a:pt x="781050" y="400050"/>
                  </a:lnTo>
                  <a:lnTo>
                    <a:pt x="628650" y="419100"/>
                  </a:lnTo>
                  <a:lnTo>
                    <a:pt x="466725" y="428625"/>
                  </a:lnTo>
                  <a:lnTo>
                    <a:pt x="304800" y="419100"/>
                  </a:lnTo>
                  <a:lnTo>
                    <a:pt x="152400" y="400050"/>
                  </a:lnTo>
                  <a:lnTo>
                    <a:pt x="0" y="3714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4378325" y="4518025"/>
            <a:ext cx="9683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(MATNR)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4371975" y="4254500"/>
            <a:ext cx="1876425" cy="285750"/>
          </a:xfrm>
          <a:custGeom>
            <a:avLst/>
            <a:gdLst/>
            <a:ahLst/>
            <a:cxnLst/>
            <a:rect l="l" t="t" r="r" b="b"/>
            <a:pathLst>
              <a:path w="1876425" h="285750">
                <a:moveTo>
                  <a:pt x="1876425" y="0"/>
                </a:moveTo>
                <a:lnTo>
                  <a:pt x="0" y="0"/>
                </a:lnTo>
                <a:lnTo>
                  <a:pt x="0" y="285750"/>
                </a:lnTo>
                <a:lnTo>
                  <a:pt x="1876425" y="285750"/>
                </a:lnTo>
                <a:lnTo>
                  <a:pt x="18764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4371975" y="4254500"/>
            <a:ext cx="1876425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MARA</a:t>
            </a:r>
            <a:endParaRPr sz="8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(Material</a:t>
            </a:r>
            <a:r>
              <a:rPr dirty="0" sz="800" spc="18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Master:</a:t>
            </a:r>
            <a:r>
              <a:rPr dirty="0" sz="800" spc="18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General</a:t>
            </a:r>
            <a:r>
              <a:rPr dirty="0" sz="800" spc="18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Data)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4371975" y="5883275"/>
            <a:ext cx="1876425" cy="428625"/>
          </a:xfrm>
          <a:custGeom>
            <a:avLst/>
            <a:gdLst/>
            <a:ahLst/>
            <a:cxnLst/>
            <a:rect l="l" t="t" r="r" b="b"/>
            <a:pathLst>
              <a:path w="1876425" h="428625">
                <a:moveTo>
                  <a:pt x="0" y="371475"/>
                </a:moveTo>
                <a:lnTo>
                  <a:pt x="0" y="0"/>
                </a:lnTo>
                <a:lnTo>
                  <a:pt x="1876425" y="0"/>
                </a:lnTo>
                <a:lnTo>
                  <a:pt x="1876425" y="371475"/>
                </a:lnTo>
                <a:lnTo>
                  <a:pt x="1724025" y="342900"/>
                </a:lnTo>
                <a:lnTo>
                  <a:pt x="1571625" y="323850"/>
                </a:lnTo>
                <a:lnTo>
                  <a:pt x="1409700" y="314325"/>
                </a:lnTo>
                <a:lnTo>
                  <a:pt x="1257300" y="323850"/>
                </a:lnTo>
                <a:lnTo>
                  <a:pt x="1095375" y="342900"/>
                </a:lnTo>
                <a:lnTo>
                  <a:pt x="942975" y="371475"/>
                </a:lnTo>
                <a:lnTo>
                  <a:pt x="781050" y="400050"/>
                </a:lnTo>
                <a:lnTo>
                  <a:pt x="628650" y="419100"/>
                </a:lnTo>
                <a:lnTo>
                  <a:pt x="466725" y="428625"/>
                </a:lnTo>
                <a:lnTo>
                  <a:pt x="304800" y="419100"/>
                </a:lnTo>
                <a:lnTo>
                  <a:pt x="152400" y="400050"/>
                </a:lnTo>
                <a:lnTo>
                  <a:pt x="0" y="3714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4378325" y="5880100"/>
            <a:ext cx="968375" cy="27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800" spc="-25">
                <a:latin typeface="Arial"/>
                <a:cs typeface="Arial"/>
              </a:rPr>
              <a:t>Material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(MATNR) </a:t>
            </a:r>
            <a:r>
              <a:rPr dirty="0" sz="800" spc="-30">
                <a:latin typeface="Arial"/>
                <a:cs typeface="Arial"/>
              </a:rPr>
              <a:t>UOM</a:t>
            </a:r>
            <a:r>
              <a:rPr dirty="0" sz="800" spc="-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(MEINH)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371975" y="5597525"/>
            <a:ext cx="1876425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MARM</a:t>
            </a:r>
            <a:endParaRPr sz="8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(Units</a:t>
            </a:r>
            <a:r>
              <a:rPr dirty="0" sz="800" spc="17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of</a:t>
            </a:r>
            <a:r>
              <a:rPr dirty="0" sz="800" spc="17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Measure)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7110412" y="3716337"/>
            <a:ext cx="1895475" cy="2705100"/>
            <a:chOff x="7110412" y="3716337"/>
            <a:chExt cx="1895475" cy="2705100"/>
          </a:xfrm>
        </p:grpSpPr>
        <p:sp>
          <p:nvSpPr>
            <p:cNvPr id="39" name="object 39" descr=""/>
            <p:cNvSpPr/>
            <p:nvPr/>
          </p:nvSpPr>
          <p:spPr>
            <a:xfrm>
              <a:off x="7115175" y="3721100"/>
              <a:ext cx="1885950" cy="704850"/>
            </a:xfrm>
            <a:custGeom>
              <a:avLst/>
              <a:gdLst/>
              <a:ahLst/>
              <a:cxnLst/>
              <a:rect l="l" t="t" r="r" b="b"/>
              <a:pathLst>
                <a:path w="1885950" h="704850">
                  <a:moveTo>
                    <a:pt x="1885950" y="0"/>
                  </a:moveTo>
                  <a:lnTo>
                    <a:pt x="0" y="0"/>
                  </a:lnTo>
                  <a:lnTo>
                    <a:pt x="0" y="619125"/>
                  </a:lnTo>
                  <a:lnTo>
                    <a:pt x="114300" y="657225"/>
                  </a:lnTo>
                  <a:lnTo>
                    <a:pt x="228600" y="676275"/>
                  </a:lnTo>
                  <a:lnTo>
                    <a:pt x="352425" y="695325"/>
                  </a:lnTo>
                  <a:lnTo>
                    <a:pt x="466725" y="704850"/>
                  </a:lnTo>
                  <a:lnTo>
                    <a:pt x="590550" y="695325"/>
                  </a:lnTo>
                  <a:lnTo>
                    <a:pt x="819150" y="657225"/>
                  </a:lnTo>
                  <a:lnTo>
                    <a:pt x="942975" y="619125"/>
                  </a:lnTo>
                  <a:lnTo>
                    <a:pt x="1047750" y="581025"/>
                  </a:lnTo>
                  <a:lnTo>
                    <a:pt x="1171575" y="552450"/>
                  </a:lnTo>
                  <a:lnTo>
                    <a:pt x="1285875" y="533400"/>
                  </a:lnTo>
                  <a:lnTo>
                    <a:pt x="1409700" y="523875"/>
                  </a:lnTo>
                  <a:lnTo>
                    <a:pt x="1533525" y="533400"/>
                  </a:lnTo>
                  <a:lnTo>
                    <a:pt x="1647825" y="552450"/>
                  </a:lnTo>
                  <a:lnTo>
                    <a:pt x="1771650" y="581025"/>
                  </a:lnTo>
                  <a:lnTo>
                    <a:pt x="1885950" y="619125"/>
                  </a:lnTo>
                  <a:lnTo>
                    <a:pt x="188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115175" y="3721100"/>
              <a:ext cx="1885950" cy="2695575"/>
            </a:xfrm>
            <a:custGeom>
              <a:avLst/>
              <a:gdLst/>
              <a:ahLst/>
              <a:cxnLst/>
              <a:rect l="l" t="t" r="r" b="b"/>
              <a:pathLst>
                <a:path w="1885950" h="2695575">
                  <a:moveTo>
                    <a:pt x="0" y="619125"/>
                  </a:moveTo>
                  <a:lnTo>
                    <a:pt x="0" y="0"/>
                  </a:lnTo>
                  <a:lnTo>
                    <a:pt x="1885950" y="0"/>
                  </a:lnTo>
                  <a:lnTo>
                    <a:pt x="1885950" y="619125"/>
                  </a:lnTo>
                  <a:lnTo>
                    <a:pt x="1771650" y="581025"/>
                  </a:lnTo>
                  <a:lnTo>
                    <a:pt x="1647825" y="552450"/>
                  </a:lnTo>
                  <a:lnTo>
                    <a:pt x="1533525" y="533400"/>
                  </a:lnTo>
                  <a:lnTo>
                    <a:pt x="1409700" y="523875"/>
                  </a:lnTo>
                  <a:lnTo>
                    <a:pt x="1285875" y="533400"/>
                  </a:lnTo>
                  <a:lnTo>
                    <a:pt x="1171575" y="552450"/>
                  </a:lnTo>
                  <a:lnTo>
                    <a:pt x="1047750" y="581025"/>
                  </a:lnTo>
                  <a:lnTo>
                    <a:pt x="942975" y="619125"/>
                  </a:lnTo>
                  <a:lnTo>
                    <a:pt x="819150" y="657225"/>
                  </a:lnTo>
                  <a:lnTo>
                    <a:pt x="590550" y="695325"/>
                  </a:lnTo>
                  <a:lnTo>
                    <a:pt x="466725" y="704850"/>
                  </a:lnTo>
                  <a:lnTo>
                    <a:pt x="352425" y="695325"/>
                  </a:lnTo>
                  <a:lnTo>
                    <a:pt x="228600" y="676275"/>
                  </a:lnTo>
                  <a:lnTo>
                    <a:pt x="114300" y="657225"/>
                  </a:lnTo>
                  <a:lnTo>
                    <a:pt x="0" y="619125"/>
                  </a:lnTo>
                  <a:close/>
                </a:path>
                <a:path w="1885950" h="2695575">
                  <a:moveTo>
                    <a:pt x="0" y="2590800"/>
                  </a:moveTo>
                  <a:lnTo>
                    <a:pt x="0" y="1790700"/>
                  </a:lnTo>
                  <a:lnTo>
                    <a:pt x="1885950" y="1790700"/>
                  </a:lnTo>
                  <a:lnTo>
                    <a:pt x="1885950" y="2590800"/>
                  </a:lnTo>
                  <a:lnTo>
                    <a:pt x="1781175" y="2543175"/>
                  </a:lnTo>
                  <a:lnTo>
                    <a:pt x="1676400" y="2505075"/>
                  </a:lnTo>
                  <a:lnTo>
                    <a:pt x="1571625" y="2486025"/>
                  </a:lnTo>
                  <a:lnTo>
                    <a:pt x="1466850" y="2476500"/>
                  </a:lnTo>
                  <a:lnTo>
                    <a:pt x="1352550" y="2476500"/>
                  </a:lnTo>
                  <a:lnTo>
                    <a:pt x="1247775" y="2486025"/>
                  </a:lnTo>
                  <a:lnTo>
                    <a:pt x="1143000" y="2505075"/>
                  </a:lnTo>
                  <a:lnTo>
                    <a:pt x="1038225" y="2543175"/>
                  </a:lnTo>
                  <a:lnTo>
                    <a:pt x="942975" y="2590800"/>
                  </a:lnTo>
                  <a:lnTo>
                    <a:pt x="733425" y="2667000"/>
                  </a:lnTo>
                  <a:lnTo>
                    <a:pt x="628650" y="2686050"/>
                  </a:lnTo>
                  <a:lnTo>
                    <a:pt x="523875" y="2695575"/>
                  </a:lnTo>
                  <a:lnTo>
                    <a:pt x="409575" y="2695575"/>
                  </a:lnTo>
                  <a:lnTo>
                    <a:pt x="304800" y="2686050"/>
                  </a:lnTo>
                  <a:lnTo>
                    <a:pt x="200025" y="2667000"/>
                  </a:lnTo>
                  <a:lnTo>
                    <a:pt x="95250" y="2628900"/>
                  </a:lnTo>
                  <a:lnTo>
                    <a:pt x="0" y="2590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6886575" y="2082800"/>
            <a:ext cx="2286000" cy="4686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00">
              <a:latin typeface="Times New Roman"/>
              <a:cs typeface="Times New Roman"/>
            </a:endParaRPr>
          </a:p>
          <a:p>
            <a:pPr marL="714375">
              <a:lnSpc>
                <a:spcPct val="100000"/>
              </a:lnSpc>
            </a:pPr>
            <a:r>
              <a:rPr dirty="0" sz="900" b="1">
                <a:latin typeface="Arial"/>
                <a:cs typeface="Arial"/>
              </a:rPr>
              <a:t>Sales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Text </a:t>
            </a:r>
            <a:r>
              <a:rPr dirty="0" sz="900" spc="-20" b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dirty="0" sz="800" spc="-20">
                <a:latin typeface="Arial"/>
                <a:cs typeface="Arial"/>
              </a:rPr>
              <a:t>Texts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(TDOBJECT)</a:t>
            </a:r>
            <a:endParaRPr sz="800">
              <a:latin typeface="Arial"/>
              <a:cs typeface="Arial"/>
            </a:endParaRPr>
          </a:p>
          <a:p>
            <a:pPr marL="247650" marR="1021080">
              <a:lnSpc>
                <a:spcPct val="101600"/>
              </a:lnSpc>
            </a:pPr>
            <a:r>
              <a:rPr dirty="0" sz="800" spc="-25">
                <a:latin typeface="Arial"/>
                <a:cs typeface="Arial"/>
              </a:rPr>
              <a:t>Text Name </a:t>
            </a:r>
            <a:r>
              <a:rPr dirty="0" sz="800" spc="-10">
                <a:latin typeface="Arial"/>
                <a:cs typeface="Arial"/>
              </a:rPr>
              <a:t>(TDNAME) </a:t>
            </a:r>
            <a:r>
              <a:rPr dirty="0" sz="800" spc="-20">
                <a:latin typeface="Arial"/>
                <a:cs typeface="Arial"/>
              </a:rPr>
              <a:t>Text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Id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(TDID) </a:t>
            </a:r>
            <a:r>
              <a:rPr dirty="0" sz="800" spc="-20">
                <a:latin typeface="Arial"/>
                <a:cs typeface="Arial"/>
              </a:rPr>
              <a:t>Language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(TDSPRAS)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8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</a:pPr>
            <a:r>
              <a:rPr dirty="0" sz="800" spc="-10">
                <a:latin typeface="Arial"/>
                <a:cs typeface="Arial"/>
              </a:rPr>
              <a:t>(RELID)</a:t>
            </a:r>
            <a:endParaRPr sz="8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15"/>
              </a:spcBef>
            </a:pPr>
            <a:r>
              <a:rPr dirty="0" sz="800" spc="-20">
                <a:latin typeface="Arial"/>
                <a:cs typeface="Arial"/>
              </a:rPr>
              <a:t>Texts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(TDOBJECT)</a:t>
            </a:r>
            <a:endParaRPr sz="800">
              <a:latin typeface="Arial"/>
              <a:cs typeface="Arial"/>
            </a:endParaRPr>
          </a:p>
          <a:p>
            <a:pPr marL="247650" marR="1021080">
              <a:lnSpc>
                <a:spcPct val="99000"/>
              </a:lnSpc>
              <a:spcBef>
                <a:spcPts val="25"/>
              </a:spcBef>
            </a:pPr>
            <a:r>
              <a:rPr dirty="0" sz="800" spc="-25">
                <a:latin typeface="Arial"/>
                <a:cs typeface="Arial"/>
              </a:rPr>
              <a:t>Text Name </a:t>
            </a:r>
            <a:r>
              <a:rPr dirty="0" sz="800" spc="-10">
                <a:latin typeface="Arial"/>
                <a:cs typeface="Arial"/>
              </a:rPr>
              <a:t>(TDNAME) </a:t>
            </a:r>
            <a:r>
              <a:rPr dirty="0" sz="800" spc="-20">
                <a:latin typeface="Arial"/>
                <a:cs typeface="Arial"/>
              </a:rPr>
              <a:t>Text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Id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(TDID) </a:t>
            </a:r>
            <a:r>
              <a:rPr dirty="0" sz="800" spc="-20">
                <a:latin typeface="Arial"/>
                <a:cs typeface="Arial"/>
              </a:rPr>
              <a:t>Language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(TDSPRAS) (SRTF2)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7115175" y="3454400"/>
            <a:ext cx="1885950" cy="285750"/>
          </a:xfrm>
          <a:custGeom>
            <a:avLst/>
            <a:gdLst/>
            <a:ahLst/>
            <a:cxnLst/>
            <a:rect l="l" t="t" r="r" b="b"/>
            <a:pathLst>
              <a:path w="1885950" h="285750">
                <a:moveTo>
                  <a:pt x="1885950" y="0"/>
                </a:moveTo>
                <a:lnTo>
                  <a:pt x="0" y="0"/>
                </a:lnTo>
                <a:lnTo>
                  <a:pt x="0" y="285750"/>
                </a:lnTo>
                <a:lnTo>
                  <a:pt x="1885950" y="285750"/>
                </a:lnTo>
                <a:lnTo>
                  <a:pt x="1885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7115175" y="3454400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STXH</a:t>
            </a:r>
            <a:endParaRPr sz="8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(STXD</a:t>
            </a:r>
            <a:r>
              <a:rPr dirty="0" sz="800" spc="1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SAPscript</a:t>
            </a:r>
            <a:r>
              <a:rPr dirty="0" sz="800" spc="13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text</a:t>
            </a:r>
            <a:r>
              <a:rPr dirty="0" sz="800" spc="1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file</a:t>
            </a:r>
            <a:r>
              <a:rPr dirty="0" sz="800" spc="13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header)</a:t>
            </a:r>
            <a:endParaRPr sz="80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7115175" y="5226050"/>
            <a:ext cx="1885950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STXL</a:t>
            </a:r>
            <a:endParaRPr sz="8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15"/>
              </a:spcBef>
            </a:pPr>
            <a:r>
              <a:rPr dirty="0" sz="800" b="1">
                <a:latin typeface="Arial"/>
                <a:cs typeface="Arial"/>
              </a:rPr>
              <a:t>(STXD</a:t>
            </a:r>
            <a:r>
              <a:rPr dirty="0" sz="800" spc="1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SAPscript</a:t>
            </a:r>
            <a:r>
              <a:rPr dirty="0" sz="800" spc="13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text</a:t>
            </a:r>
            <a:r>
              <a:rPr dirty="0" sz="800" spc="1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file</a:t>
            </a:r>
            <a:r>
              <a:rPr dirty="0" sz="800" spc="13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lines)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3562350" y="482600"/>
            <a:ext cx="3762375" cy="457200"/>
            <a:chOff x="3562350" y="482600"/>
            <a:chExt cx="3762375" cy="457200"/>
          </a:xfrm>
        </p:grpSpPr>
        <p:sp>
          <p:nvSpPr>
            <p:cNvPr id="46" name="object 46" descr=""/>
            <p:cNvSpPr/>
            <p:nvPr/>
          </p:nvSpPr>
          <p:spPr>
            <a:xfrm>
              <a:off x="3686175" y="596900"/>
              <a:ext cx="3638550" cy="342900"/>
            </a:xfrm>
            <a:custGeom>
              <a:avLst/>
              <a:gdLst/>
              <a:ahLst/>
              <a:cxnLst/>
              <a:rect l="l" t="t" r="r" b="b"/>
              <a:pathLst>
                <a:path w="3638550" h="342900">
                  <a:moveTo>
                    <a:pt x="363855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3638550" y="34290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562350" y="482600"/>
              <a:ext cx="3648075" cy="342900"/>
            </a:xfrm>
            <a:custGeom>
              <a:avLst/>
              <a:gdLst/>
              <a:ahLst/>
              <a:cxnLst/>
              <a:rect l="l" t="t" r="r" b="b"/>
              <a:pathLst>
                <a:path w="3648075" h="342900">
                  <a:moveTo>
                    <a:pt x="3648075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3648075" y="342900"/>
                  </a:lnTo>
                  <a:lnTo>
                    <a:pt x="3648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3562350" y="482600"/>
            <a:ext cx="3648075" cy="3429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400"/>
              </a:spcBef>
            </a:pPr>
            <a:r>
              <a:rPr dirty="0" sz="1400" b="1">
                <a:latin typeface="Arial"/>
                <a:cs typeface="Arial"/>
              </a:rPr>
              <a:t>SAP</a:t>
            </a:r>
            <a:r>
              <a:rPr dirty="0" sz="1400" spc="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SD</a:t>
            </a:r>
            <a:r>
              <a:rPr dirty="0" sz="1400" spc="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-</a:t>
            </a:r>
            <a:r>
              <a:rPr dirty="0" sz="1400" spc="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Links</a:t>
            </a:r>
            <a:r>
              <a:rPr dirty="0" sz="1400" spc="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to</a:t>
            </a:r>
            <a:r>
              <a:rPr dirty="0" sz="1400" spc="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MM</a:t>
            </a:r>
            <a:r>
              <a:rPr dirty="0" sz="1400" spc="7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Tables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1504950" y="5054600"/>
            <a:ext cx="1895475" cy="685800"/>
          </a:xfrm>
          <a:custGeom>
            <a:avLst/>
            <a:gdLst/>
            <a:ahLst/>
            <a:cxnLst/>
            <a:rect l="l" t="t" r="r" b="b"/>
            <a:pathLst>
              <a:path w="1895475" h="685800">
                <a:moveTo>
                  <a:pt x="0" y="600075"/>
                </a:moveTo>
                <a:lnTo>
                  <a:pt x="0" y="0"/>
                </a:lnTo>
                <a:lnTo>
                  <a:pt x="1895475" y="0"/>
                </a:lnTo>
                <a:lnTo>
                  <a:pt x="1895475" y="600075"/>
                </a:lnTo>
                <a:lnTo>
                  <a:pt x="1771650" y="561975"/>
                </a:lnTo>
                <a:lnTo>
                  <a:pt x="1657350" y="533400"/>
                </a:lnTo>
                <a:lnTo>
                  <a:pt x="1543050" y="514350"/>
                </a:lnTo>
                <a:lnTo>
                  <a:pt x="1295400" y="514350"/>
                </a:lnTo>
                <a:lnTo>
                  <a:pt x="1181100" y="533400"/>
                </a:lnTo>
                <a:lnTo>
                  <a:pt x="1057275" y="561975"/>
                </a:lnTo>
                <a:lnTo>
                  <a:pt x="828675" y="638175"/>
                </a:lnTo>
                <a:lnTo>
                  <a:pt x="714375" y="666750"/>
                </a:lnTo>
                <a:lnTo>
                  <a:pt x="600075" y="676275"/>
                </a:lnTo>
                <a:lnTo>
                  <a:pt x="476250" y="685800"/>
                </a:lnTo>
                <a:lnTo>
                  <a:pt x="352425" y="676275"/>
                </a:lnTo>
                <a:lnTo>
                  <a:pt x="238125" y="666750"/>
                </a:lnTo>
                <a:lnTo>
                  <a:pt x="123825" y="638175"/>
                </a:lnTo>
                <a:lnTo>
                  <a:pt x="0" y="6000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1520825" y="5051425"/>
            <a:ext cx="128333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Product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Hierarchy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(PRODH)</a:t>
            </a:r>
            <a:endParaRPr sz="80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520825" y="5299075"/>
            <a:ext cx="15690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*use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ge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text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hiearchy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levels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504950" y="4768850"/>
            <a:ext cx="1895475" cy="2857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T179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800" spc="10" b="1">
                <a:latin typeface="Arial"/>
                <a:cs typeface="Arial"/>
              </a:rPr>
              <a:t>(Materials:</a:t>
            </a:r>
            <a:r>
              <a:rPr dirty="0" sz="800" spc="17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Product</a:t>
            </a:r>
            <a:r>
              <a:rPr dirty="0" sz="800" spc="17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Hierarchies)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6575" y="3987800"/>
            <a:ext cx="2590800" cy="1885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R="1270">
              <a:lnSpc>
                <a:spcPct val="100000"/>
              </a:lnSpc>
            </a:pPr>
            <a:r>
              <a:rPr dirty="0" sz="1200" spc="-25" b="1">
                <a:latin typeface="Arial"/>
                <a:cs typeface="Arial"/>
              </a:rPr>
              <a:t>SD</a:t>
            </a:r>
            <a:endParaRPr sz="1200">
              <a:latin typeface="Arial"/>
              <a:cs typeface="Arial"/>
            </a:endParaRPr>
          </a:p>
          <a:p>
            <a:pPr marL="304800" marR="78105" indent="104775">
              <a:lnSpc>
                <a:spcPts val="1050"/>
              </a:lnSpc>
              <a:spcBef>
                <a:spcPts val="120"/>
              </a:spcBef>
            </a:pPr>
            <a:r>
              <a:rPr dirty="0" sz="900" spc="75">
                <a:latin typeface="Arial"/>
                <a:cs typeface="Arial"/>
              </a:rPr>
              <a:t>Paul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85">
                <a:latin typeface="Arial"/>
                <a:cs typeface="Arial"/>
              </a:rPr>
              <a:t>Evans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70">
                <a:latin typeface="Arial"/>
                <a:cs typeface="Arial"/>
              </a:rPr>
              <a:t>(Whittman-</a:t>
            </a:r>
            <a:r>
              <a:rPr dirty="0" sz="900" spc="65">
                <a:latin typeface="Arial"/>
                <a:cs typeface="Arial"/>
              </a:rPr>
              <a:t>Hart,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40">
                <a:latin typeface="Arial"/>
                <a:cs typeface="Arial"/>
              </a:rPr>
              <a:t>inc.) </a:t>
            </a:r>
            <a:r>
              <a:rPr dirty="0" sz="900" spc="75">
                <a:latin typeface="Arial"/>
                <a:cs typeface="Arial"/>
              </a:rPr>
              <a:t>Krishna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85">
                <a:latin typeface="Arial"/>
                <a:cs typeface="Arial"/>
              </a:rPr>
              <a:t>Prasad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(Whittman-</a:t>
            </a:r>
            <a:r>
              <a:rPr dirty="0" sz="900" spc="70">
                <a:latin typeface="Arial"/>
                <a:cs typeface="Arial"/>
              </a:rPr>
              <a:t>Hart,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45">
                <a:latin typeface="Arial"/>
                <a:cs typeface="Arial"/>
              </a:rPr>
              <a:t>inc.)</a:t>
            </a:r>
            <a:endParaRPr sz="900">
              <a:latin typeface="Arial"/>
              <a:cs typeface="Arial"/>
            </a:endParaRPr>
          </a:p>
          <a:p>
            <a:pPr marL="333375" marR="97155" indent="371475">
              <a:lnSpc>
                <a:spcPts val="1050"/>
              </a:lnSpc>
            </a:pPr>
            <a:r>
              <a:rPr dirty="0" sz="900" spc="90">
                <a:latin typeface="Arial"/>
                <a:cs typeface="Arial"/>
              </a:rPr>
              <a:t>Russ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80">
                <a:latin typeface="Arial"/>
                <a:cs typeface="Arial"/>
              </a:rPr>
              <a:t>Smith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50">
                <a:latin typeface="Arial"/>
                <a:cs typeface="Arial"/>
              </a:rPr>
              <a:t>(Benteler)</a:t>
            </a:r>
            <a:r>
              <a:rPr dirty="0" sz="900" spc="500">
                <a:latin typeface="Arial"/>
                <a:cs typeface="Arial"/>
              </a:rPr>
              <a:t> </a:t>
            </a:r>
            <a:r>
              <a:rPr dirty="0" sz="900" spc="80">
                <a:latin typeface="Arial"/>
                <a:cs typeface="Arial"/>
              </a:rPr>
              <a:t>Michael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95">
                <a:latin typeface="Arial"/>
                <a:cs typeface="Arial"/>
              </a:rPr>
              <a:t>Rhodes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(MedPartners,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45">
                <a:latin typeface="Arial"/>
                <a:cs typeface="Arial"/>
              </a:rPr>
              <a:t>inc.)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67150" y="1368425"/>
            <a:ext cx="2590800" cy="1885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R="40005">
              <a:lnSpc>
                <a:spcPct val="100000"/>
              </a:lnSpc>
            </a:pPr>
            <a:r>
              <a:rPr dirty="0" sz="1200" spc="-10" b="1">
                <a:latin typeface="Arial"/>
                <a:cs typeface="Arial"/>
              </a:rPr>
              <a:t>FI/CO</a:t>
            </a:r>
            <a:endParaRPr sz="1200">
              <a:latin typeface="Arial"/>
              <a:cs typeface="Arial"/>
            </a:endParaRPr>
          </a:p>
          <a:p>
            <a:pPr marL="333375">
              <a:lnSpc>
                <a:spcPct val="100000"/>
              </a:lnSpc>
              <a:spcBef>
                <a:spcPts val="60"/>
              </a:spcBef>
            </a:pPr>
            <a:r>
              <a:rPr dirty="0" sz="900" spc="80">
                <a:latin typeface="Arial"/>
                <a:cs typeface="Arial"/>
              </a:rPr>
              <a:t>Michael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95">
                <a:latin typeface="Arial"/>
                <a:cs typeface="Arial"/>
              </a:rPr>
              <a:t>Rhodes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(MedPartners,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45">
                <a:latin typeface="Arial"/>
                <a:cs typeface="Arial"/>
              </a:rPr>
              <a:t>inc.)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38200" y="3987800"/>
            <a:ext cx="2590800" cy="1885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R="31115">
              <a:lnSpc>
                <a:spcPct val="100000"/>
              </a:lnSpc>
            </a:pPr>
            <a:r>
              <a:rPr dirty="0" sz="1200" spc="-25" b="1">
                <a:latin typeface="Arial"/>
                <a:cs typeface="Arial"/>
              </a:rPr>
              <a:t>MM</a:t>
            </a:r>
            <a:endParaRPr sz="1200">
              <a:latin typeface="Arial"/>
              <a:cs typeface="Arial"/>
            </a:endParaRPr>
          </a:p>
          <a:p>
            <a:pPr marL="333375" marR="97155" indent="114300">
              <a:lnSpc>
                <a:spcPts val="1050"/>
              </a:lnSpc>
              <a:spcBef>
                <a:spcPts val="120"/>
              </a:spcBef>
            </a:pPr>
            <a:r>
              <a:rPr dirty="0" sz="900" spc="75">
                <a:latin typeface="Arial"/>
                <a:cs typeface="Arial"/>
              </a:rPr>
              <a:t>Jim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Lewis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65">
                <a:latin typeface="Arial"/>
                <a:cs typeface="Arial"/>
              </a:rPr>
              <a:t>(Whittman-</a:t>
            </a:r>
            <a:r>
              <a:rPr dirty="0" sz="900" spc="60">
                <a:latin typeface="Arial"/>
                <a:cs typeface="Arial"/>
              </a:rPr>
              <a:t>Hart,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inc.) </a:t>
            </a:r>
            <a:r>
              <a:rPr dirty="0" sz="900" spc="80">
                <a:latin typeface="Arial"/>
                <a:cs typeface="Arial"/>
              </a:rPr>
              <a:t>Michael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95">
                <a:latin typeface="Arial"/>
                <a:cs typeface="Arial"/>
              </a:rPr>
              <a:t>Rhodes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(MedPartners,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45">
                <a:latin typeface="Arial"/>
                <a:cs typeface="Arial"/>
              </a:rPr>
              <a:t>inc.)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38200" y="1368425"/>
            <a:ext cx="2590800" cy="1885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Times New Roman"/>
              <a:cs typeface="Times New Roman"/>
            </a:endParaRPr>
          </a:p>
          <a:p>
            <a:pPr marL="828675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Master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  <a:p>
            <a:pPr marL="447675">
              <a:lnSpc>
                <a:spcPct val="100000"/>
              </a:lnSpc>
              <a:spcBef>
                <a:spcPts val="60"/>
              </a:spcBef>
            </a:pPr>
            <a:r>
              <a:rPr dirty="0" sz="900" spc="75">
                <a:latin typeface="Arial"/>
                <a:cs typeface="Arial"/>
              </a:rPr>
              <a:t>Jim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Lewis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65">
                <a:latin typeface="Arial"/>
                <a:cs typeface="Arial"/>
              </a:rPr>
              <a:t>(Whittman-</a:t>
            </a:r>
            <a:r>
              <a:rPr dirty="0" sz="900" spc="60">
                <a:latin typeface="Arial"/>
                <a:cs typeface="Arial"/>
              </a:rPr>
              <a:t>Hart,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inc.)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33437" y="754062"/>
            <a:ext cx="2062480" cy="509905"/>
            <a:chOff x="833437" y="754062"/>
            <a:chExt cx="2062480" cy="509905"/>
          </a:xfrm>
        </p:grpSpPr>
        <p:sp>
          <p:nvSpPr>
            <p:cNvPr id="7" name="object 7" descr=""/>
            <p:cNvSpPr/>
            <p:nvPr/>
          </p:nvSpPr>
          <p:spPr>
            <a:xfrm>
              <a:off x="952500" y="863600"/>
              <a:ext cx="1943100" cy="400050"/>
            </a:xfrm>
            <a:custGeom>
              <a:avLst/>
              <a:gdLst/>
              <a:ahLst/>
              <a:cxnLst/>
              <a:rect l="l" t="t" r="r" b="b"/>
              <a:pathLst>
                <a:path w="1943100" h="400050">
                  <a:moveTo>
                    <a:pt x="194310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133350" y="371475"/>
                  </a:lnTo>
                  <a:lnTo>
                    <a:pt x="276225" y="390525"/>
                  </a:lnTo>
                  <a:lnTo>
                    <a:pt x="409575" y="400050"/>
                  </a:lnTo>
                  <a:lnTo>
                    <a:pt x="552450" y="400050"/>
                  </a:lnTo>
                  <a:lnTo>
                    <a:pt x="685800" y="390525"/>
                  </a:lnTo>
                  <a:lnTo>
                    <a:pt x="971550" y="352425"/>
                  </a:lnTo>
                  <a:lnTo>
                    <a:pt x="1104900" y="323850"/>
                  </a:lnTo>
                  <a:lnTo>
                    <a:pt x="1247775" y="314325"/>
                  </a:lnTo>
                  <a:lnTo>
                    <a:pt x="1381125" y="304800"/>
                  </a:lnTo>
                  <a:lnTo>
                    <a:pt x="1524000" y="304800"/>
                  </a:lnTo>
                  <a:lnTo>
                    <a:pt x="1666875" y="314325"/>
                  </a:lnTo>
                  <a:lnTo>
                    <a:pt x="1800225" y="323850"/>
                  </a:lnTo>
                  <a:lnTo>
                    <a:pt x="1943100" y="352425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38200" y="758825"/>
              <a:ext cx="1943100" cy="400050"/>
            </a:xfrm>
            <a:custGeom>
              <a:avLst/>
              <a:gdLst/>
              <a:ahLst/>
              <a:cxnLst/>
              <a:rect l="l" t="t" r="r" b="b"/>
              <a:pathLst>
                <a:path w="1943100" h="400050">
                  <a:moveTo>
                    <a:pt x="194310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133350" y="381000"/>
                  </a:lnTo>
                  <a:lnTo>
                    <a:pt x="419100" y="400050"/>
                  </a:lnTo>
                  <a:lnTo>
                    <a:pt x="552450" y="400050"/>
                  </a:lnTo>
                  <a:lnTo>
                    <a:pt x="695325" y="390525"/>
                  </a:lnTo>
                  <a:lnTo>
                    <a:pt x="828675" y="381000"/>
                  </a:lnTo>
                  <a:lnTo>
                    <a:pt x="1114425" y="323850"/>
                  </a:lnTo>
                  <a:lnTo>
                    <a:pt x="1247775" y="314325"/>
                  </a:lnTo>
                  <a:lnTo>
                    <a:pt x="1390650" y="304800"/>
                  </a:lnTo>
                  <a:lnTo>
                    <a:pt x="1524000" y="304800"/>
                  </a:lnTo>
                  <a:lnTo>
                    <a:pt x="1809750" y="323850"/>
                  </a:lnTo>
                  <a:lnTo>
                    <a:pt x="1943100" y="352425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38200" y="758825"/>
              <a:ext cx="1943100" cy="400050"/>
            </a:xfrm>
            <a:custGeom>
              <a:avLst/>
              <a:gdLst/>
              <a:ahLst/>
              <a:cxnLst/>
              <a:rect l="l" t="t" r="r" b="b"/>
              <a:pathLst>
                <a:path w="1943100" h="400050">
                  <a:moveTo>
                    <a:pt x="0" y="352425"/>
                  </a:moveTo>
                  <a:lnTo>
                    <a:pt x="0" y="0"/>
                  </a:lnTo>
                  <a:lnTo>
                    <a:pt x="1943100" y="0"/>
                  </a:lnTo>
                  <a:lnTo>
                    <a:pt x="1943100" y="352425"/>
                  </a:lnTo>
                  <a:lnTo>
                    <a:pt x="1809750" y="323850"/>
                  </a:lnTo>
                  <a:lnTo>
                    <a:pt x="1524000" y="304800"/>
                  </a:lnTo>
                  <a:lnTo>
                    <a:pt x="1390650" y="304800"/>
                  </a:lnTo>
                  <a:lnTo>
                    <a:pt x="1247775" y="314325"/>
                  </a:lnTo>
                  <a:lnTo>
                    <a:pt x="1114425" y="323850"/>
                  </a:lnTo>
                  <a:lnTo>
                    <a:pt x="828675" y="381000"/>
                  </a:lnTo>
                  <a:lnTo>
                    <a:pt x="695325" y="390525"/>
                  </a:lnTo>
                  <a:lnTo>
                    <a:pt x="552450" y="400050"/>
                  </a:lnTo>
                  <a:lnTo>
                    <a:pt x="419100" y="400050"/>
                  </a:lnTo>
                  <a:lnTo>
                    <a:pt x="133350" y="381000"/>
                  </a:lnTo>
                  <a:lnTo>
                    <a:pt x="0" y="352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358900" y="812800"/>
            <a:ext cx="10071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70">
                <a:latin typeface="Arial"/>
                <a:cs typeface="Arial"/>
              </a:rPr>
              <a:t>Contributions</a:t>
            </a:r>
            <a:r>
              <a:rPr dirty="0" sz="900" spc="60">
                <a:latin typeface="Arial"/>
                <a:cs typeface="Arial"/>
              </a:rPr>
              <a:t> by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67150" y="3987800"/>
            <a:ext cx="2590800" cy="1885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R="11430">
              <a:lnSpc>
                <a:spcPct val="100000"/>
              </a:lnSpc>
            </a:pPr>
            <a:r>
              <a:rPr dirty="0" sz="1200" spc="-25" b="1">
                <a:latin typeface="Arial"/>
                <a:cs typeface="Arial"/>
              </a:rPr>
              <a:t>PP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886575" y="1301750"/>
            <a:ext cx="2590800" cy="1885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R="10795">
              <a:lnSpc>
                <a:spcPct val="100000"/>
              </a:lnSpc>
            </a:pPr>
            <a:r>
              <a:rPr dirty="0" sz="1200" spc="-25" b="1">
                <a:latin typeface="Arial"/>
                <a:cs typeface="Arial"/>
              </a:rPr>
              <a:t>HR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Andres</dc:creator>
  <dc:title>SapTables.PDF</dc:title>
  <dcterms:created xsi:type="dcterms:W3CDTF">2025-06-22T16:47:43Z</dcterms:created>
  <dcterms:modified xsi:type="dcterms:W3CDTF">2025-06-22T16:47:43Z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1999-12-24T00:00:00Z</vt:filetime>
  </property>
  <property fmtid="{D5CDD505-2E9C-101B-9397-08002B2CF9AE}" pid="3" name="Creator">
    <vt:lpwstr>Microsoft Word </vt:lpwstr>
  </property>
  <property fmtid="{D5CDD505-2E9C-101B-9397-08002B2CF9AE}" pid="4" name="Producer">
    <vt:lpwstr>Acrobat PDFWriter 4.0 for Windows</vt:lpwstr>
  </property>
  <property fmtid="{D5CDD505-2E9C-101B-9397-08002B2CF9AE}" pid="5" name="LastSaved">
    <vt:filetime>1999-12-24T00:00:00Z</vt:filetime>
  </property>
</Properties>
</file>